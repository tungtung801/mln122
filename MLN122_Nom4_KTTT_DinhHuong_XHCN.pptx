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DejaVu Sans Bold" charset="1" panose="020B0803030604020204"/>
      <p:regular r:id="rId21"/>
    </p:embeddedFont>
    <p:embeddedFont>
      <p:font typeface="DejaVu Sans Light" charset="1" panose="020B0603030804020204"/>
      <p:regular r:id="rId22"/>
    </p:embeddedFont>
    <p:embeddedFont>
      <p:font typeface="DejaVu Sans Bold Italics" charset="1" panose="020B08030303040B0204"/>
      <p:regular r:id="rId23"/>
    </p:embeddedFont>
    <p:embeddedFont>
      <p:font typeface="Calibri (MS) Bold" charset="1" panose="020F0702030404030204"/>
      <p:regular r:id="rId24"/>
    </p:embeddedFont>
    <p:embeddedFont>
      <p:font typeface="Calibri (MS)" charset="1" panose="020F0502020204030204"/>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jpeg" Type="http://schemas.openxmlformats.org/officeDocument/2006/relationships/image"/><Relationship Id="rId4" Target="../media/image7.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3.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B192E"/>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7543" cy="164592"/>
            <a:chOff x="0" y="0"/>
            <a:chExt cx="24383390" cy="219456"/>
          </a:xfrm>
        </p:grpSpPr>
        <p:sp>
          <p:nvSpPr>
            <p:cNvPr name="Freeform 3" id="3"/>
            <p:cNvSpPr/>
            <p:nvPr/>
          </p:nvSpPr>
          <p:spPr>
            <a:xfrm flipH="false" flipV="false" rot="0">
              <a:off x="0" y="0"/>
              <a:ext cx="24383364" cy="219456"/>
            </a:xfrm>
            <a:custGeom>
              <a:avLst/>
              <a:gdLst/>
              <a:ahLst/>
              <a:cxnLst/>
              <a:rect r="r" b="b" t="t" l="l"/>
              <a:pathLst>
                <a:path h="219456" w="24383364">
                  <a:moveTo>
                    <a:pt x="0" y="0"/>
                  </a:moveTo>
                  <a:lnTo>
                    <a:pt x="24383364" y="0"/>
                  </a:lnTo>
                  <a:lnTo>
                    <a:pt x="24383364" y="219456"/>
                  </a:lnTo>
                  <a:lnTo>
                    <a:pt x="0" y="219456"/>
                  </a:lnTo>
                  <a:close/>
                </a:path>
              </a:pathLst>
            </a:custGeom>
            <a:solidFill>
              <a:srgbClr val="F59E0B"/>
            </a:solidFill>
          </p:spPr>
        </p:sp>
      </p:grpSp>
      <p:grpSp>
        <p:nvGrpSpPr>
          <p:cNvPr name="Group 4" id="4"/>
          <p:cNvGrpSpPr/>
          <p:nvPr/>
        </p:nvGrpSpPr>
        <p:grpSpPr>
          <a:xfrm rot="0">
            <a:off x="754380" y="795528"/>
            <a:ext cx="8023860" cy="548640"/>
            <a:chOff x="0" y="0"/>
            <a:chExt cx="10698480" cy="731520"/>
          </a:xfrm>
        </p:grpSpPr>
        <p:sp>
          <p:nvSpPr>
            <p:cNvPr name="Freeform 5" id="5"/>
            <p:cNvSpPr/>
            <p:nvPr/>
          </p:nvSpPr>
          <p:spPr>
            <a:xfrm flipH="false" flipV="false" rot="0">
              <a:off x="0" y="0"/>
              <a:ext cx="10698480" cy="731520"/>
            </a:xfrm>
            <a:custGeom>
              <a:avLst/>
              <a:gdLst/>
              <a:ahLst/>
              <a:cxnLst/>
              <a:rect r="r" b="b" t="t" l="l"/>
              <a:pathLst>
                <a:path h="731520" w="10698480">
                  <a:moveTo>
                    <a:pt x="0" y="29210"/>
                  </a:moveTo>
                  <a:cubicBezTo>
                    <a:pt x="0" y="13081"/>
                    <a:pt x="13081" y="0"/>
                    <a:pt x="29210" y="0"/>
                  </a:cubicBezTo>
                  <a:lnTo>
                    <a:pt x="10669270" y="0"/>
                  </a:lnTo>
                  <a:cubicBezTo>
                    <a:pt x="10685399" y="0"/>
                    <a:pt x="10698480" y="13081"/>
                    <a:pt x="10698480" y="29210"/>
                  </a:cubicBezTo>
                  <a:lnTo>
                    <a:pt x="10698480" y="702310"/>
                  </a:lnTo>
                  <a:cubicBezTo>
                    <a:pt x="10698480" y="718439"/>
                    <a:pt x="10685399" y="731520"/>
                    <a:pt x="10669270" y="731520"/>
                  </a:cubicBezTo>
                  <a:lnTo>
                    <a:pt x="29210" y="731520"/>
                  </a:lnTo>
                  <a:cubicBezTo>
                    <a:pt x="13081" y="731520"/>
                    <a:pt x="0" y="718439"/>
                    <a:pt x="0" y="702310"/>
                  </a:cubicBezTo>
                  <a:close/>
                </a:path>
              </a:pathLst>
            </a:custGeom>
            <a:solidFill>
              <a:srgbClr val="0F766E"/>
            </a:solidFill>
          </p:spPr>
        </p:sp>
      </p:grpSp>
      <p:grpSp>
        <p:nvGrpSpPr>
          <p:cNvPr name="Group 6" id="6"/>
          <p:cNvGrpSpPr/>
          <p:nvPr/>
        </p:nvGrpSpPr>
        <p:grpSpPr>
          <a:xfrm rot="0">
            <a:off x="891540" y="795528"/>
            <a:ext cx="7749540" cy="548640"/>
            <a:chOff x="0" y="0"/>
            <a:chExt cx="10332720" cy="731520"/>
          </a:xfrm>
        </p:grpSpPr>
        <p:sp>
          <p:nvSpPr>
            <p:cNvPr name="Freeform 7" id="7"/>
            <p:cNvSpPr/>
            <p:nvPr/>
          </p:nvSpPr>
          <p:spPr>
            <a:xfrm flipH="false" flipV="false" rot="0">
              <a:off x="0" y="0"/>
              <a:ext cx="10332720" cy="731520"/>
            </a:xfrm>
            <a:custGeom>
              <a:avLst/>
              <a:gdLst/>
              <a:ahLst/>
              <a:cxnLst/>
              <a:rect r="r" b="b" t="t" l="l"/>
              <a:pathLst>
                <a:path h="731520" w="10332720">
                  <a:moveTo>
                    <a:pt x="0" y="0"/>
                  </a:moveTo>
                  <a:lnTo>
                    <a:pt x="10332720" y="0"/>
                  </a:lnTo>
                  <a:lnTo>
                    <a:pt x="10332720" y="731520"/>
                  </a:lnTo>
                  <a:lnTo>
                    <a:pt x="0" y="731520"/>
                  </a:lnTo>
                  <a:close/>
                </a:path>
              </a:pathLst>
            </a:custGeom>
            <a:blipFill>
              <a:blip r:embed="rId2">
                <a:alphaModFix amt="0"/>
              </a:blip>
              <a:stretch>
                <a:fillRect l="0" t="-225226" r="0" b="-225226"/>
              </a:stretch>
            </a:blipFill>
          </p:spPr>
        </p:sp>
        <p:sp>
          <p:nvSpPr>
            <p:cNvPr name="TextBox 8" id="8"/>
            <p:cNvSpPr txBox="true"/>
            <p:nvPr/>
          </p:nvSpPr>
          <p:spPr>
            <a:xfrm>
              <a:off x="0" y="-19050"/>
              <a:ext cx="10332720" cy="750570"/>
            </a:xfrm>
            <a:prstGeom prst="rect">
              <a:avLst/>
            </a:prstGeom>
          </p:spPr>
          <p:txBody>
            <a:bodyPr anchor="ctr" rtlCol="false" tIns="0" lIns="0" bIns="0" rIns="0"/>
            <a:lstStyle/>
            <a:p>
              <a:pPr algn="l">
                <a:lnSpc>
                  <a:spcPts val="2015"/>
                </a:lnSpc>
              </a:pPr>
              <a:r>
                <a:rPr lang="en-US" sz="1679" b="true">
                  <a:solidFill>
                    <a:srgbClr val="FFFFFF"/>
                  </a:solidFill>
                  <a:latin typeface="DejaVu Sans Bold"/>
                  <a:ea typeface="DejaVu Sans Bold"/>
                  <a:cs typeface="DejaVu Sans Bold"/>
                  <a:sym typeface="DejaVu Sans Bold"/>
                </a:rPr>
                <a:t>KINH TẾ CHÍNH TRỊ MÁC – LÊNIN (MLN122)  •  MỤC 5.1 &amp; 5.2</a:t>
              </a:r>
            </a:p>
          </p:txBody>
        </p:sp>
      </p:grpSp>
      <p:sp>
        <p:nvSpPr>
          <p:cNvPr name="TextBox 9" id="9"/>
          <p:cNvSpPr txBox="true"/>
          <p:nvPr/>
        </p:nvSpPr>
        <p:spPr>
          <a:xfrm rot="0">
            <a:off x="809244" y="1690878"/>
            <a:ext cx="9011412" cy="3854958"/>
          </a:xfrm>
          <a:prstGeom prst="rect">
            <a:avLst/>
          </a:prstGeom>
        </p:spPr>
        <p:txBody>
          <a:bodyPr anchor="t" rtlCol="false" tIns="0" lIns="0" bIns="0" rIns="0">
            <a:spAutoFit/>
          </a:bodyPr>
          <a:lstStyle/>
          <a:p>
            <a:pPr algn="l">
              <a:lnSpc>
                <a:spcPts val="5400"/>
              </a:lnSpc>
            </a:pPr>
            <a:r>
              <a:rPr lang="en-US" sz="4500" b="true">
                <a:solidFill>
                  <a:srgbClr val="FFFFFF"/>
                </a:solidFill>
                <a:latin typeface="DejaVu Sans Bold"/>
                <a:ea typeface="DejaVu Sans Bold"/>
                <a:cs typeface="DejaVu Sans Bold"/>
                <a:sym typeface="DejaVu Sans Bold"/>
              </a:rPr>
              <a:t>KINH TẾ THỊ TRƯỜNG</a:t>
            </a:r>
          </a:p>
          <a:p>
            <a:pPr algn="l">
              <a:lnSpc>
                <a:spcPts val="5400"/>
              </a:lnSpc>
            </a:pPr>
            <a:r>
              <a:rPr lang="en-US" sz="4500" b="true">
                <a:solidFill>
                  <a:srgbClr val="F59E0B"/>
                </a:solidFill>
                <a:latin typeface="DejaVu Sans Bold"/>
                <a:ea typeface="DejaVu Sans Bold"/>
                <a:cs typeface="DejaVu Sans Bold"/>
                <a:sym typeface="DejaVu Sans Bold"/>
              </a:rPr>
              <a:t>ĐỊNH HƯỚNG XHCN &amp;</a:t>
            </a:r>
          </a:p>
          <a:p>
            <a:pPr algn="l">
              <a:lnSpc>
                <a:spcPts val="5400"/>
              </a:lnSpc>
            </a:pPr>
            <a:r>
              <a:rPr lang="en-US" sz="4500" b="true">
                <a:solidFill>
                  <a:srgbClr val="FFFFFF"/>
                </a:solidFill>
                <a:latin typeface="DejaVu Sans Bold"/>
                <a:ea typeface="DejaVu Sans Bold"/>
                <a:cs typeface="DejaVu Sans Bold"/>
                <a:sym typeface="DejaVu Sans Bold"/>
              </a:rPr>
              <a:t>BÀI TOÁN NHÀ Ở ĐÔ THỊ</a:t>
            </a:r>
          </a:p>
          <a:p>
            <a:pPr algn="l">
              <a:lnSpc>
                <a:spcPts val="3456"/>
              </a:lnSpc>
            </a:pPr>
            <a:r>
              <a:rPr lang="en-US" sz="2250">
                <a:solidFill>
                  <a:srgbClr val="E2E8F0"/>
                </a:solidFill>
                <a:latin typeface="DejaVu Sans Light"/>
                <a:ea typeface="DejaVu Sans Light"/>
                <a:cs typeface="DejaVu Sans Light"/>
                <a:sym typeface="DejaVu Sans Light"/>
              </a:rPr>
              <a:t>Giải quyết Tình huống CQ7: Bản chất mô hình Việt Nam, ranh giới can thiệp hợp pháp &amp; hệ công cụ kinh tế điều hòa lợi ích</a:t>
            </a:r>
          </a:p>
        </p:txBody>
      </p:sp>
      <p:grpSp>
        <p:nvGrpSpPr>
          <p:cNvPr name="Group 10" id="10"/>
          <p:cNvGrpSpPr/>
          <p:nvPr/>
        </p:nvGrpSpPr>
        <p:grpSpPr>
          <a:xfrm rot="0">
            <a:off x="740093" y="5993320"/>
            <a:ext cx="8875395" cy="2662047"/>
            <a:chOff x="0" y="0"/>
            <a:chExt cx="11833860" cy="3549396"/>
          </a:xfrm>
        </p:grpSpPr>
        <p:sp>
          <p:nvSpPr>
            <p:cNvPr name="Freeform 11" id="11"/>
            <p:cNvSpPr/>
            <p:nvPr/>
          </p:nvSpPr>
          <p:spPr>
            <a:xfrm flipH="false" flipV="false" rot="0">
              <a:off x="0" y="0"/>
              <a:ext cx="11833860" cy="3549396"/>
            </a:xfrm>
            <a:custGeom>
              <a:avLst/>
              <a:gdLst/>
              <a:ahLst/>
              <a:cxnLst/>
              <a:rect r="r" b="b" t="t" l="l"/>
              <a:pathLst>
                <a:path h="3549396" w="11833860">
                  <a:moveTo>
                    <a:pt x="0" y="141986"/>
                  </a:moveTo>
                  <a:cubicBezTo>
                    <a:pt x="0" y="63627"/>
                    <a:pt x="63627" y="0"/>
                    <a:pt x="141986" y="0"/>
                  </a:cubicBezTo>
                  <a:lnTo>
                    <a:pt x="11691874" y="0"/>
                  </a:lnTo>
                  <a:cubicBezTo>
                    <a:pt x="11770233" y="0"/>
                    <a:pt x="11833860" y="63627"/>
                    <a:pt x="11833860" y="141986"/>
                  </a:cubicBezTo>
                  <a:lnTo>
                    <a:pt x="11833860" y="3407410"/>
                  </a:lnTo>
                  <a:cubicBezTo>
                    <a:pt x="11833860" y="3485769"/>
                    <a:pt x="11770233" y="3549396"/>
                    <a:pt x="11691874" y="3549396"/>
                  </a:cubicBezTo>
                  <a:lnTo>
                    <a:pt x="141986" y="3549396"/>
                  </a:lnTo>
                  <a:cubicBezTo>
                    <a:pt x="63627" y="3549396"/>
                    <a:pt x="0" y="3485769"/>
                    <a:pt x="0" y="3407410"/>
                  </a:cubicBezTo>
                  <a:close/>
                </a:path>
              </a:pathLst>
            </a:custGeom>
            <a:solidFill>
              <a:srgbClr val="162E52"/>
            </a:solidFill>
            <a:ln w="28575" cap="sq">
              <a:solidFill>
                <a:srgbClr val="0F766E"/>
              </a:solidFill>
              <a:prstDash val="solid"/>
              <a:miter/>
            </a:ln>
          </p:spPr>
        </p:sp>
      </p:grpSp>
      <p:grpSp>
        <p:nvGrpSpPr>
          <p:cNvPr name="Group 12" id="12"/>
          <p:cNvGrpSpPr/>
          <p:nvPr/>
        </p:nvGrpSpPr>
        <p:grpSpPr>
          <a:xfrm rot="0">
            <a:off x="987552" y="6563620"/>
            <a:ext cx="8435340" cy="1548889"/>
            <a:chOff x="0" y="0"/>
            <a:chExt cx="11247120" cy="2065185"/>
          </a:xfrm>
        </p:grpSpPr>
        <p:sp>
          <p:nvSpPr>
            <p:cNvPr name="Freeform 13" id="13"/>
            <p:cNvSpPr/>
            <p:nvPr/>
          </p:nvSpPr>
          <p:spPr>
            <a:xfrm flipH="false" flipV="false" rot="0">
              <a:off x="0" y="0"/>
              <a:ext cx="11247120" cy="2065180"/>
            </a:xfrm>
            <a:custGeom>
              <a:avLst/>
              <a:gdLst/>
              <a:ahLst/>
              <a:cxnLst/>
              <a:rect r="r" b="b" t="t" l="l"/>
              <a:pathLst>
                <a:path h="2065180" w="11247120">
                  <a:moveTo>
                    <a:pt x="0" y="0"/>
                  </a:moveTo>
                  <a:lnTo>
                    <a:pt x="11247120" y="0"/>
                  </a:lnTo>
                  <a:lnTo>
                    <a:pt x="11247120" y="2065180"/>
                  </a:lnTo>
                  <a:lnTo>
                    <a:pt x="0" y="2065180"/>
                  </a:lnTo>
                  <a:close/>
                </a:path>
              </a:pathLst>
            </a:custGeom>
            <a:blipFill>
              <a:blip r:embed="rId2">
                <a:alphaModFix amt="0"/>
              </a:blip>
              <a:stretch>
                <a:fillRect l="0" t="-56116" r="0" b="-56117"/>
              </a:stretch>
            </a:blipFill>
          </p:spPr>
        </p:sp>
        <p:sp>
          <p:nvSpPr>
            <p:cNvPr name="TextBox 14" id="14"/>
            <p:cNvSpPr txBox="true"/>
            <p:nvPr/>
          </p:nvSpPr>
          <p:spPr>
            <a:xfrm>
              <a:off x="0" y="-9525"/>
              <a:ext cx="11247120" cy="2074710"/>
            </a:xfrm>
            <a:prstGeom prst="rect">
              <a:avLst/>
            </a:prstGeom>
          </p:spPr>
          <p:txBody>
            <a:bodyPr anchor="ctr" rtlCol="false" tIns="0" lIns="0" bIns="0" rIns="0"/>
            <a:lstStyle/>
            <a:p>
              <a:pPr algn="l">
                <a:lnSpc>
                  <a:spcPts val="2195"/>
                </a:lnSpc>
              </a:pPr>
              <a:r>
                <a:rPr lang="en-US" sz="1829" b="true">
                  <a:solidFill>
                    <a:srgbClr val="FFFFFF"/>
                  </a:solidFill>
                  <a:latin typeface="DejaVu Sans Bold"/>
                  <a:ea typeface="DejaVu Sans Bold"/>
                  <a:cs typeface="DejaVu Sans Bold"/>
                  <a:sym typeface="DejaVu Sans Bold"/>
                </a:rPr>
                <a:t>• Phạm vi lý luận: Mục 5.1 &amp; 5.2 (Giáo trình 2021, tr. 169–196)</a:t>
              </a:r>
            </a:p>
            <a:p>
              <a:pPr algn="l">
                <a:lnSpc>
                  <a:spcPts val="2547"/>
                </a:lnSpc>
              </a:pPr>
              <a:r>
                <a:rPr lang="en-US" sz="1739">
                  <a:solidFill>
                    <a:srgbClr val="CBD5E1"/>
                  </a:solidFill>
                  <a:latin typeface="DejaVu Sans Light"/>
                  <a:ea typeface="DejaVu Sans Light"/>
                  <a:cs typeface="DejaVu Sans Light"/>
                  <a:sym typeface="DejaVu Sans Light"/>
                </a:rPr>
                <a:t>• Cập nhật pháp lý mới nhất: Luật Nhà ở 2023 (Điều 83, 85), Nghị định 136/2026/NĐ-CP (07/4/2026) &amp; CV 5340/NHNN-CSTT (H2/2026)</a:t>
              </a:r>
            </a:p>
            <a:p>
              <a:pPr algn="l">
                <a:lnSpc>
                  <a:spcPts val="2124"/>
                </a:lnSpc>
              </a:pPr>
              <a:r>
                <a:rPr lang="en-US" sz="1770" b="true">
                  <a:solidFill>
                    <a:srgbClr val="F59E0B"/>
                  </a:solidFill>
                  <a:latin typeface="DejaVu Sans Bold"/>
                  <a:ea typeface="DejaVu Sans Bold"/>
                  <a:cs typeface="DejaVu Sans Bold"/>
                  <a:sym typeface="DejaVu Sans Bold"/>
                </a:rPr>
                <a:t>• Nhóm thực hiện: Nhóm 4</a:t>
              </a:r>
            </a:p>
          </p:txBody>
        </p:sp>
      </p:grpSp>
      <p:grpSp>
        <p:nvGrpSpPr>
          <p:cNvPr name="Group 15" id="15"/>
          <p:cNvGrpSpPr/>
          <p:nvPr/>
        </p:nvGrpSpPr>
        <p:grpSpPr>
          <a:xfrm rot="0">
            <a:off x="10162984" y="836105"/>
            <a:ext cx="7352919" cy="8505063"/>
            <a:chOff x="0" y="0"/>
            <a:chExt cx="9803892" cy="11340084"/>
          </a:xfrm>
        </p:grpSpPr>
        <p:sp>
          <p:nvSpPr>
            <p:cNvPr name="Freeform 16" id="16"/>
            <p:cNvSpPr/>
            <p:nvPr/>
          </p:nvSpPr>
          <p:spPr>
            <a:xfrm flipH="false" flipV="false" rot="0">
              <a:off x="0" y="0"/>
              <a:ext cx="9803892" cy="11340084"/>
            </a:xfrm>
            <a:custGeom>
              <a:avLst/>
              <a:gdLst/>
              <a:ahLst/>
              <a:cxnLst/>
              <a:rect r="r" b="b" t="t" l="l"/>
              <a:pathLst>
                <a:path h="11340084" w="9803892">
                  <a:moveTo>
                    <a:pt x="0" y="392176"/>
                  </a:moveTo>
                  <a:cubicBezTo>
                    <a:pt x="0" y="175514"/>
                    <a:pt x="175514" y="0"/>
                    <a:pt x="392176" y="0"/>
                  </a:cubicBezTo>
                  <a:lnTo>
                    <a:pt x="9411716" y="0"/>
                  </a:lnTo>
                  <a:cubicBezTo>
                    <a:pt x="9628251" y="0"/>
                    <a:pt x="9803892" y="175514"/>
                    <a:pt x="9803892" y="392176"/>
                  </a:cubicBezTo>
                  <a:lnTo>
                    <a:pt x="9803892" y="10947908"/>
                  </a:lnTo>
                  <a:cubicBezTo>
                    <a:pt x="9803892" y="11164443"/>
                    <a:pt x="9628378" y="11340084"/>
                    <a:pt x="9411716" y="11340084"/>
                  </a:cubicBezTo>
                  <a:lnTo>
                    <a:pt x="392176" y="11340084"/>
                  </a:lnTo>
                  <a:cubicBezTo>
                    <a:pt x="175514" y="11340084"/>
                    <a:pt x="0" y="11164570"/>
                    <a:pt x="0" y="10947908"/>
                  </a:cubicBezTo>
                  <a:close/>
                </a:path>
              </a:pathLst>
            </a:custGeom>
            <a:solidFill>
              <a:srgbClr val="162E52"/>
            </a:solidFill>
            <a:ln w="28575" cap="sq">
              <a:solidFill>
                <a:srgbClr val="F59E0B"/>
              </a:solidFill>
              <a:prstDash val="solid"/>
              <a:miter/>
            </a:ln>
          </p:spPr>
        </p:sp>
      </p:grpSp>
      <p:grpSp>
        <p:nvGrpSpPr>
          <p:cNvPr name="Group 17" id="17"/>
          <p:cNvGrpSpPr/>
          <p:nvPr/>
        </p:nvGrpSpPr>
        <p:grpSpPr>
          <a:xfrm rot="0">
            <a:off x="10314432" y="987552"/>
            <a:ext cx="7050024" cy="7571232"/>
            <a:chOff x="0" y="0"/>
            <a:chExt cx="9400032" cy="10094976"/>
          </a:xfrm>
        </p:grpSpPr>
        <p:sp>
          <p:nvSpPr>
            <p:cNvPr name="Freeform 18" id="18" descr="image1.jpg"/>
            <p:cNvSpPr/>
            <p:nvPr/>
          </p:nvSpPr>
          <p:spPr>
            <a:xfrm flipH="false" flipV="false" rot="0">
              <a:off x="0" y="0"/>
              <a:ext cx="9400032" cy="10094976"/>
            </a:xfrm>
            <a:custGeom>
              <a:avLst/>
              <a:gdLst/>
              <a:ahLst/>
              <a:cxnLst/>
              <a:rect r="r" b="b" t="t" l="l"/>
              <a:pathLst>
                <a:path h="10094976" w="9400032">
                  <a:moveTo>
                    <a:pt x="0" y="0"/>
                  </a:moveTo>
                  <a:lnTo>
                    <a:pt x="9400032" y="0"/>
                  </a:lnTo>
                  <a:lnTo>
                    <a:pt x="9400032" y="10094976"/>
                  </a:lnTo>
                  <a:lnTo>
                    <a:pt x="0" y="10094976"/>
                  </a:lnTo>
                  <a:lnTo>
                    <a:pt x="0" y="0"/>
                  </a:lnTo>
                  <a:close/>
                </a:path>
              </a:pathLst>
            </a:custGeom>
            <a:blipFill>
              <a:blip r:embed="rId3"/>
              <a:stretch>
                <a:fillRect l="0" t="-105" r="0" b="-105"/>
              </a:stretch>
            </a:blipFill>
          </p:spPr>
        </p:sp>
      </p:grpSp>
      <p:grpSp>
        <p:nvGrpSpPr>
          <p:cNvPr name="Group 19" id="19"/>
          <p:cNvGrpSpPr/>
          <p:nvPr/>
        </p:nvGrpSpPr>
        <p:grpSpPr>
          <a:xfrm rot="0">
            <a:off x="10314432" y="8613648"/>
            <a:ext cx="7050024" cy="603504"/>
            <a:chOff x="0" y="0"/>
            <a:chExt cx="9400032" cy="804672"/>
          </a:xfrm>
        </p:grpSpPr>
        <p:sp>
          <p:nvSpPr>
            <p:cNvPr name="Freeform 20" id="20"/>
            <p:cNvSpPr/>
            <p:nvPr/>
          </p:nvSpPr>
          <p:spPr>
            <a:xfrm flipH="false" flipV="false" rot="0">
              <a:off x="0" y="0"/>
              <a:ext cx="9400032" cy="804672"/>
            </a:xfrm>
            <a:custGeom>
              <a:avLst/>
              <a:gdLst/>
              <a:ahLst/>
              <a:cxnLst/>
              <a:rect r="r" b="b" t="t" l="l"/>
              <a:pathLst>
                <a:path h="804672" w="9400032">
                  <a:moveTo>
                    <a:pt x="0" y="0"/>
                  </a:moveTo>
                  <a:lnTo>
                    <a:pt x="9400032" y="0"/>
                  </a:lnTo>
                  <a:lnTo>
                    <a:pt x="9400032" y="804672"/>
                  </a:lnTo>
                  <a:lnTo>
                    <a:pt x="0" y="804672"/>
                  </a:lnTo>
                  <a:close/>
                </a:path>
              </a:pathLst>
            </a:custGeom>
            <a:blipFill>
              <a:blip r:embed="rId2">
                <a:alphaModFix amt="0"/>
              </a:blip>
              <a:stretch>
                <a:fillRect l="0" t="-177620" r="0" b="-177620"/>
              </a:stretch>
            </a:blipFill>
          </p:spPr>
        </p:sp>
        <p:sp>
          <p:nvSpPr>
            <p:cNvPr name="TextBox 21" id="21"/>
            <p:cNvSpPr txBox="true"/>
            <p:nvPr/>
          </p:nvSpPr>
          <p:spPr>
            <a:xfrm>
              <a:off x="0" y="-9525"/>
              <a:ext cx="9400032" cy="814197"/>
            </a:xfrm>
            <a:prstGeom prst="rect">
              <a:avLst/>
            </a:prstGeom>
          </p:spPr>
          <p:txBody>
            <a:bodyPr anchor="ctr" rtlCol="false" tIns="0" lIns="0" bIns="0" rIns="0"/>
            <a:lstStyle/>
            <a:p>
              <a:pPr algn="ctr">
                <a:lnSpc>
                  <a:spcPts val="1709"/>
                </a:lnSpc>
              </a:pPr>
              <a:r>
                <a:rPr lang="en-US" sz="1425" b="true">
                  <a:solidFill>
                    <a:srgbClr val="E2E8F0"/>
                  </a:solidFill>
                  <a:latin typeface="DejaVu Sans Bold"/>
                  <a:ea typeface="DejaVu Sans Bold"/>
                  <a:cs typeface="DejaVu Sans Bold"/>
                  <a:sym typeface="DejaVu Sans Bold"/>
                </a:rPr>
                <a:t>Ảnh thật: Khu cao ốc ven sông Sài Gòn, TP.HCM | Nguồn: Wikimedia Commons (CC BY-SA 4.0)</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7543" cy="137160"/>
            <a:chOff x="0" y="0"/>
            <a:chExt cx="24383390" cy="182880"/>
          </a:xfrm>
        </p:grpSpPr>
        <p:sp>
          <p:nvSpPr>
            <p:cNvPr name="Freeform 3" id="3"/>
            <p:cNvSpPr/>
            <p:nvPr/>
          </p:nvSpPr>
          <p:spPr>
            <a:xfrm flipH="false" flipV="false" rot="0">
              <a:off x="0" y="0"/>
              <a:ext cx="24383364" cy="182880"/>
            </a:xfrm>
            <a:custGeom>
              <a:avLst/>
              <a:gdLst/>
              <a:ahLst/>
              <a:cxnLst/>
              <a:rect r="r" b="b" t="t" l="l"/>
              <a:pathLst>
                <a:path h="182880" w="24383364">
                  <a:moveTo>
                    <a:pt x="0" y="0"/>
                  </a:moveTo>
                  <a:lnTo>
                    <a:pt x="24383364" y="0"/>
                  </a:lnTo>
                  <a:lnTo>
                    <a:pt x="24383364" y="182880"/>
                  </a:lnTo>
                  <a:lnTo>
                    <a:pt x="0" y="182880"/>
                  </a:lnTo>
                  <a:close/>
                </a:path>
              </a:pathLst>
            </a:custGeom>
            <a:solidFill>
              <a:srgbClr val="122645"/>
            </a:solidFill>
          </p:spPr>
        </p:sp>
      </p:grpSp>
      <p:grpSp>
        <p:nvGrpSpPr>
          <p:cNvPr name="Group 4" id="4"/>
          <p:cNvGrpSpPr/>
          <p:nvPr/>
        </p:nvGrpSpPr>
        <p:grpSpPr>
          <a:xfrm rot="0">
            <a:off x="0" y="0"/>
            <a:ext cx="2438343" cy="137160"/>
            <a:chOff x="0" y="0"/>
            <a:chExt cx="3251124" cy="182880"/>
          </a:xfrm>
        </p:grpSpPr>
        <p:sp>
          <p:nvSpPr>
            <p:cNvPr name="Freeform 5" id="5"/>
            <p:cNvSpPr/>
            <p:nvPr/>
          </p:nvSpPr>
          <p:spPr>
            <a:xfrm flipH="false" flipV="false" rot="0">
              <a:off x="0" y="0"/>
              <a:ext cx="3251073" cy="182880"/>
            </a:xfrm>
            <a:custGeom>
              <a:avLst/>
              <a:gdLst/>
              <a:ahLst/>
              <a:cxnLst/>
              <a:rect r="r" b="b" t="t" l="l"/>
              <a:pathLst>
                <a:path h="182880" w="3251073">
                  <a:moveTo>
                    <a:pt x="0" y="0"/>
                  </a:moveTo>
                  <a:lnTo>
                    <a:pt x="3251073" y="0"/>
                  </a:lnTo>
                  <a:lnTo>
                    <a:pt x="3251073" y="182880"/>
                  </a:lnTo>
                  <a:lnTo>
                    <a:pt x="0" y="182880"/>
                  </a:lnTo>
                  <a:close/>
                </a:path>
              </a:pathLst>
            </a:custGeom>
            <a:solidFill>
              <a:srgbClr val="C25915"/>
            </a:solidFill>
          </p:spPr>
        </p:sp>
      </p:grpSp>
      <p:grpSp>
        <p:nvGrpSpPr>
          <p:cNvPr name="Group 6" id="6"/>
          <p:cNvGrpSpPr/>
          <p:nvPr/>
        </p:nvGrpSpPr>
        <p:grpSpPr>
          <a:xfrm rot="0">
            <a:off x="15704820" y="301752"/>
            <a:ext cx="1824228" cy="466344"/>
            <a:chOff x="0" y="0"/>
            <a:chExt cx="2432304" cy="621792"/>
          </a:xfrm>
        </p:grpSpPr>
        <p:sp>
          <p:nvSpPr>
            <p:cNvPr name="Freeform 7" id="7"/>
            <p:cNvSpPr/>
            <p:nvPr/>
          </p:nvSpPr>
          <p:spPr>
            <a:xfrm flipH="false" flipV="false" rot="0">
              <a:off x="0" y="0"/>
              <a:ext cx="2432304" cy="621792"/>
            </a:xfrm>
            <a:custGeom>
              <a:avLst/>
              <a:gdLst/>
              <a:ahLst/>
              <a:cxnLst/>
              <a:rect r="r" b="b" t="t" l="l"/>
              <a:pathLst>
                <a:path h="621792" w="2432304">
                  <a:moveTo>
                    <a:pt x="0" y="24892"/>
                  </a:moveTo>
                  <a:cubicBezTo>
                    <a:pt x="0" y="11176"/>
                    <a:pt x="11176" y="0"/>
                    <a:pt x="24892" y="0"/>
                  </a:cubicBezTo>
                  <a:lnTo>
                    <a:pt x="2407412" y="0"/>
                  </a:lnTo>
                  <a:cubicBezTo>
                    <a:pt x="2421128" y="0"/>
                    <a:pt x="2432304" y="11176"/>
                    <a:pt x="2432304" y="24892"/>
                  </a:cubicBezTo>
                  <a:lnTo>
                    <a:pt x="2432304" y="596900"/>
                  </a:lnTo>
                  <a:cubicBezTo>
                    <a:pt x="2432304" y="610616"/>
                    <a:pt x="2421128" y="621792"/>
                    <a:pt x="2407412" y="621792"/>
                  </a:cubicBezTo>
                  <a:lnTo>
                    <a:pt x="24892" y="621792"/>
                  </a:lnTo>
                  <a:cubicBezTo>
                    <a:pt x="11176" y="621792"/>
                    <a:pt x="0" y="610616"/>
                    <a:pt x="0" y="596900"/>
                  </a:cubicBezTo>
                  <a:close/>
                </a:path>
              </a:pathLst>
            </a:custGeom>
            <a:solidFill>
              <a:srgbClr val="122645"/>
            </a:solidFill>
          </p:spPr>
        </p:sp>
      </p:grpSp>
      <p:grpSp>
        <p:nvGrpSpPr>
          <p:cNvPr name="Group 8" id="8"/>
          <p:cNvGrpSpPr/>
          <p:nvPr/>
        </p:nvGrpSpPr>
        <p:grpSpPr>
          <a:xfrm rot="0">
            <a:off x="15704820" y="301752"/>
            <a:ext cx="1824228" cy="466344"/>
            <a:chOff x="0" y="0"/>
            <a:chExt cx="2432304" cy="621792"/>
          </a:xfrm>
        </p:grpSpPr>
        <p:sp>
          <p:nvSpPr>
            <p:cNvPr name="Freeform 9" id="9"/>
            <p:cNvSpPr/>
            <p:nvPr/>
          </p:nvSpPr>
          <p:spPr>
            <a:xfrm flipH="false" flipV="false" rot="0">
              <a:off x="0" y="0"/>
              <a:ext cx="2432304" cy="621792"/>
            </a:xfrm>
            <a:custGeom>
              <a:avLst/>
              <a:gdLst/>
              <a:ahLst/>
              <a:cxnLst/>
              <a:rect r="r" b="b" t="t" l="l"/>
              <a:pathLst>
                <a:path h="621792" w="2432304">
                  <a:moveTo>
                    <a:pt x="0" y="0"/>
                  </a:moveTo>
                  <a:lnTo>
                    <a:pt x="2432304" y="0"/>
                  </a:lnTo>
                  <a:lnTo>
                    <a:pt x="2432304" y="621792"/>
                  </a:lnTo>
                  <a:lnTo>
                    <a:pt x="0" y="621792"/>
                  </a:lnTo>
                  <a:close/>
                </a:path>
              </a:pathLst>
            </a:custGeom>
            <a:blipFill>
              <a:blip r:embed="rId2">
                <a:alphaModFix amt="0"/>
              </a:blip>
              <a:stretch>
                <a:fillRect l="0" t="-26220" r="0" b="-26220"/>
              </a:stretch>
            </a:blipFill>
          </p:spPr>
        </p:sp>
        <p:sp>
          <p:nvSpPr>
            <p:cNvPr name="TextBox 10" id="10"/>
            <p:cNvSpPr txBox="true"/>
            <p:nvPr/>
          </p:nvSpPr>
          <p:spPr>
            <a:xfrm>
              <a:off x="0" y="-19050"/>
              <a:ext cx="2432304" cy="640842"/>
            </a:xfrm>
            <a:prstGeom prst="rect">
              <a:avLst/>
            </a:prstGeom>
          </p:spPr>
          <p:txBody>
            <a:bodyPr anchor="ctr" rtlCol="false" tIns="0" lIns="0" bIns="0" rIns="0"/>
            <a:lstStyle/>
            <a:p>
              <a:pPr algn="ctr">
                <a:lnSpc>
                  <a:spcPts val="2700"/>
                </a:lnSpc>
              </a:pPr>
              <a:r>
                <a:rPr lang="en-US" sz="2250" b="true">
                  <a:solidFill>
                    <a:srgbClr val="FFFFFF"/>
                  </a:solidFill>
                  <a:latin typeface="DejaVu Sans Bold"/>
                  <a:ea typeface="DejaVu Sans Bold"/>
                  <a:cs typeface="DejaVu Sans Bold"/>
                  <a:sym typeface="DejaVu Sans Bold"/>
                </a:rPr>
                <a:t>Slide 2 / 15</a:t>
              </a:r>
            </a:p>
          </p:txBody>
        </p:sp>
      </p:grpSp>
      <p:grpSp>
        <p:nvGrpSpPr>
          <p:cNvPr name="Group 11" id="11"/>
          <p:cNvGrpSpPr/>
          <p:nvPr/>
        </p:nvGrpSpPr>
        <p:grpSpPr>
          <a:xfrm rot="0">
            <a:off x="754380" y="850392"/>
            <a:ext cx="16774668" cy="740664"/>
            <a:chOff x="0" y="0"/>
            <a:chExt cx="22366224" cy="987552"/>
          </a:xfrm>
        </p:grpSpPr>
        <p:sp>
          <p:nvSpPr>
            <p:cNvPr name="Freeform 12" id="12"/>
            <p:cNvSpPr/>
            <p:nvPr/>
          </p:nvSpPr>
          <p:spPr>
            <a:xfrm flipH="false" flipV="false" rot="0">
              <a:off x="0" y="0"/>
              <a:ext cx="22366224" cy="987552"/>
            </a:xfrm>
            <a:custGeom>
              <a:avLst/>
              <a:gdLst/>
              <a:ahLst/>
              <a:cxnLst/>
              <a:rect r="r" b="b" t="t" l="l"/>
              <a:pathLst>
                <a:path h="987552" w="22366224">
                  <a:moveTo>
                    <a:pt x="0" y="0"/>
                  </a:moveTo>
                  <a:lnTo>
                    <a:pt x="22366224" y="0"/>
                  </a:lnTo>
                  <a:lnTo>
                    <a:pt x="22366224" y="987552"/>
                  </a:lnTo>
                  <a:lnTo>
                    <a:pt x="0" y="987552"/>
                  </a:lnTo>
                  <a:close/>
                </a:path>
              </a:pathLst>
            </a:custGeom>
            <a:blipFill>
              <a:blip r:embed="rId2">
                <a:alphaModFix amt="0"/>
              </a:blip>
              <a:stretch>
                <a:fillRect l="0" t="-391300" r="0" b="-391300"/>
              </a:stretch>
            </a:blipFill>
          </p:spPr>
        </p:sp>
        <p:sp>
          <p:nvSpPr>
            <p:cNvPr name="TextBox 13" id="13"/>
            <p:cNvSpPr txBox="true"/>
            <p:nvPr/>
          </p:nvSpPr>
          <p:spPr>
            <a:xfrm>
              <a:off x="0" y="-9525"/>
              <a:ext cx="22366224" cy="997077"/>
            </a:xfrm>
            <a:prstGeom prst="rect">
              <a:avLst/>
            </a:prstGeom>
          </p:spPr>
          <p:txBody>
            <a:bodyPr anchor="ctr" rtlCol="false" tIns="0" lIns="0" bIns="0" rIns="0"/>
            <a:lstStyle/>
            <a:p>
              <a:pPr algn="l">
                <a:lnSpc>
                  <a:spcPts val="3869"/>
                </a:lnSpc>
              </a:pPr>
              <a:r>
                <a:rPr lang="en-US" sz="3225" b="true">
                  <a:solidFill>
                    <a:srgbClr val="122645"/>
                  </a:solidFill>
                  <a:latin typeface="DejaVu Sans Bold"/>
                  <a:ea typeface="DejaVu Sans Bold"/>
                  <a:cs typeface="DejaVu Sans Bold"/>
                  <a:sym typeface="DejaVu Sans Bold"/>
                </a:rPr>
                <a:t>Tình huống CQ7: Giấc mơ an cư người trẻ — Phép tính tĩnh 67 năm?</a:t>
              </a:r>
            </a:p>
          </p:txBody>
        </p:sp>
      </p:grpSp>
      <p:grpSp>
        <p:nvGrpSpPr>
          <p:cNvPr name="Group 14" id="14"/>
          <p:cNvGrpSpPr/>
          <p:nvPr/>
        </p:nvGrpSpPr>
        <p:grpSpPr>
          <a:xfrm rot="0">
            <a:off x="754380" y="1645920"/>
            <a:ext cx="16774668" cy="41148"/>
            <a:chOff x="0" y="0"/>
            <a:chExt cx="22366224" cy="54864"/>
          </a:xfrm>
        </p:grpSpPr>
        <p:sp>
          <p:nvSpPr>
            <p:cNvPr name="Freeform 15" id="15"/>
            <p:cNvSpPr/>
            <p:nvPr/>
          </p:nvSpPr>
          <p:spPr>
            <a:xfrm flipH="false" flipV="false" rot="0">
              <a:off x="0" y="0"/>
              <a:ext cx="22366224" cy="54864"/>
            </a:xfrm>
            <a:custGeom>
              <a:avLst/>
              <a:gdLst/>
              <a:ahLst/>
              <a:cxnLst/>
              <a:rect r="r" b="b" t="t" l="l"/>
              <a:pathLst>
                <a:path h="54864" w="22366224">
                  <a:moveTo>
                    <a:pt x="0" y="0"/>
                  </a:moveTo>
                  <a:lnTo>
                    <a:pt x="22366224" y="0"/>
                  </a:lnTo>
                  <a:lnTo>
                    <a:pt x="22366224" y="54864"/>
                  </a:lnTo>
                  <a:lnTo>
                    <a:pt x="0" y="54864"/>
                  </a:lnTo>
                  <a:close/>
                </a:path>
              </a:pathLst>
            </a:custGeom>
            <a:solidFill>
              <a:srgbClr val="CBD5E1"/>
            </a:solidFill>
          </p:spPr>
        </p:sp>
      </p:grpSp>
      <p:grpSp>
        <p:nvGrpSpPr>
          <p:cNvPr name="Group 16" id="16"/>
          <p:cNvGrpSpPr/>
          <p:nvPr/>
        </p:nvGrpSpPr>
        <p:grpSpPr>
          <a:xfrm rot="0">
            <a:off x="-7144" y="9662636"/>
            <a:ext cx="18301830" cy="631507"/>
            <a:chOff x="0" y="0"/>
            <a:chExt cx="24402440" cy="842010"/>
          </a:xfrm>
        </p:grpSpPr>
        <p:sp>
          <p:nvSpPr>
            <p:cNvPr name="Freeform 17" id="17"/>
            <p:cNvSpPr/>
            <p:nvPr/>
          </p:nvSpPr>
          <p:spPr>
            <a:xfrm flipH="false" flipV="false" rot="0">
              <a:off x="0" y="0"/>
              <a:ext cx="24402414" cy="842010"/>
            </a:xfrm>
            <a:custGeom>
              <a:avLst/>
              <a:gdLst/>
              <a:ahLst/>
              <a:cxnLst/>
              <a:rect r="r" b="b" t="t" l="l"/>
              <a:pathLst>
                <a:path h="842010" w="24402414">
                  <a:moveTo>
                    <a:pt x="0" y="0"/>
                  </a:moveTo>
                  <a:lnTo>
                    <a:pt x="24402414" y="0"/>
                  </a:lnTo>
                  <a:lnTo>
                    <a:pt x="24402414" y="842010"/>
                  </a:lnTo>
                  <a:lnTo>
                    <a:pt x="0" y="842010"/>
                  </a:lnTo>
                  <a:close/>
                </a:path>
              </a:pathLst>
            </a:custGeom>
            <a:solidFill>
              <a:srgbClr val="FFFFFF"/>
            </a:solidFill>
            <a:ln w="14288" cap="sq">
              <a:solidFill>
                <a:srgbClr val="CBD5E1"/>
              </a:solidFill>
              <a:prstDash val="solid"/>
              <a:miter/>
            </a:ln>
          </p:spPr>
        </p:sp>
      </p:grpSp>
      <p:grpSp>
        <p:nvGrpSpPr>
          <p:cNvPr name="Group 18" id="18"/>
          <p:cNvGrpSpPr/>
          <p:nvPr/>
        </p:nvGrpSpPr>
        <p:grpSpPr>
          <a:xfrm rot="0">
            <a:off x="754380" y="9710928"/>
            <a:ext cx="16774668" cy="493776"/>
            <a:chOff x="0" y="0"/>
            <a:chExt cx="22366224" cy="658368"/>
          </a:xfrm>
        </p:grpSpPr>
        <p:sp>
          <p:nvSpPr>
            <p:cNvPr name="Freeform 19" id="19"/>
            <p:cNvSpPr/>
            <p:nvPr/>
          </p:nvSpPr>
          <p:spPr>
            <a:xfrm flipH="false" flipV="false" rot="0">
              <a:off x="0" y="0"/>
              <a:ext cx="22366224" cy="658368"/>
            </a:xfrm>
            <a:custGeom>
              <a:avLst/>
              <a:gdLst/>
              <a:ahLst/>
              <a:cxnLst/>
              <a:rect r="r" b="b" t="t" l="l"/>
              <a:pathLst>
                <a:path h="658368" w="22366224">
                  <a:moveTo>
                    <a:pt x="0" y="0"/>
                  </a:moveTo>
                  <a:lnTo>
                    <a:pt x="22366224" y="0"/>
                  </a:lnTo>
                  <a:lnTo>
                    <a:pt x="22366224" y="658368"/>
                  </a:lnTo>
                  <a:lnTo>
                    <a:pt x="0" y="658368"/>
                  </a:lnTo>
                  <a:close/>
                </a:path>
              </a:pathLst>
            </a:custGeom>
            <a:blipFill>
              <a:blip r:embed="rId2">
                <a:alphaModFix amt="0"/>
              </a:blip>
              <a:stretch>
                <a:fillRect l="0" t="-611950" r="0" b="-611950"/>
              </a:stretch>
            </a:blipFill>
          </p:spPr>
        </p:sp>
        <p:sp>
          <p:nvSpPr>
            <p:cNvPr name="TextBox 20" id="20"/>
            <p:cNvSpPr txBox="true"/>
            <p:nvPr/>
          </p:nvSpPr>
          <p:spPr>
            <a:xfrm>
              <a:off x="0" y="-9525"/>
              <a:ext cx="22366224" cy="667893"/>
            </a:xfrm>
            <a:prstGeom prst="rect">
              <a:avLst/>
            </a:prstGeom>
          </p:spPr>
          <p:txBody>
            <a:bodyPr anchor="ctr" rtlCol="false" tIns="0" lIns="0" bIns="0" rIns="0"/>
            <a:lstStyle/>
            <a:p>
              <a:pPr algn="l">
                <a:lnSpc>
                  <a:spcPts val="2460"/>
                </a:lnSpc>
              </a:pPr>
              <a:r>
                <a:rPr lang="en-US" sz="2050" i="true">
                  <a:solidFill>
                    <a:srgbClr val="475569"/>
                  </a:solidFill>
                  <a:latin typeface="DejaVu Sans Bold Italics"/>
                  <a:ea typeface="DejaVu Sans Bold Italics"/>
                  <a:cs typeface="DejaVu Sans Bold Italics"/>
                  <a:sym typeface="DejaVu Sans Bold Italics"/>
                </a:rPr>
                <a:t>Nguồn: Cục Thống kê – Bộ Tài chính (BC 9T/2026); Bộ Xây dựng (Giá bình quân thị trường thứ cấp, BC Q2/2026).</a:t>
              </a:r>
            </a:p>
          </p:txBody>
        </p:sp>
      </p:grpSp>
      <p:grpSp>
        <p:nvGrpSpPr>
          <p:cNvPr name="Group 21" id="21"/>
          <p:cNvGrpSpPr/>
          <p:nvPr/>
        </p:nvGrpSpPr>
        <p:grpSpPr>
          <a:xfrm rot="0">
            <a:off x="579311" y="1985582"/>
            <a:ext cx="2948940" cy="1618488"/>
            <a:chOff x="0" y="0"/>
            <a:chExt cx="3931920" cy="2157984"/>
          </a:xfrm>
        </p:grpSpPr>
        <p:sp>
          <p:nvSpPr>
            <p:cNvPr name="Freeform 22" id="22"/>
            <p:cNvSpPr/>
            <p:nvPr/>
          </p:nvSpPr>
          <p:spPr>
            <a:xfrm flipH="false" flipV="false" rot="0">
              <a:off x="0" y="0"/>
              <a:ext cx="3931920" cy="2157984"/>
            </a:xfrm>
            <a:custGeom>
              <a:avLst/>
              <a:gdLst/>
              <a:ahLst/>
              <a:cxnLst/>
              <a:rect r="r" b="b" t="t" l="l"/>
              <a:pathLst>
                <a:path h="2157984" w="3931920">
                  <a:moveTo>
                    <a:pt x="0" y="86360"/>
                  </a:moveTo>
                  <a:cubicBezTo>
                    <a:pt x="0" y="38608"/>
                    <a:pt x="38608" y="0"/>
                    <a:pt x="86360" y="0"/>
                  </a:cubicBezTo>
                  <a:lnTo>
                    <a:pt x="3845560" y="0"/>
                  </a:lnTo>
                  <a:cubicBezTo>
                    <a:pt x="3893185" y="0"/>
                    <a:pt x="3931920" y="38608"/>
                    <a:pt x="3931920" y="86360"/>
                  </a:cubicBezTo>
                  <a:lnTo>
                    <a:pt x="3931920" y="2071624"/>
                  </a:lnTo>
                  <a:cubicBezTo>
                    <a:pt x="3931920" y="2119249"/>
                    <a:pt x="3893312" y="2157984"/>
                    <a:pt x="3845560" y="2157984"/>
                  </a:cubicBezTo>
                  <a:lnTo>
                    <a:pt x="86360" y="2157984"/>
                  </a:lnTo>
                  <a:cubicBezTo>
                    <a:pt x="38735" y="2157984"/>
                    <a:pt x="0" y="2119376"/>
                    <a:pt x="0" y="2071624"/>
                  </a:cubicBezTo>
                  <a:close/>
                </a:path>
              </a:pathLst>
            </a:custGeom>
            <a:solidFill>
              <a:srgbClr val="0F766E"/>
            </a:solidFill>
          </p:spPr>
        </p:sp>
      </p:grpSp>
      <p:grpSp>
        <p:nvGrpSpPr>
          <p:cNvPr name="Group 23" id="23"/>
          <p:cNvGrpSpPr/>
          <p:nvPr/>
        </p:nvGrpSpPr>
        <p:grpSpPr>
          <a:xfrm rot="0">
            <a:off x="579311" y="1985582"/>
            <a:ext cx="2948940" cy="1618488"/>
            <a:chOff x="0" y="0"/>
            <a:chExt cx="3931920" cy="2157984"/>
          </a:xfrm>
        </p:grpSpPr>
        <p:sp>
          <p:nvSpPr>
            <p:cNvPr name="Freeform 24" id="24"/>
            <p:cNvSpPr/>
            <p:nvPr/>
          </p:nvSpPr>
          <p:spPr>
            <a:xfrm flipH="false" flipV="false" rot="0">
              <a:off x="0" y="0"/>
              <a:ext cx="3931920" cy="2157984"/>
            </a:xfrm>
            <a:custGeom>
              <a:avLst/>
              <a:gdLst/>
              <a:ahLst/>
              <a:cxnLst/>
              <a:rect r="r" b="b" t="t" l="l"/>
              <a:pathLst>
                <a:path h="2157984" w="3931920">
                  <a:moveTo>
                    <a:pt x="0" y="0"/>
                  </a:moveTo>
                  <a:lnTo>
                    <a:pt x="3931920" y="0"/>
                  </a:lnTo>
                  <a:lnTo>
                    <a:pt x="3931920" y="2157984"/>
                  </a:lnTo>
                  <a:lnTo>
                    <a:pt x="0" y="2157984"/>
                  </a:lnTo>
                  <a:close/>
                </a:path>
              </a:pathLst>
            </a:custGeom>
            <a:blipFill>
              <a:blip r:embed="rId2">
                <a:alphaModFix amt="0"/>
              </a:blip>
              <a:stretch>
                <a:fillRect l="-20417" t="0" r="-20417" b="0"/>
              </a:stretch>
            </a:blipFill>
          </p:spPr>
        </p:sp>
        <p:sp>
          <p:nvSpPr>
            <p:cNvPr name="TextBox 25" id="25"/>
            <p:cNvSpPr txBox="true"/>
            <p:nvPr/>
          </p:nvSpPr>
          <p:spPr>
            <a:xfrm>
              <a:off x="0" y="-9525"/>
              <a:ext cx="3931920" cy="2167509"/>
            </a:xfrm>
            <a:prstGeom prst="rect">
              <a:avLst/>
            </a:prstGeom>
          </p:spPr>
          <p:txBody>
            <a:bodyPr anchor="ctr" rtlCol="false" tIns="0" lIns="0" bIns="0" rIns="0"/>
            <a:lstStyle/>
            <a:p>
              <a:pPr algn="ctr">
                <a:lnSpc>
                  <a:spcPts val="2790"/>
                </a:lnSpc>
              </a:pPr>
              <a:r>
                <a:rPr lang="en-US" sz="2325" b="true">
                  <a:solidFill>
                    <a:srgbClr val="FFFFFF"/>
                  </a:solidFill>
                  <a:latin typeface="DejaVu Sans Bold"/>
                  <a:ea typeface="DejaVu Sans Bold"/>
                  <a:cs typeface="DejaVu Sans Bold"/>
                  <a:sym typeface="DejaVu Sans Bold"/>
                </a:rPr>
                <a:t>10 – 15 tr</a:t>
              </a:r>
            </a:p>
          </p:txBody>
        </p:sp>
      </p:grpSp>
      <p:grpSp>
        <p:nvGrpSpPr>
          <p:cNvPr name="Group 26" id="26"/>
          <p:cNvGrpSpPr/>
          <p:nvPr/>
        </p:nvGrpSpPr>
        <p:grpSpPr>
          <a:xfrm rot="0">
            <a:off x="3682365" y="1975104"/>
            <a:ext cx="6851523" cy="1639443"/>
            <a:chOff x="0" y="0"/>
            <a:chExt cx="9135364" cy="2185924"/>
          </a:xfrm>
        </p:grpSpPr>
        <p:sp>
          <p:nvSpPr>
            <p:cNvPr name="Freeform 27" id="27"/>
            <p:cNvSpPr/>
            <p:nvPr/>
          </p:nvSpPr>
          <p:spPr>
            <a:xfrm flipH="false" flipV="false" rot="0">
              <a:off x="0" y="0"/>
              <a:ext cx="9135364" cy="2185924"/>
            </a:xfrm>
            <a:custGeom>
              <a:avLst/>
              <a:gdLst/>
              <a:ahLst/>
              <a:cxnLst/>
              <a:rect r="r" b="b" t="t" l="l"/>
              <a:pathLst>
                <a:path h="2185924" w="9135364">
                  <a:moveTo>
                    <a:pt x="0" y="87376"/>
                  </a:moveTo>
                  <a:cubicBezTo>
                    <a:pt x="0" y="39116"/>
                    <a:pt x="39116" y="0"/>
                    <a:pt x="87376" y="0"/>
                  </a:cubicBezTo>
                  <a:lnTo>
                    <a:pt x="9047988" y="0"/>
                  </a:lnTo>
                  <a:cubicBezTo>
                    <a:pt x="9096248" y="0"/>
                    <a:pt x="9135364" y="39116"/>
                    <a:pt x="9135364" y="87376"/>
                  </a:cubicBezTo>
                  <a:lnTo>
                    <a:pt x="9135364" y="2098548"/>
                  </a:lnTo>
                  <a:cubicBezTo>
                    <a:pt x="9135364" y="2146808"/>
                    <a:pt x="9096248" y="2185924"/>
                    <a:pt x="9047988" y="2185924"/>
                  </a:cubicBezTo>
                  <a:lnTo>
                    <a:pt x="87376" y="2185924"/>
                  </a:lnTo>
                  <a:cubicBezTo>
                    <a:pt x="39116" y="2185924"/>
                    <a:pt x="0" y="2146808"/>
                    <a:pt x="0" y="2098548"/>
                  </a:cubicBezTo>
                  <a:close/>
                </a:path>
              </a:pathLst>
            </a:custGeom>
            <a:solidFill>
              <a:srgbClr val="FFFFFF"/>
            </a:solidFill>
            <a:ln w="20955" cap="sq">
              <a:solidFill>
                <a:srgbClr val="CBD5E1"/>
              </a:solidFill>
              <a:prstDash val="solid"/>
              <a:miter/>
            </a:ln>
          </p:spPr>
        </p:sp>
      </p:grpSp>
      <p:grpSp>
        <p:nvGrpSpPr>
          <p:cNvPr name="Group 28" id="28"/>
          <p:cNvGrpSpPr/>
          <p:nvPr/>
        </p:nvGrpSpPr>
        <p:grpSpPr>
          <a:xfrm rot="0">
            <a:off x="3884867" y="2067878"/>
            <a:ext cx="6473952" cy="1453896"/>
            <a:chOff x="0" y="0"/>
            <a:chExt cx="8631936" cy="1938528"/>
          </a:xfrm>
        </p:grpSpPr>
        <p:sp>
          <p:nvSpPr>
            <p:cNvPr name="Freeform 29" id="29"/>
            <p:cNvSpPr/>
            <p:nvPr/>
          </p:nvSpPr>
          <p:spPr>
            <a:xfrm flipH="false" flipV="false" rot="0">
              <a:off x="0" y="0"/>
              <a:ext cx="8631936" cy="1938528"/>
            </a:xfrm>
            <a:custGeom>
              <a:avLst/>
              <a:gdLst/>
              <a:ahLst/>
              <a:cxnLst/>
              <a:rect r="r" b="b" t="t" l="l"/>
              <a:pathLst>
                <a:path h="1938528" w="8631936">
                  <a:moveTo>
                    <a:pt x="0" y="0"/>
                  </a:moveTo>
                  <a:lnTo>
                    <a:pt x="8631936" y="0"/>
                  </a:lnTo>
                  <a:lnTo>
                    <a:pt x="8631936" y="1938528"/>
                  </a:lnTo>
                  <a:lnTo>
                    <a:pt x="0" y="1938528"/>
                  </a:lnTo>
                  <a:close/>
                </a:path>
              </a:pathLst>
            </a:custGeom>
            <a:blipFill>
              <a:blip r:embed="rId2">
                <a:alphaModFix amt="0"/>
              </a:blip>
              <a:stretch>
                <a:fillRect l="0" t="-36763" r="0" b="-36763"/>
              </a:stretch>
            </a:blipFill>
          </p:spPr>
        </p:sp>
        <p:sp>
          <p:nvSpPr>
            <p:cNvPr name="TextBox 30" id="30"/>
            <p:cNvSpPr txBox="true"/>
            <p:nvPr/>
          </p:nvSpPr>
          <p:spPr>
            <a:xfrm>
              <a:off x="0" y="-19050"/>
              <a:ext cx="8631936" cy="1957578"/>
            </a:xfrm>
            <a:prstGeom prst="rect">
              <a:avLst/>
            </a:prstGeom>
          </p:spPr>
          <p:txBody>
            <a:bodyPr anchor="ctr" rtlCol="false" tIns="0" lIns="0" bIns="0" rIns="0"/>
            <a:lstStyle/>
            <a:p>
              <a:pPr algn="l">
                <a:lnSpc>
                  <a:spcPts val="2520"/>
                </a:lnSpc>
              </a:pPr>
              <a:r>
                <a:rPr lang="en-US" sz="2100" b="true">
                  <a:solidFill>
                    <a:srgbClr val="122645"/>
                  </a:solidFill>
                  <a:latin typeface="DejaVu Sans Bold"/>
                  <a:ea typeface="DejaVu Sans Bold"/>
                  <a:cs typeface="DejaVu Sans Bold"/>
                  <a:sym typeface="DejaVu Sans Bold"/>
                </a:rPr>
                <a:t>Thu nhập SV mới ra trường tại đô thị</a:t>
              </a:r>
            </a:p>
            <a:p>
              <a:pPr algn="l">
                <a:lnSpc>
                  <a:spcPts val="2520"/>
                </a:lnSpc>
              </a:pPr>
              <a:r>
                <a:rPr lang="en-US" sz="2100">
                  <a:solidFill>
                    <a:srgbClr val="1E293B"/>
                  </a:solidFill>
                  <a:latin typeface="DejaVu Sans Light"/>
                  <a:ea typeface="DejaVu Sans Light"/>
                  <a:cs typeface="DejaVu Sans Light"/>
                  <a:sym typeface="DejaVu Sans Light"/>
                </a:rPr>
                <a:t>Thu nhập BQ lao động cả nước 9T/2026 đạt 9,1 triệu/tháng (Cục Thống kê). Trừ tiền thuê trọ &amp; sinh hoạt, tích lũy ban đầu mỏng.</a:t>
              </a:r>
            </a:p>
          </p:txBody>
        </p:sp>
      </p:grpSp>
      <p:grpSp>
        <p:nvGrpSpPr>
          <p:cNvPr name="Group 31" id="31"/>
          <p:cNvGrpSpPr/>
          <p:nvPr/>
        </p:nvGrpSpPr>
        <p:grpSpPr>
          <a:xfrm rot="0">
            <a:off x="579311" y="4800600"/>
            <a:ext cx="2948940" cy="1618488"/>
            <a:chOff x="0" y="0"/>
            <a:chExt cx="3931920" cy="2157984"/>
          </a:xfrm>
        </p:grpSpPr>
        <p:sp>
          <p:nvSpPr>
            <p:cNvPr name="Freeform 32" id="32"/>
            <p:cNvSpPr/>
            <p:nvPr/>
          </p:nvSpPr>
          <p:spPr>
            <a:xfrm flipH="false" flipV="false" rot="0">
              <a:off x="0" y="0"/>
              <a:ext cx="3931920" cy="2157984"/>
            </a:xfrm>
            <a:custGeom>
              <a:avLst/>
              <a:gdLst/>
              <a:ahLst/>
              <a:cxnLst/>
              <a:rect r="r" b="b" t="t" l="l"/>
              <a:pathLst>
                <a:path h="2157984" w="3931920">
                  <a:moveTo>
                    <a:pt x="0" y="86360"/>
                  </a:moveTo>
                  <a:cubicBezTo>
                    <a:pt x="0" y="38608"/>
                    <a:pt x="38608" y="0"/>
                    <a:pt x="86360" y="0"/>
                  </a:cubicBezTo>
                  <a:lnTo>
                    <a:pt x="3845560" y="0"/>
                  </a:lnTo>
                  <a:cubicBezTo>
                    <a:pt x="3893185" y="0"/>
                    <a:pt x="3931920" y="38608"/>
                    <a:pt x="3931920" y="86360"/>
                  </a:cubicBezTo>
                  <a:lnTo>
                    <a:pt x="3931920" y="2071624"/>
                  </a:lnTo>
                  <a:cubicBezTo>
                    <a:pt x="3931920" y="2119249"/>
                    <a:pt x="3893312" y="2157984"/>
                    <a:pt x="3845560" y="2157984"/>
                  </a:cubicBezTo>
                  <a:lnTo>
                    <a:pt x="86360" y="2157984"/>
                  </a:lnTo>
                  <a:cubicBezTo>
                    <a:pt x="38735" y="2157984"/>
                    <a:pt x="0" y="2119376"/>
                    <a:pt x="0" y="2071624"/>
                  </a:cubicBezTo>
                  <a:close/>
                </a:path>
              </a:pathLst>
            </a:custGeom>
            <a:solidFill>
              <a:srgbClr val="B91C1C"/>
            </a:solidFill>
          </p:spPr>
        </p:sp>
      </p:grpSp>
      <p:grpSp>
        <p:nvGrpSpPr>
          <p:cNvPr name="Group 33" id="33"/>
          <p:cNvGrpSpPr/>
          <p:nvPr/>
        </p:nvGrpSpPr>
        <p:grpSpPr>
          <a:xfrm rot="0">
            <a:off x="579311" y="4800600"/>
            <a:ext cx="2948940" cy="1618488"/>
            <a:chOff x="0" y="0"/>
            <a:chExt cx="3931920" cy="2157984"/>
          </a:xfrm>
        </p:grpSpPr>
        <p:sp>
          <p:nvSpPr>
            <p:cNvPr name="Freeform 34" id="34"/>
            <p:cNvSpPr/>
            <p:nvPr/>
          </p:nvSpPr>
          <p:spPr>
            <a:xfrm flipH="false" flipV="false" rot="0">
              <a:off x="0" y="0"/>
              <a:ext cx="3931920" cy="2157984"/>
            </a:xfrm>
            <a:custGeom>
              <a:avLst/>
              <a:gdLst/>
              <a:ahLst/>
              <a:cxnLst/>
              <a:rect r="r" b="b" t="t" l="l"/>
              <a:pathLst>
                <a:path h="2157984" w="3931920">
                  <a:moveTo>
                    <a:pt x="0" y="0"/>
                  </a:moveTo>
                  <a:lnTo>
                    <a:pt x="3931920" y="0"/>
                  </a:lnTo>
                  <a:lnTo>
                    <a:pt x="3931920" y="2157984"/>
                  </a:lnTo>
                  <a:lnTo>
                    <a:pt x="0" y="2157984"/>
                  </a:lnTo>
                  <a:close/>
                </a:path>
              </a:pathLst>
            </a:custGeom>
            <a:blipFill>
              <a:blip r:embed="rId2">
                <a:alphaModFix amt="0"/>
              </a:blip>
              <a:stretch>
                <a:fillRect l="-20417" t="0" r="-20417" b="0"/>
              </a:stretch>
            </a:blipFill>
          </p:spPr>
        </p:sp>
        <p:sp>
          <p:nvSpPr>
            <p:cNvPr name="TextBox 35" id="35"/>
            <p:cNvSpPr txBox="true"/>
            <p:nvPr/>
          </p:nvSpPr>
          <p:spPr>
            <a:xfrm>
              <a:off x="0" y="-9525"/>
              <a:ext cx="3931920" cy="2167509"/>
            </a:xfrm>
            <a:prstGeom prst="rect">
              <a:avLst/>
            </a:prstGeom>
          </p:spPr>
          <p:txBody>
            <a:bodyPr anchor="ctr" rtlCol="false" tIns="0" lIns="0" bIns="0" rIns="0"/>
            <a:lstStyle/>
            <a:p>
              <a:pPr algn="ctr">
                <a:lnSpc>
                  <a:spcPts val="2790"/>
                </a:lnSpc>
              </a:pPr>
              <a:r>
                <a:rPr lang="en-US" sz="2325" b="true">
                  <a:solidFill>
                    <a:srgbClr val="FFFFFF"/>
                  </a:solidFill>
                  <a:latin typeface="DejaVu Sans Bold"/>
                  <a:ea typeface="DejaVu Sans Bold"/>
                  <a:cs typeface="DejaVu Sans Bold"/>
                  <a:sym typeface="DejaVu Sans Bold"/>
                </a:rPr>
                <a:t>108 – 123</a:t>
              </a:r>
            </a:p>
            <a:p>
              <a:pPr algn="ctr">
                <a:lnSpc>
                  <a:spcPts val="2790"/>
                </a:lnSpc>
              </a:pPr>
              <a:r>
                <a:rPr lang="en-US" sz="2325" b="true">
                  <a:solidFill>
                    <a:srgbClr val="FFFFFF"/>
                  </a:solidFill>
                  <a:latin typeface="DejaVu Sans Bold"/>
                  <a:ea typeface="DejaVu Sans Bold"/>
                  <a:cs typeface="DejaVu Sans Bold"/>
                  <a:sym typeface="DejaVu Sans Bold"/>
                </a:rPr>
                <a:t>tr/m²</a:t>
              </a:r>
            </a:p>
          </p:txBody>
        </p:sp>
      </p:grpSp>
      <p:grpSp>
        <p:nvGrpSpPr>
          <p:cNvPr name="Group 36" id="36"/>
          <p:cNvGrpSpPr/>
          <p:nvPr/>
        </p:nvGrpSpPr>
        <p:grpSpPr>
          <a:xfrm rot="0">
            <a:off x="3682365" y="4790123"/>
            <a:ext cx="6851523" cy="1639443"/>
            <a:chOff x="0" y="0"/>
            <a:chExt cx="9135364" cy="2185924"/>
          </a:xfrm>
        </p:grpSpPr>
        <p:sp>
          <p:nvSpPr>
            <p:cNvPr name="Freeform 37" id="37"/>
            <p:cNvSpPr/>
            <p:nvPr/>
          </p:nvSpPr>
          <p:spPr>
            <a:xfrm flipH="false" flipV="false" rot="0">
              <a:off x="0" y="0"/>
              <a:ext cx="9135364" cy="2185924"/>
            </a:xfrm>
            <a:custGeom>
              <a:avLst/>
              <a:gdLst/>
              <a:ahLst/>
              <a:cxnLst/>
              <a:rect r="r" b="b" t="t" l="l"/>
              <a:pathLst>
                <a:path h="2185924" w="9135364">
                  <a:moveTo>
                    <a:pt x="0" y="87376"/>
                  </a:moveTo>
                  <a:cubicBezTo>
                    <a:pt x="0" y="39116"/>
                    <a:pt x="39116" y="0"/>
                    <a:pt x="87376" y="0"/>
                  </a:cubicBezTo>
                  <a:lnTo>
                    <a:pt x="9047988" y="0"/>
                  </a:lnTo>
                  <a:cubicBezTo>
                    <a:pt x="9096248" y="0"/>
                    <a:pt x="9135364" y="39116"/>
                    <a:pt x="9135364" y="87376"/>
                  </a:cubicBezTo>
                  <a:lnTo>
                    <a:pt x="9135364" y="2098548"/>
                  </a:lnTo>
                  <a:cubicBezTo>
                    <a:pt x="9135364" y="2146808"/>
                    <a:pt x="9096248" y="2185924"/>
                    <a:pt x="9047988" y="2185924"/>
                  </a:cubicBezTo>
                  <a:lnTo>
                    <a:pt x="87376" y="2185924"/>
                  </a:lnTo>
                  <a:cubicBezTo>
                    <a:pt x="39116" y="2185924"/>
                    <a:pt x="0" y="2146808"/>
                    <a:pt x="0" y="2098548"/>
                  </a:cubicBezTo>
                  <a:close/>
                </a:path>
              </a:pathLst>
            </a:custGeom>
            <a:solidFill>
              <a:srgbClr val="FFFFFF"/>
            </a:solidFill>
            <a:ln w="20955" cap="sq">
              <a:solidFill>
                <a:srgbClr val="CBD5E1"/>
              </a:solidFill>
              <a:prstDash val="solid"/>
              <a:miter/>
            </a:ln>
          </p:spPr>
        </p:sp>
      </p:grpSp>
      <p:grpSp>
        <p:nvGrpSpPr>
          <p:cNvPr name="Group 38" id="38"/>
          <p:cNvGrpSpPr/>
          <p:nvPr/>
        </p:nvGrpSpPr>
        <p:grpSpPr>
          <a:xfrm rot="0">
            <a:off x="3884867" y="4882896"/>
            <a:ext cx="6473952" cy="1453896"/>
            <a:chOff x="0" y="0"/>
            <a:chExt cx="8631936" cy="1938528"/>
          </a:xfrm>
        </p:grpSpPr>
        <p:sp>
          <p:nvSpPr>
            <p:cNvPr name="Freeform 39" id="39"/>
            <p:cNvSpPr/>
            <p:nvPr/>
          </p:nvSpPr>
          <p:spPr>
            <a:xfrm flipH="false" flipV="false" rot="0">
              <a:off x="0" y="0"/>
              <a:ext cx="8631936" cy="1938528"/>
            </a:xfrm>
            <a:custGeom>
              <a:avLst/>
              <a:gdLst/>
              <a:ahLst/>
              <a:cxnLst/>
              <a:rect r="r" b="b" t="t" l="l"/>
              <a:pathLst>
                <a:path h="1938528" w="8631936">
                  <a:moveTo>
                    <a:pt x="0" y="0"/>
                  </a:moveTo>
                  <a:lnTo>
                    <a:pt x="8631936" y="0"/>
                  </a:lnTo>
                  <a:lnTo>
                    <a:pt x="8631936" y="1938528"/>
                  </a:lnTo>
                  <a:lnTo>
                    <a:pt x="0" y="1938528"/>
                  </a:lnTo>
                  <a:close/>
                </a:path>
              </a:pathLst>
            </a:custGeom>
            <a:blipFill>
              <a:blip r:embed="rId2">
                <a:alphaModFix amt="0"/>
              </a:blip>
              <a:stretch>
                <a:fillRect l="0" t="-36763" r="0" b="-36763"/>
              </a:stretch>
            </a:blipFill>
          </p:spPr>
        </p:sp>
        <p:sp>
          <p:nvSpPr>
            <p:cNvPr name="TextBox 40" id="40"/>
            <p:cNvSpPr txBox="true"/>
            <p:nvPr/>
          </p:nvSpPr>
          <p:spPr>
            <a:xfrm>
              <a:off x="0" y="-19050"/>
              <a:ext cx="8631936" cy="1957578"/>
            </a:xfrm>
            <a:prstGeom prst="rect">
              <a:avLst/>
            </a:prstGeom>
          </p:spPr>
          <p:txBody>
            <a:bodyPr anchor="ctr" rtlCol="false" tIns="0" lIns="0" bIns="0" rIns="0"/>
            <a:lstStyle/>
            <a:p>
              <a:pPr algn="l">
                <a:lnSpc>
                  <a:spcPts val="2520"/>
                </a:lnSpc>
              </a:pPr>
              <a:r>
                <a:rPr lang="en-US" sz="2100" b="true">
                  <a:solidFill>
                    <a:srgbClr val="122645"/>
                  </a:solidFill>
                  <a:latin typeface="DejaVu Sans Bold"/>
                  <a:ea typeface="DejaVu Sans Bold"/>
                  <a:cs typeface="DejaVu Sans Bold"/>
                  <a:sym typeface="DejaVu Sans Bold"/>
                </a:rPr>
                <a:t>Giá chung cư thứ cấp neo ở mức rất cao</a:t>
              </a:r>
            </a:p>
            <a:p>
              <a:pPr algn="l">
                <a:lnSpc>
                  <a:spcPts val="2520"/>
                </a:lnSpc>
              </a:pPr>
              <a:r>
                <a:rPr lang="en-US" sz="2100">
                  <a:solidFill>
                    <a:srgbClr val="1E293B"/>
                  </a:solidFill>
                  <a:latin typeface="DejaVu Sans Light"/>
                  <a:ea typeface="DejaVu Sans Light"/>
                  <a:cs typeface="DejaVu Sans Light"/>
                  <a:sym typeface="DejaVu Sans Light"/>
                </a:rPr>
                <a:t>Theo số liệu thị trường thứ cấp Q2/2026 (Bộ Xây dựng): bình quân TP.HCM ~108 tr/m², Hà Nội ~123 tr/m²; vượt xa sức mua người trẻ.</a:t>
              </a:r>
            </a:p>
          </p:txBody>
        </p:sp>
      </p:grpSp>
      <p:grpSp>
        <p:nvGrpSpPr>
          <p:cNvPr name="Group 41" id="41"/>
          <p:cNvGrpSpPr/>
          <p:nvPr/>
        </p:nvGrpSpPr>
        <p:grpSpPr>
          <a:xfrm rot="0">
            <a:off x="754380" y="7708392"/>
            <a:ext cx="2948940" cy="1618488"/>
            <a:chOff x="0" y="0"/>
            <a:chExt cx="3931920" cy="2157984"/>
          </a:xfrm>
        </p:grpSpPr>
        <p:sp>
          <p:nvSpPr>
            <p:cNvPr name="Freeform 42" id="42"/>
            <p:cNvSpPr/>
            <p:nvPr/>
          </p:nvSpPr>
          <p:spPr>
            <a:xfrm flipH="false" flipV="false" rot="0">
              <a:off x="0" y="0"/>
              <a:ext cx="3931920" cy="2157984"/>
            </a:xfrm>
            <a:custGeom>
              <a:avLst/>
              <a:gdLst/>
              <a:ahLst/>
              <a:cxnLst/>
              <a:rect r="r" b="b" t="t" l="l"/>
              <a:pathLst>
                <a:path h="2157984" w="3931920">
                  <a:moveTo>
                    <a:pt x="0" y="86360"/>
                  </a:moveTo>
                  <a:cubicBezTo>
                    <a:pt x="0" y="38608"/>
                    <a:pt x="38608" y="0"/>
                    <a:pt x="86360" y="0"/>
                  </a:cubicBezTo>
                  <a:lnTo>
                    <a:pt x="3845560" y="0"/>
                  </a:lnTo>
                  <a:cubicBezTo>
                    <a:pt x="3893185" y="0"/>
                    <a:pt x="3931920" y="38608"/>
                    <a:pt x="3931920" y="86360"/>
                  </a:cubicBezTo>
                  <a:lnTo>
                    <a:pt x="3931920" y="2071624"/>
                  </a:lnTo>
                  <a:cubicBezTo>
                    <a:pt x="3931920" y="2119249"/>
                    <a:pt x="3893312" y="2157984"/>
                    <a:pt x="3845560" y="2157984"/>
                  </a:cubicBezTo>
                  <a:lnTo>
                    <a:pt x="86360" y="2157984"/>
                  </a:lnTo>
                  <a:cubicBezTo>
                    <a:pt x="38735" y="2157984"/>
                    <a:pt x="0" y="2119376"/>
                    <a:pt x="0" y="2071624"/>
                  </a:cubicBezTo>
                  <a:close/>
                </a:path>
              </a:pathLst>
            </a:custGeom>
            <a:solidFill>
              <a:srgbClr val="122645"/>
            </a:solidFill>
          </p:spPr>
        </p:sp>
      </p:grpSp>
      <p:grpSp>
        <p:nvGrpSpPr>
          <p:cNvPr name="Group 43" id="43"/>
          <p:cNvGrpSpPr/>
          <p:nvPr/>
        </p:nvGrpSpPr>
        <p:grpSpPr>
          <a:xfrm rot="0">
            <a:off x="754380" y="7708392"/>
            <a:ext cx="2948940" cy="1618488"/>
            <a:chOff x="0" y="0"/>
            <a:chExt cx="3931920" cy="2157984"/>
          </a:xfrm>
        </p:grpSpPr>
        <p:sp>
          <p:nvSpPr>
            <p:cNvPr name="Freeform 44" id="44"/>
            <p:cNvSpPr/>
            <p:nvPr/>
          </p:nvSpPr>
          <p:spPr>
            <a:xfrm flipH="false" flipV="false" rot="0">
              <a:off x="0" y="0"/>
              <a:ext cx="3931920" cy="2157984"/>
            </a:xfrm>
            <a:custGeom>
              <a:avLst/>
              <a:gdLst/>
              <a:ahLst/>
              <a:cxnLst/>
              <a:rect r="r" b="b" t="t" l="l"/>
              <a:pathLst>
                <a:path h="2157984" w="3931920">
                  <a:moveTo>
                    <a:pt x="0" y="0"/>
                  </a:moveTo>
                  <a:lnTo>
                    <a:pt x="3931920" y="0"/>
                  </a:lnTo>
                  <a:lnTo>
                    <a:pt x="3931920" y="2157984"/>
                  </a:lnTo>
                  <a:lnTo>
                    <a:pt x="0" y="2157984"/>
                  </a:lnTo>
                  <a:close/>
                </a:path>
              </a:pathLst>
            </a:custGeom>
            <a:blipFill>
              <a:blip r:embed="rId2">
                <a:alphaModFix amt="0"/>
              </a:blip>
              <a:stretch>
                <a:fillRect l="-20417" t="0" r="-20417" b="0"/>
              </a:stretch>
            </a:blipFill>
          </p:spPr>
        </p:sp>
        <p:sp>
          <p:nvSpPr>
            <p:cNvPr name="TextBox 45" id="45"/>
            <p:cNvSpPr txBox="true"/>
            <p:nvPr/>
          </p:nvSpPr>
          <p:spPr>
            <a:xfrm>
              <a:off x="0" y="-9525"/>
              <a:ext cx="3931920" cy="2167509"/>
            </a:xfrm>
            <a:prstGeom prst="rect">
              <a:avLst/>
            </a:prstGeom>
          </p:spPr>
          <p:txBody>
            <a:bodyPr anchor="ctr" rtlCol="false" tIns="0" lIns="0" bIns="0" rIns="0"/>
            <a:lstStyle/>
            <a:p>
              <a:pPr algn="ctr">
                <a:lnSpc>
                  <a:spcPts val="2790"/>
                </a:lnSpc>
              </a:pPr>
              <a:r>
                <a:rPr lang="en-US" sz="2325" b="true">
                  <a:solidFill>
                    <a:srgbClr val="FFFFFF"/>
                  </a:solidFill>
                  <a:latin typeface="DejaVu Sans Bold"/>
                  <a:ea typeface="DejaVu Sans Bold"/>
                  <a:cs typeface="DejaVu Sans Bold"/>
                  <a:sym typeface="DejaVu Sans Bold"/>
                </a:rPr>
                <a:t>Lưỡng nan</a:t>
              </a:r>
            </a:p>
            <a:p>
              <a:pPr algn="ctr">
                <a:lnSpc>
                  <a:spcPts val="2790"/>
                </a:lnSpc>
              </a:pPr>
              <a:r>
                <a:rPr lang="en-US" sz="2325" b="true">
                  <a:solidFill>
                    <a:srgbClr val="FFFFFF"/>
                  </a:solidFill>
                  <a:latin typeface="DejaVu Sans Bold"/>
                  <a:ea typeface="DejaVu Sans Bold"/>
                  <a:cs typeface="DejaVu Sans Bold"/>
                  <a:sym typeface="DejaVu Sans Bold"/>
                </a:rPr>
                <a:t>Chính sách</a:t>
              </a:r>
            </a:p>
          </p:txBody>
        </p:sp>
      </p:grpSp>
      <p:grpSp>
        <p:nvGrpSpPr>
          <p:cNvPr name="Group 46" id="46"/>
          <p:cNvGrpSpPr/>
          <p:nvPr/>
        </p:nvGrpSpPr>
        <p:grpSpPr>
          <a:xfrm rot="0">
            <a:off x="3857434" y="7697914"/>
            <a:ext cx="6851523" cy="1639443"/>
            <a:chOff x="0" y="0"/>
            <a:chExt cx="9135364" cy="2185924"/>
          </a:xfrm>
        </p:grpSpPr>
        <p:sp>
          <p:nvSpPr>
            <p:cNvPr name="Freeform 47" id="47"/>
            <p:cNvSpPr/>
            <p:nvPr/>
          </p:nvSpPr>
          <p:spPr>
            <a:xfrm flipH="false" flipV="false" rot="0">
              <a:off x="0" y="0"/>
              <a:ext cx="9135364" cy="2185924"/>
            </a:xfrm>
            <a:custGeom>
              <a:avLst/>
              <a:gdLst/>
              <a:ahLst/>
              <a:cxnLst/>
              <a:rect r="r" b="b" t="t" l="l"/>
              <a:pathLst>
                <a:path h="2185924" w="9135364">
                  <a:moveTo>
                    <a:pt x="0" y="87376"/>
                  </a:moveTo>
                  <a:cubicBezTo>
                    <a:pt x="0" y="39116"/>
                    <a:pt x="39116" y="0"/>
                    <a:pt x="87376" y="0"/>
                  </a:cubicBezTo>
                  <a:lnTo>
                    <a:pt x="9047988" y="0"/>
                  </a:lnTo>
                  <a:cubicBezTo>
                    <a:pt x="9096248" y="0"/>
                    <a:pt x="9135364" y="39116"/>
                    <a:pt x="9135364" y="87376"/>
                  </a:cubicBezTo>
                  <a:lnTo>
                    <a:pt x="9135364" y="2098548"/>
                  </a:lnTo>
                  <a:cubicBezTo>
                    <a:pt x="9135364" y="2146808"/>
                    <a:pt x="9096248" y="2185924"/>
                    <a:pt x="9047988" y="2185924"/>
                  </a:cubicBezTo>
                  <a:lnTo>
                    <a:pt x="87376" y="2185924"/>
                  </a:lnTo>
                  <a:cubicBezTo>
                    <a:pt x="39116" y="2185924"/>
                    <a:pt x="0" y="2146808"/>
                    <a:pt x="0" y="2098548"/>
                  </a:cubicBezTo>
                  <a:close/>
                </a:path>
              </a:pathLst>
            </a:custGeom>
            <a:solidFill>
              <a:srgbClr val="FFFFFF"/>
            </a:solidFill>
            <a:ln w="20955" cap="sq">
              <a:solidFill>
                <a:srgbClr val="CBD5E1"/>
              </a:solidFill>
              <a:prstDash val="solid"/>
              <a:miter/>
            </a:ln>
          </p:spPr>
        </p:sp>
      </p:grpSp>
      <p:grpSp>
        <p:nvGrpSpPr>
          <p:cNvPr name="Group 48" id="48"/>
          <p:cNvGrpSpPr/>
          <p:nvPr/>
        </p:nvGrpSpPr>
        <p:grpSpPr>
          <a:xfrm rot="0">
            <a:off x="4059936" y="7790688"/>
            <a:ext cx="6473952" cy="1453896"/>
            <a:chOff x="0" y="0"/>
            <a:chExt cx="8631936" cy="1938528"/>
          </a:xfrm>
        </p:grpSpPr>
        <p:sp>
          <p:nvSpPr>
            <p:cNvPr name="Freeform 49" id="49"/>
            <p:cNvSpPr/>
            <p:nvPr/>
          </p:nvSpPr>
          <p:spPr>
            <a:xfrm flipH="false" flipV="false" rot="0">
              <a:off x="0" y="0"/>
              <a:ext cx="8631936" cy="1938528"/>
            </a:xfrm>
            <a:custGeom>
              <a:avLst/>
              <a:gdLst/>
              <a:ahLst/>
              <a:cxnLst/>
              <a:rect r="r" b="b" t="t" l="l"/>
              <a:pathLst>
                <a:path h="1938528" w="8631936">
                  <a:moveTo>
                    <a:pt x="0" y="0"/>
                  </a:moveTo>
                  <a:lnTo>
                    <a:pt x="8631936" y="0"/>
                  </a:lnTo>
                  <a:lnTo>
                    <a:pt x="8631936" y="1938528"/>
                  </a:lnTo>
                  <a:lnTo>
                    <a:pt x="0" y="1938528"/>
                  </a:lnTo>
                  <a:close/>
                </a:path>
              </a:pathLst>
            </a:custGeom>
            <a:blipFill>
              <a:blip r:embed="rId2">
                <a:alphaModFix amt="0"/>
              </a:blip>
              <a:stretch>
                <a:fillRect l="0" t="-36763" r="0" b="-36763"/>
              </a:stretch>
            </a:blipFill>
          </p:spPr>
        </p:sp>
        <p:sp>
          <p:nvSpPr>
            <p:cNvPr name="TextBox 50" id="50"/>
            <p:cNvSpPr txBox="true"/>
            <p:nvPr/>
          </p:nvSpPr>
          <p:spPr>
            <a:xfrm>
              <a:off x="0" y="-19050"/>
              <a:ext cx="8631936" cy="1957578"/>
            </a:xfrm>
            <a:prstGeom prst="rect">
              <a:avLst/>
            </a:prstGeom>
          </p:spPr>
          <p:txBody>
            <a:bodyPr anchor="ctr" rtlCol="false" tIns="0" lIns="0" bIns="0" rIns="0"/>
            <a:lstStyle/>
            <a:p>
              <a:pPr algn="l">
                <a:lnSpc>
                  <a:spcPts val="2520"/>
                </a:lnSpc>
              </a:pPr>
              <a:r>
                <a:rPr lang="en-US" sz="2100" b="true">
                  <a:solidFill>
                    <a:srgbClr val="122645"/>
                  </a:solidFill>
                  <a:latin typeface="DejaVu Sans Bold"/>
                  <a:ea typeface="DejaVu Sans Bold"/>
                  <a:cs typeface="DejaVu Sans Bold"/>
                  <a:sym typeface="DejaVu Sans Bold"/>
                </a:rPr>
                <a:t>Bài toán điều tiết của Nhà nước</a:t>
              </a:r>
            </a:p>
            <a:p>
              <a:pPr algn="l">
                <a:lnSpc>
                  <a:spcPts val="2520"/>
                </a:lnSpc>
              </a:pPr>
              <a:r>
                <a:rPr lang="en-US" sz="2100">
                  <a:solidFill>
                    <a:srgbClr val="1E293B"/>
                  </a:solidFill>
                  <a:latin typeface="DejaVu Sans Light"/>
                  <a:ea typeface="DejaVu Sans Light"/>
                  <a:cs typeface="DejaVu Sans Light"/>
                  <a:sym typeface="DejaVu Sans Light"/>
                </a:rPr>
                <a:t>Thiếu điều tiết thì vốn dồn vào phân khúc lãi cao; nhưng tùy tiện ép DN bán dưới chi phí lại vi phạm quy luật thị trường &amp; pháp luật!</a:t>
              </a:r>
            </a:p>
          </p:txBody>
        </p:sp>
      </p:grpSp>
      <p:grpSp>
        <p:nvGrpSpPr>
          <p:cNvPr name="Group 51" id="51"/>
          <p:cNvGrpSpPr/>
          <p:nvPr/>
        </p:nvGrpSpPr>
        <p:grpSpPr>
          <a:xfrm rot="0">
            <a:off x="11043666" y="1881378"/>
            <a:ext cx="6496812" cy="7511796"/>
            <a:chOff x="0" y="0"/>
            <a:chExt cx="8662416" cy="10015728"/>
          </a:xfrm>
        </p:grpSpPr>
        <p:sp>
          <p:nvSpPr>
            <p:cNvPr name="Freeform 52" id="52"/>
            <p:cNvSpPr/>
            <p:nvPr/>
          </p:nvSpPr>
          <p:spPr>
            <a:xfrm flipH="false" flipV="false" rot="0">
              <a:off x="0" y="0"/>
              <a:ext cx="8662416" cy="10015728"/>
            </a:xfrm>
            <a:custGeom>
              <a:avLst/>
              <a:gdLst/>
              <a:ahLst/>
              <a:cxnLst/>
              <a:rect r="r" b="b" t="t" l="l"/>
              <a:pathLst>
                <a:path h="10015728" w="8662416">
                  <a:moveTo>
                    <a:pt x="0" y="346456"/>
                  </a:moveTo>
                  <a:cubicBezTo>
                    <a:pt x="0" y="155194"/>
                    <a:pt x="155194" y="0"/>
                    <a:pt x="346456" y="0"/>
                  </a:cubicBezTo>
                  <a:lnTo>
                    <a:pt x="8315960" y="0"/>
                  </a:lnTo>
                  <a:cubicBezTo>
                    <a:pt x="8507349" y="0"/>
                    <a:pt x="8662416" y="155194"/>
                    <a:pt x="8662416" y="346456"/>
                  </a:cubicBezTo>
                  <a:lnTo>
                    <a:pt x="8662416" y="9669272"/>
                  </a:lnTo>
                  <a:cubicBezTo>
                    <a:pt x="8662416" y="9860661"/>
                    <a:pt x="8507222" y="10015728"/>
                    <a:pt x="8315960" y="10015728"/>
                  </a:cubicBezTo>
                  <a:lnTo>
                    <a:pt x="346456" y="10015728"/>
                  </a:lnTo>
                  <a:cubicBezTo>
                    <a:pt x="155194" y="10015728"/>
                    <a:pt x="0" y="9860534"/>
                    <a:pt x="0" y="9669272"/>
                  </a:cubicBezTo>
                  <a:close/>
                </a:path>
              </a:pathLst>
            </a:custGeom>
            <a:solidFill>
              <a:srgbClr val="FFFFFF"/>
            </a:solidFill>
            <a:ln w="22860" cap="sq">
              <a:solidFill>
                <a:srgbClr val="CBD5E1"/>
              </a:solidFill>
              <a:prstDash val="solid"/>
              <a:miter/>
            </a:ln>
          </p:spPr>
        </p:sp>
      </p:grpSp>
      <p:grpSp>
        <p:nvGrpSpPr>
          <p:cNvPr name="Group 53" id="53"/>
          <p:cNvGrpSpPr/>
          <p:nvPr/>
        </p:nvGrpSpPr>
        <p:grpSpPr>
          <a:xfrm rot="0">
            <a:off x="11137392" y="1975104"/>
            <a:ext cx="6309360" cy="6748272"/>
            <a:chOff x="0" y="0"/>
            <a:chExt cx="8412480" cy="8997696"/>
          </a:xfrm>
        </p:grpSpPr>
        <p:sp>
          <p:nvSpPr>
            <p:cNvPr name="Freeform 54" id="54" descr="image2.jpg"/>
            <p:cNvSpPr/>
            <p:nvPr/>
          </p:nvSpPr>
          <p:spPr>
            <a:xfrm flipH="false" flipV="false" rot="0">
              <a:off x="0" y="0"/>
              <a:ext cx="8412480" cy="8997696"/>
            </a:xfrm>
            <a:custGeom>
              <a:avLst/>
              <a:gdLst/>
              <a:ahLst/>
              <a:cxnLst/>
              <a:rect r="r" b="b" t="t" l="l"/>
              <a:pathLst>
                <a:path h="8997696" w="8412480">
                  <a:moveTo>
                    <a:pt x="0" y="0"/>
                  </a:moveTo>
                  <a:lnTo>
                    <a:pt x="8412480" y="0"/>
                  </a:lnTo>
                  <a:lnTo>
                    <a:pt x="8412480" y="8997696"/>
                  </a:lnTo>
                  <a:lnTo>
                    <a:pt x="0" y="8997696"/>
                  </a:lnTo>
                  <a:lnTo>
                    <a:pt x="0" y="0"/>
                  </a:lnTo>
                  <a:close/>
                </a:path>
              </a:pathLst>
            </a:custGeom>
            <a:blipFill>
              <a:blip r:embed="rId3"/>
              <a:stretch>
                <a:fillRect l="0" t="-304" r="0" b="-304"/>
              </a:stretch>
            </a:blipFill>
          </p:spPr>
        </p:sp>
      </p:grpSp>
      <p:grpSp>
        <p:nvGrpSpPr>
          <p:cNvPr name="Group 55" id="55"/>
          <p:cNvGrpSpPr/>
          <p:nvPr/>
        </p:nvGrpSpPr>
        <p:grpSpPr>
          <a:xfrm rot="0">
            <a:off x="11137392" y="8778240"/>
            <a:ext cx="6309360" cy="548640"/>
            <a:chOff x="0" y="0"/>
            <a:chExt cx="8412480" cy="731520"/>
          </a:xfrm>
        </p:grpSpPr>
        <p:sp>
          <p:nvSpPr>
            <p:cNvPr name="Freeform 56" id="56"/>
            <p:cNvSpPr/>
            <p:nvPr/>
          </p:nvSpPr>
          <p:spPr>
            <a:xfrm flipH="false" flipV="false" rot="0">
              <a:off x="0" y="0"/>
              <a:ext cx="8412480" cy="731520"/>
            </a:xfrm>
            <a:custGeom>
              <a:avLst/>
              <a:gdLst/>
              <a:ahLst/>
              <a:cxnLst/>
              <a:rect r="r" b="b" t="t" l="l"/>
              <a:pathLst>
                <a:path h="731520" w="8412480">
                  <a:moveTo>
                    <a:pt x="0" y="0"/>
                  </a:moveTo>
                  <a:lnTo>
                    <a:pt x="8412480" y="0"/>
                  </a:lnTo>
                  <a:lnTo>
                    <a:pt x="8412480" y="731520"/>
                  </a:lnTo>
                  <a:lnTo>
                    <a:pt x="0" y="731520"/>
                  </a:lnTo>
                  <a:close/>
                </a:path>
              </a:pathLst>
            </a:custGeom>
            <a:solidFill>
              <a:srgbClr val="F1F5F9"/>
            </a:solidFill>
          </p:spPr>
        </p:sp>
      </p:grpSp>
      <p:grpSp>
        <p:nvGrpSpPr>
          <p:cNvPr name="Group 57" id="57"/>
          <p:cNvGrpSpPr/>
          <p:nvPr/>
        </p:nvGrpSpPr>
        <p:grpSpPr>
          <a:xfrm rot="0">
            <a:off x="11219688" y="8778240"/>
            <a:ext cx="6144768" cy="548640"/>
            <a:chOff x="0" y="0"/>
            <a:chExt cx="8193024" cy="731520"/>
          </a:xfrm>
        </p:grpSpPr>
        <p:sp>
          <p:nvSpPr>
            <p:cNvPr name="Freeform 58" id="58"/>
            <p:cNvSpPr/>
            <p:nvPr/>
          </p:nvSpPr>
          <p:spPr>
            <a:xfrm flipH="false" flipV="false" rot="0">
              <a:off x="0" y="0"/>
              <a:ext cx="8193022" cy="731520"/>
            </a:xfrm>
            <a:custGeom>
              <a:avLst/>
              <a:gdLst/>
              <a:ahLst/>
              <a:cxnLst/>
              <a:rect r="r" b="b" t="t" l="l"/>
              <a:pathLst>
                <a:path h="731520" w="8193022">
                  <a:moveTo>
                    <a:pt x="0" y="0"/>
                  </a:moveTo>
                  <a:lnTo>
                    <a:pt x="8193022" y="0"/>
                  </a:lnTo>
                  <a:lnTo>
                    <a:pt x="8193022" y="731520"/>
                  </a:lnTo>
                  <a:lnTo>
                    <a:pt x="0" y="731520"/>
                  </a:lnTo>
                  <a:close/>
                </a:path>
              </a:pathLst>
            </a:custGeom>
            <a:blipFill>
              <a:blip r:embed="rId2">
                <a:alphaModFix amt="0"/>
              </a:blip>
              <a:stretch>
                <a:fillRect l="0" t="-168232" r="0" b="-168232"/>
              </a:stretch>
            </a:blipFill>
          </p:spPr>
        </p:sp>
        <p:sp>
          <p:nvSpPr>
            <p:cNvPr name="TextBox 59" id="59"/>
            <p:cNvSpPr txBox="true"/>
            <p:nvPr/>
          </p:nvSpPr>
          <p:spPr>
            <a:xfrm>
              <a:off x="0" y="-9525"/>
              <a:ext cx="8193024" cy="741045"/>
            </a:xfrm>
            <a:prstGeom prst="rect">
              <a:avLst/>
            </a:prstGeom>
          </p:spPr>
          <p:txBody>
            <a:bodyPr anchor="ctr" rtlCol="false" tIns="0" lIns="0" bIns="0" rIns="0"/>
            <a:lstStyle/>
            <a:p>
              <a:pPr algn="l">
                <a:lnSpc>
                  <a:spcPts val="1727"/>
                </a:lnSpc>
              </a:pPr>
              <a:r>
                <a:rPr lang="en-US" sz="1439" b="true">
                  <a:solidFill>
                    <a:srgbClr val="1E293B"/>
                  </a:solidFill>
                  <a:latin typeface="DejaVu Sans Bold"/>
                  <a:ea typeface="DejaVu Sans Bold"/>
                  <a:cs typeface="DejaVu Sans Bold"/>
                  <a:sym typeface="DejaVu Sans Bold"/>
                </a:rPr>
                <a:t>Ảnh thật: Tân cử nhân tốt nghiệp tại ĐH Luật Hà Nội | Nguồn: Pexels Documentary</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7543" cy="137160"/>
            <a:chOff x="0" y="0"/>
            <a:chExt cx="24383390" cy="182880"/>
          </a:xfrm>
        </p:grpSpPr>
        <p:sp>
          <p:nvSpPr>
            <p:cNvPr name="Freeform 3" id="3"/>
            <p:cNvSpPr/>
            <p:nvPr/>
          </p:nvSpPr>
          <p:spPr>
            <a:xfrm flipH="false" flipV="false" rot="0">
              <a:off x="0" y="0"/>
              <a:ext cx="24383364" cy="182880"/>
            </a:xfrm>
            <a:custGeom>
              <a:avLst/>
              <a:gdLst/>
              <a:ahLst/>
              <a:cxnLst/>
              <a:rect r="r" b="b" t="t" l="l"/>
              <a:pathLst>
                <a:path h="182880" w="24383364">
                  <a:moveTo>
                    <a:pt x="0" y="0"/>
                  </a:moveTo>
                  <a:lnTo>
                    <a:pt x="24383364" y="0"/>
                  </a:lnTo>
                  <a:lnTo>
                    <a:pt x="24383364" y="182880"/>
                  </a:lnTo>
                  <a:lnTo>
                    <a:pt x="0" y="182880"/>
                  </a:lnTo>
                  <a:close/>
                </a:path>
              </a:pathLst>
            </a:custGeom>
            <a:solidFill>
              <a:srgbClr val="122645"/>
            </a:solidFill>
          </p:spPr>
        </p:sp>
      </p:grpSp>
      <p:grpSp>
        <p:nvGrpSpPr>
          <p:cNvPr name="Group 4" id="4"/>
          <p:cNvGrpSpPr/>
          <p:nvPr/>
        </p:nvGrpSpPr>
        <p:grpSpPr>
          <a:xfrm rot="0">
            <a:off x="0" y="0"/>
            <a:ext cx="3657505" cy="137160"/>
            <a:chOff x="0" y="0"/>
            <a:chExt cx="4876673" cy="182880"/>
          </a:xfrm>
        </p:grpSpPr>
        <p:sp>
          <p:nvSpPr>
            <p:cNvPr name="Freeform 5" id="5"/>
            <p:cNvSpPr/>
            <p:nvPr/>
          </p:nvSpPr>
          <p:spPr>
            <a:xfrm flipH="false" flipV="false" rot="0">
              <a:off x="0" y="0"/>
              <a:ext cx="4876673" cy="182880"/>
            </a:xfrm>
            <a:custGeom>
              <a:avLst/>
              <a:gdLst/>
              <a:ahLst/>
              <a:cxnLst/>
              <a:rect r="r" b="b" t="t" l="l"/>
              <a:pathLst>
                <a:path h="182880" w="4876673">
                  <a:moveTo>
                    <a:pt x="0" y="0"/>
                  </a:moveTo>
                  <a:lnTo>
                    <a:pt x="4876673" y="0"/>
                  </a:lnTo>
                  <a:lnTo>
                    <a:pt x="4876673" y="182880"/>
                  </a:lnTo>
                  <a:lnTo>
                    <a:pt x="0" y="182880"/>
                  </a:lnTo>
                  <a:close/>
                </a:path>
              </a:pathLst>
            </a:custGeom>
            <a:solidFill>
              <a:srgbClr val="0F766E"/>
            </a:solidFill>
          </p:spPr>
        </p:sp>
      </p:grpSp>
      <p:grpSp>
        <p:nvGrpSpPr>
          <p:cNvPr name="Group 6" id="6"/>
          <p:cNvGrpSpPr/>
          <p:nvPr/>
        </p:nvGrpSpPr>
        <p:grpSpPr>
          <a:xfrm rot="0">
            <a:off x="744855" y="292227"/>
            <a:ext cx="7151370" cy="485394"/>
            <a:chOff x="0" y="0"/>
            <a:chExt cx="9535160" cy="647192"/>
          </a:xfrm>
        </p:grpSpPr>
        <p:sp>
          <p:nvSpPr>
            <p:cNvPr name="Freeform 7" id="7"/>
            <p:cNvSpPr/>
            <p:nvPr/>
          </p:nvSpPr>
          <p:spPr>
            <a:xfrm flipH="false" flipV="false" rot="0">
              <a:off x="0" y="0"/>
              <a:ext cx="9535160" cy="647192"/>
            </a:xfrm>
            <a:custGeom>
              <a:avLst/>
              <a:gdLst/>
              <a:ahLst/>
              <a:cxnLst/>
              <a:rect r="r" b="b" t="t" l="l"/>
              <a:pathLst>
                <a:path h="647192" w="9535160">
                  <a:moveTo>
                    <a:pt x="0" y="25908"/>
                  </a:moveTo>
                  <a:cubicBezTo>
                    <a:pt x="0" y="11557"/>
                    <a:pt x="11557" y="0"/>
                    <a:pt x="25908" y="0"/>
                  </a:cubicBezTo>
                  <a:lnTo>
                    <a:pt x="9509252" y="0"/>
                  </a:lnTo>
                  <a:cubicBezTo>
                    <a:pt x="9523603" y="0"/>
                    <a:pt x="9535160" y="11557"/>
                    <a:pt x="9535160" y="25908"/>
                  </a:cubicBezTo>
                  <a:lnTo>
                    <a:pt x="9535160" y="621284"/>
                  </a:lnTo>
                  <a:cubicBezTo>
                    <a:pt x="9535160" y="635635"/>
                    <a:pt x="9523603" y="647192"/>
                    <a:pt x="9509252" y="647192"/>
                  </a:cubicBezTo>
                  <a:lnTo>
                    <a:pt x="25908" y="647192"/>
                  </a:lnTo>
                  <a:cubicBezTo>
                    <a:pt x="11557" y="647192"/>
                    <a:pt x="0" y="635635"/>
                    <a:pt x="0" y="621284"/>
                  </a:cubicBezTo>
                  <a:close/>
                </a:path>
              </a:pathLst>
            </a:custGeom>
            <a:solidFill>
              <a:srgbClr val="EAF7F5"/>
            </a:solidFill>
            <a:ln w="19050" cap="sq">
              <a:solidFill>
                <a:srgbClr val="0F766E"/>
              </a:solidFill>
              <a:prstDash val="solid"/>
              <a:miter/>
            </a:ln>
          </p:spPr>
        </p:sp>
      </p:grpSp>
      <p:grpSp>
        <p:nvGrpSpPr>
          <p:cNvPr name="Group 8" id="8"/>
          <p:cNvGrpSpPr/>
          <p:nvPr/>
        </p:nvGrpSpPr>
        <p:grpSpPr>
          <a:xfrm rot="0">
            <a:off x="850392" y="301752"/>
            <a:ext cx="6926580" cy="466344"/>
            <a:chOff x="0" y="0"/>
            <a:chExt cx="9235440" cy="621792"/>
          </a:xfrm>
        </p:grpSpPr>
        <p:sp>
          <p:nvSpPr>
            <p:cNvPr name="Freeform 9" id="9"/>
            <p:cNvSpPr/>
            <p:nvPr/>
          </p:nvSpPr>
          <p:spPr>
            <a:xfrm flipH="false" flipV="false" rot="0">
              <a:off x="0" y="0"/>
              <a:ext cx="9235440" cy="621792"/>
            </a:xfrm>
            <a:custGeom>
              <a:avLst/>
              <a:gdLst/>
              <a:ahLst/>
              <a:cxnLst/>
              <a:rect r="r" b="b" t="t" l="l"/>
              <a:pathLst>
                <a:path h="621792" w="9235440">
                  <a:moveTo>
                    <a:pt x="0" y="0"/>
                  </a:moveTo>
                  <a:lnTo>
                    <a:pt x="9235440" y="0"/>
                  </a:lnTo>
                  <a:lnTo>
                    <a:pt x="9235440" y="621792"/>
                  </a:lnTo>
                  <a:lnTo>
                    <a:pt x="0" y="621792"/>
                  </a:lnTo>
                  <a:close/>
                </a:path>
              </a:pathLst>
            </a:custGeom>
            <a:blipFill>
              <a:blip r:embed="rId2">
                <a:alphaModFix amt="0"/>
              </a:blip>
              <a:stretch>
                <a:fillRect l="0" t="-239410" r="0" b="-239410"/>
              </a:stretch>
            </a:blipFill>
          </p:spPr>
        </p:sp>
        <p:sp>
          <p:nvSpPr>
            <p:cNvPr name="TextBox 10" id="10"/>
            <p:cNvSpPr txBox="true"/>
            <p:nvPr/>
          </p:nvSpPr>
          <p:spPr>
            <a:xfrm>
              <a:off x="0" y="-9525"/>
              <a:ext cx="9235440" cy="631317"/>
            </a:xfrm>
            <a:prstGeom prst="rect">
              <a:avLst/>
            </a:prstGeom>
          </p:spPr>
          <p:txBody>
            <a:bodyPr anchor="ctr" rtlCol="false" tIns="0" lIns="0" bIns="0" rIns="0"/>
            <a:lstStyle/>
            <a:p>
              <a:pPr algn="l">
                <a:lnSpc>
                  <a:spcPts val="1889"/>
                </a:lnSpc>
              </a:pPr>
              <a:r>
                <a:rPr lang="en-US" sz="1575" b="true">
                  <a:solidFill>
                    <a:srgbClr val="0F766E"/>
                  </a:solidFill>
                  <a:latin typeface="DejaVu Sans Bold"/>
                  <a:ea typeface="DejaVu Sans Bold"/>
                  <a:cs typeface="DejaVu Sans Bold"/>
                  <a:sym typeface="DejaVu Sans Bold"/>
                </a:rPr>
                <a:t>LÝ LUẬN NỀN TẢNG • MỤC 5.1.1 (TR. 169–171)</a:t>
              </a:r>
            </a:p>
          </p:txBody>
        </p:sp>
      </p:grpSp>
      <p:grpSp>
        <p:nvGrpSpPr>
          <p:cNvPr name="Group 11" id="11"/>
          <p:cNvGrpSpPr/>
          <p:nvPr/>
        </p:nvGrpSpPr>
        <p:grpSpPr>
          <a:xfrm rot="0">
            <a:off x="15704820" y="301752"/>
            <a:ext cx="1824228" cy="466344"/>
            <a:chOff x="0" y="0"/>
            <a:chExt cx="2432304" cy="621792"/>
          </a:xfrm>
        </p:grpSpPr>
        <p:sp>
          <p:nvSpPr>
            <p:cNvPr name="Freeform 12" id="12"/>
            <p:cNvSpPr/>
            <p:nvPr/>
          </p:nvSpPr>
          <p:spPr>
            <a:xfrm flipH="false" flipV="false" rot="0">
              <a:off x="0" y="0"/>
              <a:ext cx="2432304" cy="621792"/>
            </a:xfrm>
            <a:custGeom>
              <a:avLst/>
              <a:gdLst/>
              <a:ahLst/>
              <a:cxnLst/>
              <a:rect r="r" b="b" t="t" l="l"/>
              <a:pathLst>
                <a:path h="621792" w="2432304">
                  <a:moveTo>
                    <a:pt x="0" y="24892"/>
                  </a:moveTo>
                  <a:cubicBezTo>
                    <a:pt x="0" y="11176"/>
                    <a:pt x="11176" y="0"/>
                    <a:pt x="24892" y="0"/>
                  </a:cubicBezTo>
                  <a:lnTo>
                    <a:pt x="2407412" y="0"/>
                  </a:lnTo>
                  <a:cubicBezTo>
                    <a:pt x="2421128" y="0"/>
                    <a:pt x="2432304" y="11176"/>
                    <a:pt x="2432304" y="24892"/>
                  </a:cubicBezTo>
                  <a:lnTo>
                    <a:pt x="2432304" y="596900"/>
                  </a:lnTo>
                  <a:cubicBezTo>
                    <a:pt x="2432304" y="610616"/>
                    <a:pt x="2421128" y="621792"/>
                    <a:pt x="2407412" y="621792"/>
                  </a:cubicBezTo>
                  <a:lnTo>
                    <a:pt x="24892" y="621792"/>
                  </a:lnTo>
                  <a:cubicBezTo>
                    <a:pt x="11176" y="621792"/>
                    <a:pt x="0" y="610616"/>
                    <a:pt x="0" y="596900"/>
                  </a:cubicBezTo>
                  <a:close/>
                </a:path>
              </a:pathLst>
            </a:custGeom>
            <a:solidFill>
              <a:srgbClr val="122645"/>
            </a:solidFill>
          </p:spPr>
        </p:sp>
      </p:grpSp>
      <p:grpSp>
        <p:nvGrpSpPr>
          <p:cNvPr name="Group 13" id="13"/>
          <p:cNvGrpSpPr/>
          <p:nvPr/>
        </p:nvGrpSpPr>
        <p:grpSpPr>
          <a:xfrm rot="0">
            <a:off x="15704820" y="301752"/>
            <a:ext cx="1824228" cy="466344"/>
            <a:chOff x="0" y="0"/>
            <a:chExt cx="2432304" cy="621792"/>
          </a:xfrm>
        </p:grpSpPr>
        <p:sp>
          <p:nvSpPr>
            <p:cNvPr name="Freeform 14" id="14"/>
            <p:cNvSpPr/>
            <p:nvPr/>
          </p:nvSpPr>
          <p:spPr>
            <a:xfrm flipH="false" flipV="false" rot="0">
              <a:off x="0" y="0"/>
              <a:ext cx="2432304" cy="621792"/>
            </a:xfrm>
            <a:custGeom>
              <a:avLst/>
              <a:gdLst/>
              <a:ahLst/>
              <a:cxnLst/>
              <a:rect r="r" b="b" t="t" l="l"/>
              <a:pathLst>
                <a:path h="621792" w="2432304">
                  <a:moveTo>
                    <a:pt x="0" y="0"/>
                  </a:moveTo>
                  <a:lnTo>
                    <a:pt x="2432304" y="0"/>
                  </a:lnTo>
                  <a:lnTo>
                    <a:pt x="2432304" y="621792"/>
                  </a:lnTo>
                  <a:lnTo>
                    <a:pt x="0" y="621792"/>
                  </a:lnTo>
                  <a:close/>
                </a:path>
              </a:pathLst>
            </a:custGeom>
            <a:blipFill>
              <a:blip r:embed="rId2">
                <a:alphaModFix amt="0"/>
              </a:blip>
              <a:stretch>
                <a:fillRect l="0" t="-26220" r="0" b="-26220"/>
              </a:stretch>
            </a:blipFill>
          </p:spPr>
        </p:sp>
        <p:sp>
          <p:nvSpPr>
            <p:cNvPr name="TextBox 15" id="15"/>
            <p:cNvSpPr txBox="true"/>
            <p:nvPr/>
          </p:nvSpPr>
          <p:spPr>
            <a:xfrm>
              <a:off x="0" y="-19050"/>
              <a:ext cx="2432304" cy="640842"/>
            </a:xfrm>
            <a:prstGeom prst="rect">
              <a:avLst/>
            </a:prstGeom>
          </p:spPr>
          <p:txBody>
            <a:bodyPr anchor="ctr" rtlCol="false" tIns="0" lIns="0" bIns="0" rIns="0"/>
            <a:lstStyle/>
            <a:p>
              <a:pPr algn="ctr">
                <a:lnSpc>
                  <a:spcPts val="2700"/>
                </a:lnSpc>
              </a:pPr>
              <a:r>
                <a:rPr lang="en-US" sz="2250" b="true">
                  <a:solidFill>
                    <a:srgbClr val="FFFFFF"/>
                  </a:solidFill>
                  <a:latin typeface="DejaVu Sans Bold"/>
                  <a:ea typeface="DejaVu Sans Bold"/>
                  <a:cs typeface="DejaVu Sans Bold"/>
                  <a:sym typeface="DejaVu Sans Bold"/>
                </a:rPr>
                <a:t>Slide 3 / 15</a:t>
              </a:r>
            </a:p>
          </p:txBody>
        </p:sp>
      </p:grpSp>
      <p:grpSp>
        <p:nvGrpSpPr>
          <p:cNvPr name="Group 16" id="16"/>
          <p:cNvGrpSpPr/>
          <p:nvPr/>
        </p:nvGrpSpPr>
        <p:grpSpPr>
          <a:xfrm rot="0">
            <a:off x="754380" y="850392"/>
            <a:ext cx="16774668" cy="740664"/>
            <a:chOff x="0" y="0"/>
            <a:chExt cx="22366224" cy="987552"/>
          </a:xfrm>
        </p:grpSpPr>
        <p:sp>
          <p:nvSpPr>
            <p:cNvPr name="Freeform 17" id="17"/>
            <p:cNvSpPr/>
            <p:nvPr/>
          </p:nvSpPr>
          <p:spPr>
            <a:xfrm flipH="false" flipV="false" rot="0">
              <a:off x="0" y="0"/>
              <a:ext cx="22366224" cy="987552"/>
            </a:xfrm>
            <a:custGeom>
              <a:avLst/>
              <a:gdLst/>
              <a:ahLst/>
              <a:cxnLst/>
              <a:rect r="r" b="b" t="t" l="l"/>
              <a:pathLst>
                <a:path h="987552" w="22366224">
                  <a:moveTo>
                    <a:pt x="0" y="0"/>
                  </a:moveTo>
                  <a:lnTo>
                    <a:pt x="22366224" y="0"/>
                  </a:lnTo>
                  <a:lnTo>
                    <a:pt x="22366224" y="987552"/>
                  </a:lnTo>
                  <a:lnTo>
                    <a:pt x="0" y="987552"/>
                  </a:lnTo>
                  <a:close/>
                </a:path>
              </a:pathLst>
            </a:custGeom>
            <a:blipFill>
              <a:blip r:embed="rId2">
                <a:alphaModFix amt="0"/>
              </a:blip>
              <a:stretch>
                <a:fillRect l="0" t="-391300" r="0" b="-391300"/>
              </a:stretch>
            </a:blipFill>
          </p:spPr>
        </p:sp>
        <p:sp>
          <p:nvSpPr>
            <p:cNvPr name="TextBox 18" id="18"/>
            <p:cNvSpPr txBox="true"/>
            <p:nvPr/>
          </p:nvSpPr>
          <p:spPr>
            <a:xfrm>
              <a:off x="0" y="-9525"/>
              <a:ext cx="22366224" cy="997077"/>
            </a:xfrm>
            <a:prstGeom prst="rect">
              <a:avLst/>
            </a:prstGeom>
          </p:spPr>
          <p:txBody>
            <a:bodyPr anchor="ctr" rtlCol="false" tIns="0" lIns="0" bIns="0" rIns="0"/>
            <a:lstStyle/>
            <a:p>
              <a:pPr algn="l">
                <a:lnSpc>
                  <a:spcPts val="3869"/>
                </a:lnSpc>
              </a:pPr>
              <a:r>
                <a:rPr lang="en-US" sz="3225" b="true">
                  <a:solidFill>
                    <a:srgbClr val="122645"/>
                  </a:solidFill>
                  <a:latin typeface="DejaVu Sans Bold"/>
                  <a:ea typeface="DejaVu Sans Bold"/>
                  <a:cs typeface="DejaVu Sans Bold"/>
                  <a:sym typeface="DejaVu Sans Bold"/>
                </a:rPr>
                <a:t>Khái niệm Kinh tế thị trường định hướng XHCN ở Việt Nam</a:t>
              </a:r>
            </a:p>
          </p:txBody>
        </p:sp>
      </p:grpSp>
      <p:grpSp>
        <p:nvGrpSpPr>
          <p:cNvPr name="Group 19" id="19"/>
          <p:cNvGrpSpPr/>
          <p:nvPr/>
        </p:nvGrpSpPr>
        <p:grpSpPr>
          <a:xfrm rot="0">
            <a:off x="754380" y="1645920"/>
            <a:ext cx="16774668" cy="41148"/>
            <a:chOff x="0" y="0"/>
            <a:chExt cx="22366224" cy="54864"/>
          </a:xfrm>
        </p:grpSpPr>
        <p:sp>
          <p:nvSpPr>
            <p:cNvPr name="Freeform 20" id="20"/>
            <p:cNvSpPr/>
            <p:nvPr/>
          </p:nvSpPr>
          <p:spPr>
            <a:xfrm flipH="false" flipV="false" rot="0">
              <a:off x="0" y="0"/>
              <a:ext cx="22366224" cy="54864"/>
            </a:xfrm>
            <a:custGeom>
              <a:avLst/>
              <a:gdLst/>
              <a:ahLst/>
              <a:cxnLst/>
              <a:rect r="r" b="b" t="t" l="l"/>
              <a:pathLst>
                <a:path h="54864" w="22366224">
                  <a:moveTo>
                    <a:pt x="0" y="0"/>
                  </a:moveTo>
                  <a:lnTo>
                    <a:pt x="22366224" y="0"/>
                  </a:lnTo>
                  <a:lnTo>
                    <a:pt x="22366224" y="54864"/>
                  </a:lnTo>
                  <a:lnTo>
                    <a:pt x="0" y="54864"/>
                  </a:lnTo>
                  <a:close/>
                </a:path>
              </a:pathLst>
            </a:custGeom>
            <a:solidFill>
              <a:srgbClr val="CBD5E1"/>
            </a:solidFill>
          </p:spPr>
        </p:sp>
      </p:grpSp>
      <p:grpSp>
        <p:nvGrpSpPr>
          <p:cNvPr name="Group 21" id="21"/>
          <p:cNvGrpSpPr/>
          <p:nvPr/>
        </p:nvGrpSpPr>
        <p:grpSpPr>
          <a:xfrm rot="0">
            <a:off x="-7144" y="9662636"/>
            <a:ext cx="18301830" cy="631507"/>
            <a:chOff x="0" y="0"/>
            <a:chExt cx="24402440" cy="842010"/>
          </a:xfrm>
        </p:grpSpPr>
        <p:sp>
          <p:nvSpPr>
            <p:cNvPr name="Freeform 22" id="22"/>
            <p:cNvSpPr/>
            <p:nvPr/>
          </p:nvSpPr>
          <p:spPr>
            <a:xfrm flipH="false" flipV="false" rot="0">
              <a:off x="0" y="0"/>
              <a:ext cx="24402414" cy="842010"/>
            </a:xfrm>
            <a:custGeom>
              <a:avLst/>
              <a:gdLst/>
              <a:ahLst/>
              <a:cxnLst/>
              <a:rect r="r" b="b" t="t" l="l"/>
              <a:pathLst>
                <a:path h="842010" w="24402414">
                  <a:moveTo>
                    <a:pt x="0" y="0"/>
                  </a:moveTo>
                  <a:lnTo>
                    <a:pt x="24402414" y="0"/>
                  </a:lnTo>
                  <a:lnTo>
                    <a:pt x="24402414" y="842010"/>
                  </a:lnTo>
                  <a:lnTo>
                    <a:pt x="0" y="842010"/>
                  </a:lnTo>
                  <a:close/>
                </a:path>
              </a:pathLst>
            </a:custGeom>
            <a:solidFill>
              <a:srgbClr val="FFFFFF"/>
            </a:solidFill>
            <a:ln w="14288" cap="sq">
              <a:solidFill>
                <a:srgbClr val="CBD5E1"/>
              </a:solidFill>
              <a:prstDash val="solid"/>
              <a:miter/>
            </a:ln>
          </p:spPr>
        </p:sp>
      </p:grpSp>
      <p:grpSp>
        <p:nvGrpSpPr>
          <p:cNvPr name="Group 23" id="23"/>
          <p:cNvGrpSpPr/>
          <p:nvPr/>
        </p:nvGrpSpPr>
        <p:grpSpPr>
          <a:xfrm rot="0">
            <a:off x="754380" y="9710928"/>
            <a:ext cx="16774668" cy="493776"/>
            <a:chOff x="0" y="0"/>
            <a:chExt cx="22366224" cy="658368"/>
          </a:xfrm>
        </p:grpSpPr>
        <p:sp>
          <p:nvSpPr>
            <p:cNvPr name="Freeform 24" id="24"/>
            <p:cNvSpPr/>
            <p:nvPr/>
          </p:nvSpPr>
          <p:spPr>
            <a:xfrm flipH="false" flipV="false" rot="0">
              <a:off x="0" y="0"/>
              <a:ext cx="22366224" cy="658368"/>
            </a:xfrm>
            <a:custGeom>
              <a:avLst/>
              <a:gdLst/>
              <a:ahLst/>
              <a:cxnLst/>
              <a:rect r="r" b="b" t="t" l="l"/>
              <a:pathLst>
                <a:path h="658368" w="22366224">
                  <a:moveTo>
                    <a:pt x="0" y="0"/>
                  </a:moveTo>
                  <a:lnTo>
                    <a:pt x="22366224" y="0"/>
                  </a:lnTo>
                  <a:lnTo>
                    <a:pt x="22366224" y="658368"/>
                  </a:lnTo>
                  <a:lnTo>
                    <a:pt x="0" y="658368"/>
                  </a:lnTo>
                  <a:close/>
                </a:path>
              </a:pathLst>
            </a:custGeom>
            <a:blipFill>
              <a:blip r:embed="rId2">
                <a:alphaModFix amt="0"/>
              </a:blip>
              <a:stretch>
                <a:fillRect l="0" t="-611950" r="0" b="-611950"/>
              </a:stretch>
            </a:blipFill>
          </p:spPr>
        </p:sp>
        <p:sp>
          <p:nvSpPr>
            <p:cNvPr name="TextBox 25" id="25"/>
            <p:cNvSpPr txBox="true"/>
            <p:nvPr/>
          </p:nvSpPr>
          <p:spPr>
            <a:xfrm>
              <a:off x="0" y="-19050"/>
              <a:ext cx="22366224" cy="677418"/>
            </a:xfrm>
            <a:prstGeom prst="rect">
              <a:avLst/>
            </a:prstGeom>
          </p:spPr>
          <p:txBody>
            <a:bodyPr anchor="ctr" rtlCol="false" tIns="0" lIns="0" bIns="0" rIns="0"/>
            <a:lstStyle/>
            <a:p>
              <a:pPr algn="l">
                <a:lnSpc>
                  <a:spcPts val="2700"/>
                </a:lnSpc>
              </a:pPr>
              <a:r>
                <a:rPr lang="en-US" sz="2250" i="true">
                  <a:solidFill>
                    <a:srgbClr val="475569"/>
                  </a:solidFill>
                  <a:latin typeface="DejaVu Sans Bold Italics"/>
                  <a:ea typeface="DejaVu Sans Bold Italics"/>
                  <a:cs typeface="DejaVu Sans Bold Italics"/>
                  <a:sym typeface="DejaVu Sans Bold Italics"/>
                </a:rPr>
                <a:t>Nguồn lý luận: Giáo trình Kinh tế chính trị Mác – Lênin (Bộ GD&amp;ĐT, 2021, Mục 5.1.1, tr. 169–171).</a:t>
              </a:r>
            </a:p>
          </p:txBody>
        </p:sp>
      </p:grpSp>
      <p:grpSp>
        <p:nvGrpSpPr>
          <p:cNvPr name="Group 26" id="26"/>
          <p:cNvGrpSpPr/>
          <p:nvPr/>
        </p:nvGrpSpPr>
        <p:grpSpPr>
          <a:xfrm rot="0">
            <a:off x="740093" y="1960817"/>
            <a:ext cx="9698355" cy="2305431"/>
            <a:chOff x="0" y="0"/>
            <a:chExt cx="12931140" cy="3073908"/>
          </a:xfrm>
        </p:grpSpPr>
        <p:sp>
          <p:nvSpPr>
            <p:cNvPr name="Freeform 27" id="27"/>
            <p:cNvSpPr/>
            <p:nvPr/>
          </p:nvSpPr>
          <p:spPr>
            <a:xfrm flipH="false" flipV="false" rot="0">
              <a:off x="0" y="0"/>
              <a:ext cx="12931140" cy="3073908"/>
            </a:xfrm>
            <a:custGeom>
              <a:avLst/>
              <a:gdLst/>
              <a:ahLst/>
              <a:cxnLst/>
              <a:rect r="r" b="b" t="t" l="l"/>
              <a:pathLst>
                <a:path h="3073908" w="12931140">
                  <a:moveTo>
                    <a:pt x="0" y="122936"/>
                  </a:moveTo>
                  <a:cubicBezTo>
                    <a:pt x="0" y="54991"/>
                    <a:pt x="54991" y="0"/>
                    <a:pt x="122936" y="0"/>
                  </a:cubicBezTo>
                  <a:lnTo>
                    <a:pt x="12808204" y="0"/>
                  </a:lnTo>
                  <a:cubicBezTo>
                    <a:pt x="12876150" y="0"/>
                    <a:pt x="12931140" y="54991"/>
                    <a:pt x="12931140" y="122936"/>
                  </a:cubicBezTo>
                  <a:lnTo>
                    <a:pt x="12931140" y="2950972"/>
                  </a:lnTo>
                  <a:cubicBezTo>
                    <a:pt x="12931140" y="3018917"/>
                    <a:pt x="12876150" y="3073908"/>
                    <a:pt x="12808204" y="3073908"/>
                  </a:cubicBezTo>
                  <a:lnTo>
                    <a:pt x="122936" y="3073908"/>
                  </a:lnTo>
                  <a:cubicBezTo>
                    <a:pt x="54991" y="3073908"/>
                    <a:pt x="0" y="3018917"/>
                    <a:pt x="0" y="2950972"/>
                  </a:cubicBezTo>
                  <a:close/>
                </a:path>
              </a:pathLst>
            </a:custGeom>
            <a:solidFill>
              <a:srgbClr val="FFFFFF"/>
            </a:solidFill>
            <a:ln w="28575" cap="sq">
              <a:solidFill>
                <a:srgbClr val="0369A1"/>
              </a:solidFill>
              <a:prstDash val="solid"/>
              <a:miter/>
            </a:ln>
          </p:spPr>
        </p:sp>
      </p:grpSp>
      <p:grpSp>
        <p:nvGrpSpPr>
          <p:cNvPr name="Group 28" id="28"/>
          <p:cNvGrpSpPr/>
          <p:nvPr/>
        </p:nvGrpSpPr>
        <p:grpSpPr>
          <a:xfrm rot="0">
            <a:off x="754380" y="1975104"/>
            <a:ext cx="192024" cy="2276856"/>
            <a:chOff x="0" y="0"/>
            <a:chExt cx="256032" cy="3035808"/>
          </a:xfrm>
        </p:grpSpPr>
        <p:sp>
          <p:nvSpPr>
            <p:cNvPr name="Freeform 29" id="29"/>
            <p:cNvSpPr/>
            <p:nvPr/>
          </p:nvSpPr>
          <p:spPr>
            <a:xfrm flipH="false" flipV="false" rot="0">
              <a:off x="0" y="0"/>
              <a:ext cx="256032" cy="3035808"/>
            </a:xfrm>
            <a:custGeom>
              <a:avLst/>
              <a:gdLst/>
              <a:ahLst/>
              <a:cxnLst/>
              <a:rect r="r" b="b" t="t" l="l"/>
              <a:pathLst>
                <a:path h="3035808" w="256032">
                  <a:moveTo>
                    <a:pt x="0" y="0"/>
                  </a:moveTo>
                  <a:lnTo>
                    <a:pt x="256032" y="0"/>
                  </a:lnTo>
                  <a:lnTo>
                    <a:pt x="256032" y="3035808"/>
                  </a:lnTo>
                  <a:lnTo>
                    <a:pt x="0" y="3035808"/>
                  </a:lnTo>
                  <a:close/>
                </a:path>
              </a:pathLst>
            </a:custGeom>
            <a:solidFill>
              <a:srgbClr val="0369A1"/>
            </a:solidFill>
          </p:spPr>
        </p:sp>
      </p:grpSp>
      <p:grpSp>
        <p:nvGrpSpPr>
          <p:cNvPr name="Group 30" id="30"/>
          <p:cNvGrpSpPr/>
          <p:nvPr/>
        </p:nvGrpSpPr>
        <p:grpSpPr>
          <a:xfrm rot="0">
            <a:off x="1124712" y="2195970"/>
            <a:ext cx="9121140" cy="1835115"/>
            <a:chOff x="0" y="0"/>
            <a:chExt cx="12161520" cy="2446820"/>
          </a:xfrm>
        </p:grpSpPr>
        <p:sp>
          <p:nvSpPr>
            <p:cNvPr name="Freeform 31" id="31"/>
            <p:cNvSpPr/>
            <p:nvPr/>
          </p:nvSpPr>
          <p:spPr>
            <a:xfrm flipH="false" flipV="false" rot="0">
              <a:off x="0" y="0"/>
              <a:ext cx="12161520" cy="2446824"/>
            </a:xfrm>
            <a:custGeom>
              <a:avLst/>
              <a:gdLst/>
              <a:ahLst/>
              <a:cxnLst/>
              <a:rect r="r" b="b" t="t" l="l"/>
              <a:pathLst>
                <a:path h="2446824" w="12161520">
                  <a:moveTo>
                    <a:pt x="0" y="0"/>
                  </a:moveTo>
                  <a:lnTo>
                    <a:pt x="12161520" y="0"/>
                  </a:lnTo>
                  <a:lnTo>
                    <a:pt x="12161520" y="2446824"/>
                  </a:lnTo>
                  <a:lnTo>
                    <a:pt x="0" y="2446824"/>
                  </a:lnTo>
                  <a:close/>
                </a:path>
              </a:pathLst>
            </a:custGeom>
            <a:blipFill>
              <a:blip r:embed="rId2">
                <a:alphaModFix amt="0"/>
              </a:blip>
              <a:stretch>
                <a:fillRect l="0" t="-46847" r="0" b="-46846"/>
              </a:stretch>
            </a:blipFill>
          </p:spPr>
        </p:sp>
        <p:sp>
          <p:nvSpPr>
            <p:cNvPr name="TextBox 32" id="32"/>
            <p:cNvSpPr txBox="true"/>
            <p:nvPr/>
          </p:nvSpPr>
          <p:spPr>
            <a:xfrm>
              <a:off x="0" y="-19050"/>
              <a:ext cx="12161520" cy="2465870"/>
            </a:xfrm>
            <a:prstGeom prst="rect">
              <a:avLst/>
            </a:prstGeom>
          </p:spPr>
          <p:txBody>
            <a:bodyPr anchor="ctr" rtlCol="false" tIns="0" lIns="0" bIns="0" rIns="0"/>
            <a:lstStyle/>
            <a:p>
              <a:pPr algn="l">
                <a:lnSpc>
                  <a:spcPts val="2412"/>
                </a:lnSpc>
              </a:pPr>
              <a:r>
                <a:rPr lang="en-US" sz="2010" b="true">
                  <a:solidFill>
                    <a:srgbClr val="0369A1"/>
                  </a:solidFill>
                  <a:latin typeface="DejaVu Sans Bold"/>
                  <a:ea typeface="DejaVu Sans Bold"/>
                  <a:cs typeface="DejaVu Sans Bold"/>
                  <a:sym typeface="DejaVu Sans Bold"/>
                </a:rPr>
                <a:t>1. VẾ 'KINH TẾ THỊ TRƯỜNG' </a:t>
              </a:r>
            </a:p>
            <a:p>
              <a:pPr algn="l">
                <a:lnSpc>
                  <a:spcPts val="2195"/>
                </a:lnSpc>
              </a:pPr>
              <a:r>
                <a:rPr lang="en-US" sz="1829">
                  <a:solidFill>
                    <a:srgbClr val="1E293B"/>
                  </a:solidFill>
                  <a:latin typeface="DejaVu Sans Light"/>
                  <a:ea typeface="DejaVu Sans Light"/>
                  <a:cs typeface="DejaVu Sans Light"/>
                  <a:sym typeface="DejaVu Sans Light"/>
                </a:rPr>
                <a:t>• Vận hành đầy đủ, đồng bộ theo các quy luật khách quan của kinh tế thị trường:</a:t>
              </a:r>
            </a:p>
            <a:p>
              <a:pPr algn="l">
                <a:lnSpc>
                  <a:spcPts val="2195"/>
                </a:lnSpc>
              </a:pPr>
              <a:r>
                <a:rPr lang="en-US" sz="1829">
                  <a:solidFill>
                    <a:srgbClr val="1E293B"/>
                  </a:solidFill>
                  <a:latin typeface="DejaVu Sans Light"/>
                  <a:ea typeface="DejaVu Sans Light"/>
                  <a:cs typeface="DejaVu Sans Light"/>
                  <a:sym typeface="DejaVu Sans Light"/>
                </a:rPr>
                <a:t>   Quy luật giá trị  •  Quy luật cung – cầu  •  Quy luật cạnh tranh.</a:t>
              </a:r>
            </a:p>
            <a:p>
              <a:pPr algn="l">
                <a:lnSpc>
                  <a:spcPts val="2195"/>
                </a:lnSpc>
              </a:pPr>
              <a:r>
                <a:rPr lang="en-US" sz="1829">
                  <a:solidFill>
                    <a:srgbClr val="1E293B"/>
                  </a:solidFill>
                  <a:latin typeface="DejaVu Sans Light"/>
                  <a:ea typeface="DejaVu Sans Light"/>
                  <a:cs typeface="DejaVu Sans Light"/>
                  <a:sym typeface="DejaVu Sans Light"/>
                </a:rPr>
                <a:t>• Thị trường giữ vai trò trực tiếp phân bổ nguồn lực sản xuất kinh doanh.</a:t>
              </a:r>
            </a:p>
          </p:txBody>
        </p:sp>
      </p:grpSp>
      <p:grpSp>
        <p:nvGrpSpPr>
          <p:cNvPr name="Group 33" id="33"/>
          <p:cNvGrpSpPr/>
          <p:nvPr/>
        </p:nvGrpSpPr>
        <p:grpSpPr>
          <a:xfrm rot="0">
            <a:off x="740093" y="4484560"/>
            <a:ext cx="9698355" cy="2305431"/>
            <a:chOff x="0" y="0"/>
            <a:chExt cx="12931140" cy="3073908"/>
          </a:xfrm>
        </p:grpSpPr>
        <p:sp>
          <p:nvSpPr>
            <p:cNvPr name="Freeform 34" id="34"/>
            <p:cNvSpPr/>
            <p:nvPr/>
          </p:nvSpPr>
          <p:spPr>
            <a:xfrm flipH="false" flipV="false" rot="0">
              <a:off x="0" y="0"/>
              <a:ext cx="12931140" cy="3073908"/>
            </a:xfrm>
            <a:custGeom>
              <a:avLst/>
              <a:gdLst/>
              <a:ahLst/>
              <a:cxnLst/>
              <a:rect r="r" b="b" t="t" l="l"/>
              <a:pathLst>
                <a:path h="3073908" w="12931140">
                  <a:moveTo>
                    <a:pt x="0" y="122936"/>
                  </a:moveTo>
                  <a:cubicBezTo>
                    <a:pt x="0" y="54991"/>
                    <a:pt x="54991" y="0"/>
                    <a:pt x="122936" y="0"/>
                  </a:cubicBezTo>
                  <a:lnTo>
                    <a:pt x="12808204" y="0"/>
                  </a:lnTo>
                  <a:cubicBezTo>
                    <a:pt x="12876150" y="0"/>
                    <a:pt x="12931140" y="54991"/>
                    <a:pt x="12931140" y="122936"/>
                  </a:cubicBezTo>
                  <a:lnTo>
                    <a:pt x="12931140" y="2950972"/>
                  </a:lnTo>
                  <a:cubicBezTo>
                    <a:pt x="12931140" y="3018917"/>
                    <a:pt x="12876150" y="3073908"/>
                    <a:pt x="12808204" y="3073908"/>
                  </a:cubicBezTo>
                  <a:lnTo>
                    <a:pt x="122936" y="3073908"/>
                  </a:lnTo>
                  <a:cubicBezTo>
                    <a:pt x="54991" y="3073908"/>
                    <a:pt x="0" y="3018917"/>
                    <a:pt x="0" y="2950972"/>
                  </a:cubicBezTo>
                  <a:close/>
                </a:path>
              </a:pathLst>
            </a:custGeom>
            <a:solidFill>
              <a:srgbClr val="FFFFFF"/>
            </a:solidFill>
            <a:ln w="28575" cap="sq">
              <a:solidFill>
                <a:srgbClr val="0F766E"/>
              </a:solidFill>
              <a:prstDash val="solid"/>
              <a:miter/>
            </a:ln>
          </p:spPr>
        </p:sp>
      </p:grpSp>
      <p:grpSp>
        <p:nvGrpSpPr>
          <p:cNvPr name="Group 35" id="35"/>
          <p:cNvGrpSpPr/>
          <p:nvPr/>
        </p:nvGrpSpPr>
        <p:grpSpPr>
          <a:xfrm rot="0">
            <a:off x="754380" y="4498848"/>
            <a:ext cx="192024" cy="2276856"/>
            <a:chOff x="0" y="0"/>
            <a:chExt cx="256032" cy="3035808"/>
          </a:xfrm>
        </p:grpSpPr>
        <p:sp>
          <p:nvSpPr>
            <p:cNvPr name="Freeform 36" id="36"/>
            <p:cNvSpPr/>
            <p:nvPr/>
          </p:nvSpPr>
          <p:spPr>
            <a:xfrm flipH="false" flipV="false" rot="0">
              <a:off x="0" y="0"/>
              <a:ext cx="256032" cy="3035808"/>
            </a:xfrm>
            <a:custGeom>
              <a:avLst/>
              <a:gdLst/>
              <a:ahLst/>
              <a:cxnLst/>
              <a:rect r="r" b="b" t="t" l="l"/>
              <a:pathLst>
                <a:path h="3035808" w="256032">
                  <a:moveTo>
                    <a:pt x="0" y="0"/>
                  </a:moveTo>
                  <a:lnTo>
                    <a:pt x="256032" y="0"/>
                  </a:lnTo>
                  <a:lnTo>
                    <a:pt x="256032" y="3035808"/>
                  </a:lnTo>
                  <a:lnTo>
                    <a:pt x="0" y="3035808"/>
                  </a:lnTo>
                  <a:close/>
                </a:path>
              </a:pathLst>
            </a:custGeom>
            <a:solidFill>
              <a:srgbClr val="0F766E"/>
            </a:solidFill>
          </p:spPr>
        </p:sp>
      </p:grpSp>
      <p:grpSp>
        <p:nvGrpSpPr>
          <p:cNvPr name="Group 37" id="37"/>
          <p:cNvGrpSpPr/>
          <p:nvPr/>
        </p:nvGrpSpPr>
        <p:grpSpPr>
          <a:xfrm rot="0">
            <a:off x="1124712" y="4767805"/>
            <a:ext cx="9121140" cy="1738941"/>
            <a:chOff x="0" y="0"/>
            <a:chExt cx="12161520" cy="2318588"/>
          </a:xfrm>
        </p:grpSpPr>
        <p:sp>
          <p:nvSpPr>
            <p:cNvPr name="Freeform 38" id="38"/>
            <p:cNvSpPr/>
            <p:nvPr/>
          </p:nvSpPr>
          <p:spPr>
            <a:xfrm flipH="false" flipV="false" rot="0">
              <a:off x="0" y="0"/>
              <a:ext cx="12161520" cy="2318584"/>
            </a:xfrm>
            <a:custGeom>
              <a:avLst/>
              <a:gdLst/>
              <a:ahLst/>
              <a:cxnLst/>
              <a:rect r="r" b="b" t="t" l="l"/>
              <a:pathLst>
                <a:path h="2318584" w="12161520">
                  <a:moveTo>
                    <a:pt x="0" y="0"/>
                  </a:moveTo>
                  <a:lnTo>
                    <a:pt x="12161520" y="0"/>
                  </a:lnTo>
                  <a:lnTo>
                    <a:pt x="12161520" y="2318584"/>
                  </a:lnTo>
                  <a:lnTo>
                    <a:pt x="0" y="2318584"/>
                  </a:lnTo>
                  <a:close/>
                </a:path>
              </a:pathLst>
            </a:custGeom>
            <a:blipFill>
              <a:blip r:embed="rId2">
                <a:alphaModFix amt="0"/>
              </a:blip>
              <a:stretch>
                <a:fillRect l="0" t="-52203" r="0" b="-52203"/>
              </a:stretch>
            </a:blipFill>
          </p:spPr>
        </p:sp>
        <p:sp>
          <p:nvSpPr>
            <p:cNvPr name="TextBox 39" id="39"/>
            <p:cNvSpPr txBox="true"/>
            <p:nvPr/>
          </p:nvSpPr>
          <p:spPr>
            <a:xfrm>
              <a:off x="0" y="-19050"/>
              <a:ext cx="12161520" cy="2337638"/>
            </a:xfrm>
            <a:prstGeom prst="rect">
              <a:avLst/>
            </a:prstGeom>
          </p:spPr>
          <p:txBody>
            <a:bodyPr anchor="ctr" rtlCol="false" tIns="0" lIns="0" bIns="0" rIns="0"/>
            <a:lstStyle/>
            <a:p>
              <a:pPr algn="l">
                <a:lnSpc>
                  <a:spcPts val="2412"/>
                </a:lnSpc>
              </a:pPr>
              <a:r>
                <a:rPr lang="en-US" sz="2010" b="true">
                  <a:solidFill>
                    <a:srgbClr val="0F766E"/>
                  </a:solidFill>
                  <a:latin typeface="DejaVu Sans Bold"/>
                  <a:ea typeface="DejaVu Sans Bold"/>
                  <a:cs typeface="DejaVu Sans Bold"/>
                  <a:sym typeface="DejaVu Sans Bold"/>
                </a:rPr>
                <a:t>2. VẾ 'ĐỊNH HƯỚNG XÃ HỘI CHỦ NGHĨA' </a:t>
              </a:r>
            </a:p>
            <a:p>
              <a:pPr algn="l">
                <a:lnSpc>
                  <a:spcPts val="2195"/>
                </a:lnSpc>
              </a:pPr>
              <a:r>
                <a:rPr lang="en-US" sz="1829">
                  <a:solidFill>
                    <a:srgbClr val="1E293B"/>
                  </a:solidFill>
                  <a:latin typeface="DejaVu Sans Light"/>
                  <a:ea typeface="DejaVu Sans Light"/>
                  <a:cs typeface="DejaVu Sans Light"/>
                  <a:sym typeface="DejaVu Sans Light"/>
                </a:rPr>
                <a:t>• Có sự quản lý của Nhà nước pháp quyền XHCN, dưới sự lãnh đạo của Đảng Cộng sản Việt Nam.</a:t>
              </a:r>
            </a:p>
            <a:p>
              <a:pPr algn="l">
                <a:lnSpc>
                  <a:spcPts val="2195"/>
                </a:lnSpc>
              </a:pPr>
              <a:r>
                <a:rPr lang="en-US" sz="1829">
                  <a:solidFill>
                    <a:srgbClr val="1E293B"/>
                  </a:solidFill>
                  <a:latin typeface="DejaVu Sans Light"/>
                  <a:ea typeface="DejaVu Sans Light"/>
                  <a:cs typeface="DejaVu Sans Light"/>
                  <a:sym typeface="DejaVu Sans Light"/>
                </a:rPr>
                <a:t>• Chủ động khắc phục khuyết tật thị trường tự phát, không để phân hóa cực đoan.</a:t>
              </a:r>
            </a:p>
          </p:txBody>
        </p:sp>
      </p:grpSp>
      <p:grpSp>
        <p:nvGrpSpPr>
          <p:cNvPr name="Group 40" id="40"/>
          <p:cNvGrpSpPr/>
          <p:nvPr/>
        </p:nvGrpSpPr>
        <p:grpSpPr>
          <a:xfrm rot="0">
            <a:off x="740093" y="7008304"/>
            <a:ext cx="9698355" cy="2305431"/>
            <a:chOff x="0" y="0"/>
            <a:chExt cx="12931140" cy="3073908"/>
          </a:xfrm>
        </p:grpSpPr>
        <p:sp>
          <p:nvSpPr>
            <p:cNvPr name="Freeform 41" id="41"/>
            <p:cNvSpPr/>
            <p:nvPr/>
          </p:nvSpPr>
          <p:spPr>
            <a:xfrm flipH="false" flipV="false" rot="0">
              <a:off x="0" y="0"/>
              <a:ext cx="12931140" cy="3073908"/>
            </a:xfrm>
            <a:custGeom>
              <a:avLst/>
              <a:gdLst/>
              <a:ahLst/>
              <a:cxnLst/>
              <a:rect r="r" b="b" t="t" l="l"/>
              <a:pathLst>
                <a:path h="3073908" w="12931140">
                  <a:moveTo>
                    <a:pt x="0" y="122936"/>
                  </a:moveTo>
                  <a:cubicBezTo>
                    <a:pt x="0" y="54991"/>
                    <a:pt x="54991" y="0"/>
                    <a:pt x="122936" y="0"/>
                  </a:cubicBezTo>
                  <a:lnTo>
                    <a:pt x="12808204" y="0"/>
                  </a:lnTo>
                  <a:cubicBezTo>
                    <a:pt x="12876150" y="0"/>
                    <a:pt x="12931140" y="54991"/>
                    <a:pt x="12931140" y="122936"/>
                  </a:cubicBezTo>
                  <a:lnTo>
                    <a:pt x="12931140" y="2950972"/>
                  </a:lnTo>
                  <a:cubicBezTo>
                    <a:pt x="12931140" y="3018917"/>
                    <a:pt x="12876150" y="3073908"/>
                    <a:pt x="12808204" y="3073908"/>
                  </a:cubicBezTo>
                  <a:lnTo>
                    <a:pt x="122936" y="3073908"/>
                  </a:lnTo>
                  <a:cubicBezTo>
                    <a:pt x="54991" y="3073908"/>
                    <a:pt x="0" y="3018917"/>
                    <a:pt x="0" y="2950972"/>
                  </a:cubicBezTo>
                  <a:close/>
                </a:path>
              </a:pathLst>
            </a:custGeom>
            <a:solidFill>
              <a:srgbClr val="FFFFFF"/>
            </a:solidFill>
            <a:ln w="28575" cap="sq">
              <a:solidFill>
                <a:srgbClr val="C25915"/>
              </a:solidFill>
              <a:prstDash val="solid"/>
              <a:miter/>
            </a:ln>
          </p:spPr>
        </p:sp>
      </p:grpSp>
      <p:grpSp>
        <p:nvGrpSpPr>
          <p:cNvPr name="Group 42" id="42"/>
          <p:cNvGrpSpPr/>
          <p:nvPr/>
        </p:nvGrpSpPr>
        <p:grpSpPr>
          <a:xfrm rot="0">
            <a:off x="754380" y="7022592"/>
            <a:ext cx="192024" cy="2276856"/>
            <a:chOff x="0" y="0"/>
            <a:chExt cx="256032" cy="3035808"/>
          </a:xfrm>
        </p:grpSpPr>
        <p:sp>
          <p:nvSpPr>
            <p:cNvPr name="Freeform 43" id="43"/>
            <p:cNvSpPr/>
            <p:nvPr/>
          </p:nvSpPr>
          <p:spPr>
            <a:xfrm flipH="false" flipV="false" rot="0">
              <a:off x="0" y="0"/>
              <a:ext cx="256032" cy="3035808"/>
            </a:xfrm>
            <a:custGeom>
              <a:avLst/>
              <a:gdLst/>
              <a:ahLst/>
              <a:cxnLst/>
              <a:rect r="r" b="b" t="t" l="l"/>
              <a:pathLst>
                <a:path h="3035808" w="256032">
                  <a:moveTo>
                    <a:pt x="0" y="0"/>
                  </a:moveTo>
                  <a:lnTo>
                    <a:pt x="256032" y="0"/>
                  </a:lnTo>
                  <a:lnTo>
                    <a:pt x="256032" y="3035808"/>
                  </a:lnTo>
                  <a:lnTo>
                    <a:pt x="0" y="3035808"/>
                  </a:lnTo>
                  <a:close/>
                </a:path>
              </a:pathLst>
            </a:custGeom>
            <a:solidFill>
              <a:srgbClr val="C25915"/>
            </a:solidFill>
          </p:spPr>
        </p:sp>
      </p:grpSp>
      <p:grpSp>
        <p:nvGrpSpPr>
          <p:cNvPr name="Group 44" id="44"/>
          <p:cNvGrpSpPr/>
          <p:nvPr/>
        </p:nvGrpSpPr>
        <p:grpSpPr>
          <a:xfrm rot="0">
            <a:off x="1124712" y="7132320"/>
            <a:ext cx="9121140" cy="2057400"/>
            <a:chOff x="0" y="0"/>
            <a:chExt cx="12161520" cy="2743200"/>
          </a:xfrm>
        </p:grpSpPr>
        <p:sp>
          <p:nvSpPr>
            <p:cNvPr name="Freeform 45" id="45"/>
            <p:cNvSpPr/>
            <p:nvPr/>
          </p:nvSpPr>
          <p:spPr>
            <a:xfrm flipH="false" flipV="false" rot="0">
              <a:off x="0" y="0"/>
              <a:ext cx="12161520" cy="2743200"/>
            </a:xfrm>
            <a:custGeom>
              <a:avLst/>
              <a:gdLst/>
              <a:ahLst/>
              <a:cxnLst/>
              <a:rect r="r" b="b" t="t" l="l"/>
              <a:pathLst>
                <a:path h="2743200" w="12161520">
                  <a:moveTo>
                    <a:pt x="0" y="0"/>
                  </a:moveTo>
                  <a:lnTo>
                    <a:pt x="12161520" y="0"/>
                  </a:lnTo>
                  <a:lnTo>
                    <a:pt x="12161520" y="2743200"/>
                  </a:lnTo>
                  <a:lnTo>
                    <a:pt x="0" y="2743200"/>
                  </a:lnTo>
                  <a:close/>
                </a:path>
              </a:pathLst>
            </a:custGeom>
            <a:blipFill>
              <a:blip r:embed="rId2">
                <a:alphaModFix amt="0"/>
              </a:blip>
              <a:stretch>
                <a:fillRect l="0" t="-36383" r="0" b="-36383"/>
              </a:stretch>
            </a:blipFill>
          </p:spPr>
        </p:sp>
        <p:sp>
          <p:nvSpPr>
            <p:cNvPr name="TextBox 46" id="46"/>
            <p:cNvSpPr txBox="true"/>
            <p:nvPr/>
          </p:nvSpPr>
          <p:spPr>
            <a:xfrm>
              <a:off x="0" y="-19050"/>
              <a:ext cx="12161520" cy="2762250"/>
            </a:xfrm>
            <a:prstGeom prst="rect">
              <a:avLst/>
            </a:prstGeom>
          </p:spPr>
          <p:txBody>
            <a:bodyPr anchor="ctr" rtlCol="false" tIns="0" lIns="0" bIns="0" rIns="0"/>
            <a:lstStyle/>
            <a:p>
              <a:pPr algn="l">
                <a:lnSpc>
                  <a:spcPts val="2700"/>
                </a:lnSpc>
              </a:pPr>
              <a:r>
                <a:rPr lang="en-US" sz="2250" b="true">
                  <a:solidFill>
                    <a:srgbClr val="C25915"/>
                  </a:solidFill>
                  <a:latin typeface="DejaVu Sans Bold"/>
                  <a:ea typeface="DejaVu Sans Bold"/>
                  <a:cs typeface="DejaVu Sans Bold"/>
                  <a:sym typeface="DejaVu Sans Bold"/>
                </a:rPr>
                <a:t>MỤC TIÊU ĐÍCH ĐẾN &amp; HÌNH ẢNH GỢI NHỚ</a:t>
              </a:r>
            </a:p>
            <a:p>
              <a:pPr algn="l">
                <a:lnSpc>
                  <a:spcPts val="2700"/>
                </a:lnSpc>
              </a:pPr>
              <a:r>
                <a:rPr lang="en-US" sz="2250">
                  <a:solidFill>
                    <a:srgbClr val="1E293B"/>
                  </a:solidFill>
                  <a:latin typeface="DejaVu Sans Light"/>
                  <a:ea typeface="DejaVu Sans Light"/>
                  <a:cs typeface="DejaVu Sans Light"/>
                  <a:sym typeface="DejaVu Sans Light"/>
                </a:rPr>
                <a:t>• Xác lập mục tiêu: "Dân giàu, nước mạnh, dân chủ, công bằng, văn minh".</a:t>
              </a:r>
            </a:p>
            <a:p>
              <a:pPr algn="l">
                <a:lnSpc>
                  <a:spcPts val="2700"/>
                </a:lnSpc>
              </a:pPr>
              <a:r>
                <a:rPr lang="en-US" sz="2250">
                  <a:solidFill>
                    <a:srgbClr val="1E293B"/>
                  </a:solidFill>
                  <a:latin typeface="DejaVu Sans Light"/>
                  <a:ea typeface="DejaVu Sans Light"/>
                  <a:cs typeface="DejaVu Sans Light"/>
                  <a:sym typeface="DejaVu Sans Light"/>
                </a:rPr>
                <a:t>→ Ẩn dụ: Lắp "Động cơ thị trường" mạnh mẽ + "Vô-lăng &amp; hệ thống phanh XHCN" nhân văn!</a:t>
              </a:r>
            </a:p>
          </p:txBody>
        </p:sp>
      </p:grpSp>
      <p:grpSp>
        <p:nvGrpSpPr>
          <p:cNvPr name="Group 47" id="47"/>
          <p:cNvGrpSpPr/>
          <p:nvPr/>
        </p:nvGrpSpPr>
        <p:grpSpPr>
          <a:xfrm rot="0">
            <a:off x="10810494" y="1881378"/>
            <a:ext cx="6743700" cy="7511796"/>
            <a:chOff x="0" y="0"/>
            <a:chExt cx="8991600" cy="10015728"/>
          </a:xfrm>
        </p:grpSpPr>
        <p:sp>
          <p:nvSpPr>
            <p:cNvPr name="Freeform 48" id="48"/>
            <p:cNvSpPr/>
            <p:nvPr/>
          </p:nvSpPr>
          <p:spPr>
            <a:xfrm flipH="false" flipV="false" rot="0">
              <a:off x="0" y="0"/>
              <a:ext cx="8991600" cy="10015728"/>
            </a:xfrm>
            <a:custGeom>
              <a:avLst/>
              <a:gdLst/>
              <a:ahLst/>
              <a:cxnLst/>
              <a:rect r="r" b="b" t="t" l="l"/>
              <a:pathLst>
                <a:path h="10015728" w="8991600">
                  <a:moveTo>
                    <a:pt x="0" y="359664"/>
                  </a:moveTo>
                  <a:cubicBezTo>
                    <a:pt x="0" y="161036"/>
                    <a:pt x="161036" y="0"/>
                    <a:pt x="359664" y="0"/>
                  </a:cubicBezTo>
                  <a:lnTo>
                    <a:pt x="8631936" y="0"/>
                  </a:lnTo>
                  <a:cubicBezTo>
                    <a:pt x="8830564" y="0"/>
                    <a:pt x="8991600" y="161036"/>
                    <a:pt x="8991600" y="359664"/>
                  </a:cubicBezTo>
                  <a:lnTo>
                    <a:pt x="8991600" y="9656064"/>
                  </a:lnTo>
                  <a:cubicBezTo>
                    <a:pt x="8991600" y="9854692"/>
                    <a:pt x="8830564" y="10015728"/>
                    <a:pt x="8631936" y="10015728"/>
                  </a:cubicBezTo>
                  <a:lnTo>
                    <a:pt x="359664" y="10015728"/>
                  </a:lnTo>
                  <a:cubicBezTo>
                    <a:pt x="161036" y="10015728"/>
                    <a:pt x="0" y="9854692"/>
                    <a:pt x="0" y="9656064"/>
                  </a:cubicBezTo>
                  <a:close/>
                </a:path>
              </a:pathLst>
            </a:custGeom>
            <a:solidFill>
              <a:srgbClr val="FFFFFF"/>
            </a:solidFill>
            <a:ln w="22860" cap="sq">
              <a:solidFill>
                <a:srgbClr val="CBD5E1"/>
              </a:solidFill>
              <a:prstDash val="solid"/>
              <a:miter/>
            </a:ln>
          </p:spPr>
        </p:sp>
      </p:grpSp>
      <p:grpSp>
        <p:nvGrpSpPr>
          <p:cNvPr name="Group 49" id="49"/>
          <p:cNvGrpSpPr/>
          <p:nvPr/>
        </p:nvGrpSpPr>
        <p:grpSpPr>
          <a:xfrm rot="0">
            <a:off x="10904220" y="1975104"/>
            <a:ext cx="6556248" cy="6748272"/>
            <a:chOff x="0" y="0"/>
            <a:chExt cx="8741664" cy="8997696"/>
          </a:xfrm>
        </p:grpSpPr>
        <p:sp>
          <p:nvSpPr>
            <p:cNvPr name="Freeform 50" id="50" descr="image3.jpg"/>
            <p:cNvSpPr/>
            <p:nvPr/>
          </p:nvSpPr>
          <p:spPr>
            <a:xfrm flipH="false" flipV="false" rot="0">
              <a:off x="0" y="0"/>
              <a:ext cx="8741664" cy="8997696"/>
            </a:xfrm>
            <a:custGeom>
              <a:avLst/>
              <a:gdLst/>
              <a:ahLst/>
              <a:cxnLst/>
              <a:rect r="r" b="b" t="t" l="l"/>
              <a:pathLst>
                <a:path h="8997696" w="8741664">
                  <a:moveTo>
                    <a:pt x="0" y="0"/>
                  </a:moveTo>
                  <a:lnTo>
                    <a:pt x="8741664" y="0"/>
                  </a:lnTo>
                  <a:lnTo>
                    <a:pt x="8741664" y="8997696"/>
                  </a:lnTo>
                  <a:lnTo>
                    <a:pt x="0" y="8997696"/>
                  </a:lnTo>
                  <a:lnTo>
                    <a:pt x="0" y="0"/>
                  </a:lnTo>
                  <a:close/>
                </a:path>
              </a:pathLst>
            </a:custGeom>
            <a:blipFill>
              <a:blip r:embed="rId3"/>
              <a:stretch>
                <a:fillRect l="-1464" t="0" r="-1464" b="0"/>
              </a:stretch>
            </a:blipFill>
          </p:spPr>
        </p:sp>
      </p:grpSp>
      <p:grpSp>
        <p:nvGrpSpPr>
          <p:cNvPr name="Group 51" id="51"/>
          <p:cNvGrpSpPr/>
          <p:nvPr/>
        </p:nvGrpSpPr>
        <p:grpSpPr>
          <a:xfrm rot="0">
            <a:off x="10904220" y="8778240"/>
            <a:ext cx="6556248" cy="548640"/>
            <a:chOff x="0" y="0"/>
            <a:chExt cx="8741664" cy="731520"/>
          </a:xfrm>
        </p:grpSpPr>
        <p:sp>
          <p:nvSpPr>
            <p:cNvPr name="Freeform 52" id="52"/>
            <p:cNvSpPr/>
            <p:nvPr/>
          </p:nvSpPr>
          <p:spPr>
            <a:xfrm flipH="false" flipV="false" rot="0">
              <a:off x="0" y="0"/>
              <a:ext cx="8741664" cy="731520"/>
            </a:xfrm>
            <a:custGeom>
              <a:avLst/>
              <a:gdLst/>
              <a:ahLst/>
              <a:cxnLst/>
              <a:rect r="r" b="b" t="t" l="l"/>
              <a:pathLst>
                <a:path h="731520" w="8741664">
                  <a:moveTo>
                    <a:pt x="0" y="0"/>
                  </a:moveTo>
                  <a:lnTo>
                    <a:pt x="8741664" y="0"/>
                  </a:lnTo>
                  <a:lnTo>
                    <a:pt x="8741664" y="731520"/>
                  </a:lnTo>
                  <a:lnTo>
                    <a:pt x="0" y="731520"/>
                  </a:lnTo>
                  <a:close/>
                </a:path>
              </a:pathLst>
            </a:custGeom>
            <a:solidFill>
              <a:srgbClr val="F1F5F9"/>
            </a:solidFill>
          </p:spPr>
        </p:sp>
      </p:grpSp>
      <p:grpSp>
        <p:nvGrpSpPr>
          <p:cNvPr name="Group 53" id="53"/>
          <p:cNvGrpSpPr/>
          <p:nvPr/>
        </p:nvGrpSpPr>
        <p:grpSpPr>
          <a:xfrm rot="0">
            <a:off x="10986516" y="8778240"/>
            <a:ext cx="6391656" cy="548640"/>
            <a:chOff x="0" y="0"/>
            <a:chExt cx="8522208" cy="731520"/>
          </a:xfrm>
        </p:grpSpPr>
        <p:sp>
          <p:nvSpPr>
            <p:cNvPr name="Freeform 54" id="54"/>
            <p:cNvSpPr/>
            <p:nvPr/>
          </p:nvSpPr>
          <p:spPr>
            <a:xfrm flipH="false" flipV="false" rot="0">
              <a:off x="0" y="0"/>
              <a:ext cx="8522208" cy="731520"/>
            </a:xfrm>
            <a:custGeom>
              <a:avLst/>
              <a:gdLst/>
              <a:ahLst/>
              <a:cxnLst/>
              <a:rect r="r" b="b" t="t" l="l"/>
              <a:pathLst>
                <a:path h="731520" w="8522208">
                  <a:moveTo>
                    <a:pt x="0" y="0"/>
                  </a:moveTo>
                  <a:lnTo>
                    <a:pt x="8522208" y="0"/>
                  </a:lnTo>
                  <a:lnTo>
                    <a:pt x="8522208" y="731520"/>
                  </a:lnTo>
                  <a:lnTo>
                    <a:pt x="0" y="731520"/>
                  </a:lnTo>
                  <a:close/>
                </a:path>
              </a:pathLst>
            </a:custGeom>
            <a:blipFill>
              <a:blip r:embed="rId2">
                <a:alphaModFix amt="0"/>
              </a:blip>
              <a:stretch>
                <a:fillRect l="0" t="-177000" r="0" b="-177000"/>
              </a:stretch>
            </a:blipFill>
          </p:spPr>
        </p:sp>
        <p:sp>
          <p:nvSpPr>
            <p:cNvPr name="TextBox 55" id="55"/>
            <p:cNvSpPr txBox="true"/>
            <p:nvPr/>
          </p:nvSpPr>
          <p:spPr>
            <a:xfrm>
              <a:off x="0" y="-9525"/>
              <a:ext cx="8522208" cy="741045"/>
            </a:xfrm>
            <a:prstGeom prst="rect">
              <a:avLst/>
            </a:prstGeom>
          </p:spPr>
          <p:txBody>
            <a:bodyPr anchor="ctr" rtlCol="false" tIns="0" lIns="0" bIns="0" rIns="0"/>
            <a:lstStyle/>
            <a:p>
              <a:pPr algn="l">
                <a:lnSpc>
                  <a:spcPts val="1727"/>
                </a:lnSpc>
              </a:pPr>
              <a:r>
                <a:rPr lang="en-US" sz="1439" b="true">
                  <a:solidFill>
                    <a:srgbClr val="1E293B"/>
                  </a:solidFill>
                  <a:latin typeface="DejaVu Sans Bold"/>
                  <a:ea typeface="DejaVu Sans Bold"/>
                  <a:cs typeface="DejaVu Sans Bold"/>
                  <a:sym typeface="DejaVu Sans Bold"/>
                </a:rPr>
                <a:t>Ảnh thật: Đoàn tàu Metro số 1 Bến Thành – Suối Tiên tại TP.HCM (02/2025) | Nguồn: Wikimedia Commons</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7543" cy="137160"/>
            <a:chOff x="0" y="0"/>
            <a:chExt cx="24383390" cy="182880"/>
          </a:xfrm>
        </p:grpSpPr>
        <p:sp>
          <p:nvSpPr>
            <p:cNvPr name="Freeform 3" id="3"/>
            <p:cNvSpPr/>
            <p:nvPr/>
          </p:nvSpPr>
          <p:spPr>
            <a:xfrm flipH="false" flipV="false" rot="0">
              <a:off x="0" y="0"/>
              <a:ext cx="24383364" cy="182880"/>
            </a:xfrm>
            <a:custGeom>
              <a:avLst/>
              <a:gdLst/>
              <a:ahLst/>
              <a:cxnLst/>
              <a:rect r="r" b="b" t="t" l="l"/>
              <a:pathLst>
                <a:path h="182880" w="24383364">
                  <a:moveTo>
                    <a:pt x="0" y="0"/>
                  </a:moveTo>
                  <a:lnTo>
                    <a:pt x="24383364" y="0"/>
                  </a:lnTo>
                  <a:lnTo>
                    <a:pt x="24383364" y="182880"/>
                  </a:lnTo>
                  <a:lnTo>
                    <a:pt x="0" y="182880"/>
                  </a:lnTo>
                  <a:close/>
                </a:path>
              </a:pathLst>
            </a:custGeom>
            <a:solidFill>
              <a:srgbClr val="122645"/>
            </a:solidFill>
          </p:spPr>
        </p:sp>
      </p:grpSp>
      <p:grpSp>
        <p:nvGrpSpPr>
          <p:cNvPr name="Group 4" id="4"/>
          <p:cNvGrpSpPr/>
          <p:nvPr/>
        </p:nvGrpSpPr>
        <p:grpSpPr>
          <a:xfrm rot="0">
            <a:off x="0" y="0"/>
            <a:ext cx="4876676" cy="137160"/>
            <a:chOff x="0" y="0"/>
            <a:chExt cx="6502235" cy="182880"/>
          </a:xfrm>
        </p:grpSpPr>
        <p:sp>
          <p:nvSpPr>
            <p:cNvPr name="Freeform 5" id="5"/>
            <p:cNvSpPr/>
            <p:nvPr/>
          </p:nvSpPr>
          <p:spPr>
            <a:xfrm flipH="false" flipV="false" rot="0">
              <a:off x="0" y="0"/>
              <a:ext cx="6502273" cy="182880"/>
            </a:xfrm>
            <a:custGeom>
              <a:avLst/>
              <a:gdLst/>
              <a:ahLst/>
              <a:cxnLst/>
              <a:rect r="r" b="b" t="t" l="l"/>
              <a:pathLst>
                <a:path h="182880" w="6502273">
                  <a:moveTo>
                    <a:pt x="0" y="0"/>
                  </a:moveTo>
                  <a:lnTo>
                    <a:pt x="6502273" y="0"/>
                  </a:lnTo>
                  <a:lnTo>
                    <a:pt x="6502273" y="182880"/>
                  </a:lnTo>
                  <a:lnTo>
                    <a:pt x="0" y="182880"/>
                  </a:lnTo>
                  <a:close/>
                </a:path>
              </a:pathLst>
            </a:custGeom>
            <a:solidFill>
              <a:srgbClr val="0F766E"/>
            </a:solidFill>
          </p:spPr>
        </p:sp>
      </p:grpSp>
      <p:grpSp>
        <p:nvGrpSpPr>
          <p:cNvPr name="Group 6" id="6"/>
          <p:cNvGrpSpPr/>
          <p:nvPr/>
        </p:nvGrpSpPr>
        <p:grpSpPr>
          <a:xfrm rot="0">
            <a:off x="744855" y="292227"/>
            <a:ext cx="7151370" cy="485394"/>
            <a:chOff x="0" y="0"/>
            <a:chExt cx="9535160" cy="647192"/>
          </a:xfrm>
        </p:grpSpPr>
        <p:sp>
          <p:nvSpPr>
            <p:cNvPr name="Freeform 7" id="7"/>
            <p:cNvSpPr/>
            <p:nvPr/>
          </p:nvSpPr>
          <p:spPr>
            <a:xfrm flipH="false" flipV="false" rot="0">
              <a:off x="0" y="0"/>
              <a:ext cx="9535160" cy="647192"/>
            </a:xfrm>
            <a:custGeom>
              <a:avLst/>
              <a:gdLst/>
              <a:ahLst/>
              <a:cxnLst/>
              <a:rect r="r" b="b" t="t" l="l"/>
              <a:pathLst>
                <a:path h="647192" w="9535160">
                  <a:moveTo>
                    <a:pt x="0" y="25908"/>
                  </a:moveTo>
                  <a:cubicBezTo>
                    <a:pt x="0" y="11557"/>
                    <a:pt x="11557" y="0"/>
                    <a:pt x="25908" y="0"/>
                  </a:cubicBezTo>
                  <a:lnTo>
                    <a:pt x="9509252" y="0"/>
                  </a:lnTo>
                  <a:cubicBezTo>
                    <a:pt x="9523603" y="0"/>
                    <a:pt x="9535160" y="11557"/>
                    <a:pt x="9535160" y="25908"/>
                  </a:cubicBezTo>
                  <a:lnTo>
                    <a:pt x="9535160" y="621284"/>
                  </a:lnTo>
                  <a:cubicBezTo>
                    <a:pt x="9535160" y="635635"/>
                    <a:pt x="9523603" y="647192"/>
                    <a:pt x="9509252" y="647192"/>
                  </a:cubicBezTo>
                  <a:lnTo>
                    <a:pt x="25908" y="647192"/>
                  </a:lnTo>
                  <a:cubicBezTo>
                    <a:pt x="11557" y="647192"/>
                    <a:pt x="0" y="635635"/>
                    <a:pt x="0" y="621284"/>
                  </a:cubicBezTo>
                  <a:close/>
                </a:path>
              </a:pathLst>
            </a:custGeom>
            <a:solidFill>
              <a:srgbClr val="EAF7F5"/>
            </a:solidFill>
            <a:ln w="19050" cap="sq">
              <a:solidFill>
                <a:srgbClr val="0F766E"/>
              </a:solidFill>
              <a:prstDash val="solid"/>
              <a:miter/>
            </a:ln>
          </p:spPr>
        </p:sp>
      </p:grpSp>
      <p:grpSp>
        <p:nvGrpSpPr>
          <p:cNvPr name="Group 8" id="8"/>
          <p:cNvGrpSpPr/>
          <p:nvPr/>
        </p:nvGrpSpPr>
        <p:grpSpPr>
          <a:xfrm rot="0">
            <a:off x="850392" y="301752"/>
            <a:ext cx="6926580" cy="466344"/>
            <a:chOff x="0" y="0"/>
            <a:chExt cx="9235440" cy="621792"/>
          </a:xfrm>
        </p:grpSpPr>
        <p:sp>
          <p:nvSpPr>
            <p:cNvPr name="Freeform 9" id="9"/>
            <p:cNvSpPr/>
            <p:nvPr/>
          </p:nvSpPr>
          <p:spPr>
            <a:xfrm flipH="false" flipV="false" rot="0">
              <a:off x="0" y="0"/>
              <a:ext cx="9235440" cy="621792"/>
            </a:xfrm>
            <a:custGeom>
              <a:avLst/>
              <a:gdLst/>
              <a:ahLst/>
              <a:cxnLst/>
              <a:rect r="r" b="b" t="t" l="l"/>
              <a:pathLst>
                <a:path h="621792" w="9235440">
                  <a:moveTo>
                    <a:pt x="0" y="0"/>
                  </a:moveTo>
                  <a:lnTo>
                    <a:pt x="9235440" y="0"/>
                  </a:lnTo>
                  <a:lnTo>
                    <a:pt x="9235440" y="621792"/>
                  </a:lnTo>
                  <a:lnTo>
                    <a:pt x="0" y="621792"/>
                  </a:lnTo>
                  <a:close/>
                </a:path>
              </a:pathLst>
            </a:custGeom>
            <a:blipFill>
              <a:blip r:embed="rId2">
                <a:alphaModFix amt="0"/>
              </a:blip>
              <a:stretch>
                <a:fillRect l="0" t="-239410" r="0" b="-239410"/>
              </a:stretch>
            </a:blipFill>
          </p:spPr>
        </p:sp>
        <p:sp>
          <p:nvSpPr>
            <p:cNvPr name="TextBox 10" id="10"/>
            <p:cNvSpPr txBox="true"/>
            <p:nvPr/>
          </p:nvSpPr>
          <p:spPr>
            <a:xfrm>
              <a:off x="0" y="-9525"/>
              <a:ext cx="9235440" cy="631317"/>
            </a:xfrm>
            <a:prstGeom prst="rect">
              <a:avLst/>
            </a:prstGeom>
          </p:spPr>
          <p:txBody>
            <a:bodyPr anchor="ctr" rtlCol="false" tIns="0" lIns="0" bIns="0" rIns="0"/>
            <a:lstStyle/>
            <a:p>
              <a:pPr algn="l">
                <a:lnSpc>
                  <a:spcPts val="1889"/>
                </a:lnSpc>
              </a:pPr>
              <a:r>
                <a:rPr lang="en-US" sz="1575" b="true">
                  <a:solidFill>
                    <a:srgbClr val="0F766E"/>
                  </a:solidFill>
                  <a:latin typeface="DejaVu Sans Bold"/>
                  <a:ea typeface="DejaVu Sans Bold"/>
                  <a:cs typeface="DejaVu Sans Bold"/>
                  <a:sym typeface="DejaVu Sans Bold"/>
                </a:rPr>
                <a:t>LÝ LUẬN NỀN TẢNG • MỤC 5.1.2 (TR. 171–177)</a:t>
              </a:r>
            </a:p>
          </p:txBody>
        </p:sp>
      </p:grpSp>
      <p:grpSp>
        <p:nvGrpSpPr>
          <p:cNvPr name="Group 11" id="11"/>
          <p:cNvGrpSpPr/>
          <p:nvPr/>
        </p:nvGrpSpPr>
        <p:grpSpPr>
          <a:xfrm rot="0">
            <a:off x="15704820" y="301752"/>
            <a:ext cx="1824228" cy="466344"/>
            <a:chOff x="0" y="0"/>
            <a:chExt cx="2432304" cy="621792"/>
          </a:xfrm>
        </p:grpSpPr>
        <p:sp>
          <p:nvSpPr>
            <p:cNvPr name="Freeform 12" id="12"/>
            <p:cNvSpPr/>
            <p:nvPr/>
          </p:nvSpPr>
          <p:spPr>
            <a:xfrm flipH="false" flipV="false" rot="0">
              <a:off x="0" y="0"/>
              <a:ext cx="2432304" cy="621792"/>
            </a:xfrm>
            <a:custGeom>
              <a:avLst/>
              <a:gdLst/>
              <a:ahLst/>
              <a:cxnLst/>
              <a:rect r="r" b="b" t="t" l="l"/>
              <a:pathLst>
                <a:path h="621792" w="2432304">
                  <a:moveTo>
                    <a:pt x="0" y="24892"/>
                  </a:moveTo>
                  <a:cubicBezTo>
                    <a:pt x="0" y="11176"/>
                    <a:pt x="11176" y="0"/>
                    <a:pt x="24892" y="0"/>
                  </a:cubicBezTo>
                  <a:lnTo>
                    <a:pt x="2407412" y="0"/>
                  </a:lnTo>
                  <a:cubicBezTo>
                    <a:pt x="2421128" y="0"/>
                    <a:pt x="2432304" y="11176"/>
                    <a:pt x="2432304" y="24892"/>
                  </a:cubicBezTo>
                  <a:lnTo>
                    <a:pt x="2432304" y="596900"/>
                  </a:lnTo>
                  <a:cubicBezTo>
                    <a:pt x="2432304" y="610616"/>
                    <a:pt x="2421128" y="621792"/>
                    <a:pt x="2407412" y="621792"/>
                  </a:cubicBezTo>
                  <a:lnTo>
                    <a:pt x="24892" y="621792"/>
                  </a:lnTo>
                  <a:cubicBezTo>
                    <a:pt x="11176" y="621792"/>
                    <a:pt x="0" y="610616"/>
                    <a:pt x="0" y="596900"/>
                  </a:cubicBezTo>
                  <a:close/>
                </a:path>
              </a:pathLst>
            </a:custGeom>
            <a:solidFill>
              <a:srgbClr val="122645"/>
            </a:solidFill>
          </p:spPr>
        </p:sp>
      </p:grpSp>
      <p:grpSp>
        <p:nvGrpSpPr>
          <p:cNvPr name="Group 13" id="13"/>
          <p:cNvGrpSpPr/>
          <p:nvPr/>
        </p:nvGrpSpPr>
        <p:grpSpPr>
          <a:xfrm rot="0">
            <a:off x="15704820" y="301752"/>
            <a:ext cx="1824228" cy="466344"/>
            <a:chOff x="0" y="0"/>
            <a:chExt cx="2432304" cy="621792"/>
          </a:xfrm>
        </p:grpSpPr>
        <p:sp>
          <p:nvSpPr>
            <p:cNvPr name="Freeform 14" id="14"/>
            <p:cNvSpPr/>
            <p:nvPr/>
          </p:nvSpPr>
          <p:spPr>
            <a:xfrm flipH="false" flipV="false" rot="0">
              <a:off x="0" y="0"/>
              <a:ext cx="2432304" cy="621792"/>
            </a:xfrm>
            <a:custGeom>
              <a:avLst/>
              <a:gdLst/>
              <a:ahLst/>
              <a:cxnLst/>
              <a:rect r="r" b="b" t="t" l="l"/>
              <a:pathLst>
                <a:path h="621792" w="2432304">
                  <a:moveTo>
                    <a:pt x="0" y="0"/>
                  </a:moveTo>
                  <a:lnTo>
                    <a:pt x="2432304" y="0"/>
                  </a:lnTo>
                  <a:lnTo>
                    <a:pt x="2432304" y="621792"/>
                  </a:lnTo>
                  <a:lnTo>
                    <a:pt x="0" y="621792"/>
                  </a:lnTo>
                  <a:close/>
                </a:path>
              </a:pathLst>
            </a:custGeom>
            <a:blipFill>
              <a:blip r:embed="rId2">
                <a:alphaModFix amt="0"/>
              </a:blip>
              <a:stretch>
                <a:fillRect l="0" t="-26220" r="0" b="-26220"/>
              </a:stretch>
            </a:blipFill>
          </p:spPr>
        </p:sp>
        <p:sp>
          <p:nvSpPr>
            <p:cNvPr name="TextBox 15" id="15"/>
            <p:cNvSpPr txBox="true"/>
            <p:nvPr/>
          </p:nvSpPr>
          <p:spPr>
            <a:xfrm>
              <a:off x="0" y="-19050"/>
              <a:ext cx="2432304" cy="640842"/>
            </a:xfrm>
            <a:prstGeom prst="rect">
              <a:avLst/>
            </a:prstGeom>
          </p:spPr>
          <p:txBody>
            <a:bodyPr anchor="ctr" rtlCol="false" tIns="0" lIns="0" bIns="0" rIns="0"/>
            <a:lstStyle/>
            <a:p>
              <a:pPr algn="ctr">
                <a:lnSpc>
                  <a:spcPts val="2700"/>
                </a:lnSpc>
              </a:pPr>
              <a:r>
                <a:rPr lang="en-US" sz="2250" b="true">
                  <a:solidFill>
                    <a:srgbClr val="FFFFFF"/>
                  </a:solidFill>
                  <a:latin typeface="DejaVu Sans Bold"/>
                  <a:ea typeface="DejaVu Sans Bold"/>
                  <a:cs typeface="DejaVu Sans Bold"/>
                  <a:sym typeface="DejaVu Sans Bold"/>
                </a:rPr>
                <a:t>Slide 4 / 15</a:t>
              </a:r>
            </a:p>
          </p:txBody>
        </p:sp>
      </p:grpSp>
      <p:grpSp>
        <p:nvGrpSpPr>
          <p:cNvPr name="Group 16" id="16"/>
          <p:cNvGrpSpPr/>
          <p:nvPr/>
        </p:nvGrpSpPr>
        <p:grpSpPr>
          <a:xfrm rot="0">
            <a:off x="754380" y="850392"/>
            <a:ext cx="16774668" cy="740664"/>
            <a:chOff x="0" y="0"/>
            <a:chExt cx="22366224" cy="987552"/>
          </a:xfrm>
        </p:grpSpPr>
        <p:sp>
          <p:nvSpPr>
            <p:cNvPr name="Freeform 17" id="17"/>
            <p:cNvSpPr/>
            <p:nvPr/>
          </p:nvSpPr>
          <p:spPr>
            <a:xfrm flipH="false" flipV="false" rot="0">
              <a:off x="0" y="0"/>
              <a:ext cx="22366224" cy="987552"/>
            </a:xfrm>
            <a:custGeom>
              <a:avLst/>
              <a:gdLst/>
              <a:ahLst/>
              <a:cxnLst/>
              <a:rect r="r" b="b" t="t" l="l"/>
              <a:pathLst>
                <a:path h="987552" w="22366224">
                  <a:moveTo>
                    <a:pt x="0" y="0"/>
                  </a:moveTo>
                  <a:lnTo>
                    <a:pt x="22366224" y="0"/>
                  </a:lnTo>
                  <a:lnTo>
                    <a:pt x="22366224" y="987552"/>
                  </a:lnTo>
                  <a:lnTo>
                    <a:pt x="0" y="987552"/>
                  </a:lnTo>
                  <a:close/>
                </a:path>
              </a:pathLst>
            </a:custGeom>
            <a:blipFill>
              <a:blip r:embed="rId2">
                <a:alphaModFix amt="0"/>
              </a:blip>
              <a:stretch>
                <a:fillRect l="0" t="-391300" r="0" b="-391300"/>
              </a:stretch>
            </a:blipFill>
          </p:spPr>
        </p:sp>
        <p:sp>
          <p:nvSpPr>
            <p:cNvPr name="TextBox 18" id="18"/>
            <p:cNvSpPr txBox="true"/>
            <p:nvPr/>
          </p:nvSpPr>
          <p:spPr>
            <a:xfrm>
              <a:off x="0" y="-9525"/>
              <a:ext cx="22366224" cy="997077"/>
            </a:xfrm>
            <a:prstGeom prst="rect">
              <a:avLst/>
            </a:prstGeom>
          </p:spPr>
          <p:txBody>
            <a:bodyPr anchor="ctr" rtlCol="false" tIns="0" lIns="0" bIns="0" rIns="0"/>
            <a:lstStyle/>
            <a:p>
              <a:pPr algn="l">
                <a:lnSpc>
                  <a:spcPts val="3869"/>
                </a:lnSpc>
              </a:pPr>
              <a:r>
                <a:rPr lang="en-US" sz="3225" b="true">
                  <a:solidFill>
                    <a:srgbClr val="122645"/>
                  </a:solidFill>
                  <a:latin typeface="DejaVu Sans Bold"/>
                  <a:ea typeface="DejaVu Sans Bold"/>
                  <a:cs typeface="DejaVu Sans Bold"/>
                  <a:sym typeface="DejaVu Sans Bold"/>
                </a:rPr>
                <a:t>Vì sao phát triển KTTT định hướng XHCN là tất yếu khách quan?</a:t>
              </a:r>
            </a:p>
          </p:txBody>
        </p:sp>
      </p:grpSp>
      <p:grpSp>
        <p:nvGrpSpPr>
          <p:cNvPr name="Group 19" id="19"/>
          <p:cNvGrpSpPr/>
          <p:nvPr/>
        </p:nvGrpSpPr>
        <p:grpSpPr>
          <a:xfrm rot="0">
            <a:off x="754380" y="1645920"/>
            <a:ext cx="16774668" cy="41148"/>
            <a:chOff x="0" y="0"/>
            <a:chExt cx="22366224" cy="54864"/>
          </a:xfrm>
        </p:grpSpPr>
        <p:sp>
          <p:nvSpPr>
            <p:cNvPr name="Freeform 20" id="20"/>
            <p:cNvSpPr/>
            <p:nvPr/>
          </p:nvSpPr>
          <p:spPr>
            <a:xfrm flipH="false" flipV="false" rot="0">
              <a:off x="0" y="0"/>
              <a:ext cx="22366224" cy="54864"/>
            </a:xfrm>
            <a:custGeom>
              <a:avLst/>
              <a:gdLst/>
              <a:ahLst/>
              <a:cxnLst/>
              <a:rect r="r" b="b" t="t" l="l"/>
              <a:pathLst>
                <a:path h="54864" w="22366224">
                  <a:moveTo>
                    <a:pt x="0" y="0"/>
                  </a:moveTo>
                  <a:lnTo>
                    <a:pt x="22366224" y="0"/>
                  </a:lnTo>
                  <a:lnTo>
                    <a:pt x="22366224" y="54864"/>
                  </a:lnTo>
                  <a:lnTo>
                    <a:pt x="0" y="54864"/>
                  </a:lnTo>
                  <a:close/>
                </a:path>
              </a:pathLst>
            </a:custGeom>
            <a:solidFill>
              <a:srgbClr val="CBD5E1"/>
            </a:solidFill>
          </p:spPr>
        </p:sp>
      </p:grpSp>
      <p:grpSp>
        <p:nvGrpSpPr>
          <p:cNvPr name="Group 21" id="21"/>
          <p:cNvGrpSpPr/>
          <p:nvPr/>
        </p:nvGrpSpPr>
        <p:grpSpPr>
          <a:xfrm rot="0">
            <a:off x="-7144" y="9662636"/>
            <a:ext cx="18301830" cy="631507"/>
            <a:chOff x="0" y="0"/>
            <a:chExt cx="24402440" cy="842010"/>
          </a:xfrm>
        </p:grpSpPr>
        <p:sp>
          <p:nvSpPr>
            <p:cNvPr name="Freeform 22" id="22"/>
            <p:cNvSpPr/>
            <p:nvPr/>
          </p:nvSpPr>
          <p:spPr>
            <a:xfrm flipH="false" flipV="false" rot="0">
              <a:off x="0" y="0"/>
              <a:ext cx="24402414" cy="842010"/>
            </a:xfrm>
            <a:custGeom>
              <a:avLst/>
              <a:gdLst/>
              <a:ahLst/>
              <a:cxnLst/>
              <a:rect r="r" b="b" t="t" l="l"/>
              <a:pathLst>
                <a:path h="842010" w="24402414">
                  <a:moveTo>
                    <a:pt x="0" y="0"/>
                  </a:moveTo>
                  <a:lnTo>
                    <a:pt x="24402414" y="0"/>
                  </a:lnTo>
                  <a:lnTo>
                    <a:pt x="24402414" y="842010"/>
                  </a:lnTo>
                  <a:lnTo>
                    <a:pt x="0" y="842010"/>
                  </a:lnTo>
                  <a:close/>
                </a:path>
              </a:pathLst>
            </a:custGeom>
            <a:solidFill>
              <a:srgbClr val="FFFFFF"/>
            </a:solidFill>
            <a:ln w="14288" cap="sq">
              <a:solidFill>
                <a:srgbClr val="CBD5E1"/>
              </a:solidFill>
              <a:prstDash val="solid"/>
              <a:miter/>
            </a:ln>
          </p:spPr>
        </p:sp>
      </p:grpSp>
      <p:grpSp>
        <p:nvGrpSpPr>
          <p:cNvPr name="Group 23" id="23"/>
          <p:cNvGrpSpPr/>
          <p:nvPr/>
        </p:nvGrpSpPr>
        <p:grpSpPr>
          <a:xfrm rot="0">
            <a:off x="754380" y="9710928"/>
            <a:ext cx="16774668" cy="493776"/>
            <a:chOff x="0" y="0"/>
            <a:chExt cx="22366224" cy="658368"/>
          </a:xfrm>
        </p:grpSpPr>
        <p:sp>
          <p:nvSpPr>
            <p:cNvPr name="Freeform 24" id="24"/>
            <p:cNvSpPr/>
            <p:nvPr/>
          </p:nvSpPr>
          <p:spPr>
            <a:xfrm flipH="false" flipV="false" rot="0">
              <a:off x="0" y="0"/>
              <a:ext cx="22366224" cy="658368"/>
            </a:xfrm>
            <a:custGeom>
              <a:avLst/>
              <a:gdLst/>
              <a:ahLst/>
              <a:cxnLst/>
              <a:rect r="r" b="b" t="t" l="l"/>
              <a:pathLst>
                <a:path h="658368" w="22366224">
                  <a:moveTo>
                    <a:pt x="0" y="0"/>
                  </a:moveTo>
                  <a:lnTo>
                    <a:pt x="22366224" y="0"/>
                  </a:lnTo>
                  <a:lnTo>
                    <a:pt x="22366224" y="658368"/>
                  </a:lnTo>
                  <a:lnTo>
                    <a:pt x="0" y="658368"/>
                  </a:lnTo>
                  <a:close/>
                </a:path>
              </a:pathLst>
            </a:custGeom>
            <a:blipFill>
              <a:blip r:embed="rId2">
                <a:alphaModFix amt="0"/>
              </a:blip>
              <a:stretch>
                <a:fillRect l="0" t="-611950" r="0" b="-611950"/>
              </a:stretch>
            </a:blipFill>
          </p:spPr>
        </p:sp>
        <p:sp>
          <p:nvSpPr>
            <p:cNvPr name="TextBox 25" id="25"/>
            <p:cNvSpPr txBox="true"/>
            <p:nvPr/>
          </p:nvSpPr>
          <p:spPr>
            <a:xfrm>
              <a:off x="0" y="-19050"/>
              <a:ext cx="22366224" cy="677418"/>
            </a:xfrm>
            <a:prstGeom prst="rect">
              <a:avLst/>
            </a:prstGeom>
          </p:spPr>
          <p:txBody>
            <a:bodyPr anchor="ctr" rtlCol="false" tIns="0" lIns="0" bIns="0" rIns="0"/>
            <a:lstStyle/>
            <a:p>
              <a:pPr algn="l">
                <a:lnSpc>
                  <a:spcPts val="2700"/>
                </a:lnSpc>
              </a:pPr>
              <a:r>
                <a:rPr lang="en-US" sz="2250" i="true">
                  <a:solidFill>
                    <a:srgbClr val="475569"/>
                  </a:solidFill>
                  <a:latin typeface="DejaVu Sans Bold Italics"/>
                  <a:ea typeface="DejaVu Sans Bold Italics"/>
                  <a:cs typeface="DejaVu Sans Bold Italics"/>
                  <a:sym typeface="DejaVu Sans Bold Italics"/>
                </a:rPr>
                <a:t>Nguồn lý luận: Giáo trình Kinh tế chính trị Mác – Lênin (Bộ GD&amp;ĐT, 2021, Mục 5.1.2, tr. 171–177).</a:t>
              </a:r>
            </a:p>
          </p:txBody>
        </p:sp>
      </p:grpSp>
      <p:grpSp>
        <p:nvGrpSpPr>
          <p:cNvPr name="Group 26" id="26"/>
          <p:cNvGrpSpPr/>
          <p:nvPr/>
        </p:nvGrpSpPr>
        <p:grpSpPr>
          <a:xfrm rot="0">
            <a:off x="742950" y="1963674"/>
            <a:ext cx="9692640" cy="2299716"/>
            <a:chOff x="0" y="0"/>
            <a:chExt cx="12923520" cy="3066288"/>
          </a:xfrm>
        </p:grpSpPr>
        <p:sp>
          <p:nvSpPr>
            <p:cNvPr name="Freeform 27" id="27"/>
            <p:cNvSpPr/>
            <p:nvPr/>
          </p:nvSpPr>
          <p:spPr>
            <a:xfrm flipH="false" flipV="false" rot="0">
              <a:off x="0" y="0"/>
              <a:ext cx="12923520" cy="3066288"/>
            </a:xfrm>
            <a:custGeom>
              <a:avLst/>
              <a:gdLst/>
              <a:ahLst/>
              <a:cxnLst/>
              <a:rect r="r" b="b" t="t" l="l"/>
              <a:pathLst>
                <a:path h="3066288" w="12923520">
                  <a:moveTo>
                    <a:pt x="0" y="122682"/>
                  </a:moveTo>
                  <a:cubicBezTo>
                    <a:pt x="0" y="54864"/>
                    <a:pt x="54864" y="0"/>
                    <a:pt x="122682" y="0"/>
                  </a:cubicBezTo>
                  <a:lnTo>
                    <a:pt x="12800838" y="0"/>
                  </a:lnTo>
                  <a:cubicBezTo>
                    <a:pt x="12868529" y="0"/>
                    <a:pt x="12923520" y="54864"/>
                    <a:pt x="12923520" y="122682"/>
                  </a:cubicBezTo>
                  <a:lnTo>
                    <a:pt x="12923520" y="2943606"/>
                  </a:lnTo>
                  <a:cubicBezTo>
                    <a:pt x="12923520" y="3011297"/>
                    <a:pt x="12868656" y="3066288"/>
                    <a:pt x="12800838" y="3066288"/>
                  </a:cubicBezTo>
                  <a:lnTo>
                    <a:pt x="122682" y="3066288"/>
                  </a:lnTo>
                  <a:cubicBezTo>
                    <a:pt x="54991" y="3066288"/>
                    <a:pt x="0" y="3011424"/>
                    <a:pt x="0" y="2943606"/>
                  </a:cubicBezTo>
                  <a:close/>
                </a:path>
              </a:pathLst>
            </a:custGeom>
            <a:solidFill>
              <a:srgbClr val="FFFFFF"/>
            </a:solidFill>
            <a:ln w="22860" cap="sq">
              <a:solidFill>
                <a:srgbClr val="CBD5E1"/>
              </a:solidFill>
              <a:prstDash val="solid"/>
              <a:miter/>
            </a:ln>
          </p:spPr>
        </p:sp>
      </p:grpSp>
      <p:grpSp>
        <p:nvGrpSpPr>
          <p:cNvPr name="Group 28" id="28"/>
          <p:cNvGrpSpPr/>
          <p:nvPr/>
        </p:nvGrpSpPr>
        <p:grpSpPr>
          <a:xfrm rot="0">
            <a:off x="754380" y="1975104"/>
            <a:ext cx="9669780" cy="576072"/>
            <a:chOff x="0" y="0"/>
            <a:chExt cx="12893040" cy="768096"/>
          </a:xfrm>
        </p:grpSpPr>
        <p:sp>
          <p:nvSpPr>
            <p:cNvPr name="Freeform 29" id="29"/>
            <p:cNvSpPr/>
            <p:nvPr/>
          </p:nvSpPr>
          <p:spPr>
            <a:xfrm flipH="false" flipV="false" rot="0">
              <a:off x="0" y="0"/>
              <a:ext cx="12893040" cy="768096"/>
            </a:xfrm>
            <a:custGeom>
              <a:avLst/>
              <a:gdLst/>
              <a:ahLst/>
              <a:cxnLst/>
              <a:rect r="r" b="b" t="t" l="l"/>
              <a:pathLst>
                <a:path h="768096" w="12893040">
                  <a:moveTo>
                    <a:pt x="0" y="0"/>
                  </a:moveTo>
                  <a:lnTo>
                    <a:pt x="12893040" y="0"/>
                  </a:lnTo>
                  <a:lnTo>
                    <a:pt x="12893040" y="768096"/>
                  </a:lnTo>
                  <a:lnTo>
                    <a:pt x="0" y="768096"/>
                  </a:lnTo>
                  <a:close/>
                </a:path>
              </a:pathLst>
            </a:custGeom>
            <a:solidFill>
              <a:srgbClr val="122645"/>
            </a:solidFill>
          </p:spPr>
        </p:sp>
      </p:grpSp>
      <p:grpSp>
        <p:nvGrpSpPr>
          <p:cNvPr name="Group 30" id="30"/>
          <p:cNvGrpSpPr/>
          <p:nvPr/>
        </p:nvGrpSpPr>
        <p:grpSpPr>
          <a:xfrm rot="0">
            <a:off x="987552" y="2002536"/>
            <a:ext cx="9258300" cy="521208"/>
            <a:chOff x="0" y="0"/>
            <a:chExt cx="12344400" cy="694944"/>
          </a:xfrm>
        </p:grpSpPr>
        <p:sp>
          <p:nvSpPr>
            <p:cNvPr name="Freeform 31" id="31"/>
            <p:cNvSpPr/>
            <p:nvPr/>
          </p:nvSpPr>
          <p:spPr>
            <a:xfrm flipH="false" flipV="false" rot="0">
              <a:off x="0" y="0"/>
              <a:ext cx="12344400" cy="694944"/>
            </a:xfrm>
            <a:custGeom>
              <a:avLst/>
              <a:gdLst/>
              <a:ahLst/>
              <a:cxnLst/>
              <a:rect r="r" b="b" t="t" l="l"/>
              <a:pathLst>
                <a:path h="694944" w="12344400">
                  <a:moveTo>
                    <a:pt x="0" y="0"/>
                  </a:moveTo>
                  <a:lnTo>
                    <a:pt x="12344400" y="0"/>
                  </a:lnTo>
                  <a:lnTo>
                    <a:pt x="12344400" y="694944"/>
                  </a:lnTo>
                  <a:lnTo>
                    <a:pt x="0" y="694944"/>
                  </a:lnTo>
                  <a:close/>
                </a:path>
              </a:pathLst>
            </a:custGeom>
            <a:blipFill>
              <a:blip r:embed="rId2">
                <a:alphaModFix amt="0"/>
              </a:blip>
              <a:stretch>
                <a:fillRect l="0" t="-296115" r="0" b="-296115"/>
              </a:stretch>
            </a:blipFill>
          </p:spPr>
        </p:sp>
        <p:sp>
          <p:nvSpPr>
            <p:cNvPr name="TextBox 32" id="32"/>
            <p:cNvSpPr txBox="true"/>
            <p:nvPr/>
          </p:nvSpPr>
          <p:spPr>
            <a:xfrm>
              <a:off x="0" y="-19050"/>
              <a:ext cx="12344400" cy="713994"/>
            </a:xfrm>
            <a:prstGeom prst="rect">
              <a:avLst/>
            </a:prstGeom>
          </p:spPr>
          <p:txBody>
            <a:bodyPr anchor="ctr" rtlCol="false" tIns="0" lIns="0" bIns="0" rIns="0"/>
            <a:lstStyle/>
            <a:p>
              <a:pPr algn="l">
                <a:lnSpc>
                  <a:spcPts val="2700"/>
                </a:lnSpc>
              </a:pPr>
              <a:r>
                <a:rPr lang="en-US" sz="2250" b="true">
                  <a:solidFill>
                    <a:srgbClr val="FFFFFF"/>
                  </a:solidFill>
                  <a:latin typeface="DejaVu Sans Bold"/>
                  <a:ea typeface="DejaVu Sans Bold"/>
                  <a:cs typeface="DejaVu Sans Bold"/>
                  <a:sym typeface="DejaVu Sans Bold"/>
                </a:rPr>
                <a:t>1. Phù hợp với tính quy luật phát triển khách quan</a:t>
              </a:r>
            </a:p>
          </p:txBody>
        </p:sp>
      </p:grpSp>
      <p:grpSp>
        <p:nvGrpSpPr>
          <p:cNvPr name="Group 33" id="33"/>
          <p:cNvGrpSpPr/>
          <p:nvPr/>
        </p:nvGrpSpPr>
        <p:grpSpPr>
          <a:xfrm rot="0">
            <a:off x="987552" y="2606040"/>
            <a:ext cx="9217152" cy="1563624"/>
            <a:chOff x="0" y="0"/>
            <a:chExt cx="12289536" cy="2084832"/>
          </a:xfrm>
        </p:grpSpPr>
        <p:sp>
          <p:nvSpPr>
            <p:cNvPr name="Freeform 34" id="34"/>
            <p:cNvSpPr/>
            <p:nvPr/>
          </p:nvSpPr>
          <p:spPr>
            <a:xfrm flipH="false" flipV="false" rot="0">
              <a:off x="0" y="0"/>
              <a:ext cx="12289536" cy="2084830"/>
            </a:xfrm>
            <a:custGeom>
              <a:avLst/>
              <a:gdLst/>
              <a:ahLst/>
              <a:cxnLst/>
              <a:rect r="r" b="b" t="t" l="l"/>
              <a:pathLst>
                <a:path h="2084830" w="12289536">
                  <a:moveTo>
                    <a:pt x="0" y="0"/>
                  </a:moveTo>
                  <a:lnTo>
                    <a:pt x="12289536" y="0"/>
                  </a:lnTo>
                  <a:lnTo>
                    <a:pt x="12289536" y="2084830"/>
                  </a:lnTo>
                  <a:lnTo>
                    <a:pt x="0" y="2084830"/>
                  </a:lnTo>
                  <a:close/>
                </a:path>
              </a:pathLst>
            </a:custGeom>
            <a:blipFill>
              <a:blip r:embed="rId2">
                <a:alphaModFix amt="0"/>
              </a:blip>
              <a:stretch>
                <a:fillRect l="0" t="-64859" r="0" b="-64859"/>
              </a:stretch>
            </a:blipFill>
          </p:spPr>
        </p:sp>
        <p:sp>
          <p:nvSpPr>
            <p:cNvPr name="TextBox 35" id="35"/>
            <p:cNvSpPr txBox="true"/>
            <p:nvPr/>
          </p:nvSpPr>
          <p:spPr>
            <a:xfrm>
              <a:off x="0" y="-19050"/>
              <a:ext cx="12289536" cy="2103882"/>
            </a:xfrm>
            <a:prstGeom prst="rect">
              <a:avLst/>
            </a:prstGeom>
          </p:spPr>
          <p:txBody>
            <a:bodyPr anchor="ctr" rtlCol="false" tIns="0" lIns="0" bIns="0" rIns="0"/>
            <a:lstStyle/>
            <a:p>
              <a:pPr algn="l">
                <a:lnSpc>
                  <a:spcPts val="2700"/>
                </a:lnSpc>
              </a:pPr>
              <a:r>
                <a:rPr lang="en-US" sz="2250">
                  <a:solidFill>
                    <a:srgbClr val="1E293B"/>
                  </a:solidFill>
                  <a:latin typeface="DejaVu Sans Light"/>
                  <a:ea typeface="DejaVu Sans Light"/>
                  <a:cs typeface="DejaVu Sans Light"/>
                  <a:sym typeface="DejaVu Sans Light"/>
                </a:rPr>
                <a:t>• Việt Nam có sẵn điều kiện khách quan của kinh tế hàng hóa: phân công lao động xã hội &amp; đa dạng hình thức sở hữu.</a:t>
              </a:r>
            </a:p>
            <a:p>
              <a:pPr algn="l">
                <a:lnSpc>
                  <a:spcPts val="2700"/>
                </a:lnSpc>
              </a:pPr>
              <a:r>
                <a:rPr lang="en-US" sz="2250">
                  <a:solidFill>
                    <a:srgbClr val="1E293B"/>
                  </a:solidFill>
                  <a:latin typeface="DejaVu Sans Light"/>
                  <a:ea typeface="DejaVu Sans Light"/>
                  <a:cs typeface="DejaVu Sans Light"/>
                  <a:sym typeface="DejaVu Sans Light"/>
                </a:rPr>
                <a:t>• Phù hợp xu thế hội nhập quốc tế; không thể duy ý chí xóa bỏ thị trường.</a:t>
              </a:r>
            </a:p>
          </p:txBody>
        </p:sp>
      </p:grpSp>
      <p:grpSp>
        <p:nvGrpSpPr>
          <p:cNvPr name="Group 36" id="36"/>
          <p:cNvGrpSpPr/>
          <p:nvPr/>
        </p:nvGrpSpPr>
        <p:grpSpPr>
          <a:xfrm rot="0">
            <a:off x="742950" y="4487418"/>
            <a:ext cx="9692640" cy="2299716"/>
            <a:chOff x="0" y="0"/>
            <a:chExt cx="12923520" cy="3066288"/>
          </a:xfrm>
        </p:grpSpPr>
        <p:sp>
          <p:nvSpPr>
            <p:cNvPr name="Freeform 37" id="37"/>
            <p:cNvSpPr/>
            <p:nvPr/>
          </p:nvSpPr>
          <p:spPr>
            <a:xfrm flipH="false" flipV="false" rot="0">
              <a:off x="0" y="0"/>
              <a:ext cx="12923520" cy="3066288"/>
            </a:xfrm>
            <a:custGeom>
              <a:avLst/>
              <a:gdLst/>
              <a:ahLst/>
              <a:cxnLst/>
              <a:rect r="r" b="b" t="t" l="l"/>
              <a:pathLst>
                <a:path h="3066288" w="12923520">
                  <a:moveTo>
                    <a:pt x="0" y="122682"/>
                  </a:moveTo>
                  <a:cubicBezTo>
                    <a:pt x="0" y="54864"/>
                    <a:pt x="54864" y="0"/>
                    <a:pt x="122682" y="0"/>
                  </a:cubicBezTo>
                  <a:lnTo>
                    <a:pt x="12800838" y="0"/>
                  </a:lnTo>
                  <a:cubicBezTo>
                    <a:pt x="12868529" y="0"/>
                    <a:pt x="12923520" y="54864"/>
                    <a:pt x="12923520" y="122682"/>
                  </a:cubicBezTo>
                  <a:lnTo>
                    <a:pt x="12923520" y="2943606"/>
                  </a:lnTo>
                  <a:cubicBezTo>
                    <a:pt x="12923520" y="3011297"/>
                    <a:pt x="12868656" y="3066288"/>
                    <a:pt x="12800838" y="3066288"/>
                  </a:cubicBezTo>
                  <a:lnTo>
                    <a:pt x="122682" y="3066288"/>
                  </a:lnTo>
                  <a:cubicBezTo>
                    <a:pt x="54991" y="3066288"/>
                    <a:pt x="0" y="3011424"/>
                    <a:pt x="0" y="2943606"/>
                  </a:cubicBezTo>
                  <a:close/>
                </a:path>
              </a:pathLst>
            </a:custGeom>
            <a:solidFill>
              <a:srgbClr val="FFFFFF"/>
            </a:solidFill>
            <a:ln w="22860" cap="sq">
              <a:solidFill>
                <a:srgbClr val="CBD5E1"/>
              </a:solidFill>
              <a:prstDash val="solid"/>
              <a:miter/>
            </a:ln>
          </p:spPr>
        </p:sp>
      </p:grpSp>
      <p:grpSp>
        <p:nvGrpSpPr>
          <p:cNvPr name="Group 38" id="38"/>
          <p:cNvGrpSpPr/>
          <p:nvPr/>
        </p:nvGrpSpPr>
        <p:grpSpPr>
          <a:xfrm rot="0">
            <a:off x="754380" y="4498848"/>
            <a:ext cx="9669780" cy="576072"/>
            <a:chOff x="0" y="0"/>
            <a:chExt cx="12893040" cy="768096"/>
          </a:xfrm>
        </p:grpSpPr>
        <p:sp>
          <p:nvSpPr>
            <p:cNvPr name="Freeform 39" id="39"/>
            <p:cNvSpPr/>
            <p:nvPr/>
          </p:nvSpPr>
          <p:spPr>
            <a:xfrm flipH="false" flipV="false" rot="0">
              <a:off x="0" y="0"/>
              <a:ext cx="12893040" cy="768096"/>
            </a:xfrm>
            <a:custGeom>
              <a:avLst/>
              <a:gdLst/>
              <a:ahLst/>
              <a:cxnLst/>
              <a:rect r="r" b="b" t="t" l="l"/>
              <a:pathLst>
                <a:path h="768096" w="12893040">
                  <a:moveTo>
                    <a:pt x="0" y="0"/>
                  </a:moveTo>
                  <a:lnTo>
                    <a:pt x="12893040" y="0"/>
                  </a:lnTo>
                  <a:lnTo>
                    <a:pt x="12893040" y="768096"/>
                  </a:lnTo>
                  <a:lnTo>
                    <a:pt x="0" y="768096"/>
                  </a:lnTo>
                  <a:close/>
                </a:path>
              </a:pathLst>
            </a:custGeom>
            <a:solidFill>
              <a:srgbClr val="0F766E"/>
            </a:solidFill>
          </p:spPr>
        </p:sp>
      </p:grpSp>
      <p:grpSp>
        <p:nvGrpSpPr>
          <p:cNvPr name="Group 40" id="40"/>
          <p:cNvGrpSpPr/>
          <p:nvPr/>
        </p:nvGrpSpPr>
        <p:grpSpPr>
          <a:xfrm rot="0">
            <a:off x="987552" y="4526280"/>
            <a:ext cx="9258300" cy="521208"/>
            <a:chOff x="0" y="0"/>
            <a:chExt cx="12344400" cy="694944"/>
          </a:xfrm>
        </p:grpSpPr>
        <p:sp>
          <p:nvSpPr>
            <p:cNvPr name="Freeform 41" id="41"/>
            <p:cNvSpPr/>
            <p:nvPr/>
          </p:nvSpPr>
          <p:spPr>
            <a:xfrm flipH="false" flipV="false" rot="0">
              <a:off x="0" y="0"/>
              <a:ext cx="12344400" cy="694944"/>
            </a:xfrm>
            <a:custGeom>
              <a:avLst/>
              <a:gdLst/>
              <a:ahLst/>
              <a:cxnLst/>
              <a:rect r="r" b="b" t="t" l="l"/>
              <a:pathLst>
                <a:path h="694944" w="12344400">
                  <a:moveTo>
                    <a:pt x="0" y="0"/>
                  </a:moveTo>
                  <a:lnTo>
                    <a:pt x="12344400" y="0"/>
                  </a:lnTo>
                  <a:lnTo>
                    <a:pt x="12344400" y="694944"/>
                  </a:lnTo>
                  <a:lnTo>
                    <a:pt x="0" y="694944"/>
                  </a:lnTo>
                  <a:close/>
                </a:path>
              </a:pathLst>
            </a:custGeom>
            <a:blipFill>
              <a:blip r:embed="rId2">
                <a:alphaModFix amt="0"/>
              </a:blip>
              <a:stretch>
                <a:fillRect l="0" t="-296115" r="0" b="-296115"/>
              </a:stretch>
            </a:blipFill>
          </p:spPr>
        </p:sp>
        <p:sp>
          <p:nvSpPr>
            <p:cNvPr name="TextBox 42" id="42"/>
            <p:cNvSpPr txBox="true"/>
            <p:nvPr/>
          </p:nvSpPr>
          <p:spPr>
            <a:xfrm>
              <a:off x="0" y="-19050"/>
              <a:ext cx="12344400" cy="713994"/>
            </a:xfrm>
            <a:prstGeom prst="rect">
              <a:avLst/>
            </a:prstGeom>
          </p:spPr>
          <p:txBody>
            <a:bodyPr anchor="ctr" rtlCol="false" tIns="0" lIns="0" bIns="0" rIns="0"/>
            <a:lstStyle/>
            <a:p>
              <a:pPr algn="l">
                <a:lnSpc>
                  <a:spcPts val="2700"/>
                </a:lnSpc>
              </a:pPr>
              <a:r>
                <a:rPr lang="en-US" sz="2250" b="true">
                  <a:solidFill>
                    <a:srgbClr val="FFFFFF"/>
                  </a:solidFill>
                  <a:latin typeface="DejaVu Sans Bold"/>
                  <a:ea typeface="DejaVu Sans Bold"/>
                  <a:cs typeface="DejaVu Sans Bold"/>
                  <a:sym typeface="DejaVu Sans Bold"/>
                </a:rPr>
                <a:t>2. Tính ưu việt của KTTT trong thúc đẩy sản xuất</a:t>
              </a:r>
            </a:p>
          </p:txBody>
        </p:sp>
      </p:grpSp>
      <p:grpSp>
        <p:nvGrpSpPr>
          <p:cNvPr name="Group 43" id="43"/>
          <p:cNvGrpSpPr/>
          <p:nvPr/>
        </p:nvGrpSpPr>
        <p:grpSpPr>
          <a:xfrm rot="0">
            <a:off x="987552" y="5129784"/>
            <a:ext cx="9217152" cy="1563624"/>
            <a:chOff x="0" y="0"/>
            <a:chExt cx="12289536" cy="2084832"/>
          </a:xfrm>
        </p:grpSpPr>
        <p:sp>
          <p:nvSpPr>
            <p:cNvPr name="Freeform 44" id="44"/>
            <p:cNvSpPr/>
            <p:nvPr/>
          </p:nvSpPr>
          <p:spPr>
            <a:xfrm flipH="false" flipV="false" rot="0">
              <a:off x="0" y="0"/>
              <a:ext cx="12289536" cy="2084830"/>
            </a:xfrm>
            <a:custGeom>
              <a:avLst/>
              <a:gdLst/>
              <a:ahLst/>
              <a:cxnLst/>
              <a:rect r="r" b="b" t="t" l="l"/>
              <a:pathLst>
                <a:path h="2084830" w="12289536">
                  <a:moveTo>
                    <a:pt x="0" y="0"/>
                  </a:moveTo>
                  <a:lnTo>
                    <a:pt x="12289536" y="0"/>
                  </a:lnTo>
                  <a:lnTo>
                    <a:pt x="12289536" y="2084830"/>
                  </a:lnTo>
                  <a:lnTo>
                    <a:pt x="0" y="2084830"/>
                  </a:lnTo>
                  <a:close/>
                </a:path>
              </a:pathLst>
            </a:custGeom>
            <a:blipFill>
              <a:blip r:embed="rId2">
                <a:alphaModFix amt="0"/>
              </a:blip>
              <a:stretch>
                <a:fillRect l="0" t="-64859" r="0" b="-64859"/>
              </a:stretch>
            </a:blipFill>
          </p:spPr>
        </p:sp>
        <p:sp>
          <p:nvSpPr>
            <p:cNvPr name="TextBox 45" id="45"/>
            <p:cNvSpPr txBox="true"/>
            <p:nvPr/>
          </p:nvSpPr>
          <p:spPr>
            <a:xfrm>
              <a:off x="0" y="-19050"/>
              <a:ext cx="12289536" cy="2103882"/>
            </a:xfrm>
            <a:prstGeom prst="rect">
              <a:avLst/>
            </a:prstGeom>
          </p:spPr>
          <p:txBody>
            <a:bodyPr anchor="ctr" rtlCol="false" tIns="0" lIns="0" bIns="0" rIns="0"/>
            <a:lstStyle/>
            <a:p>
              <a:pPr algn="l">
                <a:lnSpc>
                  <a:spcPts val="2700"/>
                </a:lnSpc>
              </a:pPr>
              <a:r>
                <a:rPr lang="en-US" sz="2250">
                  <a:solidFill>
                    <a:srgbClr val="1E293B"/>
                  </a:solidFill>
                  <a:latin typeface="DejaVu Sans Light"/>
                  <a:ea typeface="DejaVu Sans Light"/>
                  <a:cs typeface="DejaVu Sans Light"/>
                  <a:sym typeface="DejaVu Sans Light"/>
                </a:rPr>
                <a:t>• Cơ chế cạnh tranh kích thích đổi mới công nghệ, phân bổ nguồn lực hiệu quả.</a:t>
              </a:r>
            </a:p>
            <a:p>
              <a:pPr algn="l">
                <a:lnSpc>
                  <a:spcPts val="2700"/>
                </a:lnSpc>
              </a:pPr>
              <a:r>
                <a:rPr lang="en-US" sz="2250">
                  <a:solidFill>
                    <a:srgbClr val="1E293B"/>
                  </a:solidFill>
                  <a:latin typeface="DejaVu Sans Light"/>
                  <a:ea typeface="DejaVu Sans Light"/>
                  <a:cs typeface="DejaVu Sans Light"/>
                  <a:sym typeface="DejaVu Sans Light"/>
                </a:rPr>
                <a:t>• Thực chứng sau Đổi mới 1986: Việt Nam thoát khủng hoảng thiếu lương thực, quy mô GDP vượt 470 tỷ USD.</a:t>
              </a:r>
            </a:p>
          </p:txBody>
        </p:sp>
      </p:grpSp>
      <p:grpSp>
        <p:nvGrpSpPr>
          <p:cNvPr name="Group 46" id="46"/>
          <p:cNvGrpSpPr/>
          <p:nvPr/>
        </p:nvGrpSpPr>
        <p:grpSpPr>
          <a:xfrm rot="0">
            <a:off x="742950" y="7011162"/>
            <a:ext cx="9692640" cy="2299716"/>
            <a:chOff x="0" y="0"/>
            <a:chExt cx="12923520" cy="3066288"/>
          </a:xfrm>
        </p:grpSpPr>
        <p:sp>
          <p:nvSpPr>
            <p:cNvPr name="Freeform 47" id="47"/>
            <p:cNvSpPr/>
            <p:nvPr/>
          </p:nvSpPr>
          <p:spPr>
            <a:xfrm flipH="false" flipV="false" rot="0">
              <a:off x="0" y="0"/>
              <a:ext cx="12923520" cy="3066288"/>
            </a:xfrm>
            <a:custGeom>
              <a:avLst/>
              <a:gdLst/>
              <a:ahLst/>
              <a:cxnLst/>
              <a:rect r="r" b="b" t="t" l="l"/>
              <a:pathLst>
                <a:path h="3066288" w="12923520">
                  <a:moveTo>
                    <a:pt x="0" y="122682"/>
                  </a:moveTo>
                  <a:cubicBezTo>
                    <a:pt x="0" y="54864"/>
                    <a:pt x="54864" y="0"/>
                    <a:pt x="122682" y="0"/>
                  </a:cubicBezTo>
                  <a:lnTo>
                    <a:pt x="12800838" y="0"/>
                  </a:lnTo>
                  <a:cubicBezTo>
                    <a:pt x="12868529" y="0"/>
                    <a:pt x="12923520" y="54864"/>
                    <a:pt x="12923520" y="122682"/>
                  </a:cubicBezTo>
                  <a:lnTo>
                    <a:pt x="12923520" y="2943606"/>
                  </a:lnTo>
                  <a:cubicBezTo>
                    <a:pt x="12923520" y="3011297"/>
                    <a:pt x="12868656" y="3066288"/>
                    <a:pt x="12800838" y="3066288"/>
                  </a:cubicBezTo>
                  <a:lnTo>
                    <a:pt x="122682" y="3066288"/>
                  </a:lnTo>
                  <a:cubicBezTo>
                    <a:pt x="54991" y="3066288"/>
                    <a:pt x="0" y="3011424"/>
                    <a:pt x="0" y="2943606"/>
                  </a:cubicBezTo>
                  <a:close/>
                </a:path>
              </a:pathLst>
            </a:custGeom>
            <a:solidFill>
              <a:srgbClr val="FFFFFF"/>
            </a:solidFill>
            <a:ln w="22860" cap="sq">
              <a:solidFill>
                <a:srgbClr val="CBD5E1"/>
              </a:solidFill>
              <a:prstDash val="solid"/>
              <a:miter/>
            </a:ln>
          </p:spPr>
        </p:sp>
      </p:grpSp>
      <p:grpSp>
        <p:nvGrpSpPr>
          <p:cNvPr name="Group 48" id="48"/>
          <p:cNvGrpSpPr/>
          <p:nvPr/>
        </p:nvGrpSpPr>
        <p:grpSpPr>
          <a:xfrm rot="0">
            <a:off x="754380" y="7022592"/>
            <a:ext cx="9669780" cy="576072"/>
            <a:chOff x="0" y="0"/>
            <a:chExt cx="12893040" cy="768096"/>
          </a:xfrm>
        </p:grpSpPr>
        <p:sp>
          <p:nvSpPr>
            <p:cNvPr name="Freeform 49" id="49"/>
            <p:cNvSpPr/>
            <p:nvPr/>
          </p:nvSpPr>
          <p:spPr>
            <a:xfrm flipH="false" flipV="false" rot="0">
              <a:off x="0" y="0"/>
              <a:ext cx="12893040" cy="768096"/>
            </a:xfrm>
            <a:custGeom>
              <a:avLst/>
              <a:gdLst/>
              <a:ahLst/>
              <a:cxnLst/>
              <a:rect r="r" b="b" t="t" l="l"/>
              <a:pathLst>
                <a:path h="768096" w="12893040">
                  <a:moveTo>
                    <a:pt x="0" y="0"/>
                  </a:moveTo>
                  <a:lnTo>
                    <a:pt x="12893040" y="0"/>
                  </a:lnTo>
                  <a:lnTo>
                    <a:pt x="12893040" y="768096"/>
                  </a:lnTo>
                  <a:lnTo>
                    <a:pt x="0" y="768096"/>
                  </a:lnTo>
                  <a:close/>
                </a:path>
              </a:pathLst>
            </a:custGeom>
            <a:solidFill>
              <a:srgbClr val="C25915"/>
            </a:solidFill>
          </p:spPr>
        </p:sp>
      </p:grpSp>
      <p:grpSp>
        <p:nvGrpSpPr>
          <p:cNvPr name="Group 50" id="50"/>
          <p:cNvGrpSpPr/>
          <p:nvPr/>
        </p:nvGrpSpPr>
        <p:grpSpPr>
          <a:xfrm rot="0">
            <a:off x="987552" y="7050024"/>
            <a:ext cx="9258300" cy="521208"/>
            <a:chOff x="0" y="0"/>
            <a:chExt cx="12344400" cy="694944"/>
          </a:xfrm>
        </p:grpSpPr>
        <p:sp>
          <p:nvSpPr>
            <p:cNvPr name="Freeform 51" id="51"/>
            <p:cNvSpPr/>
            <p:nvPr/>
          </p:nvSpPr>
          <p:spPr>
            <a:xfrm flipH="false" flipV="false" rot="0">
              <a:off x="0" y="0"/>
              <a:ext cx="12344400" cy="694944"/>
            </a:xfrm>
            <a:custGeom>
              <a:avLst/>
              <a:gdLst/>
              <a:ahLst/>
              <a:cxnLst/>
              <a:rect r="r" b="b" t="t" l="l"/>
              <a:pathLst>
                <a:path h="694944" w="12344400">
                  <a:moveTo>
                    <a:pt x="0" y="0"/>
                  </a:moveTo>
                  <a:lnTo>
                    <a:pt x="12344400" y="0"/>
                  </a:lnTo>
                  <a:lnTo>
                    <a:pt x="12344400" y="694944"/>
                  </a:lnTo>
                  <a:lnTo>
                    <a:pt x="0" y="694944"/>
                  </a:lnTo>
                  <a:close/>
                </a:path>
              </a:pathLst>
            </a:custGeom>
            <a:blipFill>
              <a:blip r:embed="rId2">
                <a:alphaModFix amt="0"/>
              </a:blip>
              <a:stretch>
                <a:fillRect l="0" t="-296115" r="0" b="-296115"/>
              </a:stretch>
            </a:blipFill>
          </p:spPr>
        </p:sp>
        <p:sp>
          <p:nvSpPr>
            <p:cNvPr name="TextBox 52" id="52"/>
            <p:cNvSpPr txBox="true"/>
            <p:nvPr/>
          </p:nvSpPr>
          <p:spPr>
            <a:xfrm>
              <a:off x="0" y="-19050"/>
              <a:ext cx="12344400" cy="713994"/>
            </a:xfrm>
            <a:prstGeom prst="rect">
              <a:avLst/>
            </a:prstGeom>
          </p:spPr>
          <p:txBody>
            <a:bodyPr anchor="ctr" rtlCol="false" tIns="0" lIns="0" bIns="0" rIns="0"/>
            <a:lstStyle/>
            <a:p>
              <a:pPr algn="l">
                <a:lnSpc>
                  <a:spcPts val="2700"/>
                </a:lnSpc>
              </a:pPr>
              <a:r>
                <a:rPr lang="en-US" sz="2250" b="true">
                  <a:solidFill>
                    <a:srgbClr val="FFFFFF"/>
                  </a:solidFill>
                  <a:latin typeface="DejaVu Sans Bold"/>
                  <a:ea typeface="DejaVu Sans Bold"/>
                  <a:cs typeface="DejaVu Sans Bold"/>
                  <a:sym typeface="DejaVu Sans Bold"/>
                </a:rPr>
                <a:t>3. Phù hợp với nguyện vọng của Nhân dân Việt Nam</a:t>
              </a:r>
            </a:p>
          </p:txBody>
        </p:sp>
      </p:grpSp>
      <p:grpSp>
        <p:nvGrpSpPr>
          <p:cNvPr name="Group 53" id="53"/>
          <p:cNvGrpSpPr/>
          <p:nvPr/>
        </p:nvGrpSpPr>
        <p:grpSpPr>
          <a:xfrm rot="0">
            <a:off x="987552" y="7653528"/>
            <a:ext cx="9217152" cy="1563624"/>
            <a:chOff x="0" y="0"/>
            <a:chExt cx="12289536" cy="2084832"/>
          </a:xfrm>
        </p:grpSpPr>
        <p:sp>
          <p:nvSpPr>
            <p:cNvPr name="Freeform 54" id="54"/>
            <p:cNvSpPr/>
            <p:nvPr/>
          </p:nvSpPr>
          <p:spPr>
            <a:xfrm flipH="false" flipV="false" rot="0">
              <a:off x="0" y="0"/>
              <a:ext cx="12289536" cy="2084830"/>
            </a:xfrm>
            <a:custGeom>
              <a:avLst/>
              <a:gdLst/>
              <a:ahLst/>
              <a:cxnLst/>
              <a:rect r="r" b="b" t="t" l="l"/>
              <a:pathLst>
                <a:path h="2084830" w="12289536">
                  <a:moveTo>
                    <a:pt x="0" y="0"/>
                  </a:moveTo>
                  <a:lnTo>
                    <a:pt x="12289536" y="0"/>
                  </a:lnTo>
                  <a:lnTo>
                    <a:pt x="12289536" y="2084830"/>
                  </a:lnTo>
                  <a:lnTo>
                    <a:pt x="0" y="2084830"/>
                  </a:lnTo>
                  <a:close/>
                </a:path>
              </a:pathLst>
            </a:custGeom>
            <a:blipFill>
              <a:blip r:embed="rId2">
                <a:alphaModFix amt="0"/>
              </a:blip>
              <a:stretch>
                <a:fillRect l="0" t="-64859" r="0" b="-64859"/>
              </a:stretch>
            </a:blipFill>
          </p:spPr>
        </p:sp>
        <p:sp>
          <p:nvSpPr>
            <p:cNvPr name="TextBox 55" id="55"/>
            <p:cNvSpPr txBox="true"/>
            <p:nvPr/>
          </p:nvSpPr>
          <p:spPr>
            <a:xfrm>
              <a:off x="0" y="-19050"/>
              <a:ext cx="12289536" cy="2103882"/>
            </a:xfrm>
            <a:prstGeom prst="rect">
              <a:avLst/>
            </a:prstGeom>
          </p:spPr>
          <p:txBody>
            <a:bodyPr anchor="ctr" rtlCol="false" tIns="0" lIns="0" bIns="0" rIns="0"/>
            <a:lstStyle/>
            <a:p>
              <a:pPr algn="l">
                <a:lnSpc>
                  <a:spcPts val="2700"/>
                </a:lnSpc>
              </a:pPr>
              <a:r>
                <a:rPr lang="en-US" sz="2250">
                  <a:solidFill>
                    <a:srgbClr val="1E293B"/>
                  </a:solidFill>
                  <a:latin typeface="DejaVu Sans Light"/>
                  <a:ea typeface="DejaVu Sans Light"/>
                  <a:cs typeface="DejaVu Sans Light"/>
                  <a:sym typeface="DejaVu Sans Light"/>
                </a:rPr>
                <a:t>• Đáp ứng khát vọng làm giàu hợp pháp, tự do kinh doanh năng động của người dân và doanh nghiệp.</a:t>
              </a:r>
            </a:p>
            <a:p>
              <a:pPr algn="l">
                <a:lnSpc>
                  <a:spcPts val="2700"/>
                </a:lnSpc>
              </a:pPr>
              <a:r>
                <a:rPr lang="en-US" sz="2250">
                  <a:solidFill>
                    <a:srgbClr val="1E293B"/>
                  </a:solidFill>
                  <a:latin typeface="DejaVu Sans Light"/>
                  <a:ea typeface="DejaVu Sans Light"/>
                  <a:cs typeface="DejaVu Sans Light"/>
                  <a:sym typeface="DejaVu Sans Light"/>
                </a:rPr>
                <a:t>• Đồng thời bảo đảm an sinh xã hội, không bỏ rơi người lao động thu nhập thấp.</a:t>
              </a:r>
            </a:p>
          </p:txBody>
        </p:sp>
      </p:grpSp>
      <p:grpSp>
        <p:nvGrpSpPr>
          <p:cNvPr name="Group 56" id="56"/>
          <p:cNvGrpSpPr/>
          <p:nvPr/>
        </p:nvGrpSpPr>
        <p:grpSpPr>
          <a:xfrm rot="0">
            <a:off x="10810494" y="1881378"/>
            <a:ext cx="6743700" cy="7511796"/>
            <a:chOff x="0" y="0"/>
            <a:chExt cx="8991600" cy="10015728"/>
          </a:xfrm>
        </p:grpSpPr>
        <p:sp>
          <p:nvSpPr>
            <p:cNvPr name="Freeform 57" id="57"/>
            <p:cNvSpPr/>
            <p:nvPr/>
          </p:nvSpPr>
          <p:spPr>
            <a:xfrm flipH="false" flipV="false" rot="0">
              <a:off x="0" y="0"/>
              <a:ext cx="8991600" cy="10015728"/>
            </a:xfrm>
            <a:custGeom>
              <a:avLst/>
              <a:gdLst/>
              <a:ahLst/>
              <a:cxnLst/>
              <a:rect r="r" b="b" t="t" l="l"/>
              <a:pathLst>
                <a:path h="10015728" w="8991600">
                  <a:moveTo>
                    <a:pt x="0" y="359664"/>
                  </a:moveTo>
                  <a:cubicBezTo>
                    <a:pt x="0" y="161036"/>
                    <a:pt x="161036" y="0"/>
                    <a:pt x="359664" y="0"/>
                  </a:cubicBezTo>
                  <a:lnTo>
                    <a:pt x="8631936" y="0"/>
                  </a:lnTo>
                  <a:cubicBezTo>
                    <a:pt x="8830564" y="0"/>
                    <a:pt x="8991600" y="161036"/>
                    <a:pt x="8991600" y="359664"/>
                  </a:cubicBezTo>
                  <a:lnTo>
                    <a:pt x="8991600" y="9656064"/>
                  </a:lnTo>
                  <a:cubicBezTo>
                    <a:pt x="8991600" y="9854692"/>
                    <a:pt x="8830564" y="10015728"/>
                    <a:pt x="8631936" y="10015728"/>
                  </a:cubicBezTo>
                  <a:lnTo>
                    <a:pt x="359664" y="10015728"/>
                  </a:lnTo>
                  <a:cubicBezTo>
                    <a:pt x="161036" y="10015728"/>
                    <a:pt x="0" y="9854692"/>
                    <a:pt x="0" y="9656064"/>
                  </a:cubicBezTo>
                  <a:close/>
                </a:path>
              </a:pathLst>
            </a:custGeom>
            <a:solidFill>
              <a:srgbClr val="FFFFFF"/>
            </a:solidFill>
            <a:ln w="22860" cap="sq">
              <a:solidFill>
                <a:srgbClr val="CBD5E1"/>
              </a:solidFill>
              <a:prstDash val="solid"/>
              <a:miter/>
            </a:ln>
          </p:spPr>
        </p:sp>
      </p:grpSp>
      <p:grpSp>
        <p:nvGrpSpPr>
          <p:cNvPr name="Group 58" id="58"/>
          <p:cNvGrpSpPr/>
          <p:nvPr/>
        </p:nvGrpSpPr>
        <p:grpSpPr>
          <a:xfrm rot="0">
            <a:off x="10904220" y="1975104"/>
            <a:ext cx="6556248" cy="6748272"/>
            <a:chOff x="0" y="0"/>
            <a:chExt cx="8741664" cy="8997696"/>
          </a:xfrm>
        </p:grpSpPr>
        <p:sp>
          <p:nvSpPr>
            <p:cNvPr name="Freeform 59" id="59" descr="image4.jpg"/>
            <p:cNvSpPr/>
            <p:nvPr/>
          </p:nvSpPr>
          <p:spPr>
            <a:xfrm flipH="false" flipV="false" rot="0">
              <a:off x="0" y="0"/>
              <a:ext cx="8741664" cy="8997696"/>
            </a:xfrm>
            <a:custGeom>
              <a:avLst/>
              <a:gdLst/>
              <a:ahLst/>
              <a:cxnLst/>
              <a:rect r="r" b="b" t="t" l="l"/>
              <a:pathLst>
                <a:path h="8997696" w="8741664">
                  <a:moveTo>
                    <a:pt x="0" y="0"/>
                  </a:moveTo>
                  <a:lnTo>
                    <a:pt x="8741664" y="0"/>
                  </a:lnTo>
                  <a:lnTo>
                    <a:pt x="8741664" y="8997696"/>
                  </a:lnTo>
                  <a:lnTo>
                    <a:pt x="0" y="8997696"/>
                  </a:lnTo>
                  <a:lnTo>
                    <a:pt x="0" y="0"/>
                  </a:lnTo>
                  <a:close/>
                </a:path>
              </a:pathLst>
            </a:custGeom>
            <a:blipFill>
              <a:blip r:embed="rId3"/>
              <a:stretch>
                <a:fillRect l="-1464" t="0" r="-1464" b="0"/>
              </a:stretch>
            </a:blipFill>
          </p:spPr>
        </p:sp>
      </p:grpSp>
      <p:grpSp>
        <p:nvGrpSpPr>
          <p:cNvPr name="Group 60" id="60"/>
          <p:cNvGrpSpPr/>
          <p:nvPr/>
        </p:nvGrpSpPr>
        <p:grpSpPr>
          <a:xfrm rot="0">
            <a:off x="10904220" y="8778240"/>
            <a:ext cx="6556248" cy="548640"/>
            <a:chOff x="0" y="0"/>
            <a:chExt cx="8741664" cy="731520"/>
          </a:xfrm>
        </p:grpSpPr>
        <p:sp>
          <p:nvSpPr>
            <p:cNvPr name="Freeform 61" id="61"/>
            <p:cNvSpPr/>
            <p:nvPr/>
          </p:nvSpPr>
          <p:spPr>
            <a:xfrm flipH="false" flipV="false" rot="0">
              <a:off x="0" y="0"/>
              <a:ext cx="8741664" cy="731520"/>
            </a:xfrm>
            <a:custGeom>
              <a:avLst/>
              <a:gdLst/>
              <a:ahLst/>
              <a:cxnLst/>
              <a:rect r="r" b="b" t="t" l="l"/>
              <a:pathLst>
                <a:path h="731520" w="8741664">
                  <a:moveTo>
                    <a:pt x="0" y="0"/>
                  </a:moveTo>
                  <a:lnTo>
                    <a:pt x="8741664" y="0"/>
                  </a:lnTo>
                  <a:lnTo>
                    <a:pt x="8741664" y="731520"/>
                  </a:lnTo>
                  <a:lnTo>
                    <a:pt x="0" y="731520"/>
                  </a:lnTo>
                  <a:close/>
                </a:path>
              </a:pathLst>
            </a:custGeom>
            <a:solidFill>
              <a:srgbClr val="F1F5F9"/>
            </a:solidFill>
          </p:spPr>
        </p:sp>
      </p:grpSp>
      <p:grpSp>
        <p:nvGrpSpPr>
          <p:cNvPr name="Group 62" id="62"/>
          <p:cNvGrpSpPr/>
          <p:nvPr/>
        </p:nvGrpSpPr>
        <p:grpSpPr>
          <a:xfrm rot="0">
            <a:off x="10986516" y="8778240"/>
            <a:ext cx="6391656" cy="548640"/>
            <a:chOff x="0" y="0"/>
            <a:chExt cx="8522208" cy="731520"/>
          </a:xfrm>
        </p:grpSpPr>
        <p:sp>
          <p:nvSpPr>
            <p:cNvPr name="Freeform 63" id="63"/>
            <p:cNvSpPr/>
            <p:nvPr/>
          </p:nvSpPr>
          <p:spPr>
            <a:xfrm flipH="false" flipV="false" rot="0">
              <a:off x="0" y="0"/>
              <a:ext cx="8522208" cy="731520"/>
            </a:xfrm>
            <a:custGeom>
              <a:avLst/>
              <a:gdLst/>
              <a:ahLst/>
              <a:cxnLst/>
              <a:rect r="r" b="b" t="t" l="l"/>
              <a:pathLst>
                <a:path h="731520" w="8522208">
                  <a:moveTo>
                    <a:pt x="0" y="0"/>
                  </a:moveTo>
                  <a:lnTo>
                    <a:pt x="8522208" y="0"/>
                  </a:lnTo>
                  <a:lnTo>
                    <a:pt x="8522208" y="731520"/>
                  </a:lnTo>
                  <a:lnTo>
                    <a:pt x="0" y="731520"/>
                  </a:lnTo>
                  <a:close/>
                </a:path>
              </a:pathLst>
            </a:custGeom>
            <a:blipFill>
              <a:blip r:embed="rId2">
                <a:alphaModFix amt="0"/>
              </a:blip>
              <a:stretch>
                <a:fillRect l="0" t="-177000" r="0" b="-177000"/>
              </a:stretch>
            </a:blipFill>
          </p:spPr>
        </p:sp>
        <p:sp>
          <p:nvSpPr>
            <p:cNvPr name="TextBox 64" id="64"/>
            <p:cNvSpPr txBox="true"/>
            <p:nvPr/>
          </p:nvSpPr>
          <p:spPr>
            <a:xfrm>
              <a:off x="0" y="-9525"/>
              <a:ext cx="8522208" cy="741045"/>
            </a:xfrm>
            <a:prstGeom prst="rect">
              <a:avLst/>
            </a:prstGeom>
          </p:spPr>
          <p:txBody>
            <a:bodyPr anchor="ctr" rtlCol="false" tIns="0" lIns="0" bIns="0" rIns="0"/>
            <a:lstStyle/>
            <a:p>
              <a:pPr algn="l">
                <a:lnSpc>
                  <a:spcPts val="1727"/>
                </a:lnSpc>
              </a:pPr>
              <a:r>
                <a:rPr lang="en-US" sz="1439" b="true">
                  <a:solidFill>
                    <a:srgbClr val="1E293B"/>
                  </a:solidFill>
                  <a:latin typeface="DejaVu Sans Bold"/>
                  <a:ea typeface="DejaVu Sans Bold"/>
                  <a:cs typeface="DejaVu Sans Bold"/>
                  <a:sym typeface="DejaVu Sans Bold"/>
                </a:rPr>
                <a:t>Ảnh thật: Cầu Ba Son &amp; diện mạo hạ tầng đô thị hiện đại TP.HCM | Nguồn: Wikimedia Commons (CC BY-SA)</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7543" cy="137160"/>
            <a:chOff x="0" y="0"/>
            <a:chExt cx="24383390" cy="182880"/>
          </a:xfrm>
        </p:grpSpPr>
        <p:sp>
          <p:nvSpPr>
            <p:cNvPr name="Freeform 3" id="3"/>
            <p:cNvSpPr/>
            <p:nvPr/>
          </p:nvSpPr>
          <p:spPr>
            <a:xfrm flipH="false" flipV="false" rot="0">
              <a:off x="0" y="0"/>
              <a:ext cx="24383364" cy="182880"/>
            </a:xfrm>
            <a:custGeom>
              <a:avLst/>
              <a:gdLst/>
              <a:ahLst/>
              <a:cxnLst/>
              <a:rect r="r" b="b" t="t" l="l"/>
              <a:pathLst>
                <a:path h="182880" w="24383364">
                  <a:moveTo>
                    <a:pt x="0" y="0"/>
                  </a:moveTo>
                  <a:lnTo>
                    <a:pt x="24383364" y="0"/>
                  </a:lnTo>
                  <a:lnTo>
                    <a:pt x="24383364" y="182880"/>
                  </a:lnTo>
                  <a:lnTo>
                    <a:pt x="0" y="182880"/>
                  </a:lnTo>
                  <a:close/>
                </a:path>
              </a:pathLst>
            </a:custGeom>
            <a:solidFill>
              <a:srgbClr val="122645"/>
            </a:solidFill>
          </p:spPr>
        </p:sp>
      </p:grpSp>
      <p:grpSp>
        <p:nvGrpSpPr>
          <p:cNvPr name="Group 4" id="4"/>
          <p:cNvGrpSpPr/>
          <p:nvPr/>
        </p:nvGrpSpPr>
        <p:grpSpPr>
          <a:xfrm rot="0">
            <a:off x="0" y="0"/>
            <a:ext cx="6095848" cy="137160"/>
            <a:chOff x="0" y="0"/>
            <a:chExt cx="8127797" cy="182880"/>
          </a:xfrm>
        </p:grpSpPr>
        <p:sp>
          <p:nvSpPr>
            <p:cNvPr name="Freeform 5" id="5"/>
            <p:cNvSpPr/>
            <p:nvPr/>
          </p:nvSpPr>
          <p:spPr>
            <a:xfrm flipH="false" flipV="false" rot="0">
              <a:off x="0" y="0"/>
              <a:ext cx="8127746" cy="182880"/>
            </a:xfrm>
            <a:custGeom>
              <a:avLst/>
              <a:gdLst/>
              <a:ahLst/>
              <a:cxnLst/>
              <a:rect r="r" b="b" t="t" l="l"/>
              <a:pathLst>
                <a:path h="182880" w="8127746">
                  <a:moveTo>
                    <a:pt x="0" y="0"/>
                  </a:moveTo>
                  <a:lnTo>
                    <a:pt x="8127746" y="0"/>
                  </a:lnTo>
                  <a:lnTo>
                    <a:pt x="8127746" y="182880"/>
                  </a:lnTo>
                  <a:lnTo>
                    <a:pt x="0" y="182880"/>
                  </a:lnTo>
                  <a:close/>
                </a:path>
              </a:pathLst>
            </a:custGeom>
            <a:solidFill>
              <a:srgbClr val="0F766E"/>
            </a:solidFill>
          </p:spPr>
        </p:sp>
      </p:grpSp>
      <p:grpSp>
        <p:nvGrpSpPr>
          <p:cNvPr name="Group 6" id="6"/>
          <p:cNvGrpSpPr/>
          <p:nvPr/>
        </p:nvGrpSpPr>
        <p:grpSpPr>
          <a:xfrm rot="0">
            <a:off x="744855" y="292227"/>
            <a:ext cx="7151370" cy="485394"/>
            <a:chOff x="0" y="0"/>
            <a:chExt cx="9535160" cy="647192"/>
          </a:xfrm>
        </p:grpSpPr>
        <p:sp>
          <p:nvSpPr>
            <p:cNvPr name="Freeform 7" id="7"/>
            <p:cNvSpPr/>
            <p:nvPr/>
          </p:nvSpPr>
          <p:spPr>
            <a:xfrm flipH="false" flipV="false" rot="0">
              <a:off x="0" y="0"/>
              <a:ext cx="9535160" cy="647192"/>
            </a:xfrm>
            <a:custGeom>
              <a:avLst/>
              <a:gdLst/>
              <a:ahLst/>
              <a:cxnLst/>
              <a:rect r="r" b="b" t="t" l="l"/>
              <a:pathLst>
                <a:path h="647192" w="9535160">
                  <a:moveTo>
                    <a:pt x="0" y="25908"/>
                  </a:moveTo>
                  <a:cubicBezTo>
                    <a:pt x="0" y="11557"/>
                    <a:pt x="11557" y="0"/>
                    <a:pt x="25908" y="0"/>
                  </a:cubicBezTo>
                  <a:lnTo>
                    <a:pt x="9509252" y="0"/>
                  </a:lnTo>
                  <a:cubicBezTo>
                    <a:pt x="9523603" y="0"/>
                    <a:pt x="9535160" y="11557"/>
                    <a:pt x="9535160" y="25908"/>
                  </a:cubicBezTo>
                  <a:lnTo>
                    <a:pt x="9535160" y="621284"/>
                  </a:lnTo>
                  <a:cubicBezTo>
                    <a:pt x="9535160" y="635635"/>
                    <a:pt x="9523603" y="647192"/>
                    <a:pt x="9509252" y="647192"/>
                  </a:cubicBezTo>
                  <a:lnTo>
                    <a:pt x="25908" y="647192"/>
                  </a:lnTo>
                  <a:cubicBezTo>
                    <a:pt x="11557" y="647192"/>
                    <a:pt x="0" y="635635"/>
                    <a:pt x="0" y="621284"/>
                  </a:cubicBezTo>
                  <a:close/>
                </a:path>
              </a:pathLst>
            </a:custGeom>
            <a:solidFill>
              <a:srgbClr val="EAF7F5"/>
            </a:solidFill>
            <a:ln w="19050" cap="sq">
              <a:solidFill>
                <a:srgbClr val="0F766E"/>
              </a:solidFill>
              <a:prstDash val="solid"/>
              <a:miter/>
            </a:ln>
          </p:spPr>
        </p:sp>
      </p:grpSp>
      <p:grpSp>
        <p:nvGrpSpPr>
          <p:cNvPr name="Group 8" id="8"/>
          <p:cNvGrpSpPr/>
          <p:nvPr/>
        </p:nvGrpSpPr>
        <p:grpSpPr>
          <a:xfrm rot="0">
            <a:off x="850392" y="301752"/>
            <a:ext cx="6926580" cy="466344"/>
            <a:chOff x="0" y="0"/>
            <a:chExt cx="9235440" cy="621792"/>
          </a:xfrm>
        </p:grpSpPr>
        <p:sp>
          <p:nvSpPr>
            <p:cNvPr name="Freeform 9" id="9"/>
            <p:cNvSpPr/>
            <p:nvPr/>
          </p:nvSpPr>
          <p:spPr>
            <a:xfrm flipH="false" flipV="false" rot="0">
              <a:off x="0" y="0"/>
              <a:ext cx="9235440" cy="621792"/>
            </a:xfrm>
            <a:custGeom>
              <a:avLst/>
              <a:gdLst/>
              <a:ahLst/>
              <a:cxnLst/>
              <a:rect r="r" b="b" t="t" l="l"/>
              <a:pathLst>
                <a:path h="621792" w="9235440">
                  <a:moveTo>
                    <a:pt x="0" y="0"/>
                  </a:moveTo>
                  <a:lnTo>
                    <a:pt x="9235440" y="0"/>
                  </a:lnTo>
                  <a:lnTo>
                    <a:pt x="9235440" y="621792"/>
                  </a:lnTo>
                  <a:lnTo>
                    <a:pt x="0" y="621792"/>
                  </a:lnTo>
                  <a:close/>
                </a:path>
              </a:pathLst>
            </a:custGeom>
            <a:blipFill>
              <a:blip r:embed="rId2">
                <a:alphaModFix amt="0"/>
              </a:blip>
              <a:stretch>
                <a:fillRect l="0" t="-239410" r="0" b="-239410"/>
              </a:stretch>
            </a:blipFill>
          </p:spPr>
        </p:sp>
        <p:sp>
          <p:nvSpPr>
            <p:cNvPr name="TextBox 10" id="10"/>
            <p:cNvSpPr txBox="true"/>
            <p:nvPr/>
          </p:nvSpPr>
          <p:spPr>
            <a:xfrm>
              <a:off x="0" y="-9525"/>
              <a:ext cx="9235440" cy="631317"/>
            </a:xfrm>
            <a:prstGeom prst="rect">
              <a:avLst/>
            </a:prstGeom>
          </p:spPr>
          <p:txBody>
            <a:bodyPr anchor="ctr" rtlCol="false" tIns="0" lIns="0" bIns="0" rIns="0"/>
            <a:lstStyle/>
            <a:p>
              <a:pPr algn="l">
                <a:lnSpc>
                  <a:spcPts val="1889"/>
                </a:lnSpc>
              </a:pPr>
              <a:r>
                <a:rPr lang="en-US" sz="1575" b="true">
                  <a:solidFill>
                    <a:srgbClr val="0F766E"/>
                  </a:solidFill>
                  <a:latin typeface="DejaVu Sans Bold"/>
                  <a:ea typeface="DejaVu Sans Bold"/>
                  <a:cs typeface="DejaVu Sans Bold"/>
                  <a:sym typeface="DejaVu Sans Bold"/>
                </a:rPr>
                <a:t>TRẢ LỜI CÂU HỎI 1 • MỤC 5.1.3 (TR. 177–187)</a:t>
              </a:r>
            </a:p>
          </p:txBody>
        </p:sp>
      </p:grpSp>
      <p:grpSp>
        <p:nvGrpSpPr>
          <p:cNvPr name="Group 11" id="11"/>
          <p:cNvGrpSpPr/>
          <p:nvPr/>
        </p:nvGrpSpPr>
        <p:grpSpPr>
          <a:xfrm rot="0">
            <a:off x="15704820" y="301752"/>
            <a:ext cx="1824228" cy="466344"/>
            <a:chOff x="0" y="0"/>
            <a:chExt cx="2432304" cy="621792"/>
          </a:xfrm>
        </p:grpSpPr>
        <p:sp>
          <p:nvSpPr>
            <p:cNvPr name="Freeform 12" id="12"/>
            <p:cNvSpPr/>
            <p:nvPr/>
          </p:nvSpPr>
          <p:spPr>
            <a:xfrm flipH="false" flipV="false" rot="0">
              <a:off x="0" y="0"/>
              <a:ext cx="2432304" cy="621792"/>
            </a:xfrm>
            <a:custGeom>
              <a:avLst/>
              <a:gdLst/>
              <a:ahLst/>
              <a:cxnLst/>
              <a:rect r="r" b="b" t="t" l="l"/>
              <a:pathLst>
                <a:path h="621792" w="2432304">
                  <a:moveTo>
                    <a:pt x="0" y="24892"/>
                  </a:moveTo>
                  <a:cubicBezTo>
                    <a:pt x="0" y="11176"/>
                    <a:pt x="11176" y="0"/>
                    <a:pt x="24892" y="0"/>
                  </a:cubicBezTo>
                  <a:lnTo>
                    <a:pt x="2407412" y="0"/>
                  </a:lnTo>
                  <a:cubicBezTo>
                    <a:pt x="2421128" y="0"/>
                    <a:pt x="2432304" y="11176"/>
                    <a:pt x="2432304" y="24892"/>
                  </a:cubicBezTo>
                  <a:lnTo>
                    <a:pt x="2432304" y="596900"/>
                  </a:lnTo>
                  <a:cubicBezTo>
                    <a:pt x="2432304" y="610616"/>
                    <a:pt x="2421128" y="621792"/>
                    <a:pt x="2407412" y="621792"/>
                  </a:cubicBezTo>
                  <a:lnTo>
                    <a:pt x="24892" y="621792"/>
                  </a:lnTo>
                  <a:cubicBezTo>
                    <a:pt x="11176" y="621792"/>
                    <a:pt x="0" y="610616"/>
                    <a:pt x="0" y="596900"/>
                  </a:cubicBezTo>
                  <a:close/>
                </a:path>
              </a:pathLst>
            </a:custGeom>
            <a:solidFill>
              <a:srgbClr val="122645"/>
            </a:solidFill>
          </p:spPr>
        </p:sp>
      </p:grpSp>
      <p:grpSp>
        <p:nvGrpSpPr>
          <p:cNvPr name="Group 13" id="13"/>
          <p:cNvGrpSpPr/>
          <p:nvPr/>
        </p:nvGrpSpPr>
        <p:grpSpPr>
          <a:xfrm rot="0">
            <a:off x="15704820" y="301752"/>
            <a:ext cx="1824228" cy="466344"/>
            <a:chOff x="0" y="0"/>
            <a:chExt cx="2432304" cy="621792"/>
          </a:xfrm>
        </p:grpSpPr>
        <p:sp>
          <p:nvSpPr>
            <p:cNvPr name="Freeform 14" id="14"/>
            <p:cNvSpPr/>
            <p:nvPr/>
          </p:nvSpPr>
          <p:spPr>
            <a:xfrm flipH="false" flipV="false" rot="0">
              <a:off x="0" y="0"/>
              <a:ext cx="2432304" cy="621792"/>
            </a:xfrm>
            <a:custGeom>
              <a:avLst/>
              <a:gdLst/>
              <a:ahLst/>
              <a:cxnLst/>
              <a:rect r="r" b="b" t="t" l="l"/>
              <a:pathLst>
                <a:path h="621792" w="2432304">
                  <a:moveTo>
                    <a:pt x="0" y="0"/>
                  </a:moveTo>
                  <a:lnTo>
                    <a:pt x="2432304" y="0"/>
                  </a:lnTo>
                  <a:lnTo>
                    <a:pt x="2432304" y="621792"/>
                  </a:lnTo>
                  <a:lnTo>
                    <a:pt x="0" y="621792"/>
                  </a:lnTo>
                  <a:close/>
                </a:path>
              </a:pathLst>
            </a:custGeom>
            <a:blipFill>
              <a:blip r:embed="rId2">
                <a:alphaModFix amt="0"/>
              </a:blip>
              <a:stretch>
                <a:fillRect l="0" t="-26220" r="0" b="-26220"/>
              </a:stretch>
            </a:blipFill>
          </p:spPr>
        </p:sp>
        <p:sp>
          <p:nvSpPr>
            <p:cNvPr name="TextBox 15" id="15"/>
            <p:cNvSpPr txBox="true"/>
            <p:nvPr/>
          </p:nvSpPr>
          <p:spPr>
            <a:xfrm>
              <a:off x="0" y="-19050"/>
              <a:ext cx="2432304" cy="640842"/>
            </a:xfrm>
            <a:prstGeom prst="rect">
              <a:avLst/>
            </a:prstGeom>
          </p:spPr>
          <p:txBody>
            <a:bodyPr anchor="ctr" rtlCol="false" tIns="0" lIns="0" bIns="0" rIns="0"/>
            <a:lstStyle/>
            <a:p>
              <a:pPr algn="ctr">
                <a:lnSpc>
                  <a:spcPts val="2700"/>
                </a:lnSpc>
              </a:pPr>
              <a:r>
                <a:rPr lang="en-US" sz="2250" b="true">
                  <a:solidFill>
                    <a:srgbClr val="FFFFFF"/>
                  </a:solidFill>
                  <a:latin typeface="DejaVu Sans Bold"/>
                  <a:ea typeface="DejaVu Sans Bold"/>
                  <a:cs typeface="DejaVu Sans Bold"/>
                  <a:sym typeface="DejaVu Sans Bold"/>
                </a:rPr>
                <a:t>Slide 5 / 15</a:t>
              </a:r>
            </a:p>
          </p:txBody>
        </p:sp>
      </p:grpSp>
      <p:grpSp>
        <p:nvGrpSpPr>
          <p:cNvPr name="Group 16" id="16"/>
          <p:cNvGrpSpPr/>
          <p:nvPr/>
        </p:nvGrpSpPr>
        <p:grpSpPr>
          <a:xfrm rot="0">
            <a:off x="754380" y="850392"/>
            <a:ext cx="16774668" cy="740664"/>
            <a:chOff x="0" y="0"/>
            <a:chExt cx="22366224" cy="987552"/>
          </a:xfrm>
        </p:grpSpPr>
        <p:sp>
          <p:nvSpPr>
            <p:cNvPr name="Freeform 17" id="17"/>
            <p:cNvSpPr/>
            <p:nvPr/>
          </p:nvSpPr>
          <p:spPr>
            <a:xfrm flipH="false" flipV="false" rot="0">
              <a:off x="0" y="0"/>
              <a:ext cx="22366224" cy="987552"/>
            </a:xfrm>
            <a:custGeom>
              <a:avLst/>
              <a:gdLst/>
              <a:ahLst/>
              <a:cxnLst/>
              <a:rect r="r" b="b" t="t" l="l"/>
              <a:pathLst>
                <a:path h="987552" w="22366224">
                  <a:moveTo>
                    <a:pt x="0" y="0"/>
                  </a:moveTo>
                  <a:lnTo>
                    <a:pt x="22366224" y="0"/>
                  </a:lnTo>
                  <a:lnTo>
                    <a:pt x="22366224" y="987552"/>
                  </a:lnTo>
                  <a:lnTo>
                    <a:pt x="0" y="987552"/>
                  </a:lnTo>
                  <a:close/>
                </a:path>
              </a:pathLst>
            </a:custGeom>
            <a:blipFill>
              <a:blip r:embed="rId2">
                <a:alphaModFix amt="0"/>
              </a:blip>
              <a:stretch>
                <a:fillRect l="0" t="-391300" r="0" b="-391300"/>
              </a:stretch>
            </a:blipFill>
          </p:spPr>
        </p:sp>
        <p:sp>
          <p:nvSpPr>
            <p:cNvPr name="TextBox 18" id="18"/>
            <p:cNvSpPr txBox="true"/>
            <p:nvPr/>
          </p:nvSpPr>
          <p:spPr>
            <a:xfrm>
              <a:off x="0" y="-9525"/>
              <a:ext cx="22366224" cy="997077"/>
            </a:xfrm>
            <a:prstGeom prst="rect">
              <a:avLst/>
            </a:prstGeom>
          </p:spPr>
          <p:txBody>
            <a:bodyPr anchor="ctr" rtlCol="false" tIns="0" lIns="0" bIns="0" rIns="0"/>
            <a:lstStyle/>
            <a:p>
              <a:pPr algn="l">
                <a:lnSpc>
                  <a:spcPts val="3869"/>
                </a:lnSpc>
              </a:pPr>
              <a:r>
                <a:rPr lang="en-US" sz="3225" b="true">
                  <a:solidFill>
                    <a:srgbClr val="122645"/>
                  </a:solidFill>
                  <a:latin typeface="DejaVu Sans Bold"/>
                  <a:ea typeface="DejaVu Sans Bold"/>
                  <a:cs typeface="DejaVu Sans Bold"/>
                  <a:sym typeface="DejaVu Sans Bold"/>
                </a:rPr>
                <a:t>So sánh 5 đặc trưng: KTTT Tư bản chủ nghĩa vs. KTTT Định hướng XHCN</a:t>
              </a:r>
            </a:p>
          </p:txBody>
        </p:sp>
      </p:grpSp>
      <p:grpSp>
        <p:nvGrpSpPr>
          <p:cNvPr name="Group 19" id="19"/>
          <p:cNvGrpSpPr/>
          <p:nvPr/>
        </p:nvGrpSpPr>
        <p:grpSpPr>
          <a:xfrm rot="0">
            <a:off x="754380" y="1645920"/>
            <a:ext cx="16774668" cy="41148"/>
            <a:chOff x="0" y="0"/>
            <a:chExt cx="22366224" cy="54864"/>
          </a:xfrm>
        </p:grpSpPr>
        <p:sp>
          <p:nvSpPr>
            <p:cNvPr name="Freeform 20" id="20"/>
            <p:cNvSpPr/>
            <p:nvPr/>
          </p:nvSpPr>
          <p:spPr>
            <a:xfrm flipH="false" flipV="false" rot="0">
              <a:off x="0" y="0"/>
              <a:ext cx="22366224" cy="54864"/>
            </a:xfrm>
            <a:custGeom>
              <a:avLst/>
              <a:gdLst/>
              <a:ahLst/>
              <a:cxnLst/>
              <a:rect r="r" b="b" t="t" l="l"/>
              <a:pathLst>
                <a:path h="54864" w="22366224">
                  <a:moveTo>
                    <a:pt x="0" y="0"/>
                  </a:moveTo>
                  <a:lnTo>
                    <a:pt x="22366224" y="0"/>
                  </a:lnTo>
                  <a:lnTo>
                    <a:pt x="22366224" y="54864"/>
                  </a:lnTo>
                  <a:lnTo>
                    <a:pt x="0" y="54864"/>
                  </a:lnTo>
                  <a:close/>
                </a:path>
              </a:pathLst>
            </a:custGeom>
            <a:solidFill>
              <a:srgbClr val="CBD5E1"/>
            </a:solidFill>
          </p:spPr>
        </p:sp>
      </p:grpSp>
      <p:grpSp>
        <p:nvGrpSpPr>
          <p:cNvPr name="Group 21" id="21"/>
          <p:cNvGrpSpPr/>
          <p:nvPr/>
        </p:nvGrpSpPr>
        <p:grpSpPr>
          <a:xfrm rot="0">
            <a:off x="-7144" y="9662636"/>
            <a:ext cx="18301830" cy="631507"/>
            <a:chOff x="0" y="0"/>
            <a:chExt cx="24402440" cy="842010"/>
          </a:xfrm>
        </p:grpSpPr>
        <p:sp>
          <p:nvSpPr>
            <p:cNvPr name="Freeform 22" id="22"/>
            <p:cNvSpPr/>
            <p:nvPr/>
          </p:nvSpPr>
          <p:spPr>
            <a:xfrm flipH="false" flipV="false" rot="0">
              <a:off x="0" y="0"/>
              <a:ext cx="24402414" cy="842010"/>
            </a:xfrm>
            <a:custGeom>
              <a:avLst/>
              <a:gdLst/>
              <a:ahLst/>
              <a:cxnLst/>
              <a:rect r="r" b="b" t="t" l="l"/>
              <a:pathLst>
                <a:path h="842010" w="24402414">
                  <a:moveTo>
                    <a:pt x="0" y="0"/>
                  </a:moveTo>
                  <a:lnTo>
                    <a:pt x="24402414" y="0"/>
                  </a:lnTo>
                  <a:lnTo>
                    <a:pt x="24402414" y="842010"/>
                  </a:lnTo>
                  <a:lnTo>
                    <a:pt x="0" y="842010"/>
                  </a:lnTo>
                  <a:close/>
                </a:path>
              </a:pathLst>
            </a:custGeom>
            <a:solidFill>
              <a:srgbClr val="FFFFFF"/>
            </a:solidFill>
            <a:ln w="14288" cap="sq">
              <a:solidFill>
                <a:srgbClr val="CBD5E1"/>
              </a:solidFill>
              <a:prstDash val="solid"/>
              <a:miter/>
            </a:ln>
          </p:spPr>
        </p:sp>
      </p:grpSp>
      <p:grpSp>
        <p:nvGrpSpPr>
          <p:cNvPr name="Group 23" id="23"/>
          <p:cNvGrpSpPr/>
          <p:nvPr/>
        </p:nvGrpSpPr>
        <p:grpSpPr>
          <a:xfrm rot="0">
            <a:off x="754380" y="9710928"/>
            <a:ext cx="16774668" cy="493776"/>
            <a:chOff x="0" y="0"/>
            <a:chExt cx="22366224" cy="658368"/>
          </a:xfrm>
        </p:grpSpPr>
        <p:sp>
          <p:nvSpPr>
            <p:cNvPr name="Freeform 24" id="24"/>
            <p:cNvSpPr/>
            <p:nvPr/>
          </p:nvSpPr>
          <p:spPr>
            <a:xfrm flipH="false" flipV="false" rot="0">
              <a:off x="0" y="0"/>
              <a:ext cx="22366224" cy="658368"/>
            </a:xfrm>
            <a:custGeom>
              <a:avLst/>
              <a:gdLst/>
              <a:ahLst/>
              <a:cxnLst/>
              <a:rect r="r" b="b" t="t" l="l"/>
              <a:pathLst>
                <a:path h="658368" w="22366224">
                  <a:moveTo>
                    <a:pt x="0" y="0"/>
                  </a:moveTo>
                  <a:lnTo>
                    <a:pt x="22366224" y="0"/>
                  </a:lnTo>
                  <a:lnTo>
                    <a:pt x="22366224" y="658368"/>
                  </a:lnTo>
                  <a:lnTo>
                    <a:pt x="0" y="658368"/>
                  </a:lnTo>
                  <a:close/>
                </a:path>
              </a:pathLst>
            </a:custGeom>
            <a:blipFill>
              <a:blip r:embed="rId2">
                <a:alphaModFix amt="0"/>
              </a:blip>
              <a:stretch>
                <a:fillRect l="0" t="-611950" r="0" b="-611950"/>
              </a:stretch>
            </a:blipFill>
          </p:spPr>
        </p:sp>
        <p:sp>
          <p:nvSpPr>
            <p:cNvPr name="TextBox 25" id="25"/>
            <p:cNvSpPr txBox="true"/>
            <p:nvPr/>
          </p:nvSpPr>
          <p:spPr>
            <a:xfrm>
              <a:off x="0" y="-9525"/>
              <a:ext cx="22366224" cy="667893"/>
            </a:xfrm>
            <a:prstGeom prst="rect">
              <a:avLst/>
            </a:prstGeom>
          </p:spPr>
          <p:txBody>
            <a:bodyPr anchor="ctr" rtlCol="false" tIns="0" lIns="0" bIns="0" rIns="0"/>
            <a:lstStyle/>
            <a:p>
              <a:pPr algn="l">
                <a:lnSpc>
                  <a:spcPts val="2460"/>
                </a:lnSpc>
              </a:pPr>
              <a:r>
                <a:rPr lang="en-US" sz="2050" i="true">
                  <a:solidFill>
                    <a:srgbClr val="475569"/>
                  </a:solidFill>
                  <a:latin typeface="DejaVu Sans Bold Italics"/>
                  <a:ea typeface="DejaVu Sans Bold Italics"/>
                  <a:cs typeface="DejaVu Sans Bold Italics"/>
                  <a:sym typeface="DejaVu Sans Bold Italics"/>
                </a:rPr>
                <a:t>Nguồn: Giáo trình KTCT Mác – Lênin (2021, tr. 177–187); đối chiếu khách quan chính sách phúc lợi các nước OECD.</a:t>
              </a:r>
            </a:p>
          </p:txBody>
        </p:sp>
      </p:grpSp>
      <p:grpSp>
        <p:nvGrpSpPr>
          <p:cNvPr name="Group 26" id="26"/>
          <p:cNvGrpSpPr/>
          <p:nvPr/>
        </p:nvGrpSpPr>
        <p:grpSpPr>
          <a:xfrm rot="0">
            <a:off x="742950" y="1771650"/>
            <a:ext cx="16797528" cy="626364"/>
            <a:chOff x="0" y="0"/>
            <a:chExt cx="22396704" cy="835152"/>
          </a:xfrm>
        </p:grpSpPr>
        <p:sp>
          <p:nvSpPr>
            <p:cNvPr name="Freeform 27" id="27"/>
            <p:cNvSpPr/>
            <p:nvPr/>
          </p:nvSpPr>
          <p:spPr>
            <a:xfrm flipH="false" flipV="false" rot="0">
              <a:off x="0" y="0"/>
              <a:ext cx="22396704" cy="835152"/>
            </a:xfrm>
            <a:custGeom>
              <a:avLst/>
              <a:gdLst/>
              <a:ahLst/>
              <a:cxnLst/>
              <a:rect r="r" b="b" t="t" l="l"/>
              <a:pathLst>
                <a:path h="835152" w="22396704">
                  <a:moveTo>
                    <a:pt x="0" y="33401"/>
                  </a:moveTo>
                  <a:cubicBezTo>
                    <a:pt x="0" y="14986"/>
                    <a:pt x="14986" y="0"/>
                    <a:pt x="33401" y="0"/>
                  </a:cubicBezTo>
                  <a:lnTo>
                    <a:pt x="22363303" y="0"/>
                  </a:lnTo>
                  <a:cubicBezTo>
                    <a:pt x="22381718" y="0"/>
                    <a:pt x="22396704" y="14986"/>
                    <a:pt x="22396704" y="33401"/>
                  </a:cubicBezTo>
                  <a:lnTo>
                    <a:pt x="22396704" y="801751"/>
                  </a:lnTo>
                  <a:cubicBezTo>
                    <a:pt x="22396704" y="820166"/>
                    <a:pt x="22381718" y="835152"/>
                    <a:pt x="22363303" y="835152"/>
                  </a:cubicBezTo>
                  <a:lnTo>
                    <a:pt x="33401" y="835152"/>
                  </a:lnTo>
                  <a:cubicBezTo>
                    <a:pt x="14986" y="835152"/>
                    <a:pt x="0" y="820166"/>
                    <a:pt x="0" y="801751"/>
                  </a:cubicBezTo>
                  <a:close/>
                </a:path>
              </a:pathLst>
            </a:custGeom>
            <a:solidFill>
              <a:srgbClr val="EEF6FC"/>
            </a:solidFill>
            <a:ln w="22860" cap="sq">
              <a:solidFill>
                <a:srgbClr val="0369A1"/>
              </a:solidFill>
              <a:prstDash val="solid"/>
              <a:miter/>
            </a:ln>
          </p:spPr>
        </p:sp>
      </p:grpSp>
      <p:grpSp>
        <p:nvGrpSpPr>
          <p:cNvPr name="Group 28" id="28"/>
          <p:cNvGrpSpPr/>
          <p:nvPr/>
        </p:nvGrpSpPr>
        <p:grpSpPr>
          <a:xfrm rot="0">
            <a:off x="960120" y="1783080"/>
            <a:ext cx="16390620" cy="603504"/>
            <a:chOff x="0" y="0"/>
            <a:chExt cx="21854160" cy="804672"/>
          </a:xfrm>
        </p:grpSpPr>
        <p:sp>
          <p:nvSpPr>
            <p:cNvPr name="Freeform 29" id="29"/>
            <p:cNvSpPr/>
            <p:nvPr/>
          </p:nvSpPr>
          <p:spPr>
            <a:xfrm flipH="false" flipV="false" rot="0">
              <a:off x="0" y="0"/>
              <a:ext cx="21854161" cy="804672"/>
            </a:xfrm>
            <a:custGeom>
              <a:avLst/>
              <a:gdLst/>
              <a:ahLst/>
              <a:cxnLst/>
              <a:rect r="r" b="b" t="t" l="l"/>
              <a:pathLst>
                <a:path h="804672" w="21854161">
                  <a:moveTo>
                    <a:pt x="0" y="0"/>
                  </a:moveTo>
                  <a:lnTo>
                    <a:pt x="21854161" y="0"/>
                  </a:lnTo>
                  <a:lnTo>
                    <a:pt x="21854161" y="804672"/>
                  </a:lnTo>
                  <a:lnTo>
                    <a:pt x="0" y="804672"/>
                  </a:lnTo>
                  <a:close/>
                </a:path>
              </a:pathLst>
            </a:custGeom>
            <a:blipFill>
              <a:blip r:embed="rId2">
                <a:alphaModFix amt="0"/>
              </a:blip>
              <a:stretch>
                <a:fillRect l="0" t="-479195" r="0" b="-479195"/>
              </a:stretch>
            </a:blipFill>
          </p:spPr>
        </p:sp>
        <p:sp>
          <p:nvSpPr>
            <p:cNvPr name="TextBox 30" id="30"/>
            <p:cNvSpPr txBox="true"/>
            <p:nvPr/>
          </p:nvSpPr>
          <p:spPr>
            <a:xfrm>
              <a:off x="0" y="-9525"/>
              <a:ext cx="21854160" cy="814197"/>
            </a:xfrm>
            <a:prstGeom prst="rect">
              <a:avLst/>
            </a:prstGeom>
          </p:spPr>
          <p:txBody>
            <a:bodyPr anchor="ctr" rtlCol="false" tIns="0" lIns="0" bIns="0" rIns="0"/>
            <a:lstStyle/>
            <a:p>
              <a:pPr algn="l">
                <a:lnSpc>
                  <a:spcPts val="2124"/>
                </a:lnSpc>
              </a:pPr>
              <a:r>
                <a:rPr lang="en-US" sz="1770" b="true">
                  <a:solidFill>
                    <a:srgbClr val="0369A1"/>
                  </a:solidFill>
                  <a:latin typeface="DejaVu Sans Bold"/>
                  <a:ea typeface="DejaVu Sans Bold"/>
                  <a:cs typeface="DejaVu Sans Bold"/>
                  <a:sym typeface="DejaVu Sans Bold"/>
                </a:rPr>
                <a:t>ĐIỂM TƯƠNG ĐỒNG: Cả hai đều vận hành theo quy luật giá trị, cung – cầu, cạnh tranh và tôn trọng quyền tự do kinh doanh hợp pháp.</a:t>
              </a:r>
            </a:p>
          </p:txBody>
        </p:sp>
      </p:grpSp>
      <p:grpSp>
        <p:nvGrpSpPr>
          <p:cNvPr name="Group 31" id="31"/>
          <p:cNvGrpSpPr/>
          <p:nvPr/>
        </p:nvGrpSpPr>
        <p:grpSpPr>
          <a:xfrm rot="0">
            <a:off x="754380" y="2496312"/>
            <a:ext cx="3223260" cy="630936"/>
            <a:chOff x="0" y="0"/>
            <a:chExt cx="4297680" cy="841248"/>
          </a:xfrm>
        </p:grpSpPr>
        <p:sp>
          <p:nvSpPr>
            <p:cNvPr name="Freeform 32" id="32"/>
            <p:cNvSpPr/>
            <p:nvPr/>
          </p:nvSpPr>
          <p:spPr>
            <a:xfrm flipH="false" flipV="false" rot="0">
              <a:off x="0" y="0"/>
              <a:ext cx="4297680" cy="841248"/>
            </a:xfrm>
            <a:custGeom>
              <a:avLst/>
              <a:gdLst/>
              <a:ahLst/>
              <a:cxnLst/>
              <a:rect r="r" b="b" t="t" l="l"/>
              <a:pathLst>
                <a:path h="841248" w="4297680">
                  <a:moveTo>
                    <a:pt x="0" y="33655"/>
                  </a:moveTo>
                  <a:cubicBezTo>
                    <a:pt x="0" y="15113"/>
                    <a:pt x="15113" y="0"/>
                    <a:pt x="33655" y="0"/>
                  </a:cubicBezTo>
                  <a:lnTo>
                    <a:pt x="4264025" y="0"/>
                  </a:lnTo>
                  <a:cubicBezTo>
                    <a:pt x="4282567" y="0"/>
                    <a:pt x="4297680" y="15113"/>
                    <a:pt x="4297680" y="33655"/>
                  </a:cubicBezTo>
                  <a:lnTo>
                    <a:pt x="4297680" y="807593"/>
                  </a:lnTo>
                  <a:cubicBezTo>
                    <a:pt x="4297680" y="826135"/>
                    <a:pt x="4282567" y="841248"/>
                    <a:pt x="4264025" y="841248"/>
                  </a:cubicBezTo>
                  <a:lnTo>
                    <a:pt x="33655" y="841248"/>
                  </a:lnTo>
                  <a:cubicBezTo>
                    <a:pt x="15113" y="841248"/>
                    <a:pt x="0" y="826135"/>
                    <a:pt x="0" y="807593"/>
                  </a:cubicBezTo>
                  <a:close/>
                </a:path>
              </a:pathLst>
            </a:custGeom>
            <a:solidFill>
              <a:srgbClr val="122645"/>
            </a:solidFill>
          </p:spPr>
        </p:sp>
      </p:grpSp>
      <p:grpSp>
        <p:nvGrpSpPr>
          <p:cNvPr name="Group 33" id="33"/>
          <p:cNvGrpSpPr/>
          <p:nvPr/>
        </p:nvGrpSpPr>
        <p:grpSpPr>
          <a:xfrm rot="0">
            <a:off x="754380" y="2496312"/>
            <a:ext cx="3223260" cy="630936"/>
            <a:chOff x="0" y="0"/>
            <a:chExt cx="4297680" cy="841248"/>
          </a:xfrm>
        </p:grpSpPr>
        <p:sp>
          <p:nvSpPr>
            <p:cNvPr name="Freeform 34" id="34"/>
            <p:cNvSpPr/>
            <p:nvPr/>
          </p:nvSpPr>
          <p:spPr>
            <a:xfrm flipH="false" flipV="false" rot="0">
              <a:off x="0" y="0"/>
              <a:ext cx="4297680" cy="841248"/>
            </a:xfrm>
            <a:custGeom>
              <a:avLst/>
              <a:gdLst/>
              <a:ahLst/>
              <a:cxnLst/>
              <a:rect r="r" b="b" t="t" l="l"/>
              <a:pathLst>
                <a:path h="841248" w="4297680">
                  <a:moveTo>
                    <a:pt x="0" y="0"/>
                  </a:moveTo>
                  <a:lnTo>
                    <a:pt x="4297680" y="0"/>
                  </a:lnTo>
                  <a:lnTo>
                    <a:pt x="4297680" y="841248"/>
                  </a:lnTo>
                  <a:lnTo>
                    <a:pt x="0" y="841248"/>
                  </a:lnTo>
                  <a:close/>
                </a:path>
              </a:pathLst>
            </a:custGeom>
            <a:blipFill>
              <a:blip r:embed="rId2">
                <a:alphaModFix amt="0"/>
              </a:blip>
              <a:stretch>
                <a:fillRect l="0" t="-49543" r="0" b="-49543"/>
              </a:stretch>
            </a:blipFill>
          </p:spPr>
        </p:sp>
        <p:sp>
          <p:nvSpPr>
            <p:cNvPr name="TextBox 35" id="35"/>
            <p:cNvSpPr txBox="true"/>
            <p:nvPr/>
          </p:nvSpPr>
          <p:spPr>
            <a:xfrm>
              <a:off x="0" y="-9525"/>
              <a:ext cx="4297680" cy="850773"/>
            </a:xfrm>
            <a:prstGeom prst="rect">
              <a:avLst/>
            </a:prstGeom>
          </p:spPr>
          <p:txBody>
            <a:bodyPr anchor="ctr" rtlCol="false" tIns="0" lIns="0" bIns="0" rIns="0"/>
            <a:lstStyle/>
            <a:p>
              <a:pPr algn="ctr">
                <a:lnSpc>
                  <a:spcPts val="2052"/>
                </a:lnSpc>
              </a:pPr>
              <a:r>
                <a:rPr lang="en-US" sz="1710" b="true">
                  <a:solidFill>
                    <a:srgbClr val="FFFFFF"/>
                  </a:solidFill>
                  <a:latin typeface="DejaVu Sans Bold"/>
                  <a:ea typeface="DejaVu Sans Bold"/>
                  <a:cs typeface="DejaVu Sans Bold"/>
                  <a:sym typeface="DejaVu Sans Bold"/>
                </a:rPr>
                <a:t>5 TIÊU CHÍ (M-S-Q-P-G)</a:t>
              </a:r>
            </a:p>
          </p:txBody>
        </p:sp>
      </p:grpSp>
      <p:grpSp>
        <p:nvGrpSpPr>
          <p:cNvPr name="Group 36" id="36"/>
          <p:cNvGrpSpPr/>
          <p:nvPr/>
        </p:nvGrpSpPr>
        <p:grpSpPr>
          <a:xfrm rot="0">
            <a:off x="4087368" y="2496312"/>
            <a:ext cx="6473952" cy="630936"/>
            <a:chOff x="0" y="0"/>
            <a:chExt cx="8631936" cy="841248"/>
          </a:xfrm>
        </p:grpSpPr>
        <p:sp>
          <p:nvSpPr>
            <p:cNvPr name="Freeform 37" id="37"/>
            <p:cNvSpPr/>
            <p:nvPr/>
          </p:nvSpPr>
          <p:spPr>
            <a:xfrm flipH="false" flipV="false" rot="0">
              <a:off x="0" y="0"/>
              <a:ext cx="8631937" cy="841248"/>
            </a:xfrm>
            <a:custGeom>
              <a:avLst/>
              <a:gdLst/>
              <a:ahLst/>
              <a:cxnLst/>
              <a:rect r="r" b="b" t="t" l="l"/>
              <a:pathLst>
                <a:path h="841248" w="8631937">
                  <a:moveTo>
                    <a:pt x="0" y="33655"/>
                  </a:moveTo>
                  <a:cubicBezTo>
                    <a:pt x="0" y="15113"/>
                    <a:pt x="15113" y="0"/>
                    <a:pt x="33655" y="0"/>
                  </a:cubicBezTo>
                  <a:lnTo>
                    <a:pt x="8598281" y="0"/>
                  </a:lnTo>
                  <a:cubicBezTo>
                    <a:pt x="8616824" y="0"/>
                    <a:pt x="8631937" y="15113"/>
                    <a:pt x="8631937" y="33655"/>
                  </a:cubicBezTo>
                  <a:lnTo>
                    <a:pt x="8631937" y="807593"/>
                  </a:lnTo>
                  <a:cubicBezTo>
                    <a:pt x="8631937" y="826135"/>
                    <a:pt x="8616824" y="841248"/>
                    <a:pt x="8598281" y="841248"/>
                  </a:cubicBezTo>
                  <a:lnTo>
                    <a:pt x="33655" y="841248"/>
                  </a:lnTo>
                  <a:cubicBezTo>
                    <a:pt x="15113" y="841248"/>
                    <a:pt x="0" y="826135"/>
                    <a:pt x="0" y="807593"/>
                  </a:cubicBezTo>
                  <a:close/>
                </a:path>
              </a:pathLst>
            </a:custGeom>
            <a:solidFill>
              <a:srgbClr val="475569"/>
            </a:solidFill>
          </p:spPr>
        </p:sp>
      </p:grpSp>
      <p:grpSp>
        <p:nvGrpSpPr>
          <p:cNvPr name="Group 38" id="38"/>
          <p:cNvGrpSpPr/>
          <p:nvPr/>
        </p:nvGrpSpPr>
        <p:grpSpPr>
          <a:xfrm rot="0">
            <a:off x="4087368" y="2496312"/>
            <a:ext cx="6473952" cy="630936"/>
            <a:chOff x="0" y="0"/>
            <a:chExt cx="8631936" cy="841248"/>
          </a:xfrm>
        </p:grpSpPr>
        <p:sp>
          <p:nvSpPr>
            <p:cNvPr name="Freeform 39" id="39"/>
            <p:cNvSpPr/>
            <p:nvPr/>
          </p:nvSpPr>
          <p:spPr>
            <a:xfrm flipH="false" flipV="false" rot="0">
              <a:off x="0" y="0"/>
              <a:ext cx="8631936" cy="841248"/>
            </a:xfrm>
            <a:custGeom>
              <a:avLst/>
              <a:gdLst/>
              <a:ahLst/>
              <a:cxnLst/>
              <a:rect r="r" b="b" t="t" l="l"/>
              <a:pathLst>
                <a:path h="841248" w="8631936">
                  <a:moveTo>
                    <a:pt x="0" y="0"/>
                  </a:moveTo>
                  <a:lnTo>
                    <a:pt x="8631936" y="0"/>
                  </a:lnTo>
                  <a:lnTo>
                    <a:pt x="8631936" y="841248"/>
                  </a:lnTo>
                  <a:lnTo>
                    <a:pt x="0" y="841248"/>
                  </a:lnTo>
                  <a:close/>
                </a:path>
              </a:pathLst>
            </a:custGeom>
            <a:blipFill>
              <a:blip r:embed="rId2">
                <a:alphaModFix amt="0"/>
              </a:blip>
              <a:stretch>
                <a:fillRect l="0" t="-149933" r="0" b="-149933"/>
              </a:stretch>
            </a:blipFill>
          </p:spPr>
        </p:sp>
        <p:sp>
          <p:nvSpPr>
            <p:cNvPr name="TextBox 40" id="40"/>
            <p:cNvSpPr txBox="true"/>
            <p:nvPr/>
          </p:nvSpPr>
          <p:spPr>
            <a:xfrm>
              <a:off x="0" y="-19050"/>
              <a:ext cx="8631936" cy="860298"/>
            </a:xfrm>
            <a:prstGeom prst="rect">
              <a:avLst/>
            </a:prstGeom>
          </p:spPr>
          <p:txBody>
            <a:bodyPr anchor="ctr" rtlCol="false" tIns="0" lIns="0" bIns="0" rIns="0"/>
            <a:lstStyle/>
            <a:p>
              <a:pPr algn="ctr">
                <a:lnSpc>
                  <a:spcPts val="2700"/>
                </a:lnSpc>
              </a:pPr>
              <a:r>
                <a:rPr lang="en-US" sz="2250" b="true">
                  <a:solidFill>
                    <a:srgbClr val="FFFFFF"/>
                  </a:solidFill>
                  <a:latin typeface="DejaVu Sans Bold"/>
                  <a:ea typeface="DejaVu Sans Bold"/>
                  <a:cs typeface="DejaVu Sans Bold"/>
                  <a:sym typeface="DejaVu Sans Bold"/>
                </a:rPr>
                <a:t>KTTT TƯ BẢN CHỦ NGHĨA</a:t>
              </a:r>
            </a:p>
          </p:txBody>
        </p:sp>
      </p:grpSp>
      <p:grpSp>
        <p:nvGrpSpPr>
          <p:cNvPr name="Group 41" id="41"/>
          <p:cNvGrpSpPr/>
          <p:nvPr/>
        </p:nvGrpSpPr>
        <p:grpSpPr>
          <a:xfrm rot="0">
            <a:off x="10671048" y="2496312"/>
            <a:ext cx="6858000" cy="630936"/>
            <a:chOff x="0" y="0"/>
            <a:chExt cx="9144000" cy="841248"/>
          </a:xfrm>
        </p:grpSpPr>
        <p:sp>
          <p:nvSpPr>
            <p:cNvPr name="Freeform 42" id="42"/>
            <p:cNvSpPr/>
            <p:nvPr/>
          </p:nvSpPr>
          <p:spPr>
            <a:xfrm flipH="false" flipV="false" rot="0">
              <a:off x="0" y="0"/>
              <a:ext cx="9144000" cy="841248"/>
            </a:xfrm>
            <a:custGeom>
              <a:avLst/>
              <a:gdLst/>
              <a:ahLst/>
              <a:cxnLst/>
              <a:rect r="r" b="b" t="t" l="l"/>
              <a:pathLst>
                <a:path h="841248" w="9144000">
                  <a:moveTo>
                    <a:pt x="0" y="33655"/>
                  </a:moveTo>
                  <a:cubicBezTo>
                    <a:pt x="0" y="15113"/>
                    <a:pt x="15113" y="0"/>
                    <a:pt x="33655" y="0"/>
                  </a:cubicBezTo>
                  <a:lnTo>
                    <a:pt x="9110345" y="0"/>
                  </a:lnTo>
                  <a:cubicBezTo>
                    <a:pt x="9128887" y="0"/>
                    <a:pt x="9144000" y="15113"/>
                    <a:pt x="9144000" y="33655"/>
                  </a:cubicBezTo>
                  <a:lnTo>
                    <a:pt x="9144000" y="807593"/>
                  </a:lnTo>
                  <a:cubicBezTo>
                    <a:pt x="9144000" y="826135"/>
                    <a:pt x="9128887" y="841248"/>
                    <a:pt x="9110345" y="841248"/>
                  </a:cubicBezTo>
                  <a:lnTo>
                    <a:pt x="33655" y="841248"/>
                  </a:lnTo>
                  <a:cubicBezTo>
                    <a:pt x="15113" y="841248"/>
                    <a:pt x="0" y="826135"/>
                    <a:pt x="0" y="807593"/>
                  </a:cubicBezTo>
                  <a:close/>
                </a:path>
              </a:pathLst>
            </a:custGeom>
            <a:solidFill>
              <a:srgbClr val="0F766E"/>
            </a:solidFill>
          </p:spPr>
        </p:sp>
      </p:grpSp>
      <p:grpSp>
        <p:nvGrpSpPr>
          <p:cNvPr name="Group 43" id="43"/>
          <p:cNvGrpSpPr/>
          <p:nvPr/>
        </p:nvGrpSpPr>
        <p:grpSpPr>
          <a:xfrm rot="0">
            <a:off x="10671048" y="2496312"/>
            <a:ext cx="6858000" cy="630936"/>
            <a:chOff x="0" y="0"/>
            <a:chExt cx="9144000" cy="841248"/>
          </a:xfrm>
        </p:grpSpPr>
        <p:sp>
          <p:nvSpPr>
            <p:cNvPr name="Freeform 44" id="44"/>
            <p:cNvSpPr/>
            <p:nvPr/>
          </p:nvSpPr>
          <p:spPr>
            <a:xfrm flipH="false" flipV="false" rot="0">
              <a:off x="0" y="0"/>
              <a:ext cx="9144000" cy="841248"/>
            </a:xfrm>
            <a:custGeom>
              <a:avLst/>
              <a:gdLst/>
              <a:ahLst/>
              <a:cxnLst/>
              <a:rect r="r" b="b" t="t" l="l"/>
              <a:pathLst>
                <a:path h="841248" w="9144000">
                  <a:moveTo>
                    <a:pt x="0" y="0"/>
                  </a:moveTo>
                  <a:lnTo>
                    <a:pt x="9144000" y="0"/>
                  </a:lnTo>
                  <a:lnTo>
                    <a:pt x="9144000" y="841248"/>
                  </a:lnTo>
                  <a:lnTo>
                    <a:pt x="0" y="841248"/>
                  </a:lnTo>
                  <a:close/>
                </a:path>
              </a:pathLst>
            </a:custGeom>
            <a:blipFill>
              <a:blip r:embed="rId2">
                <a:alphaModFix amt="0"/>
              </a:blip>
              <a:stretch>
                <a:fillRect l="0" t="-161793" r="0" b="-161793"/>
              </a:stretch>
            </a:blipFill>
          </p:spPr>
        </p:sp>
        <p:sp>
          <p:nvSpPr>
            <p:cNvPr name="TextBox 45" id="45"/>
            <p:cNvSpPr txBox="true"/>
            <p:nvPr/>
          </p:nvSpPr>
          <p:spPr>
            <a:xfrm>
              <a:off x="0" y="-19050"/>
              <a:ext cx="9144000" cy="860298"/>
            </a:xfrm>
            <a:prstGeom prst="rect">
              <a:avLst/>
            </a:prstGeom>
          </p:spPr>
          <p:txBody>
            <a:bodyPr anchor="ctr" rtlCol="false" tIns="0" lIns="0" bIns="0" rIns="0"/>
            <a:lstStyle/>
            <a:p>
              <a:pPr algn="ctr">
                <a:lnSpc>
                  <a:spcPts val="2700"/>
                </a:lnSpc>
              </a:pPr>
              <a:r>
                <a:rPr lang="en-US" sz="2250" b="true">
                  <a:solidFill>
                    <a:srgbClr val="FFFFFF"/>
                  </a:solidFill>
                  <a:latin typeface="DejaVu Sans Bold"/>
                  <a:ea typeface="DejaVu Sans Bold"/>
                  <a:cs typeface="DejaVu Sans Bold"/>
                  <a:sym typeface="DejaVu Sans Bold"/>
                </a:rPr>
                <a:t>KTTT ĐỊNH HƯỚNG XHCN (VIỆT NAM)</a:t>
              </a:r>
            </a:p>
          </p:txBody>
        </p:sp>
      </p:grpSp>
      <p:grpSp>
        <p:nvGrpSpPr>
          <p:cNvPr name="Group 46" id="46"/>
          <p:cNvGrpSpPr/>
          <p:nvPr/>
        </p:nvGrpSpPr>
        <p:grpSpPr>
          <a:xfrm rot="0">
            <a:off x="744855" y="3200019"/>
            <a:ext cx="3242310" cy="1184910"/>
            <a:chOff x="0" y="0"/>
            <a:chExt cx="4323080" cy="1579880"/>
          </a:xfrm>
        </p:grpSpPr>
        <p:sp>
          <p:nvSpPr>
            <p:cNvPr name="Freeform 47" id="47"/>
            <p:cNvSpPr/>
            <p:nvPr/>
          </p:nvSpPr>
          <p:spPr>
            <a:xfrm flipH="false" flipV="false" rot="0">
              <a:off x="0" y="0"/>
              <a:ext cx="4323080" cy="1579880"/>
            </a:xfrm>
            <a:custGeom>
              <a:avLst/>
              <a:gdLst/>
              <a:ahLst/>
              <a:cxnLst/>
              <a:rect r="r" b="b" t="t" l="l"/>
              <a:pathLst>
                <a:path h="1579880" w="4323080">
                  <a:moveTo>
                    <a:pt x="0" y="63246"/>
                  </a:moveTo>
                  <a:cubicBezTo>
                    <a:pt x="0" y="28321"/>
                    <a:pt x="28321" y="0"/>
                    <a:pt x="63246" y="0"/>
                  </a:cubicBezTo>
                  <a:lnTo>
                    <a:pt x="4259834" y="0"/>
                  </a:lnTo>
                  <a:cubicBezTo>
                    <a:pt x="4294759" y="0"/>
                    <a:pt x="4323080" y="28321"/>
                    <a:pt x="4323080" y="63246"/>
                  </a:cubicBezTo>
                  <a:lnTo>
                    <a:pt x="4323080" y="1516634"/>
                  </a:lnTo>
                  <a:cubicBezTo>
                    <a:pt x="4323080" y="1551559"/>
                    <a:pt x="4294759" y="1579880"/>
                    <a:pt x="4259834" y="1579880"/>
                  </a:cubicBezTo>
                  <a:lnTo>
                    <a:pt x="63246" y="1579880"/>
                  </a:lnTo>
                  <a:cubicBezTo>
                    <a:pt x="28321" y="1579880"/>
                    <a:pt x="0" y="1551559"/>
                    <a:pt x="0" y="1516634"/>
                  </a:cubicBezTo>
                  <a:close/>
                </a:path>
              </a:pathLst>
            </a:custGeom>
            <a:solidFill>
              <a:srgbClr val="F1F5F9"/>
            </a:solidFill>
            <a:ln w="19050" cap="sq">
              <a:solidFill>
                <a:srgbClr val="CBD5E1"/>
              </a:solidFill>
              <a:prstDash val="solid"/>
              <a:miter/>
            </a:ln>
          </p:spPr>
        </p:sp>
      </p:grpSp>
      <p:grpSp>
        <p:nvGrpSpPr>
          <p:cNvPr name="Group 48" id="48"/>
          <p:cNvGrpSpPr/>
          <p:nvPr/>
        </p:nvGrpSpPr>
        <p:grpSpPr>
          <a:xfrm rot="0">
            <a:off x="850392" y="3209544"/>
            <a:ext cx="3031236" cy="1165860"/>
            <a:chOff x="0" y="0"/>
            <a:chExt cx="4041648" cy="1554480"/>
          </a:xfrm>
        </p:grpSpPr>
        <p:sp>
          <p:nvSpPr>
            <p:cNvPr name="Freeform 49" id="49"/>
            <p:cNvSpPr/>
            <p:nvPr/>
          </p:nvSpPr>
          <p:spPr>
            <a:xfrm flipH="false" flipV="false" rot="0">
              <a:off x="0" y="0"/>
              <a:ext cx="4041648" cy="1554480"/>
            </a:xfrm>
            <a:custGeom>
              <a:avLst/>
              <a:gdLst/>
              <a:ahLst/>
              <a:cxnLst/>
              <a:rect r="r" b="b" t="t" l="l"/>
              <a:pathLst>
                <a:path h="1554480" w="4041648">
                  <a:moveTo>
                    <a:pt x="0" y="0"/>
                  </a:moveTo>
                  <a:lnTo>
                    <a:pt x="4041648" y="0"/>
                  </a:lnTo>
                  <a:lnTo>
                    <a:pt x="4041648" y="1554480"/>
                  </a:lnTo>
                  <a:lnTo>
                    <a:pt x="0" y="1554480"/>
                  </a:lnTo>
                  <a:close/>
                </a:path>
              </a:pathLst>
            </a:custGeom>
            <a:blipFill>
              <a:blip r:embed="rId2">
                <a:alphaModFix amt="0"/>
              </a:blip>
              <a:stretch>
                <a:fillRect l="0" t="-661" r="0" b="-661"/>
              </a:stretch>
            </a:blipFill>
          </p:spPr>
        </p:sp>
        <p:sp>
          <p:nvSpPr>
            <p:cNvPr name="TextBox 50" id="50"/>
            <p:cNvSpPr txBox="true"/>
            <p:nvPr/>
          </p:nvSpPr>
          <p:spPr>
            <a:xfrm>
              <a:off x="0" y="-19050"/>
              <a:ext cx="4041648" cy="1573530"/>
            </a:xfrm>
            <a:prstGeom prst="rect">
              <a:avLst/>
            </a:prstGeom>
          </p:spPr>
          <p:txBody>
            <a:bodyPr anchor="ctr" rtlCol="false" tIns="0" lIns="0" bIns="0" rIns="0"/>
            <a:lstStyle/>
            <a:p>
              <a:pPr algn="ctr">
                <a:lnSpc>
                  <a:spcPts val="2700"/>
                </a:lnSpc>
              </a:pPr>
              <a:r>
                <a:rPr lang="en-US" sz="2250" b="true">
                  <a:solidFill>
                    <a:srgbClr val="122645"/>
                  </a:solidFill>
                  <a:latin typeface="DejaVu Sans Bold"/>
                  <a:ea typeface="DejaVu Sans Bold"/>
                  <a:cs typeface="DejaVu Sans Bold"/>
                  <a:sym typeface="DejaVu Sans Bold"/>
                </a:rPr>
                <a:t>1. Mục tiêu</a:t>
              </a:r>
            </a:p>
          </p:txBody>
        </p:sp>
      </p:grpSp>
      <p:grpSp>
        <p:nvGrpSpPr>
          <p:cNvPr name="Group 51" id="51"/>
          <p:cNvGrpSpPr/>
          <p:nvPr/>
        </p:nvGrpSpPr>
        <p:grpSpPr>
          <a:xfrm rot="0">
            <a:off x="4077843" y="3200019"/>
            <a:ext cx="6493002" cy="1184910"/>
            <a:chOff x="0" y="0"/>
            <a:chExt cx="8657336" cy="1579880"/>
          </a:xfrm>
        </p:grpSpPr>
        <p:sp>
          <p:nvSpPr>
            <p:cNvPr name="Freeform 52" id="52"/>
            <p:cNvSpPr/>
            <p:nvPr/>
          </p:nvSpPr>
          <p:spPr>
            <a:xfrm flipH="false" flipV="false" rot="0">
              <a:off x="0" y="0"/>
              <a:ext cx="8657336" cy="1579880"/>
            </a:xfrm>
            <a:custGeom>
              <a:avLst/>
              <a:gdLst/>
              <a:ahLst/>
              <a:cxnLst/>
              <a:rect r="r" b="b" t="t" l="l"/>
              <a:pathLst>
                <a:path h="1579880" w="8657336">
                  <a:moveTo>
                    <a:pt x="0" y="63246"/>
                  </a:moveTo>
                  <a:cubicBezTo>
                    <a:pt x="0" y="28321"/>
                    <a:pt x="28321" y="0"/>
                    <a:pt x="63246" y="0"/>
                  </a:cubicBezTo>
                  <a:lnTo>
                    <a:pt x="8594090" y="0"/>
                  </a:lnTo>
                  <a:cubicBezTo>
                    <a:pt x="8629015" y="0"/>
                    <a:pt x="8657336" y="28321"/>
                    <a:pt x="8657336" y="63246"/>
                  </a:cubicBezTo>
                  <a:lnTo>
                    <a:pt x="8657336" y="1516634"/>
                  </a:lnTo>
                  <a:cubicBezTo>
                    <a:pt x="8657336" y="1551559"/>
                    <a:pt x="8629015" y="1579880"/>
                    <a:pt x="8594090" y="1579880"/>
                  </a:cubicBezTo>
                  <a:lnTo>
                    <a:pt x="63246" y="1579880"/>
                  </a:lnTo>
                  <a:cubicBezTo>
                    <a:pt x="28321" y="1579880"/>
                    <a:pt x="0" y="1551559"/>
                    <a:pt x="0" y="1516634"/>
                  </a:cubicBezTo>
                  <a:close/>
                </a:path>
              </a:pathLst>
            </a:custGeom>
            <a:solidFill>
              <a:srgbClr val="FFFFFF"/>
            </a:solidFill>
            <a:ln w="19050" cap="sq">
              <a:solidFill>
                <a:srgbClr val="CBD5E1"/>
              </a:solidFill>
              <a:prstDash val="solid"/>
              <a:miter/>
            </a:ln>
          </p:spPr>
        </p:sp>
      </p:grpSp>
      <p:grpSp>
        <p:nvGrpSpPr>
          <p:cNvPr name="Group 53" id="53"/>
          <p:cNvGrpSpPr/>
          <p:nvPr/>
        </p:nvGrpSpPr>
        <p:grpSpPr>
          <a:xfrm rot="0">
            <a:off x="4251960" y="3209544"/>
            <a:ext cx="6144768" cy="1165860"/>
            <a:chOff x="0" y="0"/>
            <a:chExt cx="8193024" cy="1554480"/>
          </a:xfrm>
        </p:grpSpPr>
        <p:sp>
          <p:nvSpPr>
            <p:cNvPr name="Freeform 54" id="54"/>
            <p:cNvSpPr/>
            <p:nvPr/>
          </p:nvSpPr>
          <p:spPr>
            <a:xfrm flipH="false" flipV="false" rot="0">
              <a:off x="0" y="0"/>
              <a:ext cx="8193024" cy="1554480"/>
            </a:xfrm>
            <a:custGeom>
              <a:avLst/>
              <a:gdLst/>
              <a:ahLst/>
              <a:cxnLst/>
              <a:rect r="r" b="b" t="t" l="l"/>
              <a:pathLst>
                <a:path h="1554480" w="8193024">
                  <a:moveTo>
                    <a:pt x="0" y="0"/>
                  </a:moveTo>
                  <a:lnTo>
                    <a:pt x="8193024" y="0"/>
                  </a:lnTo>
                  <a:lnTo>
                    <a:pt x="8193024" y="1554480"/>
                  </a:lnTo>
                  <a:lnTo>
                    <a:pt x="0" y="1554480"/>
                  </a:lnTo>
                  <a:close/>
                </a:path>
              </a:pathLst>
            </a:custGeom>
            <a:blipFill>
              <a:blip r:embed="rId2">
                <a:alphaModFix amt="0"/>
              </a:blip>
              <a:stretch>
                <a:fillRect l="0" t="-52697" r="0" b="-52697"/>
              </a:stretch>
            </a:blipFill>
          </p:spPr>
        </p:sp>
        <p:sp>
          <p:nvSpPr>
            <p:cNvPr name="TextBox 55" id="55"/>
            <p:cNvSpPr txBox="true"/>
            <p:nvPr/>
          </p:nvSpPr>
          <p:spPr>
            <a:xfrm>
              <a:off x="0" y="-19050"/>
              <a:ext cx="8193024" cy="1573530"/>
            </a:xfrm>
            <a:prstGeom prst="rect">
              <a:avLst/>
            </a:prstGeom>
          </p:spPr>
          <p:txBody>
            <a:bodyPr anchor="ctr" rtlCol="false" tIns="0" lIns="0" bIns="0" rIns="0"/>
            <a:lstStyle/>
            <a:p>
              <a:pPr algn="l">
                <a:lnSpc>
                  <a:spcPts val="2700"/>
                </a:lnSpc>
              </a:pPr>
              <a:r>
                <a:rPr lang="en-US" sz="2250">
                  <a:solidFill>
                    <a:srgbClr val="1E293B"/>
                  </a:solidFill>
                  <a:latin typeface="DejaVu Sans Light"/>
                  <a:ea typeface="DejaVu Sans Light"/>
                  <a:cs typeface="DejaVu Sans Light"/>
                  <a:sym typeface="DejaVu Sans Light"/>
                </a:rPr>
                <a:t>Lợi nhuận và tích lũy tư bản là động lực quan trọng trong hoạt động sản xuất, kinh doanh.</a:t>
              </a:r>
            </a:p>
          </p:txBody>
        </p:sp>
      </p:grpSp>
      <p:grpSp>
        <p:nvGrpSpPr>
          <p:cNvPr name="Group 56" id="56"/>
          <p:cNvGrpSpPr/>
          <p:nvPr/>
        </p:nvGrpSpPr>
        <p:grpSpPr>
          <a:xfrm rot="0">
            <a:off x="10659618" y="3198114"/>
            <a:ext cx="6880860" cy="1188720"/>
            <a:chOff x="0" y="0"/>
            <a:chExt cx="9174480" cy="1584960"/>
          </a:xfrm>
        </p:grpSpPr>
        <p:sp>
          <p:nvSpPr>
            <p:cNvPr name="Freeform 57" id="57"/>
            <p:cNvSpPr/>
            <p:nvPr/>
          </p:nvSpPr>
          <p:spPr>
            <a:xfrm flipH="false" flipV="false" rot="0">
              <a:off x="0" y="0"/>
              <a:ext cx="9174480" cy="1584960"/>
            </a:xfrm>
            <a:custGeom>
              <a:avLst/>
              <a:gdLst/>
              <a:ahLst/>
              <a:cxnLst/>
              <a:rect r="r" b="b" t="t" l="l"/>
              <a:pathLst>
                <a:path h="1584960" w="9174480">
                  <a:moveTo>
                    <a:pt x="0" y="63373"/>
                  </a:moveTo>
                  <a:cubicBezTo>
                    <a:pt x="0" y="28321"/>
                    <a:pt x="28321" y="0"/>
                    <a:pt x="63373" y="0"/>
                  </a:cubicBezTo>
                  <a:lnTo>
                    <a:pt x="9111107" y="0"/>
                  </a:lnTo>
                  <a:cubicBezTo>
                    <a:pt x="9146159" y="0"/>
                    <a:pt x="9174480" y="28321"/>
                    <a:pt x="9174480" y="63373"/>
                  </a:cubicBezTo>
                  <a:lnTo>
                    <a:pt x="9174480" y="1521587"/>
                  </a:lnTo>
                  <a:cubicBezTo>
                    <a:pt x="9174480" y="1556639"/>
                    <a:pt x="9146159" y="1584960"/>
                    <a:pt x="9111107" y="1584960"/>
                  </a:cubicBezTo>
                  <a:lnTo>
                    <a:pt x="63373" y="1584960"/>
                  </a:lnTo>
                  <a:cubicBezTo>
                    <a:pt x="28321" y="1584960"/>
                    <a:pt x="0" y="1556639"/>
                    <a:pt x="0" y="1521587"/>
                  </a:cubicBezTo>
                  <a:close/>
                </a:path>
              </a:pathLst>
            </a:custGeom>
            <a:solidFill>
              <a:srgbClr val="EAF7F5"/>
            </a:solidFill>
            <a:ln w="22860" cap="sq">
              <a:solidFill>
                <a:srgbClr val="0F766E"/>
              </a:solidFill>
              <a:prstDash val="solid"/>
              <a:miter/>
            </a:ln>
          </p:spPr>
        </p:sp>
      </p:grpSp>
      <p:grpSp>
        <p:nvGrpSpPr>
          <p:cNvPr name="Group 58" id="58"/>
          <p:cNvGrpSpPr/>
          <p:nvPr/>
        </p:nvGrpSpPr>
        <p:grpSpPr>
          <a:xfrm rot="0">
            <a:off x="10835640" y="3209544"/>
            <a:ext cx="6528816" cy="1165860"/>
            <a:chOff x="0" y="0"/>
            <a:chExt cx="8705088" cy="1554480"/>
          </a:xfrm>
        </p:grpSpPr>
        <p:sp>
          <p:nvSpPr>
            <p:cNvPr name="Freeform 59" id="59"/>
            <p:cNvSpPr/>
            <p:nvPr/>
          </p:nvSpPr>
          <p:spPr>
            <a:xfrm flipH="false" flipV="false" rot="0">
              <a:off x="0" y="0"/>
              <a:ext cx="8705088" cy="1554480"/>
            </a:xfrm>
            <a:custGeom>
              <a:avLst/>
              <a:gdLst/>
              <a:ahLst/>
              <a:cxnLst/>
              <a:rect r="r" b="b" t="t" l="l"/>
              <a:pathLst>
                <a:path h="1554480" w="8705088">
                  <a:moveTo>
                    <a:pt x="0" y="0"/>
                  </a:moveTo>
                  <a:lnTo>
                    <a:pt x="8705088" y="0"/>
                  </a:lnTo>
                  <a:lnTo>
                    <a:pt x="8705088" y="1554480"/>
                  </a:lnTo>
                  <a:lnTo>
                    <a:pt x="0" y="1554480"/>
                  </a:lnTo>
                  <a:close/>
                </a:path>
              </a:pathLst>
            </a:custGeom>
            <a:blipFill>
              <a:blip r:embed="rId2">
                <a:alphaModFix amt="0"/>
              </a:blip>
              <a:stretch>
                <a:fillRect l="0" t="-59116" r="0" b="-59116"/>
              </a:stretch>
            </a:blipFill>
          </p:spPr>
        </p:sp>
        <p:sp>
          <p:nvSpPr>
            <p:cNvPr name="TextBox 60" id="60"/>
            <p:cNvSpPr txBox="true"/>
            <p:nvPr/>
          </p:nvSpPr>
          <p:spPr>
            <a:xfrm>
              <a:off x="0" y="-19050"/>
              <a:ext cx="8705088" cy="1573530"/>
            </a:xfrm>
            <a:prstGeom prst="rect">
              <a:avLst/>
            </a:prstGeom>
          </p:spPr>
          <p:txBody>
            <a:bodyPr anchor="ctr" rtlCol="false" tIns="0" lIns="0" bIns="0" rIns="0"/>
            <a:lstStyle/>
            <a:p>
              <a:pPr algn="l">
                <a:lnSpc>
                  <a:spcPts val="2700"/>
                </a:lnSpc>
              </a:pPr>
              <a:r>
                <a:rPr lang="en-US" sz="2250">
                  <a:solidFill>
                    <a:srgbClr val="0B192E"/>
                  </a:solidFill>
                  <a:latin typeface="DejaVu Sans Light"/>
                  <a:ea typeface="DejaVu Sans Light"/>
                  <a:cs typeface="DejaVu Sans Light"/>
                  <a:sym typeface="DejaVu Sans Light"/>
                </a:rPr>
                <a:t>"Dân giàu, nước mạnh, dân chủ, công bằng, văn minh" — lấy CON NGƯỜI làm trung tâm của phát triển.</a:t>
              </a:r>
            </a:p>
          </p:txBody>
        </p:sp>
      </p:grpSp>
      <p:grpSp>
        <p:nvGrpSpPr>
          <p:cNvPr name="Group 61" id="61"/>
          <p:cNvGrpSpPr/>
          <p:nvPr/>
        </p:nvGrpSpPr>
        <p:grpSpPr>
          <a:xfrm rot="0">
            <a:off x="744855" y="4461891"/>
            <a:ext cx="3242310" cy="1184910"/>
            <a:chOff x="0" y="0"/>
            <a:chExt cx="4323080" cy="1579880"/>
          </a:xfrm>
        </p:grpSpPr>
        <p:sp>
          <p:nvSpPr>
            <p:cNvPr name="Freeform 62" id="62"/>
            <p:cNvSpPr/>
            <p:nvPr/>
          </p:nvSpPr>
          <p:spPr>
            <a:xfrm flipH="false" flipV="false" rot="0">
              <a:off x="0" y="0"/>
              <a:ext cx="4323080" cy="1579880"/>
            </a:xfrm>
            <a:custGeom>
              <a:avLst/>
              <a:gdLst/>
              <a:ahLst/>
              <a:cxnLst/>
              <a:rect r="r" b="b" t="t" l="l"/>
              <a:pathLst>
                <a:path h="1579880" w="4323080">
                  <a:moveTo>
                    <a:pt x="0" y="63246"/>
                  </a:moveTo>
                  <a:cubicBezTo>
                    <a:pt x="0" y="28321"/>
                    <a:pt x="28321" y="0"/>
                    <a:pt x="63246" y="0"/>
                  </a:cubicBezTo>
                  <a:lnTo>
                    <a:pt x="4259834" y="0"/>
                  </a:lnTo>
                  <a:cubicBezTo>
                    <a:pt x="4294759" y="0"/>
                    <a:pt x="4323080" y="28321"/>
                    <a:pt x="4323080" y="63246"/>
                  </a:cubicBezTo>
                  <a:lnTo>
                    <a:pt x="4323080" y="1516634"/>
                  </a:lnTo>
                  <a:cubicBezTo>
                    <a:pt x="4323080" y="1551559"/>
                    <a:pt x="4294759" y="1579880"/>
                    <a:pt x="4259834" y="1579880"/>
                  </a:cubicBezTo>
                  <a:lnTo>
                    <a:pt x="63246" y="1579880"/>
                  </a:lnTo>
                  <a:cubicBezTo>
                    <a:pt x="28321" y="1579880"/>
                    <a:pt x="0" y="1551559"/>
                    <a:pt x="0" y="1516634"/>
                  </a:cubicBezTo>
                  <a:close/>
                </a:path>
              </a:pathLst>
            </a:custGeom>
            <a:solidFill>
              <a:srgbClr val="F1F5F9"/>
            </a:solidFill>
            <a:ln w="19050" cap="sq">
              <a:solidFill>
                <a:srgbClr val="CBD5E1"/>
              </a:solidFill>
              <a:prstDash val="solid"/>
              <a:miter/>
            </a:ln>
          </p:spPr>
        </p:sp>
      </p:grpSp>
      <p:grpSp>
        <p:nvGrpSpPr>
          <p:cNvPr name="Group 63" id="63"/>
          <p:cNvGrpSpPr/>
          <p:nvPr/>
        </p:nvGrpSpPr>
        <p:grpSpPr>
          <a:xfrm rot="0">
            <a:off x="850392" y="4471416"/>
            <a:ext cx="3031236" cy="1165860"/>
            <a:chOff x="0" y="0"/>
            <a:chExt cx="4041648" cy="1554480"/>
          </a:xfrm>
        </p:grpSpPr>
        <p:sp>
          <p:nvSpPr>
            <p:cNvPr name="Freeform 64" id="64"/>
            <p:cNvSpPr/>
            <p:nvPr/>
          </p:nvSpPr>
          <p:spPr>
            <a:xfrm flipH="false" flipV="false" rot="0">
              <a:off x="0" y="0"/>
              <a:ext cx="4041648" cy="1554480"/>
            </a:xfrm>
            <a:custGeom>
              <a:avLst/>
              <a:gdLst/>
              <a:ahLst/>
              <a:cxnLst/>
              <a:rect r="r" b="b" t="t" l="l"/>
              <a:pathLst>
                <a:path h="1554480" w="4041648">
                  <a:moveTo>
                    <a:pt x="0" y="0"/>
                  </a:moveTo>
                  <a:lnTo>
                    <a:pt x="4041648" y="0"/>
                  </a:lnTo>
                  <a:lnTo>
                    <a:pt x="4041648" y="1554480"/>
                  </a:lnTo>
                  <a:lnTo>
                    <a:pt x="0" y="1554480"/>
                  </a:lnTo>
                  <a:close/>
                </a:path>
              </a:pathLst>
            </a:custGeom>
            <a:blipFill>
              <a:blip r:embed="rId2">
                <a:alphaModFix amt="0"/>
              </a:blip>
              <a:stretch>
                <a:fillRect l="0" t="-661" r="0" b="-661"/>
              </a:stretch>
            </a:blipFill>
          </p:spPr>
        </p:sp>
        <p:sp>
          <p:nvSpPr>
            <p:cNvPr name="TextBox 65" id="65"/>
            <p:cNvSpPr txBox="true"/>
            <p:nvPr/>
          </p:nvSpPr>
          <p:spPr>
            <a:xfrm>
              <a:off x="0" y="-19050"/>
              <a:ext cx="4041648" cy="1573530"/>
            </a:xfrm>
            <a:prstGeom prst="rect">
              <a:avLst/>
            </a:prstGeom>
          </p:spPr>
          <p:txBody>
            <a:bodyPr anchor="ctr" rtlCol="false" tIns="0" lIns="0" bIns="0" rIns="0"/>
            <a:lstStyle/>
            <a:p>
              <a:pPr algn="ctr">
                <a:lnSpc>
                  <a:spcPts val="2700"/>
                </a:lnSpc>
              </a:pPr>
              <a:r>
                <a:rPr lang="en-US" sz="2250" b="true">
                  <a:solidFill>
                    <a:srgbClr val="122645"/>
                  </a:solidFill>
                  <a:latin typeface="DejaVu Sans Bold"/>
                  <a:ea typeface="DejaVu Sans Bold"/>
                  <a:cs typeface="DejaVu Sans Bold"/>
                  <a:sym typeface="DejaVu Sans Bold"/>
                </a:rPr>
                <a:t>2. Sở hữu &amp;</a:t>
              </a:r>
            </a:p>
            <a:p>
              <a:pPr algn="ctr">
                <a:lnSpc>
                  <a:spcPts val="2700"/>
                </a:lnSpc>
              </a:pPr>
              <a:r>
                <a:rPr lang="en-US" sz="2250" b="true">
                  <a:solidFill>
                    <a:srgbClr val="122645"/>
                  </a:solidFill>
                  <a:latin typeface="DejaVu Sans Bold"/>
                  <a:ea typeface="DejaVu Sans Bold"/>
                  <a:cs typeface="DejaVu Sans Bold"/>
                  <a:sym typeface="DejaVu Sans Bold"/>
                </a:rPr>
                <a:t>Thành phần KT</a:t>
              </a:r>
            </a:p>
          </p:txBody>
        </p:sp>
      </p:grpSp>
      <p:grpSp>
        <p:nvGrpSpPr>
          <p:cNvPr name="Group 66" id="66"/>
          <p:cNvGrpSpPr/>
          <p:nvPr/>
        </p:nvGrpSpPr>
        <p:grpSpPr>
          <a:xfrm rot="0">
            <a:off x="4077843" y="4461891"/>
            <a:ext cx="6493002" cy="1184910"/>
            <a:chOff x="0" y="0"/>
            <a:chExt cx="8657336" cy="1579880"/>
          </a:xfrm>
        </p:grpSpPr>
        <p:sp>
          <p:nvSpPr>
            <p:cNvPr name="Freeform 67" id="67"/>
            <p:cNvSpPr/>
            <p:nvPr/>
          </p:nvSpPr>
          <p:spPr>
            <a:xfrm flipH="false" flipV="false" rot="0">
              <a:off x="0" y="0"/>
              <a:ext cx="8657336" cy="1579880"/>
            </a:xfrm>
            <a:custGeom>
              <a:avLst/>
              <a:gdLst/>
              <a:ahLst/>
              <a:cxnLst/>
              <a:rect r="r" b="b" t="t" l="l"/>
              <a:pathLst>
                <a:path h="1579880" w="8657336">
                  <a:moveTo>
                    <a:pt x="0" y="63246"/>
                  </a:moveTo>
                  <a:cubicBezTo>
                    <a:pt x="0" y="28321"/>
                    <a:pt x="28321" y="0"/>
                    <a:pt x="63246" y="0"/>
                  </a:cubicBezTo>
                  <a:lnTo>
                    <a:pt x="8594090" y="0"/>
                  </a:lnTo>
                  <a:cubicBezTo>
                    <a:pt x="8629015" y="0"/>
                    <a:pt x="8657336" y="28321"/>
                    <a:pt x="8657336" y="63246"/>
                  </a:cubicBezTo>
                  <a:lnTo>
                    <a:pt x="8657336" y="1516634"/>
                  </a:lnTo>
                  <a:cubicBezTo>
                    <a:pt x="8657336" y="1551559"/>
                    <a:pt x="8629015" y="1579880"/>
                    <a:pt x="8594090" y="1579880"/>
                  </a:cubicBezTo>
                  <a:lnTo>
                    <a:pt x="63246" y="1579880"/>
                  </a:lnTo>
                  <a:cubicBezTo>
                    <a:pt x="28321" y="1579880"/>
                    <a:pt x="0" y="1551559"/>
                    <a:pt x="0" y="1516634"/>
                  </a:cubicBezTo>
                  <a:close/>
                </a:path>
              </a:pathLst>
            </a:custGeom>
            <a:solidFill>
              <a:srgbClr val="FFFFFF"/>
            </a:solidFill>
            <a:ln w="19050" cap="sq">
              <a:solidFill>
                <a:srgbClr val="CBD5E1"/>
              </a:solidFill>
              <a:prstDash val="solid"/>
              <a:miter/>
            </a:ln>
          </p:spPr>
        </p:sp>
      </p:grpSp>
      <p:grpSp>
        <p:nvGrpSpPr>
          <p:cNvPr name="Group 68" id="68"/>
          <p:cNvGrpSpPr/>
          <p:nvPr/>
        </p:nvGrpSpPr>
        <p:grpSpPr>
          <a:xfrm rot="0">
            <a:off x="4251960" y="4471416"/>
            <a:ext cx="6144768" cy="1165860"/>
            <a:chOff x="0" y="0"/>
            <a:chExt cx="8193024" cy="1554480"/>
          </a:xfrm>
        </p:grpSpPr>
        <p:sp>
          <p:nvSpPr>
            <p:cNvPr name="Freeform 69" id="69"/>
            <p:cNvSpPr/>
            <p:nvPr/>
          </p:nvSpPr>
          <p:spPr>
            <a:xfrm flipH="false" flipV="false" rot="0">
              <a:off x="0" y="0"/>
              <a:ext cx="8193024" cy="1554480"/>
            </a:xfrm>
            <a:custGeom>
              <a:avLst/>
              <a:gdLst/>
              <a:ahLst/>
              <a:cxnLst/>
              <a:rect r="r" b="b" t="t" l="l"/>
              <a:pathLst>
                <a:path h="1554480" w="8193024">
                  <a:moveTo>
                    <a:pt x="0" y="0"/>
                  </a:moveTo>
                  <a:lnTo>
                    <a:pt x="8193024" y="0"/>
                  </a:lnTo>
                  <a:lnTo>
                    <a:pt x="8193024" y="1554480"/>
                  </a:lnTo>
                  <a:lnTo>
                    <a:pt x="0" y="1554480"/>
                  </a:lnTo>
                  <a:close/>
                </a:path>
              </a:pathLst>
            </a:custGeom>
            <a:blipFill>
              <a:blip r:embed="rId2">
                <a:alphaModFix amt="0"/>
              </a:blip>
              <a:stretch>
                <a:fillRect l="0" t="-52697" r="0" b="-52697"/>
              </a:stretch>
            </a:blipFill>
          </p:spPr>
        </p:sp>
        <p:sp>
          <p:nvSpPr>
            <p:cNvPr name="TextBox 70" id="70"/>
            <p:cNvSpPr txBox="true"/>
            <p:nvPr/>
          </p:nvSpPr>
          <p:spPr>
            <a:xfrm>
              <a:off x="0" y="-57150"/>
              <a:ext cx="8193024" cy="1611630"/>
            </a:xfrm>
            <a:prstGeom prst="rect">
              <a:avLst/>
            </a:prstGeom>
          </p:spPr>
          <p:txBody>
            <a:bodyPr anchor="ctr" rtlCol="false" tIns="0" lIns="0" bIns="0" rIns="0"/>
            <a:lstStyle/>
            <a:p>
              <a:pPr algn="l">
                <a:lnSpc>
                  <a:spcPts val="3186"/>
                </a:lnSpc>
              </a:pPr>
              <a:r>
                <a:rPr lang="en-US" sz="2250">
                  <a:solidFill>
                    <a:srgbClr val="1E293B"/>
                  </a:solidFill>
                  <a:latin typeface="DejaVu Sans Light"/>
                  <a:ea typeface="DejaVu Sans Light"/>
                  <a:cs typeface="DejaVu Sans Light"/>
                  <a:sym typeface="DejaVu Sans Light"/>
                </a:rPr>
                <a:t>Sở hữu tư nhân tư bản giữ vai trò chi phối.</a:t>
              </a:r>
            </a:p>
          </p:txBody>
        </p:sp>
      </p:grpSp>
      <p:grpSp>
        <p:nvGrpSpPr>
          <p:cNvPr name="Group 71" id="71"/>
          <p:cNvGrpSpPr/>
          <p:nvPr/>
        </p:nvGrpSpPr>
        <p:grpSpPr>
          <a:xfrm rot="0">
            <a:off x="10659618" y="4459986"/>
            <a:ext cx="6880860" cy="1188720"/>
            <a:chOff x="0" y="0"/>
            <a:chExt cx="9174480" cy="1584960"/>
          </a:xfrm>
        </p:grpSpPr>
        <p:sp>
          <p:nvSpPr>
            <p:cNvPr name="Freeform 72" id="72"/>
            <p:cNvSpPr/>
            <p:nvPr/>
          </p:nvSpPr>
          <p:spPr>
            <a:xfrm flipH="false" flipV="false" rot="0">
              <a:off x="0" y="0"/>
              <a:ext cx="9174480" cy="1584960"/>
            </a:xfrm>
            <a:custGeom>
              <a:avLst/>
              <a:gdLst/>
              <a:ahLst/>
              <a:cxnLst/>
              <a:rect r="r" b="b" t="t" l="l"/>
              <a:pathLst>
                <a:path h="1584960" w="9174480">
                  <a:moveTo>
                    <a:pt x="0" y="63373"/>
                  </a:moveTo>
                  <a:cubicBezTo>
                    <a:pt x="0" y="28321"/>
                    <a:pt x="28321" y="0"/>
                    <a:pt x="63373" y="0"/>
                  </a:cubicBezTo>
                  <a:lnTo>
                    <a:pt x="9111107" y="0"/>
                  </a:lnTo>
                  <a:cubicBezTo>
                    <a:pt x="9146159" y="0"/>
                    <a:pt x="9174480" y="28321"/>
                    <a:pt x="9174480" y="63373"/>
                  </a:cubicBezTo>
                  <a:lnTo>
                    <a:pt x="9174480" y="1521587"/>
                  </a:lnTo>
                  <a:cubicBezTo>
                    <a:pt x="9174480" y="1556639"/>
                    <a:pt x="9146159" y="1584960"/>
                    <a:pt x="9111107" y="1584960"/>
                  </a:cubicBezTo>
                  <a:lnTo>
                    <a:pt x="63373" y="1584960"/>
                  </a:lnTo>
                  <a:cubicBezTo>
                    <a:pt x="28321" y="1584960"/>
                    <a:pt x="0" y="1556639"/>
                    <a:pt x="0" y="1521587"/>
                  </a:cubicBezTo>
                  <a:close/>
                </a:path>
              </a:pathLst>
            </a:custGeom>
            <a:solidFill>
              <a:srgbClr val="EAF7F5"/>
            </a:solidFill>
            <a:ln w="22860" cap="sq">
              <a:solidFill>
                <a:srgbClr val="0F766E"/>
              </a:solidFill>
              <a:prstDash val="solid"/>
              <a:miter/>
            </a:ln>
          </p:spPr>
        </p:sp>
      </p:grpSp>
      <p:grpSp>
        <p:nvGrpSpPr>
          <p:cNvPr name="Group 73" id="73"/>
          <p:cNvGrpSpPr/>
          <p:nvPr/>
        </p:nvGrpSpPr>
        <p:grpSpPr>
          <a:xfrm rot="0">
            <a:off x="10835640" y="4471416"/>
            <a:ext cx="6528816" cy="1165860"/>
            <a:chOff x="0" y="0"/>
            <a:chExt cx="8705088" cy="1554480"/>
          </a:xfrm>
        </p:grpSpPr>
        <p:sp>
          <p:nvSpPr>
            <p:cNvPr name="Freeform 74" id="74"/>
            <p:cNvSpPr/>
            <p:nvPr/>
          </p:nvSpPr>
          <p:spPr>
            <a:xfrm flipH="false" flipV="false" rot="0">
              <a:off x="0" y="0"/>
              <a:ext cx="8705088" cy="1554480"/>
            </a:xfrm>
            <a:custGeom>
              <a:avLst/>
              <a:gdLst/>
              <a:ahLst/>
              <a:cxnLst/>
              <a:rect r="r" b="b" t="t" l="l"/>
              <a:pathLst>
                <a:path h="1554480" w="8705088">
                  <a:moveTo>
                    <a:pt x="0" y="0"/>
                  </a:moveTo>
                  <a:lnTo>
                    <a:pt x="8705088" y="0"/>
                  </a:lnTo>
                  <a:lnTo>
                    <a:pt x="8705088" y="1554480"/>
                  </a:lnTo>
                  <a:lnTo>
                    <a:pt x="0" y="1554480"/>
                  </a:lnTo>
                  <a:close/>
                </a:path>
              </a:pathLst>
            </a:custGeom>
            <a:blipFill>
              <a:blip r:embed="rId2">
                <a:alphaModFix amt="0"/>
              </a:blip>
              <a:stretch>
                <a:fillRect l="0" t="-59116" r="0" b="-59116"/>
              </a:stretch>
            </a:blipFill>
          </p:spPr>
        </p:sp>
        <p:sp>
          <p:nvSpPr>
            <p:cNvPr name="TextBox 75" id="75"/>
            <p:cNvSpPr txBox="true"/>
            <p:nvPr/>
          </p:nvSpPr>
          <p:spPr>
            <a:xfrm>
              <a:off x="0" y="-19050"/>
              <a:ext cx="8705088" cy="1573530"/>
            </a:xfrm>
            <a:prstGeom prst="rect">
              <a:avLst/>
            </a:prstGeom>
          </p:spPr>
          <p:txBody>
            <a:bodyPr anchor="ctr" rtlCol="false" tIns="0" lIns="0" bIns="0" rIns="0"/>
            <a:lstStyle/>
            <a:p>
              <a:pPr algn="l">
                <a:lnSpc>
                  <a:spcPts val="2700"/>
                </a:lnSpc>
              </a:pPr>
              <a:r>
                <a:rPr lang="en-US" sz="2250">
                  <a:solidFill>
                    <a:srgbClr val="0B192E"/>
                  </a:solidFill>
                  <a:latin typeface="DejaVu Sans Light"/>
                  <a:ea typeface="DejaVu Sans Light"/>
                  <a:cs typeface="DejaVu Sans Light"/>
                  <a:sym typeface="DejaVu Sans Light"/>
                </a:rPr>
                <a:t>Đa dạng hình thức sở hữu bình đẳng; KT nhà nước giữ vai trò CHỦ ĐẠO, KT tư nhân là ĐỘNG LỰC QUAN TRỌNG.</a:t>
              </a:r>
            </a:p>
          </p:txBody>
        </p:sp>
      </p:grpSp>
      <p:grpSp>
        <p:nvGrpSpPr>
          <p:cNvPr name="Group 76" id="76"/>
          <p:cNvGrpSpPr/>
          <p:nvPr/>
        </p:nvGrpSpPr>
        <p:grpSpPr>
          <a:xfrm rot="0">
            <a:off x="744855" y="5723763"/>
            <a:ext cx="3242310" cy="1184910"/>
            <a:chOff x="0" y="0"/>
            <a:chExt cx="4323080" cy="1579880"/>
          </a:xfrm>
        </p:grpSpPr>
        <p:sp>
          <p:nvSpPr>
            <p:cNvPr name="Freeform 77" id="77"/>
            <p:cNvSpPr/>
            <p:nvPr/>
          </p:nvSpPr>
          <p:spPr>
            <a:xfrm flipH="false" flipV="false" rot="0">
              <a:off x="0" y="0"/>
              <a:ext cx="4323080" cy="1579880"/>
            </a:xfrm>
            <a:custGeom>
              <a:avLst/>
              <a:gdLst/>
              <a:ahLst/>
              <a:cxnLst/>
              <a:rect r="r" b="b" t="t" l="l"/>
              <a:pathLst>
                <a:path h="1579880" w="4323080">
                  <a:moveTo>
                    <a:pt x="0" y="63246"/>
                  </a:moveTo>
                  <a:cubicBezTo>
                    <a:pt x="0" y="28321"/>
                    <a:pt x="28321" y="0"/>
                    <a:pt x="63246" y="0"/>
                  </a:cubicBezTo>
                  <a:lnTo>
                    <a:pt x="4259834" y="0"/>
                  </a:lnTo>
                  <a:cubicBezTo>
                    <a:pt x="4294759" y="0"/>
                    <a:pt x="4323080" y="28321"/>
                    <a:pt x="4323080" y="63246"/>
                  </a:cubicBezTo>
                  <a:lnTo>
                    <a:pt x="4323080" y="1516634"/>
                  </a:lnTo>
                  <a:cubicBezTo>
                    <a:pt x="4323080" y="1551559"/>
                    <a:pt x="4294759" y="1579880"/>
                    <a:pt x="4259834" y="1579880"/>
                  </a:cubicBezTo>
                  <a:lnTo>
                    <a:pt x="63246" y="1579880"/>
                  </a:lnTo>
                  <a:cubicBezTo>
                    <a:pt x="28321" y="1579880"/>
                    <a:pt x="0" y="1551559"/>
                    <a:pt x="0" y="1516634"/>
                  </a:cubicBezTo>
                  <a:close/>
                </a:path>
              </a:pathLst>
            </a:custGeom>
            <a:solidFill>
              <a:srgbClr val="F1F5F9"/>
            </a:solidFill>
            <a:ln w="19050" cap="sq">
              <a:solidFill>
                <a:srgbClr val="CBD5E1"/>
              </a:solidFill>
              <a:prstDash val="solid"/>
              <a:miter/>
            </a:ln>
          </p:spPr>
        </p:sp>
      </p:grpSp>
      <p:grpSp>
        <p:nvGrpSpPr>
          <p:cNvPr name="Group 78" id="78"/>
          <p:cNvGrpSpPr/>
          <p:nvPr/>
        </p:nvGrpSpPr>
        <p:grpSpPr>
          <a:xfrm rot="0">
            <a:off x="850392" y="5733288"/>
            <a:ext cx="3031236" cy="1165860"/>
            <a:chOff x="0" y="0"/>
            <a:chExt cx="4041648" cy="1554480"/>
          </a:xfrm>
        </p:grpSpPr>
        <p:sp>
          <p:nvSpPr>
            <p:cNvPr name="Freeform 79" id="79"/>
            <p:cNvSpPr/>
            <p:nvPr/>
          </p:nvSpPr>
          <p:spPr>
            <a:xfrm flipH="false" flipV="false" rot="0">
              <a:off x="0" y="0"/>
              <a:ext cx="4041648" cy="1554480"/>
            </a:xfrm>
            <a:custGeom>
              <a:avLst/>
              <a:gdLst/>
              <a:ahLst/>
              <a:cxnLst/>
              <a:rect r="r" b="b" t="t" l="l"/>
              <a:pathLst>
                <a:path h="1554480" w="4041648">
                  <a:moveTo>
                    <a:pt x="0" y="0"/>
                  </a:moveTo>
                  <a:lnTo>
                    <a:pt x="4041648" y="0"/>
                  </a:lnTo>
                  <a:lnTo>
                    <a:pt x="4041648" y="1554480"/>
                  </a:lnTo>
                  <a:lnTo>
                    <a:pt x="0" y="1554480"/>
                  </a:lnTo>
                  <a:close/>
                </a:path>
              </a:pathLst>
            </a:custGeom>
            <a:blipFill>
              <a:blip r:embed="rId2">
                <a:alphaModFix amt="0"/>
              </a:blip>
              <a:stretch>
                <a:fillRect l="0" t="-661" r="0" b="-661"/>
              </a:stretch>
            </a:blipFill>
          </p:spPr>
        </p:sp>
        <p:sp>
          <p:nvSpPr>
            <p:cNvPr name="TextBox 80" id="80"/>
            <p:cNvSpPr txBox="true"/>
            <p:nvPr/>
          </p:nvSpPr>
          <p:spPr>
            <a:xfrm>
              <a:off x="0" y="-19050"/>
              <a:ext cx="4041648" cy="1573530"/>
            </a:xfrm>
            <a:prstGeom prst="rect">
              <a:avLst/>
            </a:prstGeom>
          </p:spPr>
          <p:txBody>
            <a:bodyPr anchor="ctr" rtlCol="false" tIns="0" lIns="0" bIns="0" rIns="0"/>
            <a:lstStyle/>
            <a:p>
              <a:pPr algn="ctr">
                <a:lnSpc>
                  <a:spcPts val="2700"/>
                </a:lnSpc>
              </a:pPr>
              <a:r>
                <a:rPr lang="en-US" sz="2250" b="true">
                  <a:solidFill>
                    <a:srgbClr val="122645"/>
                  </a:solidFill>
                  <a:latin typeface="DejaVu Sans Bold"/>
                  <a:ea typeface="DejaVu Sans Bold"/>
                  <a:cs typeface="DejaVu Sans Bold"/>
                  <a:sym typeface="DejaVu Sans Bold"/>
                </a:rPr>
                <a:t>3. Quan hệ</a:t>
              </a:r>
            </a:p>
            <a:p>
              <a:pPr algn="ctr">
                <a:lnSpc>
                  <a:spcPts val="2700"/>
                </a:lnSpc>
              </a:pPr>
              <a:r>
                <a:rPr lang="en-US" sz="2250" b="true">
                  <a:solidFill>
                    <a:srgbClr val="122645"/>
                  </a:solidFill>
                  <a:latin typeface="DejaVu Sans Bold"/>
                  <a:ea typeface="DejaVu Sans Bold"/>
                  <a:cs typeface="DejaVu Sans Bold"/>
                  <a:sym typeface="DejaVu Sans Bold"/>
                </a:rPr>
                <a:t>Quản lý</a:t>
              </a:r>
            </a:p>
          </p:txBody>
        </p:sp>
      </p:grpSp>
      <p:grpSp>
        <p:nvGrpSpPr>
          <p:cNvPr name="Group 81" id="81"/>
          <p:cNvGrpSpPr/>
          <p:nvPr/>
        </p:nvGrpSpPr>
        <p:grpSpPr>
          <a:xfrm rot="0">
            <a:off x="4077843" y="5723763"/>
            <a:ext cx="6493002" cy="1184910"/>
            <a:chOff x="0" y="0"/>
            <a:chExt cx="8657336" cy="1579880"/>
          </a:xfrm>
        </p:grpSpPr>
        <p:sp>
          <p:nvSpPr>
            <p:cNvPr name="Freeform 82" id="82"/>
            <p:cNvSpPr/>
            <p:nvPr/>
          </p:nvSpPr>
          <p:spPr>
            <a:xfrm flipH="false" flipV="false" rot="0">
              <a:off x="0" y="0"/>
              <a:ext cx="8657336" cy="1579880"/>
            </a:xfrm>
            <a:custGeom>
              <a:avLst/>
              <a:gdLst/>
              <a:ahLst/>
              <a:cxnLst/>
              <a:rect r="r" b="b" t="t" l="l"/>
              <a:pathLst>
                <a:path h="1579880" w="8657336">
                  <a:moveTo>
                    <a:pt x="0" y="63246"/>
                  </a:moveTo>
                  <a:cubicBezTo>
                    <a:pt x="0" y="28321"/>
                    <a:pt x="28321" y="0"/>
                    <a:pt x="63246" y="0"/>
                  </a:cubicBezTo>
                  <a:lnTo>
                    <a:pt x="8594090" y="0"/>
                  </a:lnTo>
                  <a:cubicBezTo>
                    <a:pt x="8629015" y="0"/>
                    <a:pt x="8657336" y="28321"/>
                    <a:pt x="8657336" y="63246"/>
                  </a:cubicBezTo>
                  <a:lnTo>
                    <a:pt x="8657336" y="1516634"/>
                  </a:lnTo>
                  <a:cubicBezTo>
                    <a:pt x="8657336" y="1551559"/>
                    <a:pt x="8629015" y="1579880"/>
                    <a:pt x="8594090" y="1579880"/>
                  </a:cubicBezTo>
                  <a:lnTo>
                    <a:pt x="63246" y="1579880"/>
                  </a:lnTo>
                  <a:cubicBezTo>
                    <a:pt x="28321" y="1579880"/>
                    <a:pt x="0" y="1551559"/>
                    <a:pt x="0" y="1516634"/>
                  </a:cubicBezTo>
                  <a:close/>
                </a:path>
              </a:pathLst>
            </a:custGeom>
            <a:solidFill>
              <a:srgbClr val="FFFFFF"/>
            </a:solidFill>
            <a:ln w="19050" cap="sq">
              <a:solidFill>
                <a:srgbClr val="CBD5E1"/>
              </a:solidFill>
              <a:prstDash val="solid"/>
              <a:miter/>
            </a:ln>
          </p:spPr>
        </p:sp>
      </p:grpSp>
      <p:grpSp>
        <p:nvGrpSpPr>
          <p:cNvPr name="Group 83" id="83"/>
          <p:cNvGrpSpPr/>
          <p:nvPr/>
        </p:nvGrpSpPr>
        <p:grpSpPr>
          <a:xfrm rot="0">
            <a:off x="4251960" y="5733288"/>
            <a:ext cx="6144768" cy="1165860"/>
            <a:chOff x="0" y="0"/>
            <a:chExt cx="8193024" cy="1554480"/>
          </a:xfrm>
        </p:grpSpPr>
        <p:sp>
          <p:nvSpPr>
            <p:cNvPr name="Freeform 84" id="84"/>
            <p:cNvSpPr/>
            <p:nvPr/>
          </p:nvSpPr>
          <p:spPr>
            <a:xfrm flipH="false" flipV="false" rot="0">
              <a:off x="0" y="0"/>
              <a:ext cx="8193024" cy="1554480"/>
            </a:xfrm>
            <a:custGeom>
              <a:avLst/>
              <a:gdLst/>
              <a:ahLst/>
              <a:cxnLst/>
              <a:rect r="r" b="b" t="t" l="l"/>
              <a:pathLst>
                <a:path h="1554480" w="8193024">
                  <a:moveTo>
                    <a:pt x="0" y="0"/>
                  </a:moveTo>
                  <a:lnTo>
                    <a:pt x="8193024" y="0"/>
                  </a:lnTo>
                  <a:lnTo>
                    <a:pt x="8193024" y="1554480"/>
                  </a:lnTo>
                  <a:lnTo>
                    <a:pt x="0" y="1554480"/>
                  </a:lnTo>
                  <a:close/>
                </a:path>
              </a:pathLst>
            </a:custGeom>
            <a:blipFill>
              <a:blip r:embed="rId2">
                <a:alphaModFix amt="0"/>
              </a:blip>
              <a:stretch>
                <a:fillRect l="0" t="-52697" r="0" b="-52697"/>
              </a:stretch>
            </a:blipFill>
          </p:spPr>
        </p:sp>
        <p:sp>
          <p:nvSpPr>
            <p:cNvPr name="TextBox 85" id="85"/>
            <p:cNvSpPr txBox="true"/>
            <p:nvPr/>
          </p:nvSpPr>
          <p:spPr>
            <a:xfrm>
              <a:off x="0" y="-57150"/>
              <a:ext cx="8193024" cy="1611630"/>
            </a:xfrm>
            <a:prstGeom prst="rect">
              <a:avLst/>
            </a:prstGeom>
          </p:spPr>
          <p:txBody>
            <a:bodyPr anchor="ctr" rtlCol="false" tIns="0" lIns="0" bIns="0" rIns="0"/>
            <a:lstStyle/>
            <a:p>
              <a:pPr algn="l">
                <a:lnSpc>
                  <a:spcPts val="3186"/>
                </a:lnSpc>
              </a:pPr>
              <a:r>
                <a:rPr lang="en-US" sz="2250">
                  <a:solidFill>
                    <a:srgbClr val="1E293B"/>
                  </a:solidFill>
                  <a:latin typeface="DejaVu Sans Light"/>
                  <a:ea typeface="DejaVu Sans Light"/>
                  <a:cs typeface="DejaVu Sans Light"/>
                  <a:sym typeface="DejaVu Sans Light"/>
                </a:rPr>
                <a:t>Nhà nước điều tiết nền kinh tế theo thể chế và chính sách của từng quốc gia.</a:t>
              </a:r>
            </a:p>
          </p:txBody>
        </p:sp>
      </p:grpSp>
      <p:grpSp>
        <p:nvGrpSpPr>
          <p:cNvPr name="Group 86" id="86"/>
          <p:cNvGrpSpPr/>
          <p:nvPr/>
        </p:nvGrpSpPr>
        <p:grpSpPr>
          <a:xfrm rot="0">
            <a:off x="10659618" y="5721858"/>
            <a:ext cx="6880860" cy="1188720"/>
            <a:chOff x="0" y="0"/>
            <a:chExt cx="9174480" cy="1584960"/>
          </a:xfrm>
        </p:grpSpPr>
        <p:sp>
          <p:nvSpPr>
            <p:cNvPr name="Freeform 87" id="87"/>
            <p:cNvSpPr/>
            <p:nvPr/>
          </p:nvSpPr>
          <p:spPr>
            <a:xfrm flipH="false" flipV="false" rot="0">
              <a:off x="0" y="0"/>
              <a:ext cx="9174480" cy="1584960"/>
            </a:xfrm>
            <a:custGeom>
              <a:avLst/>
              <a:gdLst/>
              <a:ahLst/>
              <a:cxnLst/>
              <a:rect r="r" b="b" t="t" l="l"/>
              <a:pathLst>
                <a:path h="1584960" w="9174480">
                  <a:moveTo>
                    <a:pt x="0" y="63373"/>
                  </a:moveTo>
                  <a:cubicBezTo>
                    <a:pt x="0" y="28321"/>
                    <a:pt x="28321" y="0"/>
                    <a:pt x="63373" y="0"/>
                  </a:cubicBezTo>
                  <a:lnTo>
                    <a:pt x="9111107" y="0"/>
                  </a:lnTo>
                  <a:cubicBezTo>
                    <a:pt x="9146159" y="0"/>
                    <a:pt x="9174480" y="28321"/>
                    <a:pt x="9174480" y="63373"/>
                  </a:cubicBezTo>
                  <a:lnTo>
                    <a:pt x="9174480" y="1521587"/>
                  </a:lnTo>
                  <a:cubicBezTo>
                    <a:pt x="9174480" y="1556639"/>
                    <a:pt x="9146159" y="1584960"/>
                    <a:pt x="9111107" y="1584960"/>
                  </a:cubicBezTo>
                  <a:lnTo>
                    <a:pt x="63373" y="1584960"/>
                  </a:lnTo>
                  <a:cubicBezTo>
                    <a:pt x="28321" y="1584960"/>
                    <a:pt x="0" y="1556639"/>
                    <a:pt x="0" y="1521587"/>
                  </a:cubicBezTo>
                  <a:close/>
                </a:path>
              </a:pathLst>
            </a:custGeom>
            <a:solidFill>
              <a:srgbClr val="EAF7F5"/>
            </a:solidFill>
            <a:ln w="22860" cap="sq">
              <a:solidFill>
                <a:srgbClr val="0F766E"/>
              </a:solidFill>
              <a:prstDash val="solid"/>
              <a:miter/>
            </a:ln>
          </p:spPr>
        </p:sp>
      </p:grpSp>
      <p:grpSp>
        <p:nvGrpSpPr>
          <p:cNvPr name="Group 88" id="88"/>
          <p:cNvGrpSpPr/>
          <p:nvPr/>
        </p:nvGrpSpPr>
        <p:grpSpPr>
          <a:xfrm rot="0">
            <a:off x="10835640" y="5733288"/>
            <a:ext cx="6528816" cy="1165860"/>
            <a:chOff x="0" y="0"/>
            <a:chExt cx="8705088" cy="1554480"/>
          </a:xfrm>
        </p:grpSpPr>
        <p:sp>
          <p:nvSpPr>
            <p:cNvPr name="Freeform 89" id="89"/>
            <p:cNvSpPr/>
            <p:nvPr/>
          </p:nvSpPr>
          <p:spPr>
            <a:xfrm flipH="false" flipV="false" rot="0">
              <a:off x="0" y="0"/>
              <a:ext cx="8705088" cy="1554480"/>
            </a:xfrm>
            <a:custGeom>
              <a:avLst/>
              <a:gdLst/>
              <a:ahLst/>
              <a:cxnLst/>
              <a:rect r="r" b="b" t="t" l="l"/>
              <a:pathLst>
                <a:path h="1554480" w="8705088">
                  <a:moveTo>
                    <a:pt x="0" y="0"/>
                  </a:moveTo>
                  <a:lnTo>
                    <a:pt x="8705088" y="0"/>
                  </a:lnTo>
                  <a:lnTo>
                    <a:pt x="8705088" y="1554480"/>
                  </a:lnTo>
                  <a:lnTo>
                    <a:pt x="0" y="1554480"/>
                  </a:lnTo>
                  <a:close/>
                </a:path>
              </a:pathLst>
            </a:custGeom>
            <a:blipFill>
              <a:blip r:embed="rId2">
                <a:alphaModFix amt="0"/>
              </a:blip>
              <a:stretch>
                <a:fillRect l="0" t="-59116" r="0" b="-59116"/>
              </a:stretch>
            </a:blipFill>
          </p:spPr>
        </p:sp>
        <p:sp>
          <p:nvSpPr>
            <p:cNvPr name="TextBox 90" id="90"/>
            <p:cNvSpPr txBox="true"/>
            <p:nvPr/>
          </p:nvSpPr>
          <p:spPr>
            <a:xfrm>
              <a:off x="0" y="-19050"/>
              <a:ext cx="8705088" cy="1573530"/>
            </a:xfrm>
            <a:prstGeom prst="rect">
              <a:avLst/>
            </a:prstGeom>
          </p:spPr>
          <p:txBody>
            <a:bodyPr anchor="ctr" rtlCol="false" tIns="0" lIns="0" bIns="0" rIns="0"/>
            <a:lstStyle/>
            <a:p>
              <a:pPr algn="l">
                <a:lnSpc>
                  <a:spcPts val="2700"/>
                </a:lnSpc>
              </a:pPr>
              <a:r>
                <a:rPr lang="en-US" sz="2250">
                  <a:solidFill>
                    <a:srgbClr val="0B192E"/>
                  </a:solidFill>
                  <a:latin typeface="DejaVu Sans Light"/>
                  <a:ea typeface="DejaVu Sans Light"/>
                  <a:cs typeface="DejaVu Sans Light"/>
                  <a:sym typeface="DejaVu Sans Light"/>
                </a:rPr>
                <a:t>Nhà nước pháp quyền XHCN (của dân, do dân, vì dân) quản lý dưới sự lãnh đạo của Đảng Cộng sản Việt Nam.</a:t>
              </a:r>
            </a:p>
          </p:txBody>
        </p:sp>
      </p:grpSp>
      <p:grpSp>
        <p:nvGrpSpPr>
          <p:cNvPr name="Group 91" id="91"/>
          <p:cNvGrpSpPr/>
          <p:nvPr/>
        </p:nvGrpSpPr>
        <p:grpSpPr>
          <a:xfrm rot="0">
            <a:off x="744855" y="6985635"/>
            <a:ext cx="3242310" cy="1184910"/>
            <a:chOff x="0" y="0"/>
            <a:chExt cx="4323080" cy="1579880"/>
          </a:xfrm>
        </p:grpSpPr>
        <p:sp>
          <p:nvSpPr>
            <p:cNvPr name="Freeform 92" id="92"/>
            <p:cNvSpPr/>
            <p:nvPr/>
          </p:nvSpPr>
          <p:spPr>
            <a:xfrm flipH="false" flipV="false" rot="0">
              <a:off x="0" y="0"/>
              <a:ext cx="4323080" cy="1579880"/>
            </a:xfrm>
            <a:custGeom>
              <a:avLst/>
              <a:gdLst/>
              <a:ahLst/>
              <a:cxnLst/>
              <a:rect r="r" b="b" t="t" l="l"/>
              <a:pathLst>
                <a:path h="1579880" w="4323080">
                  <a:moveTo>
                    <a:pt x="0" y="63246"/>
                  </a:moveTo>
                  <a:cubicBezTo>
                    <a:pt x="0" y="28321"/>
                    <a:pt x="28321" y="0"/>
                    <a:pt x="63246" y="0"/>
                  </a:cubicBezTo>
                  <a:lnTo>
                    <a:pt x="4259834" y="0"/>
                  </a:lnTo>
                  <a:cubicBezTo>
                    <a:pt x="4294759" y="0"/>
                    <a:pt x="4323080" y="28321"/>
                    <a:pt x="4323080" y="63246"/>
                  </a:cubicBezTo>
                  <a:lnTo>
                    <a:pt x="4323080" y="1516634"/>
                  </a:lnTo>
                  <a:cubicBezTo>
                    <a:pt x="4323080" y="1551559"/>
                    <a:pt x="4294759" y="1579880"/>
                    <a:pt x="4259834" y="1579880"/>
                  </a:cubicBezTo>
                  <a:lnTo>
                    <a:pt x="63246" y="1579880"/>
                  </a:lnTo>
                  <a:cubicBezTo>
                    <a:pt x="28321" y="1579880"/>
                    <a:pt x="0" y="1551559"/>
                    <a:pt x="0" y="1516634"/>
                  </a:cubicBezTo>
                  <a:close/>
                </a:path>
              </a:pathLst>
            </a:custGeom>
            <a:solidFill>
              <a:srgbClr val="F1F5F9"/>
            </a:solidFill>
            <a:ln w="19050" cap="sq">
              <a:solidFill>
                <a:srgbClr val="CBD5E1"/>
              </a:solidFill>
              <a:prstDash val="solid"/>
              <a:miter/>
            </a:ln>
          </p:spPr>
        </p:sp>
      </p:grpSp>
      <p:grpSp>
        <p:nvGrpSpPr>
          <p:cNvPr name="Group 93" id="93"/>
          <p:cNvGrpSpPr/>
          <p:nvPr/>
        </p:nvGrpSpPr>
        <p:grpSpPr>
          <a:xfrm rot="0">
            <a:off x="850392" y="6995160"/>
            <a:ext cx="3031236" cy="1165860"/>
            <a:chOff x="0" y="0"/>
            <a:chExt cx="4041648" cy="1554480"/>
          </a:xfrm>
        </p:grpSpPr>
        <p:sp>
          <p:nvSpPr>
            <p:cNvPr name="Freeform 94" id="94"/>
            <p:cNvSpPr/>
            <p:nvPr/>
          </p:nvSpPr>
          <p:spPr>
            <a:xfrm flipH="false" flipV="false" rot="0">
              <a:off x="0" y="0"/>
              <a:ext cx="4041648" cy="1554480"/>
            </a:xfrm>
            <a:custGeom>
              <a:avLst/>
              <a:gdLst/>
              <a:ahLst/>
              <a:cxnLst/>
              <a:rect r="r" b="b" t="t" l="l"/>
              <a:pathLst>
                <a:path h="1554480" w="4041648">
                  <a:moveTo>
                    <a:pt x="0" y="0"/>
                  </a:moveTo>
                  <a:lnTo>
                    <a:pt x="4041648" y="0"/>
                  </a:lnTo>
                  <a:lnTo>
                    <a:pt x="4041648" y="1554480"/>
                  </a:lnTo>
                  <a:lnTo>
                    <a:pt x="0" y="1554480"/>
                  </a:lnTo>
                  <a:close/>
                </a:path>
              </a:pathLst>
            </a:custGeom>
            <a:blipFill>
              <a:blip r:embed="rId2">
                <a:alphaModFix amt="0"/>
              </a:blip>
              <a:stretch>
                <a:fillRect l="0" t="-661" r="0" b="-661"/>
              </a:stretch>
            </a:blipFill>
          </p:spPr>
        </p:sp>
        <p:sp>
          <p:nvSpPr>
            <p:cNvPr name="TextBox 95" id="95"/>
            <p:cNvSpPr txBox="true"/>
            <p:nvPr/>
          </p:nvSpPr>
          <p:spPr>
            <a:xfrm>
              <a:off x="0" y="-19050"/>
              <a:ext cx="4041648" cy="1573530"/>
            </a:xfrm>
            <a:prstGeom prst="rect">
              <a:avLst/>
            </a:prstGeom>
          </p:spPr>
          <p:txBody>
            <a:bodyPr anchor="ctr" rtlCol="false" tIns="0" lIns="0" bIns="0" rIns="0"/>
            <a:lstStyle/>
            <a:p>
              <a:pPr algn="ctr">
                <a:lnSpc>
                  <a:spcPts val="2700"/>
                </a:lnSpc>
              </a:pPr>
              <a:r>
                <a:rPr lang="en-US" sz="2250" b="true">
                  <a:solidFill>
                    <a:srgbClr val="122645"/>
                  </a:solidFill>
                  <a:latin typeface="DejaVu Sans Bold"/>
                  <a:ea typeface="DejaVu Sans Bold"/>
                  <a:cs typeface="DejaVu Sans Bold"/>
                  <a:sym typeface="DejaVu Sans Bold"/>
                </a:rPr>
                <a:t>4. Quan hệ</a:t>
              </a:r>
            </a:p>
            <a:p>
              <a:pPr algn="ctr">
                <a:lnSpc>
                  <a:spcPts val="2700"/>
                </a:lnSpc>
              </a:pPr>
              <a:r>
                <a:rPr lang="en-US" sz="2250" b="true">
                  <a:solidFill>
                    <a:srgbClr val="122645"/>
                  </a:solidFill>
                  <a:latin typeface="DejaVu Sans Bold"/>
                  <a:ea typeface="DejaVu Sans Bold"/>
                  <a:cs typeface="DejaVu Sans Bold"/>
                  <a:sym typeface="DejaVu Sans Bold"/>
                </a:rPr>
                <a:t>Phân phối</a:t>
              </a:r>
            </a:p>
          </p:txBody>
        </p:sp>
      </p:grpSp>
      <p:grpSp>
        <p:nvGrpSpPr>
          <p:cNvPr name="Group 96" id="96"/>
          <p:cNvGrpSpPr/>
          <p:nvPr/>
        </p:nvGrpSpPr>
        <p:grpSpPr>
          <a:xfrm rot="0">
            <a:off x="4077843" y="6985635"/>
            <a:ext cx="6493002" cy="1184910"/>
            <a:chOff x="0" y="0"/>
            <a:chExt cx="8657336" cy="1579880"/>
          </a:xfrm>
        </p:grpSpPr>
        <p:sp>
          <p:nvSpPr>
            <p:cNvPr name="Freeform 97" id="97"/>
            <p:cNvSpPr/>
            <p:nvPr/>
          </p:nvSpPr>
          <p:spPr>
            <a:xfrm flipH="false" flipV="false" rot="0">
              <a:off x="0" y="0"/>
              <a:ext cx="8657336" cy="1579880"/>
            </a:xfrm>
            <a:custGeom>
              <a:avLst/>
              <a:gdLst/>
              <a:ahLst/>
              <a:cxnLst/>
              <a:rect r="r" b="b" t="t" l="l"/>
              <a:pathLst>
                <a:path h="1579880" w="8657336">
                  <a:moveTo>
                    <a:pt x="0" y="63246"/>
                  </a:moveTo>
                  <a:cubicBezTo>
                    <a:pt x="0" y="28321"/>
                    <a:pt x="28321" y="0"/>
                    <a:pt x="63246" y="0"/>
                  </a:cubicBezTo>
                  <a:lnTo>
                    <a:pt x="8594090" y="0"/>
                  </a:lnTo>
                  <a:cubicBezTo>
                    <a:pt x="8629015" y="0"/>
                    <a:pt x="8657336" y="28321"/>
                    <a:pt x="8657336" y="63246"/>
                  </a:cubicBezTo>
                  <a:lnTo>
                    <a:pt x="8657336" y="1516634"/>
                  </a:lnTo>
                  <a:cubicBezTo>
                    <a:pt x="8657336" y="1551559"/>
                    <a:pt x="8629015" y="1579880"/>
                    <a:pt x="8594090" y="1579880"/>
                  </a:cubicBezTo>
                  <a:lnTo>
                    <a:pt x="63246" y="1579880"/>
                  </a:lnTo>
                  <a:cubicBezTo>
                    <a:pt x="28321" y="1579880"/>
                    <a:pt x="0" y="1551559"/>
                    <a:pt x="0" y="1516634"/>
                  </a:cubicBezTo>
                  <a:close/>
                </a:path>
              </a:pathLst>
            </a:custGeom>
            <a:solidFill>
              <a:srgbClr val="FFFFFF"/>
            </a:solidFill>
            <a:ln w="19050" cap="sq">
              <a:solidFill>
                <a:srgbClr val="CBD5E1"/>
              </a:solidFill>
              <a:prstDash val="solid"/>
              <a:miter/>
            </a:ln>
          </p:spPr>
        </p:sp>
      </p:grpSp>
      <p:grpSp>
        <p:nvGrpSpPr>
          <p:cNvPr name="Group 98" id="98"/>
          <p:cNvGrpSpPr/>
          <p:nvPr/>
        </p:nvGrpSpPr>
        <p:grpSpPr>
          <a:xfrm rot="0">
            <a:off x="4251960" y="6995160"/>
            <a:ext cx="6144768" cy="1165860"/>
            <a:chOff x="0" y="0"/>
            <a:chExt cx="8193024" cy="1554480"/>
          </a:xfrm>
        </p:grpSpPr>
        <p:sp>
          <p:nvSpPr>
            <p:cNvPr name="Freeform 99" id="99"/>
            <p:cNvSpPr/>
            <p:nvPr/>
          </p:nvSpPr>
          <p:spPr>
            <a:xfrm flipH="false" flipV="false" rot="0">
              <a:off x="0" y="0"/>
              <a:ext cx="8193024" cy="1554480"/>
            </a:xfrm>
            <a:custGeom>
              <a:avLst/>
              <a:gdLst/>
              <a:ahLst/>
              <a:cxnLst/>
              <a:rect r="r" b="b" t="t" l="l"/>
              <a:pathLst>
                <a:path h="1554480" w="8193024">
                  <a:moveTo>
                    <a:pt x="0" y="0"/>
                  </a:moveTo>
                  <a:lnTo>
                    <a:pt x="8193024" y="0"/>
                  </a:lnTo>
                  <a:lnTo>
                    <a:pt x="8193024" y="1554480"/>
                  </a:lnTo>
                  <a:lnTo>
                    <a:pt x="0" y="1554480"/>
                  </a:lnTo>
                  <a:close/>
                </a:path>
              </a:pathLst>
            </a:custGeom>
            <a:blipFill>
              <a:blip r:embed="rId2">
                <a:alphaModFix amt="0"/>
              </a:blip>
              <a:stretch>
                <a:fillRect l="0" t="-52697" r="0" b="-52697"/>
              </a:stretch>
            </a:blipFill>
          </p:spPr>
        </p:sp>
        <p:sp>
          <p:nvSpPr>
            <p:cNvPr name="TextBox 100" id="100"/>
            <p:cNvSpPr txBox="true"/>
            <p:nvPr/>
          </p:nvSpPr>
          <p:spPr>
            <a:xfrm>
              <a:off x="0" y="-19050"/>
              <a:ext cx="8193024" cy="1573530"/>
            </a:xfrm>
            <a:prstGeom prst="rect">
              <a:avLst/>
            </a:prstGeom>
          </p:spPr>
          <p:txBody>
            <a:bodyPr anchor="ctr" rtlCol="false" tIns="0" lIns="0" bIns="0" rIns="0"/>
            <a:lstStyle/>
            <a:p>
              <a:pPr algn="l">
                <a:lnSpc>
                  <a:spcPts val="2700"/>
                </a:lnSpc>
              </a:pPr>
              <a:r>
                <a:rPr lang="en-US" sz="2250">
                  <a:solidFill>
                    <a:srgbClr val="1E293B"/>
                  </a:solidFill>
                  <a:latin typeface="DejaVu Sans Light"/>
                  <a:ea typeface="DejaVu Sans Light"/>
                  <a:cs typeface="DejaVu Sans Light"/>
                  <a:sym typeface="DejaVu Sans Light"/>
                </a:rPr>
                <a:t>Phân phối theo lao động, vốn, tài sản và cơ chế thị trường; có tái phân phối thông qua thuế, phúc lợi.</a:t>
              </a:r>
            </a:p>
          </p:txBody>
        </p:sp>
      </p:grpSp>
      <p:grpSp>
        <p:nvGrpSpPr>
          <p:cNvPr name="Group 101" id="101"/>
          <p:cNvGrpSpPr/>
          <p:nvPr/>
        </p:nvGrpSpPr>
        <p:grpSpPr>
          <a:xfrm rot="0">
            <a:off x="10659618" y="6983730"/>
            <a:ext cx="6880860" cy="1188720"/>
            <a:chOff x="0" y="0"/>
            <a:chExt cx="9174480" cy="1584960"/>
          </a:xfrm>
        </p:grpSpPr>
        <p:sp>
          <p:nvSpPr>
            <p:cNvPr name="Freeform 102" id="102"/>
            <p:cNvSpPr/>
            <p:nvPr/>
          </p:nvSpPr>
          <p:spPr>
            <a:xfrm flipH="false" flipV="false" rot="0">
              <a:off x="0" y="0"/>
              <a:ext cx="9174480" cy="1584960"/>
            </a:xfrm>
            <a:custGeom>
              <a:avLst/>
              <a:gdLst/>
              <a:ahLst/>
              <a:cxnLst/>
              <a:rect r="r" b="b" t="t" l="l"/>
              <a:pathLst>
                <a:path h="1584960" w="9174480">
                  <a:moveTo>
                    <a:pt x="0" y="63373"/>
                  </a:moveTo>
                  <a:cubicBezTo>
                    <a:pt x="0" y="28321"/>
                    <a:pt x="28321" y="0"/>
                    <a:pt x="63373" y="0"/>
                  </a:cubicBezTo>
                  <a:lnTo>
                    <a:pt x="9111107" y="0"/>
                  </a:lnTo>
                  <a:cubicBezTo>
                    <a:pt x="9146159" y="0"/>
                    <a:pt x="9174480" y="28321"/>
                    <a:pt x="9174480" y="63373"/>
                  </a:cubicBezTo>
                  <a:lnTo>
                    <a:pt x="9174480" y="1521587"/>
                  </a:lnTo>
                  <a:cubicBezTo>
                    <a:pt x="9174480" y="1556639"/>
                    <a:pt x="9146159" y="1584960"/>
                    <a:pt x="9111107" y="1584960"/>
                  </a:cubicBezTo>
                  <a:lnTo>
                    <a:pt x="63373" y="1584960"/>
                  </a:lnTo>
                  <a:cubicBezTo>
                    <a:pt x="28321" y="1584960"/>
                    <a:pt x="0" y="1556639"/>
                    <a:pt x="0" y="1521587"/>
                  </a:cubicBezTo>
                  <a:close/>
                </a:path>
              </a:pathLst>
            </a:custGeom>
            <a:solidFill>
              <a:srgbClr val="EAF7F5"/>
            </a:solidFill>
            <a:ln w="22860" cap="sq">
              <a:solidFill>
                <a:srgbClr val="0F766E"/>
              </a:solidFill>
              <a:prstDash val="solid"/>
              <a:miter/>
            </a:ln>
          </p:spPr>
        </p:sp>
      </p:grpSp>
      <p:grpSp>
        <p:nvGrpSpPr>
          <p:cNvPr name="Group 103" id="103"/>
          <p:cNvGrpSpPr/>
          <p:nvPr/>
        </p:nvGrpSpPr>
        <p:grpSpPr>
          <a:xfrm rot="0">
            <a:off x="10835640" y="6995160"/>
            <a:ext cx="6528816" cy="1165860"/>
            <a:chOff x="0" y="0"/>
            <a:chExt cx="8705088" cy="1554480"/>
          </a:xfrm>
        </p:grpSpPr>
        <p:sp>
          <p:nvSpPr>
            <p:cNvPr name="Freeform 104" id="104"/>
            <p:cNvSpPr/>
            <p:nvPr/>
          </p:nvSpPr>
          <p:spPr>
            <a:xfrm flipH="false" flipV="false" rot="0">
              <a:off x="0" y="0"/>
              <a:ext cx="8705088" cy="1554480"/>
            </a:xfrm>
            <a:custGeom>
              <a:avLst/>
              <a:gdLst/>
              <a:ahLst/>
              <a:cxnLst/>
              <a:rect r="r" b="b" t="t" l="l"/>
              <a:pathLst>
                <a:path h="1554480" w="8705088">
                  <a:moveTo>
                    <a:pt x="0" y="0"/>
                  </a:moveTo>
                  <a:lnTo>
                    <a:pt x="8705088" y="0"/>
                  </a:lnTo>
                  <a:lnTo>
                    <a:pt x="8705088" y="1554480"/>
                  </a:lnTo>
                  <a:lnTo>
                    <a:pt x="0" y="1554480"/>
                  </a:lnTo>
                  <a:close/>
                </a:path>
              </a:pathLst>
            </a:custGeom>
            <a:blipFill>
              <a:blip r:embed="rId2">
                <a:alphaModFix amt="0"/>
              </a:blip>
              <a:stretch>
                <a:fillRect l="0" t="-59116" r="0" b="-59116"/>
              </a:stretch>
            </a:blipFill>
          </p:spPr>
        </p:sp>
        <p:sp>
          <p:nvSpPr>
            <p:cNvPr name="TextBox 105" id="105"/>
            <p:cNvSpPr txBox="true"/>
            <p:nvPr/>
          </p:nvSpPr>
          <p:spPr>
            <a:xfrm>
              <a:off x="0" y="-19050"/>
              <a:ext cx="8705088" cy="1573530"/>
            </a:xfrm>
            <a:prstGeom prst="rect">
              <a:avLst/>
            </a:prstGeom>
          </p:spPr>
          <p:txBody>
            <a:bodyPr anchor="ctr" rtlCol="false" tIns="0" lIns="0" bIns="0" rIns="0"/>
            <a:lstStyle/>
            <a:p>
              <a:pPr algn="l">
                <a:lnSpc>
                  <a:spcPts val="2700"/>
                </a:lnSpc>
              </a:pPr>
              <a:r>
                <a:rPr lang="en-US" sz="2250">
                  <a:solidFill>
                    <a:srgbClr val="0B192E"/>
                  </a:solidFill>
                  <a:latin typeface="DejaVu Sans Light"/>
                  <a:ea typeface="DejaVu Sans Light"/>
                  <a:cs typeface="DejaVu Sans Light"/>
                  <a:sym typeface="DejaVu Sans Light"/>
                </a:rPr>
                <a:t>Theo kết quả lao động &amp; hiệu quả kinh tế là CHỦ YẾU; kết hợp theo mức đóng góp vốn và hệ thống AN SINH, PHÚC LỢI.</a:t>
              </a:r>
            </a:p>
          </p:txBody>
        </p:sp>
      </p:grpSp>
      <p:grpSp>
        <p:nvGrpSpPr>
          <p:cNvPr name="Group 106" id="106"/>
          <p:cNvGrpSpPr/>
          <p:nvPr/>
        </p:nvGrpSpPr>
        <p:grpSpPr>
          <a:xfrm rot="0">
            <a:off x="744855" y="8247507"/>
            <a:ext cx="3242310" cy="1184910"/>
            <a:chOff x="0" y="0"/>
            <a:chExt cx="4323080" cy="1579880"/>
          </a:xfrm>
        </p:grpSpPr>
        <p:sp>
          <p:nvSpPr>
            <p:cNvPr name="Freeform 107" id="107"/>
            <p:cNvSpPr/>
            <p:nvPr/>
          </p:nvSpPr>
          <p:spPr>
            <a:xfrm flipH="false" flipV="false" rot="0">
              <a:off x="0" y="0"/>
              <a:ext cx="4323080" cy="1579880"/>
            </a:xfrm>
            <a:custGeom>
              <a:avLst/>
              <a:gdLst/>
              <a:ahLst/>
              <a:cxnLst/>
              <a:rect r="r" b="b" t="t" l="l"/>
              <a:pathLst>
                <a:path h="1579880" w="4323080">
                  <a:moveTo>
                    <a:pt x="0" y="63246"/>
                  </a:moveTo>
                  <a:cubicBezTo>
                    <a:pt x="0" y="28321"/>
                    <a:pt x="28321" y="0"/>
                    <a:pt x="63246" y="0"/>
                  </a:cubicBezTo>
                  <a:lnTo>
                    <a:pt x="4259834" y="0"/>
                  </a:lnTo>
                  <a:cubicBezTo>
                    <a:pt x="4294759" y="0"/>
                    <a:pt x="4323080" y="28321"/>
                    <a:pt x="4323080" y="63246"/>
                  </a:cubicBezTo>
                  <a:lnTo>
                    <a:pt x="4323080" y="1516634"/>
                  </a:lnTo>
                  <a:cubicBezTo>
                    <a:pt x="4323080" y="1551559"/>
                    <a:pt x="4294759" y="1579880"/>
                    <a:pt x="4259834" y="1579880"/>
                  </a:cubicBezTo>
                  <a:lnTo>
                    <a:pt x="63246" y="1579880"/>
                  </a:lnTo>
                  <a:cubicBezTo>
                    <a:pt x="28321" y="1579880"/>
                    <a:pt x="0" y="1551559"/>
                    <a:pt x="0" y="1516634"/>
                  </a:cubicBezTo>
                  <a:close/>
                </a:path>
              </a:pathLst>
            </a:custGeom>
            <a:solidFill>
              <a:srgbClr val="F1F5F9"/>
            </a:solidFill>
            <a:ln w="19050" cap="sq">
              <a:solidFill>
                <a:srgbClr val="CBD5E1"/>
              </a:solidFill>
              <a:prstDash val="solid"/>
              <a:miter/>
            </a:ln>
          </p:spPr>
        </p:sp>
      </p:grpSp>
      <p:grpSp>
        <p:nvGrpSpPr>
          <p:cNvPr name="Group 108" id="108"/>
          <p:cNvGrpSpPr/>
          <p:nvPr/>
        </p:nvGrpSpPr>
        <p:grpSpPr>
          <a:xfrm rot="0">
            <a:off x="850392" y="8257032"/>
            <a:ext cx="3031236" cy="1165860"/>
            <a:chOff x="0" y="0"/>
            <a:chExt cx="4041648" cy="1554480"/>
          </a:xfrm>
        </p:grpSpPr>
        <p:sp>
          <p:nvSpPr>
            <p:cNvPr name="Freeform 109" id="109"/>
            <p:cNvSpPr/>
            <p:nvPr/>
          </p:nvSpPr>
          <p:spPr>
            <a:xfrm flipH="false" flipV="false" rot="0">
              <a:off x="0" y="0"/>
              <a:ext cx="4041648" cy="1554480"/>
            </a:xfrm>
            <a:custGeom>
              <a:avLst/>
              <a:gdLst/>
              <a:ahLst/>
              <a:cxnLst/>
              <a:rect r="r" b="b" t="t" l="l"/>
              <a:pathLst>
                <a:path h="1554480" w="4041648">
                  <a:moveTo>
                    <a:pt x="0" y="0"/>
                  </a:moveTo>
                  <a:lnTo>
                    <a:pt x="4041648" y="0"/>
                  </a:lnTo>
                  <a:lnTo>
                    <a:pt x="4041648" y="1554480"/>
                  </a:lnTo>
                  <a:lnTo>
                    <a:pt x="0" y="1554480"/>
                  </a:lnTo>
                  <a:close/>
                </a:path>
              </a:pathLst>
            </a:custGeom>
            <a:blipFill>
              <a:blip r:embed="rId2">
                <a:alphaModFix amt="0"/>
              </a:blip>
              <a:stretch>
                <a:fillRect l="0" t="-661" r="0" b="-661"/>
              </a:stretch>
            </a:blipFill>
          </p:spPr>
        </p:sp>
        <p:sp>
          <p:nvSpPr>
            <p:cNvPr name="TextBox 110" id="110"/>
            <p:cNvSpPr txBox="true"/>
            <p:nvPr/>
          </p:nvSpPr>
          <p:spPr>
            <a:xfrm>
              <a:off x="0" y="-19050"/>
              <a:ext cx="4041648" cy="1573530"/>
            </a:xfrm>
            <a:prstGeom prst="rect">
              <a:avLst/>
            </a:prstGeom>
          </p:spPr>
          <p:txBody>
            <a:bodyPr anchor="ctr" rtlCol="false" tIns="0" lIns="0" bIns="0" rIns="0"/>
            <a:lstStyle/>
            <a:p>
              <a:pPr algn="ctr">
                <a:lnSpc>
                  <a:spcPts val="2700"/>
                </a:lnSpc>
              </a:pPr>
              <a:r>
                <a:rPr lang="en-US" sz="2250" b="true">
                  <a:solidFill>
                    <a:srgbClr val="122645"/>
                  </a:solidFill>
                  <a:latin typeface="DejaVu Sans Bold"/>
                  <a:ea typeface="DejaVu Sans Bold"/>
                  <a:cs typeface="DejaVu Sans Bold"/>
                  <a:sym typeface="DejaVu Sans Bold"/>
                </a:rPr>
                <a:t>5. Tăng trưởng &amp;</a:t>
              </a:r>
            </a:p>
            <a:p>
              <a:pPr algn="ctr">
                <a:lnSpc>
                  <a:spcPts val="2700"/>
                </a:lnSpc>
              </a:pPr>
              <a:r>
                <a:rPr lang="en-US" sz="2250" b="true">
                  <a:solidFill>
                    <a:srgbClr val="122645"/>
                  </a:solidFill>
                  <a:latin typeface="DejaVu Sans Bold"/>
                  <a:ea typeface="DejaVu Sans Bold"/>
                  <a:cs typeface="DejaVu Sans Bold"/>
                  <a:sym typeface="DejaVu Sans Bold"/>
                </a:rPr>
                <a:t>Công bằng XH</a:t>
              </a:r>
            </a:p>
          </p:txBody>
        </p:sp>
      </p:grpSp>
      <p:grpSp>
        <p:nvGrpSpPr>
          <p:cNvPr name="Group 111" id="111"/>
          <p:cNvGrpSpPr/>
          <p:nvPr/>
        </p:nvGrpSpPr>
        <p:grpSpPr>
          <a:xfrm rot="0">
            <a:off x="4077843" y="8247507"/>
            <a:ext cx="6493002" cy="1184910"/>
            <a:chOff x="0" y="0"/>
            <a:chExt cx="8657336" cy="1579880"/>
          </a:xfrm>
        </p:grpSpPr>
        <p:sp>
          <p:nvSpPr>
            <p:cNvPr name="Freeform 112" id="112"/>
            <p:cNvSpPr/>
            <p:nvPr/>
          </p:nvSpPr>
          <p:spPr>
            <a:xfrm flipH="false" flipV="false" rot="0">
              <a:off x="0" y="0"/>
              <a:ext cx="8657336" cy="1579880"/>
            </a:xfrm>
            <a:custGeom>
              <a:avLst/>
              <a:gdLst/>
              <a:ahLst/>
              <a:cxnLst/>
              <a:rect r="r" b="b" t="t" l="l"/>
              <a:pathLst>
                <a:path h="1579880" w="8657336">
                  <a:moveTo>
                    <a:pt x="0" y="63246"/>
                  </a:moveTo>
                  <a:cubicBezTo>
                    <a:pt x="0" y="28321"/>
                    <a:pt x="28321" y="0"/>
                    <a:pt x="63246" y="0"/>
                  </a:cubicBezTo>
                  <a:lnTo>
                    <a:pt x="8594090" y="0"/>
                  </a:lnTo>
                  <a:cubicBezTo>
                    <a:pt x="8629015" y="0"/>
                    <a:pt x="8657336" y="28321"/>
                    <a:pt x="8657336" y="63246"/>
                  </a:cubicBezTo>
                  <a:lnTo>
                    <a:pt x="8657336" y="1516634"/>
                  </a:lnTo>
                  <a:cubicBezTo>
                    <a:pt x="8657336" y="1551559"/>
                    <a:pt x="8629015" y="1579880"/>
                    <a:pt x="8594090" y="1579880"/>
                  </a:cubicBezTo>
                  <a:lnTo>
                    <a:pt x="63246" y="1579880"/>
                  </a:lnTo>
                  <a:cubicBezTo>
                    <a:pt x="28321" y="1579880"/>
                    <a:pt x="0" y="1551559"/>
                    <a:pt x="0" y="1516634"/>
                  </a:cubicBezTo>
                  <a:close/>
                </a:path>
              </a:pathLst>
            </a:custGeom>
            <a:solidFill>
              <a:srgbClr val="FFFFFF"/>
            </a:solidFill>
            <a:ln w="19050" cap="sq">
              <a:solidFill>
                <a:srgbClr val="CBD5E1"/>
              </a:solidFill>
              <a:prstDash val="solid"/>
              <a:miter/>
            </a:ln>
          </p:spPr>
        </p:sp>
      </p:grpSp>
      <p:grpSp>
        <p:nvGrpSpPr>
          <p:cNvPr name="Group 113" id="113"/>
          <p:cNvGrpSpPr/>
          <p:nvPr/>
        </p:nvGrpSpPr>
        <p:grpSpPr>
          <a:xfrm rot="0">
            <a:off x="4251960" y="8257032"/>
            <a:ext cx="6144768" cy="1165860"/>
            <a:chOff x="0" y="0"/>
            <a:chExt cx="8193024" cy="1554480"/>
          </a:xfrm>
        </p:grpSpPr>
        <p:sp>
          <p:nvSpPr>
            <p:cNvPr name="Freeform 114" id="114"/>
            <p:cNvSpPr/>
            <p:nvPr/>
          </p:nvSpPr>
          <p:spPr>
            <a:xfrm flipH="false" flipV="false" rot="0">
              <a:off x="0" y="0"/>
              <a:ext cx="8193024" cy="1554480"/>
            </a:xfrm>
            <a:custGeom>
              <a:avLst/>
              <a:gdLst/>
              <a:ahLst/>
              <a:cxnLst/>
              <a:rect r="r" b="b" t="t" l="l"/>
              <a:pathLst>
                <a:path h="1554480" w="8193024">
                  <a:moveTo>
                    <a:pt x="0" y="0"/>
                  </a:moveTo>
                  <a:lnTo>
                    <a:pt x="8193024" y="0"/>
                  </a:lnTo>
                  <a:lnTo>
                    <a:pt x="8193024" y="1554480"/>
                  </a:lnTo>
                  <a:lnTo>
                    <a:pt x="0" y="1554480"/>
                  </a:lnTo>
                  <a:close/>
                </a:path>
              </a:pathLst>
            </a:custGeom>
            <a:blipFill>
              <a:blip r:embed="rId2">
                <a:alphaModFix amt="0"/>
              </a:blip>
              <a:stretch>
                <a:fillRect l="0" t="-52697" r="0" b="-52697"/>
              </a:stretch>
            </a:blipFill>
          </p:spPr>
        </p:sp>
        <p:sp>
          <p:nvSpPr>
            <p:cNvPr name="TextBox 115" id="115"/>
            <p:cNvSpPr txBox="true"/>
            <p:nvPr/>
          </p:nvSpPr>
          <p:spPr>
            <a:xfrm>
              <a:off x="0" y="-19050"/>
              <a:ext cx="8193024" cy="1573530"/>
            </a:xfrm>
            <a:prstGeom prst="rect">
              <a:avLst/>
            </a:prstGeom>
          </p:spPr>
          <p:txBody>
            <a:bodyPr anchor="ctr" rtlCol="false" tIns="0" lIns="0" bIns="0" rIns="0"/>
            <a:lstStyle/>
            <a:p>
              <a:pPr algn="l">
                <a:lnSpc>
                  <a:spcPts val="2700"/>
                </a:lnSpc>
              </a:pPr>
              <a:r>
                <a:rPr lang="en-US" sz="2250">
                  <a:solidFill>
                    <a:srgbClr val="1E293B"/>
                  </a:solidFill>
                  <a:latin typeface="DejaVu Sans Light"/>
                  <a:ea typeface="DejaVu Sans Light"/>
                  <a:cs typeface="DejaVu Sans Light"/>
                  <a:sym typeface="DejaVu Sans Light"/>
                </a:rPr>
                <a:t>Mức độ kết hợp tăng trưởng với công bằng xã hội phụ thuộc vào chính sách từng quốc gia.</a:t>
              </a:r>
            </a:p>
          </p:txBody>
        </p:sp>
      </p:grpSp>
      <p:grpSp>
        <p:nvGrpSpPr>
          <p:cNvPr name="Group 116" id="116"/>
          <p:cNvGrpSpPr/>
          <p:nvPr/>
        </p:nvGrpSpPr>
        <p:grpSpPr>
          <a:xfrm rot="0">
            <a:off x="10659618" y="8245602"/>
            <a:ext cx="6880860" cy="1188720"/>
            <a:chOff x="0" y="0"/>
            <a:chExt cx="9174480" cy="1584960"/>
          </a:xfrm>
        </p:grpSpPr>
        <p:sp>
          <p:nvSpPr>
            <p:cNvPr name="Freeform 117" id="117"/>
            <p:cNvSpPr/>
            <p:nvPr/>
          </p:nvSpPr>
          <p:spPr>
            <a:xfrm flipH="false" flipV="false" rot="0">
              <a:off x="0" y="0"/>
              <a:ext cx="9174480" cy="1584960"/>
            </a:xfrm>
            <a:custGeom>
              <a:avLst/>
              <a:gdLst/>
              <a:ahLst/>
              <a:cxnLst/>
              <a:rect r="r" b="b" t="t" l="l"/>
              <a:pathLst>
                <a:path h="1584960" w="9174480">
                  <a:moveTo>
                    <a:pt x="0" y="63373"/>
                  </a:moveTo>
                  <a:cubicBezTo>
                    <a:pt x="0" y="28321"/>
                    <a:pt x="28321" y="0"/>
                    <a:pt x="63373" y="0"/>
                  </a:cubicBezTo>
                  <a:lnTo>
                    <a:pt x="9111107" y="0"/>
                  </a:lnTo>
                  <a:cubicBezTo>
                    <a:pt x="9146159" y="0"/>
                    <a:pt x="9174480" y="28321"/>
                    <a:pt x="9174480" y="63373"/>
                  </a:cubicBezTo>
                  <a:lnTo>
                    <a:pt x="9174480" y="1521587"/>
                  </a:lnTo>
                  <a:cubicBezTo>
                    <a:pt x="9174480" y="1556639"/>
                    <a:pt x="9146159" y="1584960"/>
                    <a:pt x="9111107" y="1584960"/>
                  </a:cubicBezTo>
                  <a:lnTo>
                    <a:pt x="63373" y="1584960"/>
                  </a:lnTo>
                  <a:cubicBezTo>
                    <a:pt x="28321" y="1584960"/>
                    <a:pt x="0" y="1556639"/>
                    <a:pt x="0" y="1521587"/>
                  </a:cubicBezTo>
                  <a:close/>
                </a:path>
              </a:pathLst>
            </a:custGeom>
            <a:solidFill>
              <a:srgbClr val="EAF7F5"/>
            </a:solidFill>
            <a:ln w="22860" cap="sq">
              <a:solidFill>
                <a:srgbClr val="0F766E"/>
              </a:solidFill>
              <a:prstDash val="solid"/>
              <a:miter/>
            </a:ln>
          </p:spPr>
        </p:sp>
      </p:grpSp>
      <p:grpSp>
        <p:nvGrpSpPr>
          <p:cNvPr name="Group 118" id="118"/>
          <p:cNvGrpSpPr/>
          <p:nvPr/>
        </p:nvGrpSpPr>
        <p:grpSpPr>
          <a:xfrm rot="0">
            <a:off x="10835640" y="8257032"/>
            <a:ext cx="6528816" cy="1165860"/>
            <a:chOff x="0" y="0"/>
            <a:chExt cx="8705088" cy="1554480"/>
          </a:xfrm>
        </p:grpSpPr>
        <p:sp>
          <p:nvSpPr>
            <p:cNvPr name="Freeform 119" id="119"/>
            <p:cNvSpPr/>
            <p:nvPr/>
          </p:nvSpPr>
          <p:spPr>
            <a:xfrm flipH="false" flipV="false" rot="0">
              <a:off x="0" y="0"/>
              <a:ext cx="8705088" cy="1554480"/>
            </a:xfrm>
            <a:custGeom>
              <a:avLst/>
              <a:gdLst/>
              <a:ahLst/>
              <a:cxnLst/>
              <a:rect r="r" b="b" t="t" l="l"/>
              <a:pathLst>
                <a:path h="1554480" w="8705088">
                  <a:moveTo>
                    <a:pt x="0" y="0"/>
                  </a:moveTo>
                  <a:lnTo>
                    <a:pt x="8705088" y="0"/>
                  </a:lnTo>
                  <a:lnTo>
                    <a:pt x="8705088" y="1554480"/>
                  </a:lnTo>
                  <a:lnTo>
                    <a:pt x="0" y="1554480"/>
                  </a:lnTo>
                  <a:close/>
                </a:path>
              </a:pathLst>
            </a:custGeom>
            <a:blipFill>
              <a:blip r:embed="rId2">
                <a:alphaModFix amt="0"/>
              </a:blip>
              <a:stretch>
                <a:fillRect l="0" t="-59116" r="0" b="-59116"/>
              </a:stretch>
            </a:blipFill>
          </p:spPr>
        </p:sp>
        <p:sp>
          <p:nvSpPr>
            <p:cNvPr name="TextBox 120" id="120"/>
            <p:cNvSpPr txBox="true"/>
            <p:nvPr/>
          </p:nvSpPr>
          <p:spPr>
            <a:xfrm>
              <a:off x="0" y="-19050"/>
              <a:ext cx="8705088" cy="1573530"/>
            </a:xfrm>
            <a:prstGeom prst="rect">
              <a:avLst/>
            </a:prstGeom>
          </p:spPr>
          <p:txBody>
            <a:bodyPr anchor="ctr" rtlCol="false" tIns="0" lIns="0" bIns="0" rIns="0"/>
            <a:lstStyle/>
            <a:p>
              <a:pPr algn="l">
                <a:lnSpc>
                  <a:spcPts val="2700"/>
                </a:lnSpc>
              </a:pPr>
              <a:r>
                <a:rPr lang="en-US" sz="2250">
                  <a:solidFill>
                    <a:srgbClr val="0B192E"/>
                  </a:solidFill>
                  <a:latin typeface="DejaVu Sans Light"/>
                  <a:ea typeface="DejaVu Sans Light"/>
                  <a:cs typeface="DejaVu Sans Light"/>
                  <a:sym typeface="DejaVu Sans Light"/>
                </a:rPr>
                <a:t>Gắn tăng trưởng kinh tế với tiến bộ và công bằng xã hội NGAY TRONG TỪNG BƯỚC, TỪNG CHÍNH SÁCH phát triển.</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7543" cy="137160"/>
            <a:chOff x="0" y="0"/>
            <a:chExt cx="24383390" cy="182880"/>
          </a:xfrm>
        </p:grpSpPr>
        <p:sp>
          <p:nvSpPr>
            <p:cNvPr name="Freeform 3" id="3"/>
            <p:cNvSpPr/>
            <p:nvPr/>
          </p:nvSpPr>
          <p:spPr>
            <a:xfrm flipH="false" flipV="false" rot="0">
              <a:off x="0" y="0"/>
              <a:ext cx="24383364" cy="182880"/>
            </a:xfrm>
            <a:custGeom>
              <a:avLst/>
              <a:gdLst/>
              <a:ahLst/>
              <a:cxnLst/>
              <a:rect r="r" b="b" t="t" l="l"/>
              <a:pathLst>
                <a:path h="182880" w="24383364">
                  <a:moveTo>
                    <a:pt x="0" y="0"/>
                  </a:moveTo>
                  <a:lnTo>
                    <a:pt x="24383364" y="0"/>
                  </a:lnTo>
                  <a:lnTo>
                    <a:pt x="24383364" y="182880"/>
                  </a:lnTo>
                  <a:lnTo>
                    <a:pt x="0" y="182880"/>
                  </a:lnTo>
                  <a:close/>
                </a:path>
              </a:pathLst>
            </a:custGeom>
            <a:solidFill>
              <a:srgbClr val="122645"/>
            </a:solidFill>
          </p:spPr>
        </p:sp>
      </p:grpSp>
      <p:grpSp>
        <p:nvGrpSpPr>
          <p:cNvPr name="Group 4" id="4"/>
          <p:cNvGrpSpPr/>
          <p:nvPr/>
        </p:nvGrpSpPr>
        <p:grpSpPr>
          <a:xfrm rot="0">
            <a:off x="0" y="0"/>
            <a:ext cx="7315019" cy="137160"/>
            <a:chOff x="0" y="0"/>
            <a:chExt cx="9753359" cy="182880"/>
          </a:xfrm>
        </p:grpSpPr>
        <p:sp>
          <p:nvSpPr>
            <p:cNvPr name="Freeform 5" id="5"/>
            <p:cNvSpPr/>
            <p:nvPr/>
          </p:nvSpPr>
          <p:spPr>
            <a:xfrm flipH="false" flipV="false" rot="0">
              <a:off x="0" y="0"/>
              <a:ext cx="9753346" cy="182880"/>
            </a:xfrm>
            <a:custGeom>
              <a:avLst/>
              <a:gdLst/>
              <a:ahLst/>
              <a:cxnLst/>
              <a:rect r="r" b="b" t="t" l="l"/>
              <a:pathLst>
                <a:path h="182880" w="9753346">
                  <a:moveTo>
                    <a:pt x="0" y="0"/>
                  </a:moveTo>
                  <a:lnTo>
                    <a:pt x="9753346" y="0"/>
                  </a:lnTo>
                  <a:lnTo>
                    <a:pt x="9753346" y="182880"/>
                  </a:lnTo>
                  <a:lnTo>
                    <a:pt x="0" y="182880"/>
                  </a:lnTo>
                  <a:close/>
                </a:path>
              </a:pathLst>
            </a:custGeom>
            <a:solidFill>
              <a:srgbClr val="0F766E"/>
            </a:solidFill>
          </p:spPr>
        </p:sp>
      </p:grpSp>
      <p:grpSp>
        <p:nvGrpSpPr>
          <p:cNvPr name="Group 6" id="6"/>
          <p:cNvGrpSpPr/>
          <p:nvPr/>
        </p:nvGrpSpPr>
        <p:grpSpPr>
          <a:xfrm rot="0">
            <a:off x="744855" y="292227"/>
            <a:ext cx="7151370" cy="485394"/>
            <a:chOff x="0" y="0"/>
            <a:chExt cx="9535160" cy="647192"/>
          </a:xfrm>
        </p:grpSpPr>
        <p:sp>
          <p:nvSpPr>
            <p:cNvPr name="Freeform 7" id="7"/>
            <p:cNvSpPr/>
            <p:nvPr/>
          </p:nvSpPr>
          <p:spPr>
            <a:xfrm flipH="false" flipV="false" rot="0">
              <a:off x="0" y="0"/>
              <a:ext cx="9535160" cy="647192"/>
            </a:xfrm>
            <a:custGeom>
              <a:avLst/>
              <a:gdLst/>
              <a:ahLst/>
              <a:cxnLst/>
              <a:rect r="r" b="b" t="t" l="l"/>
              <a:pathLst>
                <a:path h="647192" w="9535160">
                  <a:moveTo>
                    <a:pt x="0" y="25908"/>
                  </a:moveTo>
                  <a:cubicBezTo>
                    <a:pt x="0" y="11557"/>
                    <a:pt x="11557" y="0"/>
                    <a:pt x="25908" y="0"/>
                  </a:cubicBezTo>
                  <a:lnTo>
                    <a:pt x="9509252" y="0"/>
                  </a:lnTo>
                  <a:cubicBezTo>
                    <a:pt x="9523603" y="0"/>
                    <a:pt x="9535160" y="11557"/>
                    <a:pt x="9535160" y="25908"/>
                  </a:cubicBezTo>
                  <a:lnTo>
                    <a:pt x="9535160" y="621284"/>
                  </a:lnTo>
                  <a:cubicBezTo>
                    <a:pt x="9535160" y="635635"/>
                    <a:pt x="9523603" y="647192"/>
                    <a:pt x="9509252" y="647192"/>
                  </a:cubicBezTo>
                  <a:lnTo>
                    <a:pt x="25908" y="647192"/>
                  </a:lnTo>
                  <a:cubicBezTo>
                    <a:pt x="11557" y="647192"/>
                    <a:pt x="0" y="635635"/>
                    <a:pt x="0" y="621284"/>
                  </a:cubicBezTo>
                  <a:close/>
                </a:path>
              </a:pathLst>
            </a:custGeom>
            <a:solidFill>
              <a:srgbClr val="EAF7F5"/>
            </a:solidFill>
            <a:ln w="19050" cap="sq">
              <a:solidFill>
                <a:srgbClr val="0F766E"/>
              </a:solidFill>
              <a:prstDash val="solid"/>
              <a:miter/>
            </a:ln>
          </p:spPr>
        </p:sp>
      </p:grpSp>
      <p:grpSp>
        <p:nvGrpSpPr>
          <p:cNvPr name="Group 8" id="8"/>
          <p:cNvGrpSpPr/>
          <p:nvPr/>
        </p:nvGrpSpPr>
        <p:grpSpPr>
          <a:xfrm rot="0">
            <a:off x="850392" y="301752"/>
            <a:ext cx="6926580" cy="466344"/>
            <a:chOff x="0" y="0"/>
            <a:chExt cx="9235440" cy="621792"/>
          </a:xfrm>
        </p:grpSpPr>
        <p:sp>
          <p:nvSpPr>
            <p:cNvPr name="Freeform 9" id="9"/>
            <p:cNvSpPr/>
            <p:nvPr/>
          </p:nvSpPr>
          <p:spPr>
            <a:xfrm flipH="false" flipV="false" rot="0">
              <a:off x="0" y="0"/>
              <a:ext cx="9235440" cy="621792"/>
            </a:xfrm>
            <a:custGeom>
              <a:avLst/>
              <a:gdLst/>
              <a:ahLst/>
              <a:cxnLst/>
              <a:rect r="r" b="b" t="t" l="l"/>
              <a:pathLst>
                <a:path h="621792" w="9235440">
                  <a:moveTo>
                    <a:pt x="0" y="0"/>
                  </a:moveTo>
                  <a:lnTo>
                    <a:pt x="9235440" y="0"/>
                  </a:lnTo>
                  <a:lnTo>
                    <a:pt x="9235440" y="621792"/>
                  </a:lnTo>
                  <a:lnTo>
                    <a:pt x="0" y="621792"/>
                  </a:lnTo>
                  <a:close/>
                </a:path>
              </a:pathLst>
            </a:custGeom>
            <a:blipFill>
              <a:blip r:embed="rId2">
                <a:alphaModFix amt="0"/>
              </a:blip>
              <a:stretch>
                <a:fillRect l="0" t="-239410" r="0" b="-239410"/>
              </a:stretch>
            </a:blipFill>
          </p:spPr>
        </p:sp>
        <p:sp>
          <p:nvSpPr>
            <p:cNvPr name="TextBox 10" id="10"/>
            <p:cNvSpPr txBox="true"/>
            <p:nvPr/>
          </p:nvSpPr>
          <p:spPr>
            <a:xfrm>
              <a:off x="0" y="-9525"/>
              <a:ext cx="9235440" cy="631317"/>
            </a:xfrm>
            <a:prstGeom prst="rect">
              <a:avLst/>
            </a:prstGeom>
          </p:spPr>
          <p:txBody>
            <a:bodyPr anchor="ctr" rtlCol="false" tIns="0" lIns="0" bIns="0" rIns="0"/>
            <a:lstStyle/>
            <a:p>
              <a:pPr algn="l">
                <a:lnSpc>
                  <a:spcPts val="1889"/>
                </a:lnSpc>
              </a:pPr>
              <a:r>
                <a:rPr lang="en-US" sz="1575" b="true">
                  <a:solidFill>
                    <a:srgbClr val="0F766E"/>
                  </a:solidFill>
                  <a:latin typeface="DejaVu Sans Bold"/>
                  <a:ea typeface="DejaVu Sans Bold"/>
                  <a:cs typeface="DejaVu Sans Bold"/>
                  <a:sym typeface="DejaVu Sans Bold"/>
                </a:rPr>
                <a:t>TRẢ LỜI CÂU HỎI 1 • LIÊN HỆ TRỰC TIẾP TÌNH HUỐNG CQ7</a:t>
              </a:r>
            </a:p>
          </p:txBody>
        </p:sp>
      </p:grpSp>
      <p:grpSp>
        <p:nvGrpSpPr>
          <p:cNvPr name="Group 11" id="11"/>
          <p:cNvGrpSpPr/>
          <p:nvPr/>
        </p:nvGrpSpPr>
        <p:grpSpPr>
          <a:xfrm rot="0">
            <a:off x="15704820" y="301752"/>
            <a:ext cx="1824228" cy="466344"/>
            <a:chOff x="0" y="0"/>
            <a:chExt cx="2432304" cy="621792"/>
          </a:xfrm>
        </p:grpSpPr>
        <p:sp>
          <p:nvSpPr>
            <p:cNvPr name="Freeform 12" id="12"/>
            <p:cNvSpPr/>
            <p:nvPr/>
          </p:nvSpPr>
          <p:spPr>
            <a:xfrm flipH="false" flipV="false" rot="0">
              <a:off x="0" y="0"/>
              <a:ext cx="2432304" cy="621792"/>
            </a:xfrm>
            <a:custGeom>
              <a:avLst/>
              <a:gdLst/>
              <a:ahLst/>
              <a:cxnLst/>
              <a:rect r="r" b="b" t="t" l="l"/>
              <a:pathLst>
                <a:path h="621792" w="2432304">
                  <a:moveTo>
                    <a:pt x="0" y="24892"/>
                  </a:moveTo>
                  <a:cubicBezTo>
                    <a:pt x="0" y="11176"/>
                    <a:pt x="11176" y="0"/>
                    <a:pt x="24892" y="0"/>
                  </a:cubicBezTo>
                  <a:lnTo>
                    <a:pt x="2407412" y="0"/>
                  </a:lnTo>
                  <a:cubicBezTo>
                    <a:pt x="2421128" y="0"/>
                    <a:pt x="2432304" y="11176"/>
                    <a:pt x="2432304" y="24892"/>
                  </a:cubicBezTo>
                  <a:lnTo>
                    <a:pt x="2432304" y="596900"/>
                  </a:lnTo>
                  <a:cubicBezTo>
                    <a:pt x="2432304" y="610616"/>
                    <a:pt x="2421128" y="621792"/>
                    <a:pt x="2407412" y="621792"/>
                  </a:cubicBezTo>
                  <a:lnTo>
                    <a:pt x="24892" y="621792"/>
                  </a:lnTo>
                  <a:cubicBezTo>
                    <a:pt x="11176" y="621792"/>
                    <a:pt x="0" y="610616"/>
                    <a:pt x="0" y="596900"/>
                  </a:cubicBezTo>
                  <a:close/>
                </a:path>
              </a:pathLst>
            </a:custGeom>
            <a:solidFill>
              <a:srgbClr val="122645"/>
            </a:solidFill>
          </p:spPr>
        </p:sp>
      </p:grpSp>
      <p:grpSp>
        <p:nvGrpSpPr>
          <p:cNvPr name="Group 13" id="13"/>
          <p:cNvGrpSpPr/>
          <p:nvPr/>
        </p:nvGrpSpPr>
        <p:grpSpPr>
          <a:xfrm rot="0">
            <a:off x="15704820" y="301752"/>
            <a:ext cx="1824228" cy="466344"/>
            <a:chOff x="0" y="0"/>
            <a:chExt cx="2432304" cy="621792"/>
          </a:xfrm>
        </p:grpSpPr>
        <p:sp>
          <p:nvSpPr>
            <p:cNvPr name="Freeform 14" id="14"/>
            <p:cNvSpPr/>
            <p:nvPr/>
          </p:nvSpPr>
          <p:spPr>
            <a:xfrm flipH="false" flipV="false" rot="0">
              <a:off x="0" y="0"/>
              <a:ext cx="2432304" cy="621792"/>
            </a:xfrm>
            <a:custGeom>
              <a:avLst/>
              <a:gdLst/>
              <a:ahLst/>
              <a:cxnLst/>
              <a:rect r="r" b="b" t="t" l="l"/>
              <a:pathLst>
                <a:path h="621792" w="2432304">
                  <a:moveTo>
                    <a:pt x="0" y="0"/>
                  </a:moveTo>
                  <a:lnTo>
                    <a:pt x="2432304" y="0"/>
                  </a:lnTo>
                  <a:lnTo>
                    <a:pt x="2432304" y="621792"/>
                  </a:lnTo>
                  <a:lnTo>
                    <a:pt x="0" y="621792"/>
                  </a:lnTo>
                  <a:close/>
                </a:path>
              </a:pathLst>
            </a:custGeom>
            <a:blipFill>
              <a:blip r:embed="rId2">
                <a:alphaModFix amt="0"/>
              </a:blip>
              <a:stretch>
                <a:fillRect l="0" t="-26220" r="0" b="-26220"/>
              </a:stretch>
            </a:blipFill>
          </p:spPr>
        </p:sp>
        <p:sp>
          <p:nvSpPr>
            <p:cNvPr name="TextBox 15" id="15"/>
            <p:cNvSpPr txBox="true"/>
            <p:nvPr/>
          </p:nvSpPr>
          <p:spPr>
            <a:xfrm>
              <a:off x="0" y="-19050"/>
              <a:ext cx="2432304" cy="640842"/>
            </a:xfrm>
            <a:prstGeom prst="rect">
              <a:avLst/>
            </a:prstGeom>
          </p:spPr>
          <p:txBody>
            <a:bodyPr anchor="ctr" rtlCol="false" tIns="0" lIns="0" bIns="0" rIns="0"/>
            <a:lstStyle/>
            <a:p>
              <a:pPr algn="ctr">
                <a:lnSpc>
                  <a:spcPts val="2700"/>
                </a:lnSpc>
              </a:pPr>
              <a:r>
                <a:rPr lang="en-US" sz="2250" b="true">
                  <a:solidFill>
                    <a:srgbClr val="FFFFFF"/>
                  </a:solidFill>
                  <a:latin typeface="DejaVu Sans Bold"/>
                  <a:ea typeface="DejaVu Sans Bold"/>
                  <a:cs typeface="DejaVu Sans Bold"/>
                  <a:sym typeface="DejaVu Sans Bold"/>
                </a:rPr>
                <a:t>Slide 6 / 15</a:t>
              </a:r>
            </a:p>
          </p:txBody>
        </p:sp>
      </p:grpSp>
      <p:grpSp>
        <p:nvGrpSpPr>
          <p:cNvPr name="Group 16" id="16"/>
          <p:cNvGrpSpPr/>
          <p:nvPr/>
        </p:nvGrpSpPr>
        <p:grpSpPr>
          <a:xfrm rot="0">
            <a:off x="754380" y="850392"/>
            <a:ext cx="16774668" cy="740664"/>
            <a:chOff x="0" y="0"/>
            <a:chExt cx="22366224" cy="987552"/>
          </a:xfrm>
        </p:grpSpPr>
        <p:sp>
          <p:nvSpPr>
            <p:cNvPr name="Freeform 17" id="17"/>
            <p:cNvSpPr/>
            <p:nvPr/>
          </p:nvSpPr>
          <p:spPr>
            <a:xfrm flipH="false" flipV="false" rot="0">
              <a:off x="0" y="0"/>
              <a:ext cx="22366224" cy="987552"/>
            </a:xfrm>
            <a:custGeom>
              <a:avLst/>
              <a:gdLst/>
              <a:ahLst/>
              <a:cxnLst/>
              <a:rect r="r" b="b" t="t" l="l"/>
              <a:pathLst>
                <a:path h="987552" w="22366224">
                  <a:moveTo>
                    <a:pt x="0" y="0"/>
                  </a:moveTo>
                  <a:lnTo>
                    <a:pt x="22366224" y="0"/>
                  </a:lnTo>
                  <a:lnTo>
                    <a:pt x="22366224" y="987552"/>
                  </a:lnTo>
                  <a:lnTo>
                    <a:pt x="0" y="987552"/>
                  </a:lnTo>
                  <a:close/>
                </a:path>
              </a:pathLst>
            </a:custGeom>
            <a:blipFill>
              <a:blip r:embed="rId2">
                <a:alphaModFix amt="0"/>
              </a:blip>
              <a:stretch>
                <a:fillRect l="0" t="-391300" r="0" b="-391300"/>
              </a:stretch>
            </a:blipFill>
          </p:spPr>
        </p:sp>
        <p:sp>
          <p:nvSpPr>
            <p:cNvPr name="TextBox 18" id="18"/>
            <p:cNvSpPr txBox="true"/>
            <p:nvPr/>
          </p:nvSpPr>
          <p:spPr>
            <a:xfrm>
              <a:off x="0" y="-9525"/>
              <a:ext cx="22366224" cy="997077"/>
            </a:xfrm>
            <a:prstGeom prst="rect">
              <a:avLst/>
            </a:prstGeom>
          </p:spPr>
          <p:txBody>
            <a:bodyPr anchor="ctr" rtlCol="false" tIns="0" lIns="0" bIns="0" rIns="0"/>
            <a:lstStyle/>
            <a:p>
              <a:pPr algn="l">
                <a:lnSpc>
                  <a:spcPts val="3869"/>
                </a:lnSpc>
              </a:pPr>
              <a:r>
                <a:rPr lang="en-US" sz="3225" b="true">
                  <a:solidFill>
                    <a:srgbClr val="122645"/>
                  </a:solidFill>
                  <a:latin typeface="DejaVu Sans Bold"/>
                  <a:ea typeface="DejaVu Sans Bold"/>
                  <a:cs typeface="DejaVu Sans Bold"/>
                  <a:sym typeface="DejaVu Sans Bold"/>
                </a:rPr>
                <a:t>Khác biệt bản chất nhìn từ bài toán điều tiết nhà ở đô thị</a:t>
              </a:r>
            </a:p>
          </p:txBody>
        </p:sp>
      </p:grpSp>
      <p:grpSp>
        <p:nvGrpSpPr>
          <p:cNvPr name="Group 19" id="19"/>
          <p:cNvGrpSpPr/>
          <p:nvPr/>
        </p:nvGrpSpPr>
        <p:grpSpPr>
          <a:xfrm rot="0">
            <a:off x="754380" y="1645920"/>
            <a:ext cx="16774668" cy="41148"/>
            <a:chOff x="0" y="0"/>
            <a:chExt cx="22366224" cy="54864"/>
          </a:xfrm>
        </p:grpSpPr>
        <p:sp>
          <p:nvSpPr>
            <p:cNvPr name="Freeform 20" id="20"/>
            <p:cNvSpPr/>
            <p:nvPr/>
          </p:nvSpPr>
          <p:spPr>
            <a:xfrm flipH="false" flipV="false" rot="0">
              <a:off x="0" y="0"/>
              <a:ext cx="22366224" cy="54864"/>
            </a:xfrm>
            <a:custGeom>
              <a:avLst/>
              <a:gdLst/>
              <a:ahLst/>
              <a:cxnLst/>
              <a:rect r="r" b="b" t="t" l="l"/>
              <a:pathLst>
                <a:path h="54864" w="22366224">
                  <a:moveTo>
                    <a:pt x="0" y="0"/>
                  </a:moveTo>
                  <a:lnTo>
                    <a:pt x="22366224" y="0"/>
                  </a:lnTo>
                  <a:lnTo>
                    <a:pt x="22366224" y="54864"/>
                  </a:lnTo>
                  <a:lnTo>
                    <a:pt x="0" y="54864"/>
                  </a:lnTo>
                  <a:close/>
                </a:path>
              </a:pathLst>
            </a:custGeom>
            <a:solidFill>
              <a:srgbClr val="CBD5E1"/>
            </a:solidFill>
          </p:spPr>
        </p:sp>
      </p:grpSp>
      <p:grpSp>
        <p:nvGrpSpPr>
          <p:cNvPr name="Group 21" id="21"/>
          <p:cNvGrpSpPr/>
          <p:nvPr/>
        </p:nvGrpSpPr>
        <p:grpSpPr>
          <a:xfrm rot="0">
            <a:off x="-7144" y="9662636"/>
            <a:ext cx="18301830" cy="631507"/>
            <a:chOff x="0" y="0"/>
            <a:chExt cx="24402440" cy="842010"/>
          </a:xfrm>
        </p:grpSpPr>
        <p:sp>
          <p:nvSpPr>
            <p:cNvPr name="Freeform 22" id="22"/>
            <p:cNvSpPr/>
            <p:nvPr/>
          </p:nvSpPr>
          <p:spPr>
            <a:xfrm flipH="false" flipV="false" rot="0">
              <a:off x="0" y="0"/>
              <a:ext cx="24402414" cy="842010"/>
            </a:xfrm>
            <a:custGeom>
              <a:avLst/>
              <a:gdLst/>
              <a:ahLst/>
              <a:cxnLst/>
              <a:rect r="r" b="b" t="t" l="l"/>
              <a:pathLst>
                <a:path h="842010" w="24402414">
                  <a:moveTo>
                    <a:pt x="0" y="0"/>
                  </a:moveTo>
                  <a:lnTo>
                    <a:pt x="24402414" y="0"/>
                  </a:lnTo>
                  <a:lnTo>
                    <a:pt x="24402414" y="842010"/>
                  </a:lnTo>
                  <a:lnTo>
                    <a:pt x="0" y="842010"/>
                  </a:lnTo>
                  <a:close/>
                </a:path>
              </a:pathLst>
            </a:custGeom>
            <a:solidFill>
              <a:srgbClr val="FFFFFF"/>
            </a:solidFill>
            <a:ln w="14288" cap="sq">
              <a:solidFill>
                <a:srgbClr val="CBD5E1"/>
              </a:solidFill>
              <a:prstDash val="solid"/>
              <a:miter/>
            </a:ln>
          </p:spPr>
        </p:sp>
      </p:grpSp>
      <p:grpSp>
        <p:nvGrpSpPr>
          <p:cNvPr name="Group 23" id="23"/>
          <p:cNvGrpSpPr/>
          <p:nvPr/>
        </p:nvGrpSpPr>
        <p:grpSpPr>
          <a:xfrm rot="0">
            <a:off x="754380" y="9710928"/>
            <a:ext cx="16774668" cy="493776"/>
            <a:chOff x="0" y="0"/>
            <a:chExt cx="22366224" cy="658368"/>
          </a:xfrm>
        </p:grpSpPr>
        <p:sp>
          <p:nvSpPr>
            <p:cNvPr name="Freeform 24" id="24"/>
            <p:cNvSpPr/>
            <p:nvPr/>
          </p:nvSpPr>
          <p:spPr>
            <a:xfrm flipH="false" flipV="false" rot="0">
              <a:off x="0" y="0"/>
              <a:ext cx="22366224" cy="658368"/>
            </a:xfrm>
            <a:custGeom>
              <a:avLst/>
              <a:gdLst/>
              <a:ahLst/>
              <a:cxnLst/>
              <a:rect r="r" b="b" t="t" l="l"/>
              <a:pathLst>
                <a:path h="658368" w="22366224">
                  <a:moveTo>
                    <a:pt x="0" y="0"/>
                  </a:moveTo>
                  <a:lnTo>
                    <a:pt x="22366224" y="0"/>
                  </a:lnTo>
                  <a:lnTo>
                    <a:pt x="22366224" y="658368"/>
                  </a:lnTo>
                  <a:lnTo>
                    <a:pt x="0" y="658368"/>
                  </a:lnTo>
                  <a:close/>
                </a:path>
              </a:pathLst>
            </a:custGeom>
            <a:blipFill>
              <a:blip r:embed="rId2">
                <a:alphaModFix amt="0"/>
              </a:blip>
              <a:stretch>
                <a:fillRect l="0" t="-611950" r="0" b="-611950"/>
              </a:stretch>
            </a:blipFill>
          </p:spPr>
        </p:sp>
        <p:sp>
          <p:nvSpPr>
            <p:cNvPr name="TextBox 25" id="25"/>
            <p:cNvSpPr txBox="true"/>
            <p:nvPr/>
          </p:nvSpPr>
          <p:spPr>
            <a:xfrm>
              <a:off x="0" y="-9525"/>
              <a:ext cx="22366224" cy="667893"/>
            </a:xfrm>
            <a:prstGeom prst="rect">
              <a:avLst/>
            </a:prstGeom>
          </p:spPr>
          <p:txBody>
            <a:bodyPr anchor="ctr" rtlCol="false" tIns="0" lIns="0" bIns="0" rIns="0"/>
            <a:lstStyle/>
            <a:p>
              <a:pPr algn="l">
                <a:lnSpc>
                  <a:spcPts val="2460"/>
                </a:lnSpc>
              </a:pPr>
              <a:r>
                <a:rPr lang="en-US" sz="2050" i="true">
                  <a:solidFill>
                    <a:srgbClr val="475569"/>
                  </a:solidFill>
                  <a:latin typeface="DejaVu Sans Bold Italics"/>
                  <a:ea typeface="DejaVu Sans Bold Italics"/>
                  <a:cs typeface="DejaVu Sans Bold Italics"/>
                  <a:sym typeface="DejaVu Sans Bold Italics"/>
                </a:rPr>
                <a:t>Nguồn đối chiếu: Vận dụng Mục 5.1.3 Giáo trình KTCT Mác – Lênin (2021) vào chính sách nhà ở đô thị Việt Nam.</a:t>
              </a:r>
            </a:p>
          </p:txBody>
        </p:sp>
      </p:grpSp>
      <p:grpSp>
        <p:nvGrpSpPr>
          <p:cNvPr name="Group 26" id="26"/>
          <p:cNvGrpSpPr/>
          <p:nvPr/>
        </p:nvGrpSpPr>
        <p:grpSpPr>
          <a:xfrm rot="0">
            <a:off x="739140" y="1877568"/>
            <a:ext cx="8191500" cy="7601712"/>
            <a:chOff x="0" y="0"/>
            <a:chExt cx="10922000" cy="10135616"/>
          </a:xfrm>
        </p:grpSpPr>
        <p:sp>
          <p:nvSpPr>
            <p:cNvPr name="Freeform 27" id="27"/>
            <p:cNvSpPr/>
            <p:nvPr/>
          </p:nvSpPr>
          <p:spPr>
            <a:xfrm flipH="false" flipV="false" rot="0">
              <a:off x="0" y="0"/>
              <a:ext cx="10922000" cy="10135615"/>
            </a:xfrm>
            <a:custGeom>
              <a:avLst/>
              <a:gdLst/>
              <a:ahLst/>
              <a:cxnLst/>
              <a:rect r="r" b="b" t="t" l="l"/>
              <a:pathLst>
                <a:path h="10135615" w="10922000">
                  <a:moveTo>
                    <a:pt x="0" y="405384"/>
                  </a:moveTo>
                  <a:cubicBezTo>
                    <a:pt x="0" y="181483"/>
                    <a:pt x="181483" y="0"/>
                    <a:pt x="405384" y="0"/>
                  </a:cubicBezTo>
                  <a:lnTo>
                    <a:pt x="10516616" y="0"/>
                  </a:lnTo>
                  <a:cubicBezTo>
                    <a:pt x="10740517" y="0"/>
                    <a:pt x="10922000" y="181483"/>
                    <a:pt x="10922000" y="405384"/>
                  </a:cubicBezTo>
                  <a:lnTo>
                    <a:pt x="10922000" y="9730232"/>
                  </a:lnTo>
                  <a:cubicBezTo>
                    <a:pt x="10922000" y="9954133"/>
                    <a:pt x="10740517" y="10135615"/>
                    <a:pt x="10516616" y="10135615"/>
                  </a:cubicBezTo>
                  <a:lnTo>
                    <a:pt x="405384" y="10135615"/>
                  </a:lnTo>
                  <a:cubicBezTo>
                    <a:pt x="181483" y="10135616"/>
                    <a:pt x="0" y="9954133"/>
                    <a:pt x="0" y="9730232"/>
                  </a:cubicBezTo>
                  <a:close/>
                </a:path>
              </a:pathLst>
            </a:custGeom>
            <a:solidFill>
              <a:srgbClr val="FFFFFF"/>
            </a:solidFill>
            <a:ln w="30480" cap="sq">
              <a:solidFill>
                <a:srgbClr val="C25915"/>
              </a:solidFill>
              <a:prstDash val="solid"/>
              <a:miter/>
            </a:ln>
          </p:spPr>
        </p:sp>
      </p:grpSp>
      <p:grpSp>
        <p:nvGrpSpPr>
          <p:cNvPr name="Group 28" id="28"/>
          <p:cNvGrpSpPr/>
          <p:nvPr/>
        </p:nvGrpSpPr>
        <p:grpSpPr>
          <a:xfrm rot="0">
            <a:off x="946404" y="2057400"/>
            <a:ext cx="7776972" cy="3346704"/>
            <a:chOff x="0" y="0"/>
            <a:chExt cx="10369296" cy="4462272"/>
          </a:xfrm>
        </p:grpSpPr>
        <p:sp>
          <p:nvSpPr>
            <p:cNvPr name="Freeform 29" id="29" descr="image5.jpg"/>
            <p:cNvSpPr/>
            <p:nvPr/>
          </p:nvSpPr>
          <p:spPr>
            <a:xfrm flipH="false" flipV="false" rot="0">
              <a:off x="0" y="0"/>
              <a:ext cx="10369296" cy="4462272"/>
            </a:xfrm>
            <a:custGeom>
              <a:avLst/>
              <a:gdLst/>
              <a:ahLst/>
              <a:cxnLst/>
              <a:rect r="r" b="b" t="t" l="l"/>
              <a:pathLst>
                <a:path h="4462272" w="10369296">
                  <a:moveTo>
                    <a:pt x="0" y="0"/>
                  </a:moveTo>
                  <a:lnTo>
                    <a:pt x="10369296" y="0"/>
                  </a:lnTo>
                  <a:lnTo>
                    <a:pt x="10369296" y="4462272"/>
                  </a:lnTo>
                  <a:lnTo>
                    <a:pt x="0" y="4462272"/>
                  </a:lnTo>
                  <a:lnTo>
                    <a:pt x="0" y="0"/>
                  </a:lnTo>
                  <a:close/>
                </a:path>
              </a:pathLst>
            </a:custGeom>
            <a:blipFill>
              <a:blip r:embed="rId3"/>
              <a:stretch>
                <a:fillRect l="0" t="-1527" r="0" b="-1526"/>
              </a:stretch>
            </a:blipFill>
          </p:spPr>
        </p:sp>
      </p:grpSp>
      <p:grpSp>
        <p:nvGrpSpPr>
          <p:cNvPr name="Group 30" id="30"/>
          <p:cNvGrpSpPr/>
          <p:nvPr/>
        </p:nvGrpSpPr>
        <p:grpSpPr>
          <a:xfrm rot="0">
            <a:off x="946404" y="5431536"/>
            <a:ext cx="7776972" cy="466344"/>
            <a:chOff x="0" y="0"/>
            <a:chExt cx="10369296" cy="621792"/>
          </a:xfrm>
        </p:grpSpPr>
        <p:sp>
          <p:nvSpPr>
            <p:cNvPr name="Freeform 31" id="31"/>
            <p:cNvSpPr/>
            <p:nvPr/>
          </p:nvSpPr>
          <p:spPr>
            <a:xfrm flipH="false" flipV="false" rot="0">
              <a:off x="0" y="0"/>
              <a:ext cx="10369296" cy="621792"/>
            </a:xfrm>
            <a:custGeom>
              <a:avLst/>
              <a:gdLst/>
              <a:ahLst/>
              <a:cxnLst/>
              <a:rect r="r" b="b" t="t" l="l"/>
              <a:pathLst>
                <a:path h="621792" w="10369296">
                  <a:moveTo>
                    <a:pt x="0" y="0"/>
                  </a:moveTo>
                  <a:lnTo>
                    <a:pt x="10369296" y="0"/>
                  </a:lnTo>
                  <a:lnTo>
                    <a:pt x="10369296" y="621792"/>
                  </a:lnTo>
                  <a:lnTo>
                    <a:pt x="0" y="621792"/>
                  </a:lnTo>
                  <a:close/>
                </a:path>
              </a:pathLst>
            </a:custGeom>
            <a:solidFill>
              <a:srgbClr val="F1F5F9"/>
            </a:solidFill>
          </p:spPr>
        </p:sp>
      </p:grpSp>
      <p:grpSp>
        <p:nvGrpSpPr>
          <p:cNvPr name="Group 32" id="32"/>
          <p:cNvGrpSpPr/>
          <p:nvPr/>
        </p:nvGrpSpPr>
        <p:grpSpPr>
          <a:xfrm rot="0">
            <a:off x="1028700" y="5431536"/>
            <a:ext cx="7612380" cy="466344"/>
            <a:chOff x="0" y="0"/>
            <a:chExt cx="10149840" cy="621792"/>
          </a:xfrm>
        </p:grpSpPr>
        <p:sp>
          <p:nvSpPr>
            <p:cNvPr name="Freeform 33" id="33"/>
            <p:cNvSpPr/>
            <p:nvPr/>
          </p:nvSpPr>
          <p:spPr>
            <a:xfrm flipH="false" flipV="false" rot="0">
              <a:off x="0" y="0"/>
              <a:ext cx="10149840" cy="621792"/>
            </a:xfrm>
            <a:custGeom>
              <a:avLst/>
              <a:gdLst/>
              <a:ahLst/>
              <a:cxnLst/>
              <a:rect r="r" b="b" t="t" l="l"/>
              <a:pathLst>
                <a:path h="621792" w="10149840">
                  <a:moveTo>
                    <a:pt x="0" y="0"/>
                  </a:moveTo>
                  <a:lnTo>
                    <a:pt x="10149840" y="0"/>
                  </a:lnTo>
                  <a:lnTo>
                    <a:pt x="10149840" y="621792"/>
                  </a:lnTo>
                  <a:lnTo>
                    <a:pt x="0" y="621792"/>
                  </a:lnTo>
                  <a:close/>
                </a:path>
              </a:pathLst>
            </a:custGeom>
            <a:blipFill>
              <a:blip r:embed="rId2">
                <a:alphaModFix amt="0"/>
              </a:blip>
              <a:stretch>
                <a:fillRect l="0" t="-268064" r="0" b="-268064"/>
              </a:stretch>
            </a:blipFill>
          </p:spPr>
        </p:sp>
        <p:sp>
          <p:nvSpPr>
            <p:cNvPr name="TextBox 34" id="34"/>
            <p:cNvSpPr txBox="true"/>
            <p:nvPr/>
          </p:nvSpPr>
          <p:spPr>
            <a:xfrm>
              <a:off x="0" y="0"/>
              <a:ext cx="10149840" cy="621792"/>
            </a:xfrm>
            <a:prstGeom prst="rect">
              <a:avLst/>
            </a:prstGeom>
          </p:spPr>
          <p:txBody>
            <a:bodyPr anchor="ctr" rtlCol="false" tIns="0" lIns="0" bIns="0" rIns="0"/>
            <a:lstStyle/>
            <a:p>
              <a:pPr algn="l">
                <a:lnSpc>
                  <a:spcPts val="1692"/>
                </a:lnSpc>
              </a:pPr>
              <a:r>
                <a:rPr lang="en-US" sz="1410" b="true">
                  <a:solidFill>
                    <a:srgbClr val="1E293B"/>
                  </a:solidFill>
                  <a:latin typeface="DejaVu Sans Bold"/>
                  <a:ea typeface="DejaVu Sans Bold"/>
                  <a:cs typeface="DejaVu Sans Bold"/>
                  <a:sym typeface="DejaVu Sans Bold"/>
                </a:rPr>
                <a:t>Ảnh thật: Cụm chung cư thương mại cao tầng tại Hà Nội | Nguồn: Báo Tuổi Trẻ</a:t>
              </a:r>
            </a:p>
          </p:txBody>
        </p:sp>
      </p:grpSp>
      <p:sp>
        <p:nvSpPr>
          <p:cNvPr name="TextBox 35" id="35"/>
          <p:cNvSpPr txBox="true"/>
          <p:nvPr/>
        </p:nvSpPr>
        <p:spPr>
          <a:xfrm rot="0">
            <a:off x="1083564" y="5997702"/>
            <a:ext cx="7776972" cy="3306051"/>
          </a:xfrm>
          <a:prstGeom prst="rect">
            <a:avLst/>
          </a:prstGeom>
        </p:spPr>
        <p:txBody>
          <a:bodyPr anchor="t" rtlCol="false" tIns="0" lIns="0" bIns="0" rIns="0">
            <a:spAutoFit/>
          </a:bodyPr>
          <a:lstStyle/>
          <a:p>
            <a:pPr algn="l">
              <a:lnSpc>
                <a:spcPts val="2700"/>
              </a:lnSpc>
            </a:pPr>
            <a:r>
              <a:rPr lang="en-US" sz="2250" b="true">
                <a:solidFill>
                  <a:srgbClr val="C25915"/>
                </a:solidFill>
                <a:latin typeface="DejaVu Sans Bold"/>
                <a:ea typeface="DejaVu Sans Bold"/>
                <a:cs typeface="DejaVu Sans Bold"/>
                <a:sym typeface="DejaVu Sans Bold"/>
              </a:rPr>
              <a:t>KỊCH BẢN CHỈ DỰA VÀO TÍN HIỆU LỢI NHUẬN THỊ TRƯỜNG:</a:t>
            </a:r>
          </a:p>
          <a:p>
            <a:pPr algn="l">
              <a:lnSpc>
                <a:spcPts val="2700"/>
              </a:lnSpc>
            </a:pPr>
            <a:r>
              <a:rPr lang="en-US" sz="2250">
                <a:solidFill>
                  <a:srgbClr val="1E293B"/>
                </a:solidFill>
                <a:latin typeface="DejaVu Sans Light"/>
                <a:ea typeface="DejaVu Sans Light"/>
                <a:cs typeface="DejaVu Sans Light"/>
                <a:sym typeface="DejaVu Sans Light"/>
              </a:rPr>
              <a:t>• Khi thiếu chính sách điều tiết, nguồn vốn có xu hướng ưu tiên phân khúc thương mại có tỷ suất lợi nhuận cao.</a:t>
            </a:r>
          </a:p>
          <a:p>
            <a:pPr algn="l">
              <a:lnSpc>
                <a:spcPts val="2700"/>
              </a:lnSpc>
            </a:pPr>
            <a:r>
              <a:rPr lang="en-US" sz="2250">
                <a:solidFill>
                  <a:srgbClr val="1E293B"/>
                </a:solidFill>
                <a:latin typeface="DejaVu Sans Light"/>
                <a:ea typeface="DejaVu Sans Light"/>
                <a:cs typeface="DejaVu Sans Light"/>
                <a:sym typeface="DejaVu Sans Light"/>
              </a:rPr>
              <a:t>• Nhu cầu nhà ở thực của nhóm người có khả năng thanh toán thấp chưa được đáp ứng đầy đủ.</a:t>
            </a:r>
          </a:p>
          <a:p>
            <a:pPr algn="l">
              <a:lnSpc>
                <a:spcPts val="2700"/>
              </a:lnSpc>
            </a:pPr>
            <a:r>
              <a:rPr lang="en-US" sz="2250">
                <a:solidFill>
                  <a:srgbClr val="1E293B"/>
                </a:solidFill>
                <a:latin typeface="DejaVu Sans Light"/>
                <a:ea typeface="DejaVu Sans Light"/>
                <a:cs typeface="DejaVu Sans Light"/>
                <a:sym typeface="DejaVu Sans Light"/>
              </a:rPr>
              <a:t>• Khoảng cách giữa giá nhà thương mại và thu nhập người trẻ ngày càng nới rộng.</a:t>
            </a:r>
          </a:p>
        </p:txBody>
      </p:sp>
      <p:grpSp>
        <p:nvGrpSpPr>
          <p:cNvPr name="Group 36" id="36"/>
          <p:cNvGrpSpPr/>
          <p:nvPr/>
        </p:nvGrpSpPr>
        <p:grpSpPr>
          <a:xfrm rot="0">
            <a:off x="9350883" y="1875663"/>
            <a:ext cx="8195310" cy="7605522"/>
            <a:chOff x="0" y="0"/>
            <a:chExt cx="10927080" cy="10140696"/>
          </a:xfrm>
        </p:grpSpPr>
        <p:sp>
          <p:nvSpPr>
            <p:cNvPr name="Freeform 37" id="37"/>
            <p:cNvSpPr/>
            <p:nvPr/>
          </p:nvSpPr>
          <p:spPr>
            <a:xfrm flipH="false" flipV="false" rot="0">
              <a:off x="0" y="0"/>
              <a:ext cx="10927080" cy="10140696"/>
            </a:xfrm>
            <a:custGeom>
              <a:avLst/>
              <a:gdLst/>
              <a:ahLst/>
              <a:cxnLst/>
              <a:rect r="r" b="b" t="t" l="l"/>
              <a:pathLst>
                <a:path h="10140696" w="10927080">
                  <a:moveTo>
                    <a:pt x="0" y="405638"/>
                  </a:moveTo>
                  <a:cubicBezTo>
                    <a:pt x="0" y="181610"/>
                    <a:pt x="181610" y="0"/>
                    <a:pt x="405638" y="0"/>
                  </a:cubicBezTo>
                  <a:lnTo>
                    <a:pt x="10521442" y="0"/>
                  </a:lnTo>
                  <a:cubicBezTo>
                    <a:pt x="10745470" y="0"/>
                    <a:pt x="10927080" y="181610"/>
                    <a:pt x="10927080" y="405638"/>
                  </a:cubicBezTo>
                  <a:lnTo>
                    <a:pt x="10927080" y="9735058"/>
                  </a:lnTo>
                  <a:cubicBezTo>
                    <a:pt x="10927080" y="9959086"/>
                    <a:pt x="10745470" y="10140696"/>
                    <a:pt x="10521442" y="10140696"/>
                  </a:cubicBezTo>
                  <a:lnTo>
                    <a:pt x="405638" y="10140696"/>
                  </a:lnTo>
                  <a:cubicBezTo>
                    <a:pt x="181610" y="10140696"/>
                    <a:pt x="0" y="9959086"/>
                    <a:pt x="0" y="9735058"/>
                  </a:cubicBezTo>
                  <a:close/>
                </a:path>
              </a:pathLst>
            </a:custGeom>
            <a:solidFill>
              <a:srgbClr val="EAF7F5"/>
            </a:solidFill>
            <a:ln w="34290" cap="sq">
              <a:solidFill>
                <a:srgbClr val="0F766E"/>
              </a:solidFill>
              <a:prstDash val="solid"/>
              <a:miter/>
            </a:ln>
          </p:spPr>
        </p:sp>
      </p:grpSp>
      <p:grpSp>
        <p:nvGrpSpPr>
          <p:cNvPr name="Group 38" id="38"/>
          <p:cNvGrpSpPr/>
          <p:nvPr/>
        </p:nvGrpSpPr>
        <p:grpSpPr>
          <a:xfrm rot="0">
            <a:off x="9560052" y="2057400"/>
            <a:ext cx="7776972" cy="3346704"/>
            <a:chOff x="0" y="0"/>
            <a:chExt cx="10369296" cy="4462272"/>
          </a:xfrm>
        </p:grpSpPr>
        <p:sp>
          <p:nvSpPr>
            <p:cNvPr name="Freeform 39" id="39" descr="image6.jpg"/>
            <p:cNvSpPr/>
            <p:nvPr/>
          </p:nvSpPr>
          <p:spPr>
            <a:xfrm flipH="false" flipV="false" rot="0">
              <a:off x="0" y="0"/>
              <a:ext cx="10369296" cy="4462272"/>
            </a:xfrm>
            <a:custGeom>
              <a:avLst/>
              <a:gdLst/>
              <a:ahLst/>
              <a:cxnLst/>
              <a:rect r="r" b="b" t="t" l="l"/>
              <a:pathLst>
                <a:path h="4462272" w="10369296">
                  <a:moveTo>
                    <a:pt x="0" y="0"/>
                  </a:moveTo>
                  <a:lnTo>
                    <a:pt x="10369296" y="0"/>
                  </a:lnTo>
                  <a:lnTo>
                    <a:pt x="10369296" y="4462272"/>
                  </a:lnTo>
                  <a:lnTo>
                    <a:pt x="0" y="4462272"/>
                  </a:lnTo>
                  <a:lnTo>
                    <a:pt x="0" y="0"/>
                  </a:lnTo>
                  <a:close/>
                </a:path>
              </a:pathLst>
            </a:custGeom>
            <a:blipFill>
              <a:blip r:embed="rId4"/>
              <a:stretch>
                <a:fillRect l="0" t="-1527" r="0" b="-1526"/>
              </a:stretch>
            </a:blipFill>
          </p:spPr>
        </p:sp>
      </p:grpSp>
      <p:grpSp>
        <p:nvGrpSpPr>
          <p:cNvPr name="Group 40" id="40"/>
          <p:cNvGrpSpPr/>
          <p:nvPr/>
        </p:nvGrpSpPr>
        <p:grpSpPr>
          <a:xfrm rot="0">
            <a:off x="9560052" y="5431536"/>
            <a:ext cx="7776972" cy="466344"/>
            <a:chOff x="0" y="0"/>
            <a:chExt cx="10369296" cy="621792"/>
          </a:xfrm>
        </p:grpSpPr>
        <p:sp>
          <p:nvSpPr>
            <p:cNvPr name="Freeform 41" id="41"/>
            <p:cNvSpPr/>
            <p:nvPr/>
          </p:nvSpPr>
          <p:spPr>
            <a:xfrm flipH="false" flipV="false" rot="0">
              <a:off x="0" y="0"/>
              <a:ext cx="10369296" cy="621792"/>
            </a:xfrm>
            <a:custGeom>
              <a:avLst/>
              <a:gdLst/>
              <a:ahLst/>
              <a:cxnLst/>
              <a:rect r="r" b="b" t="t" l="l"/>
              <a:pathLst>
                <a:path h="621792" w="10369296">
                  <a:moveTo>
                    <a:pt x="0" y="0"/>
                  </a:moveTo>
                  <a:lnTo>
                    <a:pt x="10369296" y="0"/>
                  </a:lnTo>
                  <a:lnTo>
                    <a:pt x="10369296" y="621792"/>
                  </a:lnTo>
                  <a:lnTo>
                    <a:pt x="0" y="621792"/>
                  </a:lnTo>
                  <a:close/>
                </a:path>
              </a:pathLst>
            </a:custGeom>
            <a:solidFill>
              <a:srgbClr val="FFFFFF"/>
            </a:solidFill>
          </p:spPr>
        </p:sp>
      </p:grpSp>
      <p:grpSp>
        <p:nvGrpSpPr>
          <p:cNvPr name="Group 42" id="42"/>
          <p:cNvGrpSpPr/>
          <p:nvPr/>
        </p:nvGrpSpPr>
        <p:grpSpPr>
          <a:xfrm rot="0">
            <a:off x="9642348" y="5431536"/>
            <a:ext cx="7612380" cy="466344"/>
            <a:chOff x="0" y="0"/>
            <a:chExt cx="10149840" cy="621792"/>
          </a:xfrm>
        </p:grpSpPr>
        <p:sp>
          <p:nvSpPr>
            <p:cNvPr name="Freeform 43" id="43"/>
            <p:cNvSpPr/>
            <p:nvPr/>
          </p:nvSpPr>
          <p:spPr>
            <a:xfrm flipH="false" flipV="false" rot="0">
              <a:off x="0" y="0"/>
              <a:ext cx="10149840" cy="621792"/>
            </a:xfrm>
            <a:custGeom>
              <a:avLst/>
              <a:gdLst/>
              <a:ahLst/>
              <a:cxnLst/>
              <a:rect r="r" b="b" t="t" l="l"/>
              <a:pathLst>
                <a:path h="621792" w="10149840">
                  <a:moveTo>
                    <a:pt x="0" y="0"/>
                  </a:moveTo>
                  <a:lnTo>
                    <a:pt x="10149840" y="0"/>
                  </a:lnTo>
                  <a:lnTo>
                    <a:pt x="10149840" y="621792"/>
                  </a:lnTo>
                  <a:lnTo>
                    <a:pt x="0" y="621792"/>
                  </a:lnTo>
                  <a:close/>
                </a:path>
              </a:pathLst>
            </a:custGeom>
            <a:blipFill>
              <a:blip r:embed="rId2">
                <a:alphaModFix amt="0"/>
              </a:blip>
              <a:stretch>
                <a:fillRect l="0" t="-268064" r="0" b="-268064"/>
              </a:stretch>
            </a:blipFill>
          </p:spPr>
        </p:sp>
        <p:sp>
          <p:nvSpPr>
            <p:cNvPr name="TextBox 44" id="44"/>
            <p:cNvSpPr txBox="true"/>
            <p:nvPr/>
          </p:nvSpPr>
          <p:spPr>
            <a:xfrm>
              <a:off x="0" y="0"/>
              <a:ext cx="10149840" cy="621792"/>
            </a:xfrm>
            <a:prstGeom prst="rect">
              <a:avLst/>
            </a:prstGeom>
          </p:spPr>
          <p:txBody>
            <a:bodyPr anchor="ctr" rtlCol="false" tIns="0" lIns="0" bIns="0" rIns="0"/>
            <a:lstStyle/>
            <a:p>
              <a:pPr algn="l">
                <a:lnSpc>
                  <a:spcPts val="1692"/>
                </a:lnSpc>
              </a:pPr>
              <a:r>
                <a:rPr lang="en-US" sz="1410" b="true">
                  <a:solidFill>
                    <a:srgbClr val="1E293B"/>
                  </a:solidFill>
                  <a:latin typeface="DejaVu Sans Bold"/>
                  <a:ea typeface="DejaVu Sans Bold"/>
                  <a:cs typeface="DejaVu Sans Bold"/>
                  <a:sym typeface="DejaVu Sans Bold"/>
                </a:rPr>
                <a:t>Ảnh thật: Khu đô thị NOXH Đặng Xá – Gia Lâm, Hà Nội | Nguồn: Viglacera – Bộ Xây dựng</a:t>
              </a:r>
            </a:p>
          </p:txBody>
        </p:sp>
      </p:grpSp>
      <p:sp>
        <p:nvSpPr>
          <p:cNvPr name="TextBox 45" id="45"/>
          <p:cNvSpPr txBox="true"/>
          <p:nvPr/>
        </p:nvSpPr>
        <p:spPr>
          <a:xfrm rot="0">
            <a:off x="9697212" y="5997702"/>
            <a:ext cx="7776972" cy="3015196"/>
          </a:xfrm>
          <a:prstGeom prst="rect">
            <a:avLst/>
          </a:prstGeom>
        </p:spPr>
        <p:txBody>
          <a:bodyPr anchor="t" rtlCol="false" tIns="0" lIns="0" bIns="0" rIns="0">
            <a:spAutoFit/>
          </a:bodyPr>
          <a:lstStyle/>
          <a:p>
            <a:pPr algn="l">
              <a:lnSpc>
                <a:spcPts val="2520"/>
              </a:lnSpc>
            </a:pPr>
            <a:r>
              <a:rPr lang="en-US" sz="2100" b="true">
                <a:solidFill>
                  <a:srgbClr val="0F766E"/>
                </a:solidFill>
                <a:latin typeface="DejaVu Sans Bold"/>
                <a:ea typeface="DejaVu Sans Bold"/>
                <a:cs typeface="DejaVu Sans Bold"/>
                <a:sym typeface="DejaVu Sans Bold"/>
              </a:rPr>
              <a:t>MÔ HÌNH KTTT ĐỊNH HƯỚNG XHCN Ở VIỆT NAM:</a:t>
            </a:r>
          </a:p>
          <a:p>
            <a:pPr algn="l">
              <a:lnSpc>
                <a:spcPts val="2520"/>
              </a:lnSpc>
            </a:pPr>
            <a:r>
              <a:rPr lang="en-US" sz="2100">
                <a:solidFill>
                  <a:srgbClr val="0B192E"/>
                </a:solidFill>
                <a:latin typeface="DejaVu Sans Light"/>
                <a:ea typeface="DejaVu Sans Light"/>
                <a:cs typeface="DejaVu Sans Light"/>
                <a:sym typeface="DejaVu Sans Light"/>
              </a:rPr>
              <a:t>• Tôn trọng cơ chế thị trường ở phân khúc thương mại; đồng thời xác định chỗ ở cơ bản là trụ cột an sinh xã hội.</a:t>
            </a:r>
          </a:p>
          <a:p>
            <a:pPr algn="l">
              <a:lnSpc>
                <a:spcPts val="2520"/>
              </a:lnSpc>
            </a:pPr>
            <a:r>
              <a:rPr lang="en-US" sz="2100">
                <a:solidFill>
                  <a:srgbClr val="0B192E"/>
                </a:solidFill>
                <a:latin typeface="DejaVu Sans Light"/>
                <a:ea typeface="DejaVu Sans Light"/>
                <a:cs typeface="DejaVu Sans Light"/>
                <a:sym typeface="DejaVu Sans Light"/>
              </a:rPr>
              <a:t>• Không tùy tiện ép doanh nghiệp bán dưới chi phí; kết hợp nghĩa vụ luật định với đòn bẩy khuyến khích kinh tế.</a:t>
            </a:r>
          </a:p>
          <a:p>
            <a:pPr algn="l">
              <a:lnSpc>
                <a:spcPts val="2520"/>
              </a:lnSpc>
            </a:pPr>
            <a:r>
              <a:rPr lang="en-US" sz="2100">
                <a:solidFill>
                  <a:srgbClr val="0B192E"/>
                </a:solidFill>
                <a:latin typeface="DejaVu Sans Light"/>
                <a:ea typeface="DejaVu Sans Light"/>
                <a:cs typeface="DejaVu Sans Light"/>
                <a:sym typeface="DejaVu Sans Light"/>
              </a:rPr>
              <a:t>• Nhà nước chủ động kiến tạo thể chế, tín dụng ưu đãi &amp; quỹ NOXH cho người lao động.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7543" cy="137160"/>
            <a:chOff x="0" y="0"/>
            <a:chExt cx="24383390" cy="182880"/>
          </a:xfrm>
        </p:grpSpPr>
        <p:sp>
          <p:nvSpPr>
            <p:cNvPr name="Freeform 3" id="3"/>
            <p:cNvSpPr/>
            <p:nvPr/>
          </p:nvSpPr>
          <p:spPr>
            <a:xfrm flipH="false" flipV="false" rot="0">
              <a:off x="0" y="0"/>
              <a:ext cx="24383364" cy="182880"/>
            </a:xfrm>
            <a:custGeom>
              <a:avLst/>
              <a:gdLst/>
              <a:ahLst/>
              <a:cxnLst/>
              <a:rect r="r" b="b" t="t" l="l"/>
              <a:pathLst>
                <a:path h="182880" w="24383364">
                  <a:moveTo>
                    <a:pt x="0" y="0"/>
                  </a:moveTo>
                  <a:lnTo>
                    <a:pt x="24383364" y="0"/>
                  </a:lnTo>
                  <a:lnTo>
                    <a:pt x="24383364" y="182880"/>
                  </a:lnTo>
                  <a:lnTo>
                    <a:pt x="0" y="182880"/>
                  </a:lnTo>
                  <a:close/>
                </a:path>
              </a:pathLst>
            </a:custGeom>
            <a:solidFill>
              <a:srgbClr val="122645"/>
            </a:solidFill>
          </p:spPr>
        </p:sp>
      </p:grpSp>
      <p:grpSp>
        <p:nvGrpSpPr>
          <p:cNvPr name="Group 4" id="4"/>
          <p:cNvGrpSpPr/>
          <p:nvPr/>
        </p:nvGrpSpPr>
        <p:grpSpPr>
          <a:xfrm rot="0">
            <a:off x="0" y="0"/>
            <a:ext cx="8534181" cy="137160"/>
            <a:chOff x="0" y="0"/>
            <a:chExt cx="11378908" cy="182880"/>
          </a:xfrm>
        </p:grpSpPr>
        <p:sp>
          <p:nvSpPr>
            <p:cNvPr name="Freeform 5" id="5"/>
            <p:cNvSpPr/>
            <p:nvPr/>
          </p:nvSpPr>
          <p:spPr>
            <a:xfrm flipH="false" flipV="false" rot="0">
              <a:off x="0" y="0"/>
              <a:ext cx="11378946" cy="182880"/>
            </a:xfrm>
            <a:custGeom>
              <a:avLst/>
              <a:gdLst/>
              <a:ahLst/>
              <a:cxnLst/>
              <a:rect r="r" b="b" t="t" l="l"/>
              <a:pathLst>
                <a:path h="182880" w="11378946">
                  <a:moveTo>
                    <a:pt x="0" y="0"/>
                  </a:moveTo>
                  <a:lnTo>
                    <a:pt x="11378946" y="0"/>
                  </a:lnTo>
                  <a:lnTo>
                    <a:pt x="11378946" y="182880"/>
                  </a:lnTo>
                  <a:lnTo>
                    <a:pt x="0" y="182880"/>
                  </a:lnTo>
                  <a:close/>
                </a:path>
              </a:pathLst>
            </a:custGeom>
            <a:solidFill>
              <a:srgbClr val="0369A1"/>
            </a:solidFill>
          </p:spPr>
        </p:sp>
      </p:grpSp>
      <p:grpSp>
        <p:nvGrpSpPr>
          <p:cNvPr name="Group 6" id="6"/>
          <p:cNvGrpSpPr/>
          <p:nvPr/>
        </p:nvGrpSpPr>
        <p:grpSpPr>
          <a:xfrm rot="0">
            <a:off x="744855" y="292227"/>
            <a:ext cx="7151370" cy="485394"/>
            <a:chOff x="0" y="0"/>
            <a:chExt cx="9535160" cy="647192"/>
          </a:xfrm>
        </p:grpSpPr>
        <p:sp>
          <p:nvSpPr>
            <p:cNvPr name="Freeform 7" id="7"/>
            <p:cNvSpPr/>
            <p:nvPr/>
          </p:nvSpPr>
          <p:spPr>
            <a:xfrm flipH="false" flipV="false" rot="0">
              <a:off x="0" y="0"/>
              <a:ext cx="9535160" cy="647192"/>
            </a:xfrm>
            <a:custGeom>
              <a:avLst/>
              <a:gdLst/>
              <a:ahLst/>
              <a:cxnLst/>
              <a:rect r="r" b="b" t="t" l="l"/>
              <a:pathLst>
                <a:path h="647192" w="9535160">
                  <a:moveTo>
                    <a:pt x="0" y="25908"/>
                  </a:moveTo>
                  <a:cubicBezTo>
                    <a:pt x="0" y="11557"/>
                    <a:pt x="11557" y="0"/>
                    <a:pt x="25908" y="0"/>
                  </a:cubicBezTo>
                  <a:lnTo>
                    <a:pt x="9509252" y="0"/>
                  </a:lnTo>
                  <a:cubicBezTo>
                    <a:pt x="9523603" y="0"/>
                    <a:pt x="9535160" y="11557"/>
                    <a:pt x="9535160" y="25908"/>
                  </a:cubicBezTo>
                  <a:lnTo>
                    <a:pt x="9535160" y="621284"/>
                  </a:lnTo>
                  <a:cubicBezTo>
                    <a:pt x="9535160" y="635635"/>
                    <a:pt x="9523603" y="647192"/>
                    <a:pt x="9509252" y="647192"/>
                  </a:cubicBezTo>
                  <a:lnTo>
                    <a:pt x="25908" y="647192"/>
                  </a:lnTo>
                  <a:cubicBezTo>
                    <a:pt x="11557" y="647192"/>
                    <a:pt x="0" y="635635"/>
                    <a:pt x="0" y="621284"/>
                  </a:cubicBezTo>
                  <a:close/>
                </a:path>
              </a:pathLst>
            </a:custGeom>
            <a:solidFill>
              <a:srgbClr val="EEF6FC"/>
            </a:solidFill>
            <a:ln w="19050" cap="sq">
              <a:solidFill>
                <a:srgbClr val="0369A1"/>
              </a:solidFill>
              <a:prstDash val="solid"/>
              <a:miter/>
            </a:ln>
          </p:spPr>
        </p:sp>
      </p:grpSp>
      <p:grpSp>
        <p:nvGrpSpPr>
          <p:cNvPr name="Group 8" id="8"/>
          <p:cNvGrpSpPr/>
          <p:nvPr/>
        </p:nvGrpSpPr>
        <p:grpSpPr>
          <a:xfrm rot="0">
            <a:off x="850392" y="301752"/>
            <a:ext cx="6926580" cy="466344"/>
            <a:chOff x="0" y="0"/>
            <a:chExt cx="9235440" cy="621792"/>
          </a:xfrm>
        </p:grpSpPr>
        <p:sp>
          <p:nvSpPr>
            <p:cNvPr name="Freeform 9" id="9"/>
            <p:cNvSpPr/>
            <p:nvPr/>
          </p:nvSpPr>
          <p:spPr>
            <a:xfrm flipH="false" flipV="false" rot="0">
              <a:off x="0" y="0"/>
              <a:ext cx="9235440" cy="621792"/>
            </a:xfrm>
            <a:custGeom>
              <a:avLst/>
              <a:gdLst/>
              <a:ahLst/>
              <a:cxnLst/>
              <a:rect r="r" b="b" t="t" l="l"/>
              <a:pathLst>
                <a:path h="621792" w="9235440">
                  <a:moveTo>
                    <a:pt x="0" y="0"/>
                  </a:moveTo>
                  <a:lnTo>
                    <a:pt x="9235440" y="0"/>
                  </a:lnTo>
                  <a:lnTo>
                    <a:pt x="9235440" y="621792"/>
                  </a:lnTo>
                  <a:lnTo>
                    <a:pt x="0" y="621792"/>
                  </a:lnTo>
                  <a:close/>
                </a:path>
              </a:pathLst>
            </a:custGeom>
            <a:blipFill>
              <a:blip r:embed="rId2">
                <a:alphaModFix amt="0"/>
              </a:blip>
              <a:stretch>
                <a:fillRect l="0" t="-239410" r="0" b="-239410"/>
              </a:stretch>
            </a:blipFill>
          </p:spPr>
        </p:sp>
        <p:sp>
          <p:nvSpPr>
            <p:cNvPr name="TextBox 10" id="10"/>
            <p:cNvSpPr txBox="true"/>
            <p:nvPr/>
          </p:nvSpPr>
          <p:spPr>
            <a:xfrm>
              <a:off x="0" y="-9525"/>
              <a:ext cx="9235440" cy="631317"/>
            </a:xfrm>
            <a:prstGeom prst="rect">
              <a:avLst/>
            </a:prstGeom>
          </p:spPr>
          <p:txBody>
            <a:bodyPr anchor="ctr" rtlCol="false" tIns="0" lIns="0" bIns="0" rIns="0"/>
            <a:lstStyle/>
            <a:p>
              <a:pPr algn="l">
                <a:lnSpc>
                  <a:spcPts val="1889"/>
                </a:lnSpc>
              </a:pPr>
              <a:r>
                <a:rPr lang="en-US" sz="1575" b="true">
                  <a:solidFill>
                    <a:srgbClr val="0369A1"/>
                  </a:solidFill>
                  <a:latin typeface="DejaVu Sans Bold"/>
                  <a:ea typeface="DejaVu Sans Bold"/>
                  <a:cs typeface="DejaVu Sans Bold"/>
                  <a:sym typeface="DejaVu Sans Bold"/>
                </a:rPr>
                <a:t>LÝ LUẬN NỀN TẢNG • MỤC 5.2.1 (TR. 187–190)</a:t>
              </a:r>
            </a:p>
          </p:txBody>
        </p:sp>
      </p:grpSp>
      <p:grpSp>
        <p:nvGrpSpPr>
          <p:cNvPr name="Group 11" id="11"/>
          <p:cNvGrpSpPr/>
          <p:nvPr/>
        </p:nvGrpSpPr>
        <p:grpSpPr>
          <a:xfrm rot="0">
            <a:off x="15704820" y="301752"/>
            <a:ext cx="1824228" cy="466344"/>
            <a:chOff x="0" y="0"/>
            <a:chExt cx="2432304" cy="621792"/>
          </a:xfrm>
        </p:grpSpPr>
        <p:sp>
          <p:nvSpPr>
            <p:cNvPr name="Freeform 12" id="12"/>
            <p:cNvSpPr/>
            <p:nvPr/>
          </p:nvSpPr>
          <p:spPr>
            <a:xfrm flipH="false" flipV="false" rot="0">
              <a:off x="0" y="0"/>
              <a:ext cx="2432304" cy="621792"/>
            </a:xfrm>
            <a:custGeom>
              <a:avLst/>
              <a:gdLst/>
              <a:ahLst/>
              <a:cxnLst/>
              <a:rect r="r" b="b" t="t" l="l"/>
              <a:pathLst>
                <a:path h="621792" w="2432304">
                  <a:moveTo>
                    <a:pt x="0" y="24892"/>
                  </a:moveTo>
                  <a:cubicBezTo>
                    <a:pt x="0" y="11176"/>
                    <a:pt x="11176" y="0"/>
                    <a:pt x="24892" y="0"/>
                  </a:cubicBezTo>
                  <a:lnTo>
                    <a:pt x="2407412" y="0"/>
                  </a:lnTo>
                  <a:cubicBezTo>
                    <a:pt x="2421128" y="0"/>
                    <a:pt x="2432304" y="11176"/>
                    <a:pt x="2432304" y="24892"/>
                  </a:cubicBezTo>
                  <a:lnTo>
                    <a:pt x="2432304" y="596900"/>
                  </a:lnTo>
                  <a:cubicBezTo>
                    <a:pt x="2432304" y="610616"/>
                    <a:pt x="2421128" y="621792"/>
                    <a:pt x="2407412" y="621792"/>
                  </a:cubicBezTo>
                  <a:lnTo>
                    <a:pt x="24892" y="621792"/>
                  </a:lnTo>
                  <a:cubicBezTo>
                    <a:pt x="11176" y="621792"/>
                    <a:pt x="0" y="610616"/>
                    <a:pt x="0" y="596900"/>
                  </a:cubicBezTo>
                  <a:close/>
                </a:path>
              </a:pathLst>
            </a:custGeom>
            <a:solidFill>
              <a:srgbClr val="122645"/>
            </a:solidFill>
          </p:spPr>
        </p:sp>
      </p:grpSp>
      <p:grpSp>
        <p:nvGrpSpPr>
          <p:cNvPr name="Group 13" id="13"/>
          <p:cNvGrpSpPr/>
          <p:nvPr/>
        </p:nvGrpSpPr>
        <p:grpSpPr>
          <a:xfrm rot="0">
            <a:off x="15704820" y="301752"/>
            <a:ext cx="1824228" cy="466344"/>
            <a:chOff x="0" y="0"/>
            <a:chExt cx="2432304" cy="621792"/>
          </a:xfrm>
        </p:grpSpPr>
        <p:sp>
          <p:nvSpPr>
            <p:cNvPr name="Freeform 14" id="14"/>
            <p:cNvSpPr/>
            <p:nvPr/>
          </p:nvSpPr>
          <p:spPr>
            <a:xfrm flipH="false" flipV="false" rot="0">
              <a:off x="0" y="0"/>
              <a:ext cx="2432304" cy="621792"/>
            </a:xfrm>
            <a:custGeom>
              <a:avLst/>
              <a:gdLst/>
              <a:ahLst/>
              <a:cxnLst/>
              <a:rect r="r" b="b" t="t" l="l"/>
              <a:pathLst>
                <a:path h="621792" w="2432304">
                  <a:moveTo>
                    <a:pt x="0" y="0"/>
                  </a:moveTo>
                  <a:lnTo>
                    <a:pt x="2432304" y="0"/>
                  </a:lnTo>
                  <a:lnTo>
                    <a:pt x="2432304" y="621792"/>
                  </a:lnTo>
                  <a:lnTo>
                    <a:pt x="0" y="621792"/>
                  </a:lnTo>
                  <a:close/>
                </a:path>
              </a:pathLst>
            </a:custGeom>
            <a:blipFill>
              <a:blip r:embed="rId2">
                <a:alphaModFix amt="0"/>
              </a:blip>
              <a:stretch>
                <a:fillRect l="0" t="-26220" r="0" b="-26220"/>
              </a:stretch>
            </a:blipFill>
          </p:spPr>
        </p:sp>
        <p:sp>
          <p:nvSpPr>
            <p:cNvPr name="TextBox 15" id="15"/>
            <p:cNvSpPr txBox="true"/>
            <p:nvPr/>
          </p:nvSpPr>
          <p:spPr>
            <a:xfrm>
              <a:off x="0" y="-19050"/>
              <a:ext cx="2432304" cy="640842"/>
            </a:xfrm>
            <a:prstGeom prst="rect">
              <a:avLst/>
            </a:prstGeom>
          </p:spPr>
          <p:txBody>
            <a:bodyPr anchor="ctr" rtlCol="false" tIns="0" lIns="0" bIns="0" rIns="0"/>
            <a:lstStyle/>
            <a:p>
              <a:pPr algn="ctr">
                <a:lnSpc>
                  <a:spcPts val="2700"/>
                </a:lnSpc>
              </a:pPr>
              <a:r>
                <a:rPr lang="en-US" sz="2250" b="true">
                  <a:solidFill>
                    <a:srgbClr val="FFFFFF"/>
                  </a:solidFill>
                  <a:latin typeface="DejaVu Sans Bold"/>
                  <a:ea typeface="DejaVu Sans Bold"/>
                  <a:cs typeface="DejaVu Sans Bold"/>
                  <a:sym typeface="DejaVu Sans Bold"/>
                </a:rPr>
                <a:t>Slide 7 / 15</a:t>
              </a:r>
            </a:p>
          </p:txBody>
        </p:sp>
      </p:grpSp>
      <p:grpSp>
        <p:nvGrpSpPr>
          <p:cNvPr name="Group 16" id="16"/>
          <p:cNvGrpSpPr/>
          <p:nvPr/>
        </p:nvGrpSpPr>
        <p:grpSpPr>
          <a:xfrm rot="0">
            <a:off x="754380" y="850392"/>
            <a:ext cx="16774668" cy="740664"/>
            <a:chOff x="0" y="0"/>
            <a:chExt cx="22366224" cy="987552"/>
          </a:xfrm>
        </p:grpSpPr>
        <p:sp>
          <p:nvSpPr>
            <p:cNvPr name="Freeform 17" id="17"/>
            <p:cNvSpPr/>
            <p:nvPr/>
          </p:nvSpPr>
          <p:spPr>
            <a:xfrm flipH="false" flipV="false" rot="0">
              <a:off x="0" y="0"/>
              <a:ext cx="22366224" cy="987552"/>
            </a:xfrm>
            <a:custGeom>
              <a:avLst/>
              <a:gdLst/>
              <a:ahLst/>
              <a:cxnLst/>
              <a:rect r="r" b="b" t="t" l="l"/>
              <a:pathLst>
                <a:path h="987552" w="22366224">
                  <a:moveTo>
                    <a:pt x="0" y="0"/>
                  </a:moveTo>
                  <a:lnTo>
                    <a:pt x="22366224" y="0"/>
                  </a:lnTo>
                  <a:lnTo>
                    <a:pt x="22366224" y="987552"/>
                  </a:lnTo>
                  <a:lnTo>
                    <a:pt x="0" y="987552"/>
                  </a:lnTo>
                  <a:close/>
                </a:path>
              </a:pathLst>
            </a:custGeom>
            <a:blipFill>
              <a:blip r:embed="rId2">
                <a:alphaModFix amt="0"/>
              </a:blip>
              <a:stretch>
                <a:fillRect l="0" t="-391300" r="0" b="-391300"/>
              </a:stretch>
            </a:blipFill>
          </p:spPr>
        </p:sp>
        <p:sp>
          <p:nvSpPr>
            <p:cNvPr name="TextBox 18" id="18"/>
            <p:cNvSpPr txBox="true"/>
            <p:nvPr/>
          </p:nvSpPr>
          <p:spPr>
            <a:xfrm>
              <a:off x="0" y="-9525"/>
              <a:ext cx="22366224" cy="997077"/>
            </a:xfrm>
            <a:prstGeom prst="rect">
              <a:avLst/>
            </a:prstGeom>
          </p:spPr>
          <p:txBody>
            <a:bodyPr anchor="ctr" rtlCol="false" tIns="0" lIns="0" bIns="0" rIns="0"/>
            <a:lstStyle/>
            <a:p>
              <a:pPr algn="l">
                <a:lnSpc>
                  <a:spcPts val="3869"/>
                </a:lnSpc>
              </a:pPr>
              <a:r>
                <a:rPr lang="en-US" sz="3225" b="true">
                  <a:solidFill>
                    <a:srgbClr val="122645"/>
                  </a:solidFill>
                  <a:latin typeface="DejaVu Sans Bold"/>
                  <a:ea typeface="DejaVu Sans Bold"/>
                  <a:cs typeface="DejaVu Sans Bold"/>
                  <a:sym typeface="DejaVu Sans Bold"/>
                </a:rPr>
                <a:t>Thể chế KTTT định hướng XHCN: "Bộ luật chơi" &amp; 3 điểm nghẽn</a:t>
              </a:r>
            </a:p>
          </p:txBody>
        </p:sp>
      </p:grpSp>
      <p:grpSp>
        <p:nvGrpSpPr>
          <p:cNvPr name="Group 19" id="19"/>
          <p:cNvGrpSpPr/>
          <p:nvPr/>
        </p:nvGrpSpPr>
        <p:grpSpPr>
          <a:xfrm rot="0">
            <a:off x="754380" y="1645920"/>
            <a:ext cx="16774668" cy="41148"/>
            <a:chOff x="0" y="0"/>
            <a:chExt cx="22366224" cy="54864"/>
          </a:xfrm>
        </p:grpSpPr>
        <p:sp>
          <p:nvSpPr>
            <p:cNvPr name="Freeform 20" id="20"/>
            <p:cNvSpPr/>
            <p:nvPr/>
          </p:nvSpPr>
          <p:spPr>
            <a:xfrm flipH="false" flipV="false" rot="0">
              <a:off x="0" y="0"/>
              <a:ext cx="22366224" cy="54864"/>
            </a:xfrm>
            <a:custGeom>
              <a:avLst/>
              <a:gdLst/>
              <a:ahLst/>
              <a:cxnLst/>
              <a:rect r="r" b="b" t="t" l="l"/>
              <a:pathLst>
                <a:path h="54864" w="22366224">
                  <a:moveTo>
                    <a:pt x="0" y="0"/>
                  </a:moveTo>
                  <a:lnTo>
                    <a:pt x="22366224" y="0"/>
                  </a:lnTo>
                  <a:lnTo>
                    <a:pt x="22366224" y="54864"/>
                  </a:lnTo>
                  <a:lnTo>
                    <a:pt x="0" y="54864"/>
                  </a:lnTo>
                  <a:close/>
                </a:path>
              </a:pathLst>
            </a:custGeom>
            <a:solidFill>
              <a:srgbClr val="CBD5E1"/>
            </a:solidFill>
          </p:spPr>
        </p:sp>
      </p:grpSp>
      <p:grpSp>
        <p:nvGrpSpPr>
          <p:cNvPr name="Group 21" id="21"/>
          <p:cNvGrpSpPr/>
          <p:nvPr/>
        </p:nvGrpSpPr>
        <p:grpSpPr>
          <a:xfrm rot="0">
            <a:off x="-7144" y="9662636"/>
            <a:ext cx="18301830" cy="631507"/>
            <a:chOff x="0" y="0"/>
            <a:chExt cx="24402440" cy="842010"/>
          </a:xfrm>
        </p:grpSpPr>
        <p:sp>
          <p:nvSpPr>
            <p:cNvPr name="Freeform 22" id="22"/>
            <p:cNvSpPr/>
            <p:nvPr/>
          </p:nvSpPr>
          <p:spPr>
            <a:xfrm flipH="false" flipV="false" rot="0">
              <a:off x="0" y="0"/>
              <a:ext cx="24402414" cy="842010"/>
            </a:xfrm>
            <a:custGeom>
              <a:avLst/>
              <a:gdLst/>
              <a:ahLst/>
              <a:cxnLst/>
              <a:rect r="r" b="b" t="t" l="l"/>
              <a:pathLst>
                <a:path h="842010" w="24402414">
                  <a:moveTo>
                    <a:pt x="0" y="0"/>
                  </a:moveTo>
                  <a:lnTo>
                    <a:pt x="24402414" y="0"/>
                  </a:lnTo>
                  <a:lnTo>
                    <a:pt x="24402414" y="842010"/>
                  </a:lnTo>
                  <a:lnTo>
                    <a:pt x="0" y="842010"/>
                  </a:lnTo>
                  <a:close/>
                </a:path>
              </a:pathLst>
            </a:custGeom>
            <a:solidFill>
              <a:srgbClr val="FFFFFF"/>
            </a:solidFill>
            <a:ln w="14288" cap="sq">
              <a:solidFill>
                <a:srgbClr val="CBD5E1"/>
              </a:solidFill>
              <a:prstDash val="solid"/>
              <a:miter/>
            </a:ln>
          </p:spPr>
        </p:sp>
      </p:grpSp>
      <p:grpSp>
        <p:nvGrpSpPr>
          <p:cNvPr name="Group 23" id="23"/>
          <p:cNvGrpSpPr/>
          <p:nvPr/>
        </p:nvGrpSpPr>
        <p:grpSpPr>
          <a:xfrm rot="0">
            <a:off x="754380" y="9710928"/>
            <a:ext cx="16774668" cy="493776"/>
            <a:chOff x="0" y="0"/>
            <a:chExt cx="22366224" cy="658368"/>
          </a:xfrm>
        </p:grpSpPr>
        <p:sp>
          <p:nvSpPr>
            <p:cNvPr name="Freeform 24" id="24"/>
            <p:cNvSpPr/>
            <p:nvPr/>
          </p:nvSpPr>
          <p:spPr>
            <a:xfrm flipH="false" flipV="false" rot="0">
              <a:off x="0" y="0"/>
              <a:ext cx="22366224" cy="658368"/>
            </a:xfrm>
            <a:custGeom>
              <a:avLst/>
              <a:gdLst/>
              <a:ahLst/>
              <a:cxnLst/>
              <a:rect r="r" b="b" t="t" l="l"/>
              <a:pathLst>
                <a:path h="658368" w="22366224">
                  <a:moveTo>
                    <a:pt x="0" y="0"/>
                  </a:moveTo>
                  <a:lnTo>
                    <a:pt x="22366224" y="0"/>
                  </a:lnTo>
                  <a:lnTo>
                    <a:pt x="22366224" y="658368"/>
                  </a:lnTo>
                  <a:lnTo>
                    <a:pt x="0" y="658368"/>
                  </a:lnTo>
                  <a:close/>
                </a:path>
              </a:pathLst>
            </a:custGeom>
            <a:blipFill>
              <a:blip r:embed="rId2">
                <a:alphaModFix amt="0"/>
              </a:blip>
              <a:stretch>
                <a:fillRect l="0" t="-611950" r="0" b="-611950"/>
              </a:stretch>
            </a:blipFill>
          </p:spPr>
        </p:sp>
        <p:sp>
          <p:nvSpPr>
            <p:cNvPr name="TextBox 25" id="25"/>
            <p:cNvSpPr txBox="true"/>
            <p:nvPr/>
          </p:nvSpPr>
          <p:spPr>
            <a:xfrm>
              <a:off x="0" y="-19050"/>
              <a:ext cx="22366224" cy="677418"/>
            </a:xfrm>
            <a:prstGeom prst="rect">
              <a:avLst/>
            </a:prstGeom>
          </p:spPr>
          <p:txBody>
            <a:bodyPr anchor="ctr" rtlCol="false" tIns="0" lIns="0" bIns="0" rIns="0"/>
            <a:lstStyle/>
            <a:p>
              <a:pPr algn="l">
                <a:lnSpc>
                  <a:spcPts val="1500"/>
                </a:lnSpc>
              </a:pPr>
              <a:r>
                <a:rPr lang="en-US" sz="1250" i="true">
                  <a:solidFill>
                    <a:srgbClr val="475569"/>
                  </a:solidFill>
                  <a:latin typeface="DejaVu Sans Bold Italics"/>
                  <a:ea typeface="DejaVu Sans Bold Italics"/>
                  <a:cs typeface="DejaVu Sans Bold Italics"/>
                  <a:sym typeface="DejaVu Sans Bold Italics"/>
                </a:rPr>
                <a:t>Nguồn lý luận: Giáo trình Kinh tế chính trị Mác – Lênin (Bộ GD&amp;ĐT, 2021, Mục 5.2.1, tr. 187–190).</a:t>
              </a:r>
            </a:p>
          </p:txBody>
        </p:sp>
      </p:grpSp>
      <p:grpSp>
        <p:nvGrpSpPr>
          <p:cNvPr name="Group 26" id="26"/>
          <p:cNvGrpSpPr/>
          <p:nvPr/>
        </p:nvGrpSpPr>
        <p:grpSpPr>
          <a:xfrm rot="0">
            <a:off x="756666" y="1881378"/>
            <a:ext cx="6743700" cy="7511796"/>
            <a:chOff x="0" y="0"/>
            <a:chExt cx="8991600" cy="10015728"/>
          </a:xfrm>
        </p:grpSpPr>
        <p:sp>
          <p:nvSpPr>
            <p:cNvPr name="Freeform 27" id="27"/>
            <p:cNvSpPr/>
            <p:nvPr/>
          </p:nvSpPr>
          <p:spPr>
            <a:xfrm flipH="false" flipV="false" rot="0">
              <a:off x="0" y="0"/>
              <a:ext cx="8991600" cy="10015728"/>
            </a:xfrm>
            <a:custGeom>
              <a:avLst/>
              <a:gdLst/>
              <a:ahLst/>
              <a:cxnLst/>
              <a:rect r="r" b="b" t="t" l="l"/>
              <a:pathLst>
                <a:path h="10015728" w="8991600">
                  <a:moveTo>
                    <a:pt x="0" y="359664"/>
                  </a:moveTo>
                  <a:cubicBezTo>
                    <a:pt x="0" y="161036"/>
                    <a:pt x="161036" y="0"/>
                    <a:pt x="359664" y="0"/>
                  </a:cubicBezTo>
                  <a:lnTo>
                    <a:pt x="8631936" y="0"/>
                  </a:lnTo>
                  <a:cubicBezTo>
                    <a:pt x="8830564" y="0"/>
                    <a:pt x="8991600" y="161036"/>
                    <a:pt x="8991600" y="359664"/>
                  </a:cubicBezTo>
                  <a:lnTo>
                    <a:pt x="8991600" y="9656064"/>
                  </a:lnTo>
                  <a:cubicBezTo>
                    <a:pt x="8991600" y="9854692"/>
                    <a:pt x="8830564" y="10015728"/>
                    <a:pt x="8631936" y="10015728"/>
                  </a:cubicBezTo>
                  <a:lnTo>
                    <a:pt x="359664" y="10015728"/>
                  </a:lnTo>
                  <a:cubicBezTo>
                    <a:pt x="161036" y="10015728"/>
                    <a:pt x="0" y="9854692"/>
                    <a:pt x="0" y="9656064"/>
                  </a:cubicBezTo>
                  <a:close/>
                </a:path>
              </a:pathLst>
            </a:custGeom>
            <a:solidFill>
              <a:srgbClr val="FFFFFF"/>
            </a:solidFill>
            <a:ln w="22860" cap="sq">
              <a:solidFill>
                <a:srgbClr val="CBD5E1"/>
              </a:solidFill>
              <a:prstDash val="solid"/>
              <a:miter/>
            </a:ln>
          </p:spPr>
        </p:sp>
      </p:grpSp>
      <p:grpSp>
        <p:nvGrpSpPr>
          <p:cNvPr name="Group 28" id="28"/>
          <p:cNvGrpSpPr/>
          <p:nvPr/>
        </p:nvGrpSpPr>
        <p:grpSpPr>
          <a:xfrm rot="0">
            <a:off x="850392" y="1975104"/>
            <a:ext cx="6556248" cy="6748272"/>
            <a:chOff x="0" y="0"/>
            <a:chExt cx="8741664" cy="8997696"/>
          </a:xfrm>
        </p:grpSpPr>
        <p:sp>
          <p:nvSpPr>
            <p:cNvPr name="Freeform 29" id="29" descr="image7.jpg"/>
            <p:cNvSpPr/>
            <p:nvPr/>
          </p:nvSpPr>
          <p:spPr>
            <a:xfrm flipH="false" flipV="false" rot="0">
              <a:off x="0" y="0"/>
              <a:ext cx="8741664" cy="8997696"/>
            </a:xfrm>
            <a:custGeom>
              <a:avLst/>
              <a:gdLst/>
              <a:ahLst/>
              <a:cxnLst/>
              <a:rect r="r" b="b" t="t" l="l"/>
              <a:pathLst>
                <a:path h="8997696" w="8741664">
                  <a:moveTo>
                    <a:pt x="0" y="0"/>
                  </a:moveTo>
                  <a:lnTo>
                    <a:pt x="8741664" y="0"/>
                  </a:lnTo>
                  <a:lnTo>
                    <a:pt x="8741664" y="8997696"/>
                  </a:lnTo>
                  <a:lnTo>
                    <a:pt x="0" y="8997696"/>
                  </a:lnTo>
                  <a:lnTo>
                    <a:pt x="0" y="0"/>
                  </a:lnTo>
                  <a:close/>
                </a:path>
              </a:pathLst>
            </a:custGeom>
            <a:blipFill>
              <a:blip r:embed="rId3"/>
              <a:stretch>
                <a:fillRect l="-1464" t="0" r="-1464" b="0"/>
              </a:stretch>
            </a:blipFill>
          </p:spPr>
        </p:sp>
      </p:grpSp>
      <p:grpSp>
        <p:nvGrpSpPr>
          <p:cNvPr name="Group 30" id="30"/>
          <p:cNvGrpSpPr/>
          <p:nvPr/>
        </p:nvGrpSpPr>
        <p:grpSpPr>
          <a:xfrm rot="0">
            <a:off x="850392" y="8778240"/>
            <a:ext cx="6556248" cy="548640"/>
            <a:chOff x="0" y="0"/>
            <a:chExt cx="8741664" cy="731520"/>
          </a:xfrm>
        </p:grpSpPr>
        <p:sp>
          <p:nvSpPr>
            <p:cNvPr name="Freeform 31" id="31"/>
            <p:cNvSpPr/>
            <p:nvPr/>
          </p:nvSpPr>
          <p:spPr>
            <a:xfrm flipH="false" flipV="false" rot="0">
              <a:off x="0" y="0"/>
              <a:ext cx="8741664" cy="731520"/>
            </a:xfrm>
            <a:custGeom>
              <a:avLst/>
              <a:gdLst/>
              <a:ahLst/>
              <a:cxnLst/>
              <a:rect r="r" b="b" t="t" l="l"/>
              <a:pathLst>
                <a:path h="731520" w="8741664">
                  <a:moveTo>
                    <a:pt x="0" y="0"/>
                  </a:moveTo>
                  <a:lnTo>
                    <a:pt x="8741664" y="0"/>
                  </a:lnTo>
                  <a:lnTo>
                    <a:pt x="8741664" y="731520"/>
                  </a:lnTo>
                  <a:lnTo>
                    <a:pt x="0" y="731520"/>
                  </a:lnTo>
                  <a:close/>
                </a:path>
              </a:pathLst>
            </a:custGeom>
            <a:solidFill>
              <a:srgbClr val="F1F5F9"/>
            </a:solidFill>
          </p:spPr>
        </p:sp>
      </p:grpSp>
      <p:grpSp>
        <p:nvGrpSpPr>
          <p:cNvPr name="Group 32" id="32"/>
          <p:cNvGrpSpPr/>
          <p:nvPr/>
        </p:nvGrpSpPr>
        <p:grpSpPr>
          <a:xfrm rot="0">
            <a:off x="932688" y="8778240"/>
            <a:ext cx="6391656" cy="548640"/>
            <a:chOff x="0" y="0"/>
            <a:chExt cx="8522208" cy="731520"/>
          </a:xfrm>
        </p:grpSpPr>
        <p:sp>
          <p:nvSpPr>
            <p:cNvPr name="Freeform 33" id="33"/>
            <p:cNvSpPr/>
            <p:nvPr/>
          </p:nvSpPr>
          <p:spPr>
            <a:xfrm flipH="false" flipV="false" rot="0">
              <a:off x="0" y="0"/>
              <a:ext cx="8522208" cy="731520"/>
            </a:xfrm>
            <a:custGeom>
              <a:avLst/>
              <a:gdLst/>
              <a:ahLst/>
              <a:cxnLst/>
              <a:rect r="r" b="b" t="t" l="l"/>
              <a:pathLst>
                <a:path h="731520" w="8522208">
                  <a:moveTo>
                    <a:pt x="0" y="0"/>
                  </a:moveTo>
                  <a:lnTo>
                    <a:pt x="8522208" y="0"/>
                  </a:lnTo>
                  <a:lnTo>
                    <a:pt x="8522208" y="731520"/>
                  </a:lnTo>
                  <a:lnTo>
                    <a:pt x="0" y="731520"/>
                  </a:lnTo>
                  <a:close/>
                </a:path>
              </a:pathLst>
            </a:custGeom>
            <a:blipFill>
              <a:blip r:embed="rId2">
                <a:alphaModFix amt="0"/>
              </a:blip>
              <a:stretch>
                <a:fillRect l="0" t="-177000" r="0" b="-177000"/>
              </a:stretch>
            </a:blipFill>
          </p:spPr>
        </p:sp>
        <p:sp>
          <p:nvSpPr>
            <p:cNvPr name="TextBox 34" id="34"/>
            <p:cNvSpPr txBox="true"/>
            <p:nvPr/>
          </p:nvSpPr>
          <p:spPr>
            <a:xfrm>
              <a:off x="0" y="-9525"/>
              <a:ext cx="8522208" cy="741045"/>
            </a:xfrm>
            <a:prstGeom prst="rect">
              <a:avLst/>
            </a:prstGeom>
          </p:spPr>
          <p:txBody>
            <a:bodyPr anchor="ctr" rtlCol="false" tIns="0" lIns="0" bIns="0" rIns="0"/>
            <a:lstStyle/>
            <a:p>
              <a:pPr algn="l">
                <a:lnSpc>
                  <a:spcPts val="1727"/>
                </a:lnSpc>
              </a:pPr>
              <a:r>
                <a:rPr lang="en-US" sz="1439" b="true">
                  <a:solidFill>
                    <a:srgbClr val="1E293B"/>
                  </a:solidFill>
                  <a:latin typeface="DejaVu Sans Bold"/>
                  <a:ea typeface="DejaVu Sans Bold"/>
                  <a:cs typeface="DejaVu Sans Bold"/>
                  <a:sym typeface="DejaVu Sans Bold"/>
                </a:rPr>
                <a:t>Ảnh thật: Quốc hội khóa XV biểu quyết thông qua Luật Đất đai 2024 | Nguồn: Báo Điện tử Chính phủ</a:t>
              </a:r>
            </a:p>
          </p:txBody>
        </p:sp>
      </p:grpSp>
      <p:grpSp>
        <p:nvGrpSpPr>
          <p:cNvPr name="Group 35" id="35"/>
          <p:cNvGrpSpPr/>
          <p:nvPr/>
        </p:nvGrpSpPr>
        <p:grpSpPr>
          <a:xfrm rot="0">
            <a:off x="7872412" y="1905952"/>
            <a:ext cx="9657207" cy="2168271"/>
            <a:chOff x="0" y="0"/>
            <a:chExt cx="12876276" cy="2891028"/>
          </a:xfrm>
        </p:grpSpPr>
        <p:sp>
          <p:nvSpPr>
            <p:cNvPr name="Freeform 36" id="36"/>
            <p:cNvSpPr/>
            <p:nvPr/>
          </p:nvSpPr>
          <p:spPr>
            <a:xfrm flipH="false" flipV="false" rot="0">
              <a:off x="0" y="0"/>
              <a:ext cx="12876403" cy="2891028"/>
            </a:xfrm>
            <a:custGeom>
              <a:avLst/>
              <a:gdLst/>
              <a:ahLst/>
              <a:cxnLst/>
              <a:rect r="r" b="b" t="t" l="l"/>
              <a:pathLst>
                <a:path h="2891028" w="12876403">
                  <a:moveTo>
                    <a:pt x="0" y="115697"/>
                  </a:moveTo>
                  <a:cubicBezTo>
                    <a:pt x="0" y="51816"/>
                    <a:pt x="51816" y="0"/>
                    <a:pt x="115697" y="0"/>
                  </a:cubicBezTo>
                  <a:lnTo>
                    <a:pt x="12760706" y="0"/>
                  </a:lnTo>
                  <a:cubicBezTo>
                    <a:pt x="12824587" y="0"/>
                    <a:pt x="12876403" y="51816"/>
                    <a:pt x="12876403" y="115697"/>
                  </a:cubicBezTo>
                  <a:lnTo>
                    <a:pt x="12876403" y="2775331"/>
                  </a:lnTo>
                  <a:cubicBezTo>
                    <a:pt x="12876403" y="2839212"/>
                    <a:pt x="12824587" y="2891028"/>
                    <a:pt x="12760706" y="2891028"/>
                  </a:cubicBezTo>
                  <a:lnTo>
                    <a:pt x="115697" y="2891028"/>
                  </a:lnTo>
                  <a:cubicBezTo>
                    <a:pt x="51816" y="2891028"/>
                    <a:pt x="0" y="2839212"/>
                    <a:pt x="0" y="2775331"/>
                  </a:cubicBezTo>
                  <a:close/>
                </a:path>
              </a:pathLst>
            </a:custGeom>
            <a:solidFill>
              <a:srgbClr val="EEF6FC"/>
            </a:solidFill>
            <a:ln w="28575" cap="sq">
              <a:solidFill>
                <a:srgbClr val="0369A1"/>
              </a:solidFill>
              <a:prstDash val="solid"/>
              <a:miter/>
            </a:ln>
          </p:spPr>
        </p:sp>
      </p:grpSp>
      <p:grpSp>
        <p:nvGrpSpPr>
          <p:cNvPr name="Group 37" id="37"/>
          <p:cNvGrpSpPr/>
          <p:nvPr/>
        </p:nvGrpSpPr>
        <p:grpSpPr>
          <a:xfrm rot="0">
            <a:off x="7998047" y="2002536"/>
            <a:ext cx="9405937" cy="1975104"/>
            <a:chOff x="0" y="0"/>
            <a:chExt cx="12541250" cy="2633472"/>
          </a:xfrm>
        </p:grpSpPr>
        <p:sp>
          <p:nvSpPr>
            <p:cNvPr name="Freeform 38" id="38"/>
            <p:cNvSpPr/>
            <p:nvPr/>
          </p:nvSpPr>
          <p:spPr>
            <a:xfrm flipH="false" flipV="false" rot="0">
              <a:off x="0" y="0"/>
              <a:ext cx="12541250" cy="2633472"/>
            </a:xfrm>
            <a:custGeom>
              <a:avLst/>
              <a:gdLst/>
              <a:ahLst/>
              <a:cxnLst/>
              <a:rect r="r" b="b" t="t" l="l"/>
              <a:pathLst>
                <a:path h="2633472" w="12541250">
                  <a:moveTo>
                    <a:pt x="0" y="0"/>
                  </a:moveTo>
                  <a:lnTo>
                    <a:pt x="12541250" y="0"/>
                  </a:lnTo>
                  <a:lnTo>
                    <a:pt x="12541250" y="2633472"/>
                  </a:lnTo>
                  <a:lnTo>
                    <a:pt x="0" y="2633472"/>
                  </a:lnTo>
                  <a:close/>
                </a:path>
              </a:pathLst>
            </a:custGeom>
            <a:blipFill>
              <a:blip r:embed="rId2">
                <a:alphaModFix amt="0"/>
              </a:blip>
              <a:stretch>
                <a:fillRect l="0" t="-40659" r="2298" b="-40659"/>
              </a:stretch>
            </a:blipFill>
          </p:spPr>
        </p:sp>
        <p:sp>
          <p:nvSpPr>
            <p:cNvPr name="TextBox 39" id="39"/>
            <p:cNvSpPr txBox="true"/>
            <p:nvPr/>
          </p:nvSpPr>
          <p:spPr>
            <a:xfrm>
              <a:off x="0" y="-19050"/>
              <a:ext cx="12541250" cy="2652522"/>
            </a:xfrm>
            <a:prstGeom prst="rect">
              <a:avLst/>
            </a:prstGeom>
          </p:spPr>
          <p:txBody>
            <a:bodyPr anchor="ctr" rtlCol="false" tIns="0" lIns="0" bIns="0" rIns="0"/>
            <a:lstStyle/>
            <a:p>
              <a:pPr algn="l">
                <a:lnSpc>
                  <a:spcPts val="2700"/>
                </a:lnSpc>
              </a:pPr>
              <a:r>
                <a:rPr lang="en-US" sz="2250" b="true">
                  <a:solidFill>
                    <a:srgbClr val="0369A1"/>
                  </a:solidFill>
                  <a:latin typeface="DejaVu Sans Bold"/>
                  <a:ea typeface="DejaVu Sans Bold"/>
                  <a:cs typeface="DejaVu Sans Bold"/>
                  <a:sym typeface="DejaVu Sans Bold"/>
                </a:rPr>
                <a:t>THỂ CHẾ KINH TẾ LÀ GÌ? </a:t>
              </a:r>
            </a:p>
            <a:p>
              <a:pPr algn="l">
                <a:lnSpc>
                  <a:spcPts val="3402"/>
                </a:lnSpc>
              </a:pPr>
              <a:r>
                <a:rPr lang="en-US" sz="2250">
                  <a:solidFill>
                    <a:srgbClr val="0B192E"/>
                  </a:solidFill>
                  <a:latin typeface="DejaVu Sans Light"/>
                  <a:ea typeface="DejaVu Sans Light"/>
                  <a:cs typeface="DejaVu Sans Light"/>
                  <a:sym typeface="DejaVu Sans Light"/>
                </a:rPr>
                <a:t>Là hệ thống luật pháp, cơ chế, chính sách, quy tắc điều tiết hành vi của các chủ thể và các quá trình kinh tế nhằm bảo đảm sự vận hành thông suốt và phát triển theo định hướng XHCN</a:t>
              </a:r>
            </a:p>
          </p:txBody>
        </p:sp>
      </p:grpSp>
      <p:grpSp>
        <p:nvGrpSpPr>
          <p:cNvPr name="Group 40" id="40"/>
          <p:cNvGrpSpPr/>
          <p:nvPr/>
        </p:nvGrpSpPr>
        <p:grpSpPr>
          <a:xfrm rot="0">
            <a:off x="7876222" y="4323778"/>
            <a:ext cx="9649587" cy="1557147"/>
            <a:chOff x="0" y="0"/>
            <a:chExt cx="12866116" cy="2076196"/>
          </a:xfrm>
        </p:grpSpPr>
        <p:sp>
          <p:nvSpPr>
            <p:cNvPr name="Freeform 41" id="41"/>
            <p:cNvSpPr/>
            <p:nvPr/>
          </p:nvSpPr>
          <p:spPr>
            <a:xfrm flipH="false" flipV="false" rot="0">
              <a:off x="0" y="0"/>
              <a:ext cx="12866116" cy="2076196"/>
            </a:xfrm>
            <a:custGeom>
              <a:avLst/>
              <a:gdLst/>
              <a:ahLst/>
              <a:cxnLst/>
              <a:rect r="r" b="b" t="t" l="l"/>
              <a:pathLst>
                <a:path h="2076196" w="12866116">
                  <a:moveTo>
                    <a:pt x="0" y="83058"/>
                  </a:moveTo>
                  <a:cubicBezTo>
                    <a:pt x="0" y="37211"/>
                    <a:pt x="37211" y="0"/>
                    <a:pt x="83058" y="0"/>
                  </a:cubicBezTo>
                  <a:lnTo>
                    <a:pt x="12783058" y="0"/>
                  </a:lnTo>
                  <a:cubicBezTo>
                    <a:pt x="12828905" y="0"/>
                    <a:pt x="12866116" y="37211"/>
                    <a:pt x="12866116" y="83058"/>
                  </a:cubicBezTo>
                  <a:lnTo>
                    <a:pt x="12866116" y="1993138"/>
                  </a:lnTo>
                  <a:cubicBezTo>
                    <a:pt x="12866116" y="2038985"/>
                    <a:pt x="12828905" y="2076196"/>
                    <a:pt x="12783058" y="2076196"/>
                  </a:cubicBezTo>
                  <a:lnTo>
                    <a:pt x="83058" y="2076196"/>
                  </a:lnTo>
                  <a:cubicBezTo>
                    <a:pt x="37211" y="2076196"/>
                    <a:pt x="0" y="2038985"/>
                    <a:pt x="0" y="1993138"/>
                  </a:cubicBezTo>
                  <a:close/>
                </a:path>
              </a:pathLst>
            </a:custGeom>
            <a:solidFill>
              <a:srgbClr val="FFFFFF"/>
            </a:solidFill>
            <a:ln w="20955" cap="sq">
              <a:solidFill>
                <a:srgbClr val="CBD5E1"/>
              </a:solidFill>
              <a:prstDash val="solid"/>
              <a:miter/>
            </a:ln>
          </p:spPr>
        </p:sp>
      </p:grpSp>
      <p:grpSp>
        <p:nvGrpSpPr>
          <p:cNvPr name="Group 42" id="42"/>
          <p:cNvGrpSpPr/>
          <p:nvPr/>
        </p:nvGrpSpPr>
        <p:grpSpPr>
          <a:xfrm rot="0">
            <a:off x="7886700" y="4334256"/>
            <a:ext cx="164592" cy="1536192"/>
            <a:chOff x="0" y="0"/>
            <a:chExt cx="219456" cy="2048256"/>
          </a:xfrm>
        </p:grpSpPr>
        <p:sp>
          <p:nvSpPr>
            <p:cNvPr name="Freeform 43" id="43"/>
            <p:cNvSpPr/>
            <p:nvPr/>
          </p:nvSpPr>
          <p:spPr>
            <a:xfrm flipH="false" flipV="false" rot="0">
              <a:off x="0" y="0"/>
              <a:ext cx="219456" cy="2048256"/>
            </a:xfrm>
            <a:custGeom>
              <a:avLst/>
              <a:gdLst/>
              <a:ahLst/>
              <a:cxnLst/>
              <a:rect r="r" b="b" t="t" l="l"/>
              <a:pathLst>
                <a:path h="2048256" w="219456">
                  <a:moveTo>
                    <a:pt x="0" y="0"/>
                  </a:moveTo>
                  <a:lnTo>
                    <a:pt x="219456" y="0"/>
                  </a:lnTo>
                  <a:lnTo>
                    <a:pt x="219456" y="2048256"/>
                  </a:lnTo>
                  <a:lnTo>
                    <a:pt x="0" y="2048256"/>
                  </a:lnTo>
                  <a:close/>
                </a:path>
              </a:pathLst>
            </a:custGeom>
            <a:solidFill>
              <a:srgbClr val="C25915"/>
            </a:solidFill>
          </p:spPr>
        </p:sp>
      </p:grpSp>
      <p:grpSp>
        <p:nvGrpSpPr>
          <p:cNvPr name="Group 44" id="44"/>
          <p:cNvGrpSpPr/>
          <p:nvPr/>
        </p:nvGrpSpPr>
        <p:grpSpPr>
          <a:xfrm rot="0">
            <a:off x="8202168" y="4402836"/>
            <a:ext cx="9121140" cy="1399032"/>
            <a:chOff x="0" y="0"/>
            <a:chExt cx="12161520" cy="1865376"/>
          </a:xfrm>
        </p:grpSpPr>
        <p:sp>
          <p:nvSpPr>
            <p:cNvPr name="Freeform 45" id="45"/>
            <p:cNvSpPr/>
            <p:nvPr/>
          </p:nvSpPr>
          <p:spPr>
            <a:xfrm flipH="false" flipV="false" rot="0">
              <a:off x="0" y="0"/>
              <a:ext cx="12161520" cy="1865376"/>
            </a:xfrm>
            <a:custGeom>
              <a:avLst/>
              <a:gdLst/>
              <a:ahLst/>
              <a:cxnLst/>
              <a:rect r="r" b="b" t="t" l="l"/>
              <a:pathLst>
                <a:path h="1865376" w="12161520">
                  <a:moveTo>
                    <a:pt x="0" y="0"/>
                  </a:moveTo>
                  <a:lnTo>
                    <a:pt x="12161520" y="0"/>
                  </a:lnTo>
                  <a:lnTo>
                    <a:pt x="12161520" y="1865376"/>
                  </a:lnTo>
                  <a:lnTo>
                    <a:pt x="0" y="1865376"/>
                  </a:lnTo>
                  <a:close/>
                </a:path>
              </a:pathLst>
            </a:custGeom>
            <a:blipFill>
              <a:blip r:embed="rId2">
                <a:alphaModFix amt="0"/>
              </a:blip>
              <a:stretch>
                <a:fillRect l="0" t="-77034" r="0" b="-77034"/>
              </a:stretch>
            </a:blipFill>
          </p:spPr>
        </p:sp>
        <p:sp>
          <p:nvSpPr>
            <p:cNvPr name="TextBox 46" id="46"/>
            <p:cNvSpPr txBox="true"/>
            <p:nvPr/>
          </p:nvSpPr>
          <p:spPr>
            <a:xfrm>
              <a:off x="0" y="-9525"/>
              <a:ext cx="12161520" cy="1874901"/>
            </a:xfrm>
            <a:prstGeom prst="rect">
              <a:avLst/>
            </a:prstGeom>
          </p:spPr>
          <p:txBody>
            <a:bodyPr anchor="ctr" rtlCol="false" tIns="0" lIns="0" bIns="0" rIns="0"/>
            <a:lstStyle/>
            <a:p>
              <a:pPr algn="l">
                <a:lnSpc>
                  <a:spcPts val="2267"/>
                </a:lnSpc>
              </a:pPr>
              <a:r>
                <a:rPr lang="en-US" sz="1889" b="true">
                  <a:solidFill>
                    <a:srgbClr val="122645"/>
                  </a:solidFill>
                  <a:latin typeface="DejaVu Sans Bold"/>
                  <a:ea typeface="DejaVu Sans Bold"/>
                  <a:cs typeface="DejaVu Sans Bold"/>
                  <a:sym typeface="DejaVu Sans Bold"/>
                </a:rPr>
                <a:t>1. Hệ thống thể chế chưa đồng bộ</a:t>
              </a:r>
            </a:p>
            <a:p>
              <a:pPr algn="l">
                <a:lnSpc>
                  <a:spcPts val="2484"/>
                </a:lnSpc>
              </a:pPr>
              <a:r>
                <a:rPr lang="en-US" sz="1725">
                  <a:solidFill>
                    <a:srgbClr val="1E293B"/>
                  </a:solidFill>
                  <a:latin typeface="DejaVu Sans Light"/>
                  <a:ea typeface="DejaVu Sans Light"/>
                  <a:cs typeface="DejaVu Sans Light"/>
                  <a:sym typeface="DejaVu Sans Light"/>
                </a:rPr>
                <a:t>Các đạo luật ban hành ở thời điểm khác nhau dễ chồng chéo (ví dụ vướng mắc quy hoạch giữa Luật Đất đai – Nhà ở – Đầu tư trước đây).</a:t>
              </a:r>
            </a:p>
          </p:txBody>
        </p:sp>
      </p:grpSp>
      <p:grpSp>
        <p:nvGrpSpPr>
          <p:cNvPr name="Group 47" id="47"/>
          <p:cNvGrpSpPr/>
          <p:nvPr/>
        </p:nvGrpSpPr>
        <p:grpSpPr>
          <a:xfrm rot="0">
            <a:off x="7876222" y="6051994"/>
            <a:ext cx="9649587" cy="1557147"/>
            <a:chOff x="0" y="0"/>
            <a:chExt cx="12866116" cy="2076196"/>
          </a:xfrm>
        </p:grpSpPr>
        <p:sp>
          <p:nvSpPr>
            <p:cNvPr name="Freeform 48" id="48"/>
            <p:cNvSpPr/>
            <p:nvPr/>
          </p:nvSpPr>
          <p:spPr>
            <a:xfrm flipH="false" flipV="false" rot="0">
              <a:off x="0" y="0"/>
              <a:ext cx="12866116" cy="2076196"/>
            </a:xfrm>
            <a:custGeom>
              <a:avLst/>
              <a:gdLst/>
              <a:ahLst/>
              <a:cxnLst/>
              <a:rect r="r" b="b" t="t" l="l"/>
              <a:pathLst>
                <a:path h="2076196" w="12866116">
                  <a:moveTo>
                    <a:pt x="0" y="83058"/>
                  </a:moveTo>
                  <a:cubicBezTo>
                    <a:pt x="0" y="37211"/>
                    <a:pt x="37211" y="0"/>
                    <a:pt x="83058" y="0"/>
                  </a:cubicBezTo>
                  <a:lnTo>
                    <a:pt x="12783058" y="0"/>
                  </a:lnTo>
                  <a:cubicBezTo>
                    <a:pt x="12828905" y="0"/>
                    <a:pt x="12866116" y="37211"/>
                    <a:pt x="12866116" y="83058"/>
                  </a:cubicBezTo>
                  <a:lnTo>
                    <a:pt x="12866116" y="1993138"/>
                  </a:lnTo>
                  <a:cubicBezTo>
                    <a:pt x="12866116" y="2038985"/>
                    <a:pt x="12828905" y="2076196"/>
                    <a:pt x="12783058" y="2076196"/>
                  </a:cubicBezTo>
                  <a:lnTo>
                    <a:pt x="83058" y="2076196"/>
                  </a:lnTo>
                  <a:cubicBezTo>
                    <a:pt x="37211" y="2076196"/>
                    <a:pt x="0" y="2038985"/>
                    <a:pt x="0" y="1993138"/>
                  </a:cubicBezTo>
                  <a:close/>
                </a:path>
              </a:pathLst>
            </a:custGeom>
            <a:solidFill>
              <a:srgbClr val="FFFFFF"/>
            </a:solidFill>
            <a:ln w="20955" cap="sq">
              <a:solidFill>
                <a:srgbClr val="CBD5E1"/>
              </a:solidFill>
              <a:prstDash val="solid"/>
              <a:miter/>
            </a:ln>
          </p:spPr>
        </p:sp>
      </p:grpSp>
      <p:grpSp>
        <p:nvGrpSpPr>
          <p:cNvPr name="Group 49" id="49"/>
          <p:cNvGrpSpPr/>
          <p:nvPr/>
        </p:nvGrpSpPr>
        <p:grpSpPr>
          <a:xfrm rot="0">
            <a:off x="7886700" y="6062472"/>
            <a:ext cx="164592" cy="1536192"/>
            <a:chOff x="0" y="0"/>
            <a:chExt cx="219456" cy="2048256"/>
          </a:xfrm>
        </p:grpSpPr>
        <p:sp>
          <p:nvSpPr>
            <p:cNvPr name="Freeform 50" id="50"/>
            <p:cNvSpPr/>
            <p:nvPr/>
          </p:nvSpPr>
          <p:spPr>
            <a:xfrm flipH="false" flipV="false" rot="0">
              <a:off x="0" y="0"/>
              <a:ext cx="219456" cy="2048256"/>
            </a:xfrm>
            <a:custGeom>
              <a:avLst/>
              <a:gdLst/>
              <a:ahLst/>
              <a:cxnLst/>
              <a:rect r="r" b="b" t="t" l="l"/>
              <a:pathLst>
                <a:path h="2048256" w="219456">
                  <a:moveTo>
                    <a:pt x="0" y="0"/>
                  </a:moveTo>
                  <a:lnTo>
                    <a:pt x="219456" y="0"/>
                  </a:lnTo>
                  <a:lnTo>
                    <a:pt x="219456" y="2048256"/>
                  </a:lnTo>
                  <a:lnTo>
                    <a:pt x="0" y="2048256"/>
                  </a:lnTo>
                  <a:close/>
                </a:path>
              </a:pathLst>
            </a:custGeom>
            <a:solidFill>
              <a:srgbClr val="C25915"/>
            </a:solidFill>
          </p:spPr>
        </p:sp>
      </p:grpSp>
      <p:grpSp>
        <p:nvGrpSpPr>
          <p:cNvPr name="Group 51" id="51"/>
          <p:cNvGrpSpPr/>
          <p:nvPr/>
        </p:nvGrpSpPr>
        <p:grpSpPr>
          <a:xfrm rot="0">
            <a:off x="8202168" y="6131052"/>
            <a:ext cx="9121140" cy="1399032"/>
            <a:chOff x="0" y="0"/>
            <a:chExt cx="12161520" cy="1865376"/>
          </a:xfrm>
        </p:grpSpPr>
        <p:sp>
          <p:nvSpPr>
            <p:cNvPr name="Freeform 52" id="52"/>
            <p:cNvSpPr/>
            <p:nvPr/>
          </p:nvSpPr>
          <p:spPr>
            <a:xfrm flipH="false" flipV="false" rot="0">
              <a:off x="0" y="0"/>
              <a:ext cx="12161520" cy="1865376"/>
            </a:xfrm>
            <a:custGeom>
              <a:avLst/>
              <a:gdLst/>
              <a:ahLst/>
              <a:cxnLst/>
              <a:rect r="r" b="b" t="t" l="l"/>
              <a:pathLst>
                <a:path h="1865376" w="12161520">
                  <a:moveTo>
                    <a:pt x="0" y="0"/>
                  </a:moveTo>
                  <a:lnTo>
                    <a:pt x="12161520" y="0"/>
                  </a:lnTo>
                  <a:lnTo>
                    <a:pt x="12161520" y="1865376"/>
                  </a:lnTo>
                  <a:lnTo>
                    <a:pt x="0" y="1865376"/>
                  </a:lnTo>
                  <a:close/>
                </a:path>
              </a:pathLst>
            </a:custGeom>
            <a:blipFill>
              <a:blip r:embed="rId2">
                <a:alphaModFix amt="0"/>
              </a:blip>
              <a:stretch>
                <a:fillRect l="0" t="-77034" r="0" b="-77034"/>
              </a:stretch>
            </a:blipFill>
          </p:spPr>
        </p:sp>
        <p:sp>
          <p:nvSpPr>
            <p:cNvPr name="TextBox 53" id="53"/>
            <p:cNvSpPr txBox="true"/>
            <p:nvPr/>
          </p:nvSpPr>
          <p:spPr>
            <a:xfrm>
              <a:off x="0" y="-9525"/>
              <a:ext cx="12161520" cy="1874901"/>
            </a:xfrm>
            <a:prstGeom prst="rect">
              <a:avLst/>
            </a:prstGeom>
          </p:spPr>
          <p:txBody>
            <a:bodyPr anchor="ctr" rtlCol="false" tIns="0" lIns="0" bIns="0" rIns="0"/>
            <a:lstStyle/>
            <a:p>
              <a:pPr algn="l">
                <a:lnSpc>
                  <a:spcPts val="2267"/>
                </a:lnSpc>
              </a:pPr>
              <a:r>
                <a:rPr lang="en-US" sz="1889" b="true">
                  <a:solidFill>
                    <a:srgbClr val="122645"/>
                  </a:solidFill>
                  <a:latin typeface="DejaVu Sans Bold"/>
                  <a:ea typeface="DejaVu Sans Bold"/>
                  <a:cs typeface="DejaVu Sans Bold"/>
                  <a:sym typeface="DejaVu Sans Bold"/>
                </a:rPr>
                <a:t>2. Hệ thống thể chế chưa đảm bảo môi trường cạnh tranh và Phát triển các Thành phần Kinh tế</a:t>
              </a:r>
            </a:p>
            <a:p>
              <a:pPr algn="l">
                <a:lnSpc>
                  <a:spcPts val="2484"/>
                </a:lnSpc>
              </a:pPr>
              <a:r>
                <a:rPr lang="en-US" sz="1725">
                  <a:solidFill>
                    <a:srgbClr val="1E293B"/>
                  </a:solidFill>
                  <a:latin typeface="DejaVu Sans Light"/>
                  <a:ea typeface="DejaVu Sans Light"/>
                  <a:cs typeface="DejaVu Sans Light"/>
                  <a:sym typeface="DejaVu Sans Light"/>
                </a:rPr>
                <a:t>Môi</a:t>
              </a:r>
              <a:r>
                <a:rPr lang="en-US" sz="1725">
                  <a:solidFill>
                    <a:srgbClr val="1E293B"/>
                  </a:solidFill>
                  <a:latin typeface="DejaVu Sans Light"/>
                  <a:ea typeface="DejaVu Sans Light"/>
                  <a:cs typeface="DejaVu Sans Light"/>
                  <a:sym typeface="DejaVu Sans Light"/>
                </a:rPr>
                <a:t> trường đầu tư - kinh doanh vẫn còn nhiều rào cản; bình đẳng trong tiếp cận các nguồn lực giữa các thành phần kinh tế chưa được bảo đảm triệt để</a:t>
              </a:r>
            </a:p>
          </p:txBody>
        </p:sp>
      </p:grpSp>
      <p:grpSp>
        <p:nvGrpSpPr>
          <p:cNvPr name="Group 54" id="54"/>
          <p:cNvGrpSpPr/>
          <p:nvPr/>
        </p:nvGrpSpPr>
        <p:grpSpPr>
          <a:xfrm rot="0">
            <a:off x="7876222" y="7780210"/>
            <a:ext cx="9649587" cy="1557147"/>
            <a:chOff x="0" y="0"/>
            <a:chExt cx="12866116" cy="2076196"/>
          </a:xfrm>
        </p:grpSpPr>
        <p:sp>
          <p:nvSpPr>
            <p:cNvPr name="Freeform 55" id="55"/>
            <p:cNvSpPr/>
            <p:nvPr/>
          </p:nvSpPr>
          <p:spPr>
            <a:xfrm flipH="false" flipV="false" rot="0">
              <a:off x="0" y="0"/>
              <a:ext cx="12866116" cy="2076196"/>
            </a:xfrm>
            <a:custGeom>
              <a:avLst/>
              <a:gdLst/>
              <a:ahLst/>
              <a:cxnLst/>
              <a:rect r="r" b="b" t="t" l="l"/>
              <a:pathLst>
                <a:path h="2076196" w="12866116">
                  <a:moveTo>
                    <a:pt x="0" y="83058"/>
                  </a:moveTo>
                  <a:cubicBezTo>
                    <a:pt x="0" y="37211"/>
                    <a:pt x="37211" y="0"/>
                    <a:pt x="83058" y="0"/>
                  </a:cubicBezTo>
                  <a:lnTo>
                    <a:pt x="12783058" y="0"/>
                  </a:lnTo>
                  <a:cubicBezTo>
                    <a:pt x="12828905" y="0"/>
                    <a:pt x="12866116" y="37211"/>
                    <a:pt x="12866116" y="83058"/>
                  </a:cubicBezTo>
                  <a:lnTo>
                    <a:pt x="12866116" y="1993138"/>
                  </a:lnTo>
                  <a:cubicBezTo>
                    <a:pt x="12866116" y="2038985"/>
                    <a:pt x="12828905" y="2076196"/>
                    <a:pt x="12783058" y="2076196"/>
                  </a:cubicBezTo>
                  <a:lnTo>
                    <a:pt x="83058" y="2076196"/>
                  </a:lnTo>
                  <a:cubicBezTo>
                    <a:pt x="37211" y="2076196"/>
                    <a:pt x="0" y="2038985"/>
                    <a:pt x="0" y="1993138"/>
                  </a:cubicBezTo>
                  <a:close/>
                </a:path>
              </a:pathLst>
            </a:custGeom>
            <a:solidFill>
              <a:srgbClr val="FFFFFF"/>
            </a:solidFill>
            <a:ln w="20955" cap="sq">
              <a:solidFill>
                <a:srgbClr val="CBD5E1"/>
              </a:solidFill>
              <a:prstDash val="solid"/>
              <a:miter/>
            </a:ln>
          </p:spPr>
        </p:sp>
      </p:grpSp>
      <p:grpSp>
        <p:nvGrpSpPr>
          <p:cNvPr name="Group 56" id="56"/>
          <p:cNvGrpSpPr/>
          <p:nvPr/>
        </p:nvGrpSpPr>
        <p:grpSpPr>
          <a:xfrm rot="0">
            <a:off x="7886700" y="7790688"/>
            <a:ext cx="164592" cy="1536192"/>
            <a:chOff x="0" y="0"/>
            <a:chExt cx="219456" cy="2048256"/>
          </a:xfrm>
        </p:grpSpPr>
        <p:sp>
          <p:nvSpPr>
            <p:cNvPr name="Freeform 57" id="57"/>
            <p:cNvSpPr/>
            <p:nvPr/>
          </p:nvSpPr>
          <p:spPr>
            <a:xfrm flipH="false" flipV="false" rot="0">
              <a:off x="0" y="0"/>
              <a:ext cx="219456" cy="2048256"/>
            </a:xfrm>
            <a:custGeom>
              <a:avLst/>
              <a:gdLst/>
              <a:ahLst/>
              <a:cxnLst/>
              <a:rect r="r" b="b" t="t" l="l"/>
              <a:pathLst>
                <a:path h="2048256" w="219456">
                  <a:moveTo>
                    <a:pt x="0" y="0"/>
                  </a:moveTo>
                  <a:lnTo>
                    <a:pt x="219456" y="0"/>
                  </a:lnTo>
                  <a:lnTo>
                    <a:pt x="219456" y="2048256"/>
                  </a:lnTo>
                  <a:lnTo>
                    <a:pt x="0" y="2048256"/>
                  </a:lnTo>
                  <a:close/>
                </a:path>
              </a:pathLst>
            </a:custGeom>
            <a:solidFill>
              <a:srgbClr val="C25915"/>
            </a:solidFill>
          </p:spPr>
        </p:sp>
      </p:grpSp>
      <p:grpSp>
        <p:nvGrpSpPr>
          <p:cNvPr name="Group 58" id="58"/>
          <p:cNvGrpSpPr/>
          <p:nvPr/>
        </p:nvGrpSpPr>
        <p:grpSpPr>
          <a:xfrm rot="0">
            <a:off x="8202168" y="7859268"/>
            <a:ext cx="9121140" cy="1399032"/>
            <a:chOff x="0" y="0"/>
            <a:chExt cx="12161520" cy="1865376"/>
          </a:xfrm>
        </p:grpSpPr>
        <p:sp>
          <p:nvSpPr>
            <p:cNvPr name="Freeform 59" id="59"/>
            <p:cNvSpPr/>
            <p:nvPr/>
          </p:nvSpPr>
          <p:spPr>
            <a:xfrm flipH="false" flipV="false" rot="0">
              <a:off x="0" y="0"/>
              <a:ext cx="12161520" cy="1865376"/>
            </a:xfrm>
            <a:custGeom>
              <a:avLst/>
              <a:gdLst/>
              <a:ahLst/>
              <a:cxnLst/>
              <a:rect r="r" b="b" t="t" l="l"/>
              <a:pathLst>
                <a:path h="1865376" w="12161520">
                  <a:moveTo>
                    <a:pt x="0" y="0"/>
                  </a:moveTo>
                  <a:lnTo>
                    <a:pt x="12161520" y="0"/>
                  </a:lnTo>
                  <a:lnTo>
                    <a:pt x="12161520" y="1865376"/>
                  </a:lnTo>
                  <a:lnTo>
                    <a:pt x="0" y="1865376"/>
                  </a:lnTo>
                  <a:close/>
                </a:path>
              </a:pathLst>
            </a:custGeom>
            <a:blipFill>
              <a:blip r:embed="rId2">
                <a:alphaModFix amt="0"/>
              </a:blip>
              <a:stretch>
                <a:fillRect l="0" t="-77034" r="0" b="-77034"/>
              </a:stretch>
            </a:blipFill>
          </p:spPr>
        </p:sp>
        <p:sp>
          <p:nvSpPr>
            <p:cNvPr name="TextBox 60" id="60"/>
            <p:cNvSpPr txBox="true"/>
            <p:nvPr/>
          </p:nvSpPr>
          <p:spPr>
            <a:xfrm>
              <a:off x="0" y="-19050"/>
              <a:ext cx="12161520" cy="1884426"/>
            </a:xfrm>
            <a:prstGeom prst="rect">
              <a:avLst/>
            </a:prstGeom>
          </p:spPr>
          <p:txBody>
            <a:bodyPr anchor="ctr" rtlCol="false" tIns="0" lIns="0" bIns="0" rIns="0"/>
            <a:lstStyle/>
            <a:p>
              <a:pPr algn="l">
                <a:lnSpc>
                  <a:spcPts val="2520"/>
                </a:lnSpc>
              </a:pPr>
              <a:r>
                <a:rPr lang="en-US" sz="2100" b="true">
                  <a:solidFill>
                    <a:srgbClr val="122645"/>
                  </a:solidFill>
                  <a:latin typeface="DejaVu Sans Bold"/>
                  <a:ea typeface="DejaVu Sans Bold"/>
                  <a:cs typeface="DejaVu Sans Bold"/>
                  <a:sym typeface="DejaVu Sans Bold"/>
                </a:rPr>
                <a:t>3. Hiệu lực, hiệu quả thực thi chưa cao</a:t>
              </a:r>
            </a:p>
            <a:p>
              <a:pPr algn="l">
                <a:lnSpc>
                  <a:spcPts val="2448"/>
                </a:lnSpc>
              </a:pPr>
              <a:r>
                <a:rPr lang="en-US" sz="1700">
                  <a:solidFill>
                    <a:srgbClr val="1E293B"/>
                  </a:solidFill>
                  <a:latin typeface="DejaVu Sans Light"/>
                  <a:ea typeface="DejaVu Sans Light"/>
                  <a:cs typeface="DejaVu Sans Light"/>
                  <a:sym typeface="DejaVu Sans Light"/>
                </a:rPr>
                <a:t>Thủ tục hành chính còn nhiều khâu trung gian; thị trường vốn dài hạn và phân khúc nhà ở vừa túi tiền phát triển chưa tương xứng.</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7543" cy="137160"/>
            <a:chOff x="0" y="0"/>
            <a:chExt cx="24383390" cy="182880"/>
          </a:xfrm>
        </p:grpSpPr>
        <p:sp>
          <p:nvSpPr>
            <p:cNvPr name="Freeform 3" id="3"/>
            <p:cNvSpPr/>
            <p:nvPr/>
          </p:nvSpPr>
          <p:spPr>
            <a:xfrm flipH="false" flipV="false" rot="0">
              <a:off x="0" y="0"/>
              <a:ext cx="24383364" cy="182880"/>
            </a:xfrm>
            <a:custGeom>
              <a:avLst/>
              <a:gdLst/>
              <a:ahLst/>
              <a:cxnLst/>
              <a:rect r="r" b="b" t="t" l="l"/>
              <a:pathLst>
                <a:path h="182880" w="24383364">
                  <a:moveTo>
                    <a:pt x="0" y="0"/>
                  </a:moveTo>
                  <a:lnTo>
                    <a:pt x="24383364" y="0"/>
                  </a:lnTo>
                  <a:lnTo>
                    <a:pt x="24383364" y="182880"/>
                  </a:lnTo>
                  <a:lnTo>
                    <a:pt x="0" y="182880"/>
                  </a:lnTo>
                  <a:close/>
                </a:path>
              </a:pathLst>
            </a:custGeom>
            <a:solidFill>
              <a:srgbClr val="122645"/>
            </a:solidFill>
          </p:spPr>
        </p:sp>
      </p:grpSp>
      <p:grpSp>
        <p:nvGrpSpPr>
          <p:cNvPr name="Group 4" id="4"/>
          <p:cNvGrpSpPr/>
          <p:nvPr/>
        </p:nvGrpSpPr>
        <p:grpSpPr>
          <a:xfrm rot="0">
            <a:off x="0" y="0"/>
            <a:ext cx="9753352" cy="137160"/>
            <a:chOff x="0" y="0"/>
            <a:chExt cx="13004470" cy="182880"/>
          </a:xfrm>
        </p:grpSpPr>
        <p:sp>
          <p:nvSpPr>
            <p:cNvPr name="Freeform 5" id="5"/>
            <p:cNvSpPr/>
            <p:nvPr/>
          </p:nvSpPr>
          <p:spPr>
            <a:xfrm flipH="false" flipV="false" rot="0">
              <a:off x="0" y="0"/>
              <a:ext cx="13004419" cy="182880"/>
            </a:xfrm>
            <a:custGeom>
              <a:avLst/>
              <a:gdLst/>
              <a:ahLst/>
              <a:cxnLst/>
              <a:rect r="r" b="b" t="t" l="l"/>
              <a:pathLst>
                <a:path h="182880" w="13004419">
                  <a:moveTo>
                    <a:pt x="0" y="0"/>
                  </a:moveTo>
                  <a:lnTo>
                    <a:pt x="13004419" y="0"/>
                  </a:lnTo>
                  <a:lnTo>
                    <a:pt x="13004419" y="182880"/>
                  </a:lnTo>
                  <a:lnTo>
                    <a:pt x="0" y="182880"/>
                  </a:lnTo>
                  <a:close/>
                </a:path>
              </a:pathLst>
            </a:custGeom>
            <a:solidFill>
              <a:srgbClr val="0369A1"/>
            </a:solidFill>
          </p:spPr>
        </p:sp>
      </p:grpSp>
      <p:grpSp>
        <p:nvGrpSpPr>
          <p:cNvPr name="Group 6" id="6"/>
          <p:cNvGrpSpPr/>
          <p:nvPr/>
        </p:nvGrpSpPr>
        <p:grpSpPr>
          <a:xfrm rot="0">
            <a:off x="744855" y="292227"/>
            <a:ext cx="7151370" cy="485394"/>
            <a:chOff x="0" y="0"/>
            <a:chExt cx="9535160" cy="647192"/>
          </a:xfrm>
        </p:grpSpPr>
        <p:sp>
          <p:nvSpPr>
            <p:cNvPr name="Freeform 7" id="7"/>
            <p:cNvSpPr/>
            <p:nvPr/>
          </p:nvSpPr>
          <p:spPr>
            <a:xfrm flipH="false" flipV="false" rot="0">
              <a:off x="0" y="0"/>
              <a:ext cx="9535160" cy="647192"/>
            </a:xfrm>
            <a:custGeom>
              <a:avLst/>
              <a:gdLst/>
              <a:ahLst/>
              <a:cxnLst/>
              <a:rect r="r" b="b" t="t" l="l"/>
              <a:pathLst>
                <a:path h="647192" w="9535160">
                  <a:moveTo>
                    <a:pt x="0" y="25908"/>
                  </a:moveTo>
                  <a:cubicBezTo>
                    <a:pt x="0" y="11557"/>
                    <a:pt x="11557" y="0"/>
                    <a:pt x="25908" y="0"/>
                  </a:cubicBezTo>
                  <a:lnTo>
                    <a:pt x="9509252" y="0"/>
                  </a:lnTo>
                  <a:cubicBezTo>
                    <a:pt x="9523603" y="0"/>
                    <a:pt x="9535160" y="11557"/>
                    <a:pt x="9535160" y="25908"/>
                  </a:cubicBezTo>
                  <a:lnTo>
                    <a:pt x="9535160" y="621284"/>
                  </a:lnTo>
                  <a:cubicBezTo>
                    <a:pt x="9535160" y="635635"/>
                    <a:pt x="9523603" y="647192"/>
                    <a:pt x="9509252" y="647192"/>
                  </a:cubicBezTo>
                  <a:lnTo>
                    <a:pt x="25908" y="647192"/>
                  </a:lnTo>
                  <a:cubicBezTo>
                    <a:pt x="11557" y="647192"/>
                    <a:pt x="0" y="635635"/>
                    <a:pt x="0" y="621284"/>
                  </a:cubicBezTo>
                  <a:close/>
                </a:path>
              </a:pathLst>
            </a:custGeom>
            <a:solidFill>
              <a:srgbClr val="EEF6FC"/>
            </a:solidFill>
            <a:ln w="19050" cap="sq">
              <a:solidFill>
                <a:srgbClr val="0369A1"/>
              </a:solidFill>
              <a:prstDash val="solid"/>
              <a:miter/>
            </a:ln>
          </p:spPr>
        </p:sp>
      </p:grpSp>
      <p:grpSp>
        <p:nvGrpSpPr>
          <p:cNvPr name="Group 8" id="8"/>
          <p:cNvGrpSpPr/>
          <p:nvPr/>
        </p:nvGrpSpPr>
        <p:grpSpPr>
          <a:xfrm rot="0">
            <a:off x="850392" y="301752"/>
            <a:ext cx="6926580" cy="466344"/>
            <a:chOff x="0" y="0"/>
            <a:chExt cx="9235440" cy="621792"/>
          </a:xfrm>
        </p:grpSpPr>
        <p:sp>
          <p:nvSpPr>
            <p:cNvPr name="Freeform 9" id="9"/>
            <p:cNvSpPr/>
            <p:nvPr/>
          </p:nvSpPr>
          <p:spPr>
            <a:xfrm flipH="false" flipV="false" rot="0">
              <a:off x="0" y="0"/>
              <a:ext cx="9235440" cy="621792"/>
            </a:xfrm>
            <a:custGeom>
              <a:avLst/>
              <a:gdLst/>
              <a:ahLst/>
              <a:cxnLst/>
              <a:rect r="r" b="b" t="t" l="l"/>
              <a:pathLst>
                <a:path h="621792" w="9235440">
                  <a:moveTo>
                    <a:pt x="0" y="0"/>
                  </a:moveTo>
                  <a:lnTo>
                    <a:pt x="9235440" y="0"/>
                  </a:lnTo>
                  <a:lnTo>
                    <a:pt x="9235440" y="621792"/>
                  </a:lnTo>
                  <a:lnTo>
                    <a:pt x="0" y="621792"/>
                  </a:lnTo>
                  <a:close/>
                </a:path>
              </a:pathLst>
            </a:custGeom>
            <a:blipFill>
              <a:blip r:embed="rId2">
                <a:alphaModFix amt="0"/>
              </a:blip>
              <a:stretch>
                <a:fillRect l="0" t="-239410" r="0" b="-239410"/>
              </a:stretch>
            </a:blipFill>
          </p:spPr>
        </p:sp>
        <p:sp>
          <p:nvSpPr>
            <p:cNvPr name="TextBox 10" id="10"/>
            <p:cNvSpPr txBox="true"/>
            <p:nvPr/>
          </p:nvSpPr>
          <p:spPr>
            <a:xfrm>
              <a:off x="0" y="-9525"/>
              <a:ext cx="9235440" cy="631317"/>
            </a:xfrm>
            <a:prstGeom prst="rect">
              <a:avLst/>
            </a:prstGeom>
          </p:spPr>
          <p:txBody>
            <a:bodyPr anchor="ctr" rtlCol="false" tIns="0" lIns="0" bIns="0" rIns="0"/>
            <a:lstStyle/>
            <a:p>
              <a:pPr algn="l">
                <a:lnSpc>
                  <a:spcPts val="1889"/>
                </a:lnSpc>
              </a:pPr>
              <a:r>
                <a:rPr lang="en-US" sz="1575" b="true">
                  <a:solidFill>
                    <a:srgbClr val="0369A1"/>
                  </a:solidFill>
                  <a:latin typeface="DejaVu Sans Bold"/>
                  <a:ea typeface="DejaVu Sans Bold"/>
                  <a:cs typeface="DejaVu Sans Bold"/>
                  <a:sym typeface="DejaVu Sans Bold"/>
                </a:rPr>
                <a:t>LÝ LUẬN NỀN TẢNG • MỤC 5.2.2 (TR. 190–196)</a:t>
              </a:r>
            </a:p>
          </p:txBody>
        </p:sp>
      </p:grpSp>
      <p:grpSp>
        <p:nvGrpSpPr>
          <p:cNvPr name="Group 11" id="11"/>
          <p:cNvGrpSpPr/>
          <p:nvPr/>
        </p:nvGrpSpPr>
        <p:grpSpPr>
          <a:xfrm rot="0">
            <a:off x="15704820" y="301752"/>
            <a:ext cx="1824228" cy="466344"/>
            <a:chOff x="0" y="0"/>
            <a:chExt cx="2432304" cy="621792"/>
          </a:xfrm>
        </p:grpSpPr>
        <p:sp>
          <p:nvSpPr>
            <p:cNvPr name="Freeform 12" id="12"/>
            <p:cNvSpPr/>
            <p:nvPr/>
          </p:nvSpPr>
          <p:spPr>
            <a:xfrm flipH="false" flipV="false" rot="0">
              <a:off x="0" y="0"/>
              <a:ext cx="2432304" cy="621792"/>
            </a:xfrm>
            <a:custGeom>
              <a:avLst/>
              <a:gdLst/>
              <a:ahLst/>
              <a:cxnLst/>
              <a:rect r="r" b="b" t="t" l="l"/>
              <a:pathLst>
                <a:path h="621792" w="2432304">
                  <a:moveTo>
                    <a:pt x="0" y="24892"/>
                  </a:moveTo>
                  <a:cubicBezTo>
                    <a:pt x="0" y="11176"/>
                    <a:pt x="11176" y="0"/>
                    <a:pt x="24892" y="0"/>
                  </a:cubicBezTo>
                  <a:lnTo>
                    <a:pt x="2407412" y="0"/>
                  </a:lnTo>
                  <a:cubicBezTo>
                    <a:pt x="2421128" y="0"/>
                    <a:pt x="2432304" y="11176"/>
                    <a:pt x="2432304" y="24892"/>
                  </a:cubicBezTo>
                  <a:lnTo>
                    <a:pt x="2432304" y="596900"/>
                  </a:lnTo>
                  <a:cubicBezTo>
                    <a:pt x="2432304" y="610616"/>
                    <a:pt x="2421128" y="621792"/>
                    <a:pt x="2407412" y="621792"/>
                  </a:cubicBezTo>
                  <a:lnTo>
                    <a:pt x="24892" y="621792"/>
                  </a:lnTo>
                  <a:cubicBezTo>
                    <a:pt x="11176" y="621792"/>
                    <a:pt x="0" y="610616"/>
                    <a:pt x="0" y="596900"/>
                  </a:cubicBezTo>
                  <a:close/>
                </a:path>
              </a:pathLst>
            </a:custGeom>
            <a:solidFill>
              <a:srgbClr val="122645"/>
            </a:solidFill>
          </p:spPr>
        </p:sp>
      </p:grpSp>
      <p:grpSp>
        <p:nvGrpSpPr>
          <p:cNvPr name="Group 13" id="13"/>
          <p:cNvGrpSpPr/>
          <p:nvPr/>
        </p:nvGrpSpPr>
        <p:grpSpPr>
          <a:xfrm rot="0">
            <a:off x="15704820" y="301752"/>
            <a:ext cx="1824228" cy="466344"/>
            <a:chOff x="0" y="0"/>
            <a:chExt cx="2432304" cy="621792"/>
          </a:xfrm>
        </p:grpSpPr>
        <p:sp>
          <p:nvSpPr>
            <p:cNvPr name="Freeform 14" id="14"/>
            <p:cNvSpPr/>
            <p:nvPr/>
          </p:nvSpPr>
          <p:spPr>
            <a:xfrm flipH="false" flipV="false" rot="0">
              <a:off x="0" y="0"/>
              <a:ext cx="2432304" cy="621792"/>
            </a:xfrm>
            <a:custGeom>
              <a:avLst/>
              <a:gdLst/>
              <a:ahLst/>
              <a:cxnLst/>
              <a:rect r="r" b="b" t="t" l="l"/>
              <a:pathLst>
                <a:path h="621792" w="2432304">
                  <a:moveTo>
                    <a:pt x="0" y="0"/>
                  </a:moveTo>
                  <a:lnTo>
                    <a:pt x="2432304" y="0"/>
                  </a:lnTo>
                  <a:lnTo>
                    <a:pt x="2432304" y="621792"/>
                  </a:lnTo>
                  <a:lnTo>
                    <a:pt x="0" y="621792"/>
                  </a:lnTo>
                  <a:close/>
                </a:path>
              </a:pathLst>
            </a:custGeom>
            <a:blipFill>
              <a:blip r:embed="rId2">
                <a:alphaModFix amt="0"/>
              </a:blip>
              <a:stretch>
                <a:fillRect l="0" t="-26220" r="0" b="-26220"/>
              </a:stretch>
            </a:blipFill>
          </p:spPr>
        </p:sp>
        <p:sp>
          <p:nvSpPr>
            <p:cNvPr name="TextBox 15" id="15"/>
            <p:cNvSpPr txBox="true"/>
            <p:nvPr/>
          </p:nvSpPr>
          <p:spPr>
            <a:xfrm>
              <a:off x="0" y="-19050"/>
              <a:ext cx="2432304" cy="640842"/>
            </a:xfrm>
            <a:prstGeom prst="rect">
              <a:avLst/>
            </a:prstGeom>
          </p:spPr>
          <p:txBody>
            <a:bodyPr anchor="ctr" rtlCol="false" tIns="0" lIns="0" bIns="0" rIns="0"/>
            <a:lstStyle/>
            <a:p>
              <a:pPr algn="ctr">
                <a:lnSpc>
                  <a:spcPts val="2700"/>
                </a:lnSpc>
              </a:pPr>
              <a:r>
                <a:rPr lang="en-US" sz="2250" b="true">
                  <a:solidFill>
                    <a:srgbClr val="FFFFFF"/>
                  </a:solidFill>
                  <a:latin typeface="DejaVu Sans Bold"/>
                  <a:ea typeface="DejaVu Sans Bold"/>
                  <a:cs typeface="DejaVu Sans Bold"/>
                  <a:sym typeface="DejaVu Sans Bold"/>
                </a:rPr>
                <a:t>Slide 8 / 15</a:t>
              </a:r>
            </a:p>
          </p:txBody>
        </p:sp>
      </p:grpSp>
      <p:grpSp>
        <p:nvGrpSpPr>
          <p:cNvPr name="Group 16" id="16"/>
          <p:cNvGrpSpPr/>
          <p:nvPr/>
        </p:nvGrpSpPr>
        <p:grpSpPr>
          <a:xfrm rot="0">
            <a:off x="754380" y="850392"/>
            <a:ext cx="16774668" cy="740664"/>
            <a:chOff x="0" y="0"/>
            <a:chExt cx="22366224" cy="987552"/>
          </a:xfrm>
        </p:grpSpPr>
        <p:sp>
          <p:nvSpPr>
            <p:cNvPr name="Freeform 17" id="17"/>
            <p:cNvSpPr/>
            <p:nvPr/>
          </p:nvSpPr>
          <p:spPr>
            <a:xfrm flipH="false" flipV="false" rot="0">
              <a:off x="0" y="0"/>
              <a:ext cx="22366224" cy="987552"/>
            </a:xfrm>
            <a:custGeom>
              <a:avLst/>
              <a:gdLst/>
              <a:ahLst/>
              <a:cxnLst/>
              <a:rect r="r" b="b" t="t" l="l"/>
              <a:pathLst>
                <a:path h="987552" w="22366224">
                  <a:moveTo>
                    <a:pt x="0" y="0"/>
                  </a:moveTo>
                  <a:lnTo>
                    <a:pt x="22366224" y="0"/>
                  </a:lnTo>
                  <a:lnTo>
                    <a:pt x="22366224" y="987552"/>
                  </a:lnTo>
                  <a:lnTo>
                    <a:pt x="0" y="987552"/>
                  </a:lnTo>
                  <a:close/>
                </a:path>
              </a:pathLst>
            </a:custGeom>
            <a:blipFill>
              <a:blip r:embed="rId2">
                <a:alphaModFix amt="0"/>
              </a:blip>
              <a:stretch>
                <a:fillRect l="0" t="-391300" r="0" b="-391300"/>
              </a:stretch>
            </a:blipFill>
          </p:spPr>
        </p:sp>
        <p:sp>
          <p:nvSpPr>
            <p:cNvPr name="TextBox 18" id="18"/>
            <p:cNvSpPr txBox="true"/>
            <p:nvPr/>
          </p:nvSpPr>
          <p:spPr>
            <a:xfrm>
              <a:off x="0" y="-9525"/>
              <a:ext cx="22366224" cy="997077"/>
            </a:xfrm>
            <a:prstGeom prst="rect">
              <a:avLst/>
            </a:prstGeom>
          </p:spPr>
          <p:txBody>
            <a:bodyPr anchor="ctr" rtlCol="false" tIns="0" lIns="0" bIns="0" rIns="0"/>
            <a:lstStyle/>
            <a:p>
              <a:pPr algn="l">
                <a:lnSpc>
                  <a:spcPts val="3869"/>
                </a:lnSpc>
              </a:pPr>
              <a:r>
                <a:rPr lang="en-US" sz="3225" b="true">
                  <a:solidFill>
                    <a:srgbClr val="122645"/>
                  </a:solidFill>
                  <a:latin typeface="DejaVu Sans Bold"/>
                  <a:ea typeface="DejaVu Sans Bold"/>
                  <a:cs typeface="DejaVu Sans Bold"/>
                  <a:sym typeface="DejaVu Sans Bold"/>
                </a:rPr>
                <a:t>5 nội dung trọng tâm hoàn thiện Thể chế KTTT định hướng XHCN</a:t>
              </a:r>
            </a:p>
          </p:txBody>
        </p:sp>
      </p:grpSp>
      <p:grpSp>
        <p:nvGrpSpPr>
          <p:cNvPr name="Group 19" id="19"/>
          <p:cNvGrpSpPr/>
          <p:nvPr/>
        </p:nvGrpSpPr>
        <p:grpSpPr>
          <a:xfrm rot="0">
            <a:off x="754380" y="1645920"/>
            <a:ext cx="16774668" cy="41148"/>
            <a:chOff x="0" y="0"/>
            <a:chExt cx="22366224" cy="54864"/>
          </a:xfrm>
        </p:grpSpPr>
        <p:sp>
          <p:nvSpPr>
            <p:cNvPr name="Freeform 20" id="20"/>
            <p:cNvSpPr/>
            <p:nvPr/>
          </p:nvSpPr>
          <p:spPr>
            <a:xfrm flipH="false" flipV="false" rot="0">
              <a:off x="0" y="0"/>
              <a:ext cx="22366224" cy="54864"/>
            </a:xfrm>
            <a:custGeom>
              <a:avLst/>
              <a:gdLst/>
              <a:ahLst/>
              <a:cxnLst/>
              <a:rect r="r" b="b" t="t" l="l"/>
              <a:pathLst>
                <a:path h="54864" w="22366224">
                  <a:moveTo>
                    <a:pt x="0" y="0"/>
                  </a:moveTo>
                  <a:lnTo>
                    <a:pt x="22366224" y="0"/>
                  </a:lnTo>
                  <a:lnTo>
                    <a:pt x="22366224" y="54864"/>
                  </a:lnTo>
                  <a:lnTo>
                    <a:pt x="0" y="54864"/>
                  </a:lnTo>
                  <a:close/>
                </a:path>
              </a:pathLst>
            </a:custGeom>
            <a:solidFill>
              <a:srgbClr val="CBD5E1"/>
            </a:solidFill>
          </p:spPr>
        </p:sp>
      </p:grpSp>
      <p:grpSp>
        <p:nvGrpSpPr>
          <p:cNvPr name="Group 21" id="21"/>
          <p:cNvGrpSpPr/>
          <p:nvPr/>
        </p:nvGrpSpPr>
        <p:grpSpPr>
          <a:xfrm rot="0">
            <a:off x="-7144" y="9662636"/>
            <a:ext cx="18301830" cy="631507"/>
            <a:chOff x="0" y="0"/>
            <a:chExt cx="24402440" cy="842010"/>
          </a:xfrm>
        </p:grpSpPr>
        <p:sp>
          <p:nvSpPr>
            <p:cNvPr name="Freeform 22" id="22"/>
            <p:cNvSpPr/>
            <p:nvPr/>
          </p:nvSpPr>
          <p:spPr>
            <a:xfrm flipH="false" flipV="false" rot="0">
              <a:off x="0" y="0"/>
              <a:ext cx="24402414" cy="842010"/>
            </a:xfrm>
            <a:custGeom>
              <a:avLst/>
              <a:gdLst/>
              <a:ahLst/>
              <a:cxnLst/>
              <a:rect r="r" b="b" t="t" l="l"/>
              <a:pathLst>
                <a:path h="842010" w="24402414">
                  <a:moveTo>
                    <a:pt x="0" y="0"/>
                  </a:moveTo>
                  <a:lnTo>
                    <a:pt x="24402414" y="0"/>
                  </a:lnTo>
                  <a:lnTo>
                    <a:pt x="24402414" y="842010"/>
                  </a:lnTo>
                  <a:lnTo>
                    <a:pt x="0" y="842010"/>
                  </a:lnTo>
                  <a:close/>
                </a:path>
              </a:pathLst>
            </a:custGeom>
            <a:solidFill>
              <a:srgbClr val="FFFFFF"/>
            </a:solidFill>
            <a:ln w="14288" cap="sq">
              <a:solidFill>
                <a:srgbClr val="CBD5E1"/>
              </a:solidFill>
              <a:prstDash val="solid"/>
              <a:miter/>
            </a:ln>
          </p:spPr>
        </p:sp>
      </p:grpSp>
      <p:grpSp>
        <p:nvGrpSpPr>
          <p:cNvPr name="Group 23" id="23"/>
          <p:cNvGrpSpPr/>
          <p:nvPr/>
        </p:nvGrpSpPr>
        <p:grpSpPr>
          <a:xfrm rot="0">
            <a:off x="754380" y="9710928"/>
            <a:ext cx="16774668" cy="493776"/>
            <a:chOff x="0" y="0"/>
            <a:chExt cx="22366224" cy="658368"/>
          </a:xfrm>
        </p:grpSpPr>
        <p:sp>
          <p:nvSpPr>
            <p:cNvPr name="Freeform 24" id="24"/>
            <p:cNvSpPr/>
            <p:nvPr/>
          </p:nvSpPr>
          <p:spPr>
            <a:xfrm flipH="false" flipV="false" rot="0">
              <a:off x="0" y="0"/>
              <a:ext cx="22366224" cy="658368"/>
            </a:xfrm>
            <a:custGeom>
              <a:avLst/>
              <a:gdLst/>
              <a:ahLst/>
              <a:cxnLst/>
              <a:rect r="r" b="b" t="t" l="l"/>
              <a:pathLst>
                <a:path h="658368" w="22366224">
                  <a:moveTo>
                    <a:pt x="0" y="0"/>
                  </a:moveTo>
                  <a:lnTo>
                    <a:pt x="22366224" y="0"/>
                  </a:lnTo>
                  <a:lnTo>
                    <a:pt x="22366224" y="658368"/>
                  </a:lnTo>
                  <a:lnTo>
                    <a:pt x="0" y="658368"/>
                  </a:lnTo>
                  <a:close/>
                </a:path>
              </a:pathLst>
            </a:custGeom>
            <a:blipFill>
              <a:blip r:embed="rId2">
                <a:alphaModFix amt="0"/>
              </a:blip>
              <a:stretch>
                <a:fillRect l="0" t="-611950" r="0" b="-611950"/>
              </a:stretch>
            </a:blipFill>
          </p:spPr>
        </p:sp>
        <p:sp>
          <p:nvSpPr>
            <p:cNvPr name="TextBox 25" id="25"/>
            <p:cNvSpPr txBox="true"/>
            <p:nvPr/>
          </p:nvSpPr>
          <p:spPr>
            <a:xfrm>
              <a:off x="0" y="-9525"/>
              <a:ext cx="22366224" cy="667893"/>
            </a:xfrm>
            <a:prstGeom prst="rect">
              <a:avLst/>
            </a:prstGeom>
          </p:spPr>
          <p:txBody>
            <a:bodyPr anchor="ctr" rtlCol="false" tIns="0" lIns="0" bIns="0" rIns="0"/>
            <a:lstStyle/>
            <a:p>
              <a:pPr algn="l">
                <a:lnSpc>
                  <a:spcPts val="1380"/>
                </a:lnSpc>
              </a:pPr>
              <a:r>
                <a:rPr lang="en-US" sz="1150" i="true">
                  <a:solidFill>
                    <a:srgbClr val="475569"/>
                  </a:solidFill>
                  <a:latin typeface="DejaVu Sans Bold Italics"/>
                  <a:ea typeface="DejaVu Sans Bold Italics"/>
                  <a:cs typeface="DejaVu Sans Bold Italics"/>
                  <a:sym typeface="DejaVu Sans Bold Italics"/>
                </a:rPr>
                <a:t>Nguồn: Giáo trình KTCT Mác – Lênin (2021, tr. 190–196); Cổng Thông tin điện tử Quốc hội &amp; Chính phủ.</a:t>
              </a:r>
            </a:p>
          </p:txBody>
        </p:sp>
      </p:grpSp>
      <p:grpSp>
        <p:nvGrpSpPr>
          <p:cNvPr name="Group 26" id="26"/>
          <p:cNvGrpSpPr/>
          <p:nvPr/>
        </p:nvGrpSpPr>
        <p:grpSpPr>
          <a:xfrm rot="0">
            <a:off x="742950" y="1963674"/>
            <a:ext cx="5454396" cy="3479292"/>
            <a:chOff x="0" y="0"/>
            <a:chExt cx="7272528" cy="4639056"/>
          </a:xfrm>
        </p:grpSpPr>
        <p:sp>
          <p:nvSpPr>
            <p:cNvPr name="Freeform 27" id="27"/>
            <p:cNvSpPr/>
            <p:nvPr/>
          </p:nvSpPr>
          <p:spPr>
            <a:xfrm flipH="false" flipV="false" rot="0">
              <a:off x="0" y="0"/>
              <a:ext cx="7272528" cy="4639056"/>
            </a:xfrm>
            <a:custGeom>
              <a:avLst/>
              <a:gdLst/>
              <a:ahLst/>
              <a:cxnLst/>
              <a:rect r="r" b="b" t="t" l="l"/>
              <a:pathLst>
                <a:path h="4639056" w="7272528">
                  <a:moveTo>
                    <a:pt x="0" y="185547"/>
                  </a:moveTo>
                  <a:cubicBezTo>
                    <a:pt x="0" y="83058"/>
                    <a:pt x="83058" y="0"/>
                    <a:pt x="185547" y="0"/>
                  </a:cubicBezTo>
                  <a:lnTo>
                    <a:pt x="7086981" y="0"/>
                  </a:lnTo>
                  <a:cubicBezTo>
                    <a:pt x="7189470" y="0"/>
                    <a:pt x="7272528" y="83058"/>
                    <a:pt x="7272528" y="185547"/>
                  </a:cubicBezTo>
                  <a:lnTo>
                    <a:pt x="7272528" y="4453509"/>
                  </a:lnTo>
                  <a:cubicBezTo>
                    <a:pt x="7272528" y="4555998"/>
                    <a:pt x="7189470" y="4639056"/>
                    <a:pt x="7086981" y="4639056"/>
                  </a:cubicBezTo>
                  <a:lnTo>
                    <a:pt x="185547" y="4639056"/>
                  </a:lnTo>
                  <a:cubicBezTo>
                    <a:pt x="83058" y="4639056"/>
                    <a:pt x="0" y="4555998"/>
                    <a:pt x="0" y="4453509"/>
                  </a:cubicBezTo>
                  <a:close/>
                </a:path>
              </a:pathLst>
            </a:custGeom>
            <a:solidFill>
              <a:srgbClr val="FFFFFF"/>
            </a:solidFill>
            <a:ln w="22860" cap="sq">
              <a:solidFill>
                <a:srgbClr val="CBD5E1"/>
              </a:solidFill>
              <a:prstDash val="solid"/>
              <a:miter/>
            </a:ln>
          </p:spPr>
        </p:sp>
      </p:grpSp>
      <p:grpSp>
        <p:nvGrpSpPr>
          <p:cNvPr name="Group 28" id="28"/>
          <p:cNvGrpSpPr/>
          <p:nvPr/>
        </p:nvGrpSpPr>
        <p:grpSpPr>
          <a:xfrm rot="0">
            <a:off x="1001268" y="2221992"/>
            <a:ext cx="905256" cy="630936"/>
            <a:chOff x="0" y="0"/>
            <a:chExt cx="1207008" cy="841248"/>
          </a:xfrm>
        </p:grpSpPr>
        <p:sp>
          <p:nvSpPr>
            <p:cNvPr name="Freeform 29" id="29"/>
            <p:cNvSpPr/>
            <p:nvPr/>
          </p:nvSpPr>
          <p:spPr>
            <a:xfrm flipH="false" flipV="false" rot="0">
              <a:off x="0" y="0"/>
              <a:ext cx="1207008" cy="841248"/>
            </a:xfrm>
            <a:custGeom>
              <a:avLst/>
              <a:gdLst/>
              <a:ahLst/>
              <a:cxnLst/>
              <a:rect r="r" b="b" t="t" l="l"/>
              <a:pathLst>
                <a:path h="841248" w="1207008">
                  <a:moveTo>
                    <a:pt x="0" y="33655"/>
                  </a:moveTo>
                  <a:cubicBezTo>
                    <a:pt x="0" y="15113"/>
                    <a:pt x="15113" y="0"/>
                    <a:pt x="33655" y="0"/>
                  </a:cubicBezTo>
                  <a:lnTo>
                    <a:pt x="1173353" y="0"/>
                  </a:lnTo>
                  <a:cubicBezTo>
                    <a:pt x="1191895" y="0"/>
                    <a:pt x="1207008" y="15113"/>
                    <a:pt x="1207008" y="33655"/>
                  </a:cubicBezTo>
                  <a:lnTo>
                    <a:pt x="1207008" y="807593"/>
                  </a:lnTo>
                  <a:cubicBezTo>
                    <a:pt x="1207008" y="826135"/>
                    <a:pt x="1191895" y="841248"/>
                    <a:pt x="1173353" y="841248"/>
                  </a:cubicBezTo>
                  <a:lnTo>
                    <a:pt x="33655" y="841248"/>
                  </a:lnTo>
                  <a:cubicBezTo>
                    <a:pt x="15113" y="841248"/>
                    <a:pt x="0" y="826135"/>
                    <a:pt x="0" y="807593"/>
                  </a:cubicBezTo>
                  <a:close/>
                </a:path>
              </a:pathLst>
            </a:custGeom>
            <a:solidFill>
              <a:srgbClr val="122645"/>
            </a:solidFill>
          </p:spPr>
        </p:sp>
      </p:grpSp>
      <p:grpSp>
        <p:nvGrpSpPr>
          <p:cNvPr name="Group 30" id="30"/>
          <p:cNvGrpSpPr/>
          <p:nvPr/>
        </p:nvGrpSpPr>
        <p:grpSpPr>
          <a:xfrm rot="0">
            <a:off x="1001268" y="2221992"/>
            <a:ext cx="905256" cy="630936"/>
            <a:chOff x="0" y="0"/>
            <a:chExt cx="1207008" cy="841248"/>
          </a:xfrm>
        </p:grpSpPr>
        <p:sp>
          <p:nvSpPr>
            <p:cNvPr name="Freeform 31" id="31"/>
            <p:cNvSpPr/>
            <p:nvPr/>
          </p:nvSpPr>
          <p:spPr>
            <a:xfrm flipH="false" flipV="false" rot="0">
              <a:off x="0" y="0"/>
              <a:ext cx="1207008" cy="841248"/>
            </a:xfrm>
            <a:custGeom>
              <a:avLst/>
              <a:gdLst/>
              <a:ahLst/>
              <a:cxnLst/>
              <a:rect r="r" b="b" t="t" l="l"/>
              <a:pathLst>
                <a:path h="841248" w="1207008">
                  <a:moveTo>
                    <a:pt x="0" y="0"/>
                  </a:moveTo>
                  <a:lnTo>
                    <a:pt x="1207008" y="0"/>
                  </a:lnTo>
                  <a:lnTo>
                    <a:pt x="1207008" y="841248"/>
                  </a:lnTo>
                  <a:lnTo>
                    <a:pt x="0" y="841248"/>
                  </a:lnTo>
                  <a:close/>
                </a:path>
              </a:pathLst>
            </a:custGeom>
            <a:blipFill>
              <a:blip r:embed="rId2">
                <a:alphaModFix amt="0"/>
              </a:blip>
              <a:stretch>
                <a:fillRect l="-39423" t="0" r="-39423" b="0"/>
              </a:stretch>
            </a:blipFill>
          </p:spPr>
        </p:sp>
        <p:sp>
          <p:nvSpPr>
            <p:cNvPr name="TextBox 32" id="32"/>
            <p:cNvSpPr txBox="true"/>
            <p:nvPr/>
          </p:nvSpPr>
          <p:spPr>
            <a:xfrm>
              <a:off x="0" y="-19050"/>
              <a:ext cx="1207008" cy="860298"/>
            </a:xfrm>
            <a:prstGeom prst="rect">
              <a:avLst/>
            </a:prstGeom>
          </p:spPr>
          <p:txBody>
            <a:bodyPr anchor="ctr" rtlCol="false" tIns="0" lIns="0" bIns="0" rIns="0"/>
            <a:lstStyle/>
            <a:p>
              <a:pPr algn="ctr">
                <a:lnSpc>
                  <a:spcPts val="2700"/>
                </a:lnSpc>
              </a:pPr>
              <a:r>
                <a:rPr lang="en-US" sz="2250" b="true">
                  <a:solidFill>
                    <a:srgbClr val="FFFFFF"/>
                  </a:solidFill>
                  <a:latin typeface="DejaVu Sans Bold"/>
                  <a:ea typeface="DejaVu Sans Bold"/>
                  <a:cs typeface="DejaVu Sans Bold"/>
                  <a:sym typeface="DejaVu Sans Bold"/>
                </a:rPr>
                <a:t>01</a:t>
              </a:r>
            </a:p>
          </p:txBody>
        </p:sp>
      </p:grpSp>
      <p:sp>
        <p:nvSpPr>
          <p:cNvPr name="TextBox 33" id="33"/>
          <p:cNvSpPr txBox="true"/>
          <p:nvPr/>
        </p:nvSpPr>
        <p:spPr>
          <a:xfrm rot="0">
            <a:off x="1056132" y="3007614"/>
            <a:ext cx="4828032" cy="2222754"/>
          </a:xfrm>
          <a:prstGeom prst="rect">
            <a:avLst/>
          </a:prstGeom>
        </p:spPr>
        <p:txBody>
          <a:bodyPr anchor="t" rtlCol="false" tIns="0" lIns="0" bIns="0" rIns="0">
            <a:spAutoFit/>
          </a:bodyPr>
          <a:lstStyle/>
          <a:p>
            <a:pPr algn="l">
              <a:lnSpc>
                <a:spcPts val="2700"/>
              </a:lnSpc>
            </a:pPr>
            <a:r>
              <a:rPr lang="en-US" sz="2250" b="true">
                <a:solidFill>
                  <a:srgbClr val="122645"/>
                </a:solidFill>
                <a:latin typeface="DejaVu Sans Bold"/>
                <a:ea typeface="DejaVu Sans Bold"/>
                <a:cs typeface="DejaVu Sans Bold"/>
                <a:sym typeface="DejaVu Sans Bold"/>
              </a:rPr>
              <a:t>Quyền sở hữu &amp; Thành phần kinh tế</a:t>
            </a:r>
          </a:p>
          <a:p>
            <a:pPr algn="l">
              <a:lnSpc>
                <a:spcPts val="2700"/>
              </a:lnSpc>
            </a:pPr>
            <a:r>
              <a:rPr lang="en-US" sz="2250">
                <a:solidFill>
                  <a:srgbClr val="1E293B"/>
                </a:solidFill>
                <a:latin typeface="DejaVu Sans Light"/>
                <a:ea typeface="DejaVu Sans Light"/>
                <a:cs typeface="DejaVu Sans Light"/>
                <a:sym typeface="DejaVu Sans Light"/>
              </a:rPr>
              <a:t>Thể chế hóa đầy đủ quyền tài sản; bảo đảm mọi thành phần kinh tế hợp tác, cạnh tranh bình đẳng theo pháp luật.</a:t>
            </a:r>
          </a:p>
        </p:txBody>
      </p:sp>
      <p:grpSp>
        <p:nvGrpSpPr>
          <p:cNvPr name="Group 34" id="34"/>
          <p:cNvGrpSpPr/>
          <p:nvPr/>
        </p:nvGrpSpPr>
        <p:grpSpPr>
          <a:xfrm rot="0">
            <a:off x="6407658" y="1963674"/>
            <a:ext cx="5454396" cy="3479292"/>
            <a:chOff x="0" y="0"/>
            <a:chExt cx="7272528" cy="4639056"/>
          </a:xfrm>
        </p:grpSpPr>
        <p:sp>
          <p:nvSpPr>
            <p:cNvPr name="Freeform 35" id="35"/>
            <p:cNvSpPr/>
            <p:nvPr/>
          </p:nvSpPr>
          <p:spPr>
            <a:xfrm flipH="false" flipV="false" rot="0">
              <a:off x="0" y="0"/>
              <a:ext cx="7272528" cy="4639056"/>
            </a:xfrm>
            <a:custGeom>
              <a:avLst/>
              <a:gdLst/>
              <a:ahLst/>
              <a:cxnLst/>
              <a:rect r="r" b="b" t="t" l="l"/>
              <a:pathLst>
                <a:path h="4639056" w="7272528">
                  <a:moveTo>
                    <a:pt x="0" y="185547"/>
                  </a:moveTo>
                  <a:cubicBezTo>
                    <a:pt x="0" y="83058"/>
                    <a:pt x="83058" y="0"/>
                    <a:pt x="185547" y="0"/>
                  </a:cubicBezTo>
                  <a:lnTo>
                    <a:pt x="7086981" y="0"/>
                  </a:lnTo>
                  <a:cubicBezTo>
                    <a:pt x="7189470" y="0"/>
                    <a:pt x="7272528" y="83058"/>
                    <a:pt x="7272528" y="185547"/>
                  </a:cubicBezTo>
                  <a:lnTo>
                    <a:pt x="7272528" y="4453509"/>
                  </a:lnTo>
                  <a:cubicBezTo>
                    <a:pt x="7272528" y="4555998"/>
                    <a:pt x="7189470" y="4639056"/>
                    <a:pt x="7086981" y="4639056"/>
                  </a:cubicBezTo>
                  <a:lnTo>
                    <a:pt x="185547" y="4639056"/>
                  </a:lnTo>
                  <a:cubicBezTo>
                    <a:pt x="83058" y="4639056"/>
                    <a:pt x="0" y="4555998"/>
                    <a:pt x="0" y="4453509"/>
                  </a:cubicBezTo>
                  <a:close/>
                </a:path>
              </a:pathLst>
            </a:custGeom>
            <a:solidFill>
              <a:srgbClr val="FFFFFF"/>
            </a:solidFill>
            <a:ln w="22860" cap="sq">
              <a:solidFill>
                <a:srgbClr val="CBD5E1"/>
              </a:solidFill>
              <a:prstDash val="solid"/>
              <a:miter/>
            </a:ln>
          </p:spPr>
        </p:sp>
      </p:grpSp>
      <p:grpSp>
        <p:nvGrpSpPr>
          <p:cNvPr name="Group 36" id="36"/>
          <p:cNvGrpSpPr/>
          <p:nvPr/>
        </p:nvGrpSpPr>
        <p:grpSpPr>
          <a:xfrm rot="0">
            <a:off x="6665976" y="2221992"/>
            <a:ext cx="905256" cy="630936"/>
            <a:chOff x="0" y="0"/>
            <a:chExt cx="1207008" cy="841248"/>
          </a:xfrm>
        </p:grpSpPr>
        <p:sp>
          <p:nvSpPr>
            <p:cNvPr name="Freeform 37" id="37"/>
            <p:cNvSpPr/>
            <p:nvPr/>
          </p:nvSpPr>
          <p:spPr>
            <a:xfrm flipH="false" flipV="false" rot="0">
              <a:off x="0" y="0"/>
              <a:ext cx="1207008" cy="841248"/>
            </a:xfrm>
            <a:custGeom>
              <a:avLst/>
              <a:gdLst/>
              <a:ahLst/>
              <a:cxnLst/>
              <a:rect r="r" b="b" t="t" l="l"/>
              <a:pathLst>
                <a:path h="841248" w="1207008">
                  <a:moveTo>
                    <a:pt x="0" y="33655"/>
                  </a:moveTo>
                  <a:cubicBezTo>
                    <a:pt x="0" y="15113"/>
                    <a:pt x="15113" y="0"/>
                    <a:pt x="33655" y="0"/>
                  </a:cubicBezTo>
                  <a:lnTo>
                    <a:pt x="1173353" y="0"/>
                  </a:lnTo>
                  <a:cubicBezTo>
                    <a:pt x="1191895" y="0"/>
                    <a:pt x="1207008" y="15113"/>
                    <a:pt x="1207008" y="33655"/>
                  </a:cubicBezTo>
                  <a:lnTo>
                    <a:pt x="1207008" y="807593"/>
                  </a:lnTo>
                  <a:cubicBezTo>
                    <a:pt x="1207008" y="826135"/>
                    <a:pt x="1191895" y="841248"/>
                    <a:pt x="1173353" y="841248"/>
                  </a:cubicBezTo>
                  <a:lnTo>
                    <a:pt x="33655" y="841248"/>
                  </a:lnTo>
                  <a:cubicBezTo>
                    <a:pt x="15113" y="841248"/>
                    <a:pt x="0" y="826135"/>
                    <a:pt x="0" y="807593"/>
                  </a:cubicBezTo>
                  <a:close/>
                </a:path>
              </a:pathLst>
            </a:custGeom>
            <a:solidFill>
              <a:srgbClr val="122645"/>
            </a:solidFill>
          </p:spPr>
        </p:sp>
      </p:grpSp>
      <p:grpSp>
        <p:nvGrpSpPr>
          <p:cNvPr name="Group 38" id="38"/>
          <p:cNvGrpSpPr/>
          <p:nvPr/>
        </p:nvGrpSpPr>
        <p:grpSpPr>
          <a:xfrm rot="0">
            <a:off x="6665976" y="2221992"/>
            <a:ext cx="905256" cy="630936"/>
            <a:chOff x="0" y="0"/>
            <a:chExt cx="1207008" cy="841248"/>
          </a:xfrm>
        </p:grpSpPr>
        <p:sp>
          <p:nvSpPr>
            <p:cNvPr name="Freeform 39" id="39"/>
            <p:cNvSpPr/>
            <p:nvPr/>
          </p:nvSpPr>
          <p:spPr>
            <a:xfrm flipH="false" flipV="false" rot="0">
              <a:off x="0" y="0"/>
              <a:ext cx="1207008" cy="841248"/>
            </a:xfrm>
            <a:custGeom>
              <a:avLst/>
              <a:gdLst/>
              <a:ahLst/>
              <a:cxnLst/>
              <a:rect r="r" b="b" t="t" l="l"/>
              <a:pathLst>
                <a:path h="841248" w="1207008">
                  <a:moveTo>
                    <a:pt x="0" y="0"/>
                  </a:moveTo>
                  <a:lnTo>
                    <a:pt x="1207008" y="0"/>
                  </a:lnTo>
                  <a:lnTo>
                    <a:pt x="1207008" y="841248"/>
                  </a:lnTo>
                  <a:lnTo>
                    <a:pt x="0" y="841248"/>
                  </a:lnTo>
                  <a:close/>
                </a:path>
              </a:pathLst>
            </a:custGeom>
            <a:blipFill>
              <a:blip r:embed="rId2">
                <a:alphaModFix amt="0"/>
              </a:blip>
              <a:stretch>
                <a:fillRect l="-39423" t="0" r="-39423" b="0"/>
              </a:stretch>
            </a:blipFill>
          </p:spPr>
        </p:sp>
        <p:sp>
          <p:nvSpPr>
            <p:cNvPr name="TextBox 40" id="40"/>
            <p:cNvSpPr txBox="true"/>
            <p:nvPr/>
          </p:nvSpPr>
          <p:spPr>
            <a:xfrm>
              <a:off x="0" y="-19050"/>
              <a:ext cx="1207008" cy="860298"/>
            </a:xfrm>
            <a:prstGeom prst="rect">
              <a:avLst/>
            </a:prstGeom>
          </p:spPr>
          <p:txBody>
            <a:bodyPr anchor="ctr" rtlCol="false" tIns="0" lIns="0" bIns="0" rIns="0"/>
            <a:lstStyle/>
            <a:p>
              <a:pPr algn="ctr">
                <a:lnSpc>
                  <a:spcPts val="2700"/>
                </a:lnSpc>
              </a:pPr>
              <a:r>
                <a:rPr lang="en-US" sz="2250" b="true">
                  <a:solidFill>
                    <a:srgbClr val="FFFFFF"/>
                  </a:solidFill>
                  <a:latin typeface="DejaVu Sans Bold"/>
                  <a:ea typeface="DejaVu Sans Bold"/>
                  <a:cs typeface="DejaVu Sans Bold"/>
                  <a:sym typeface="DejaVu Sans Bold"/>
                </a:rPr>
                <a:t>02</a:t>
              </a:r>
            </a:p>
          </p:txBody>
        </p:sp>
      </p:grpSp>
      <p:sp>
        <p:nvSpPr>
          <p:cNvPr name="TextBox 41" id="41"/>
          <p:cNvSpPr txBox="true"/>
          <p:nvPr/>
        </p:nvSpPr>
        <p:spPr>
          <a:xfrm rot="0">
            <a:off x="6720840" y="3007614"/>
            <a:ext cx="4828032" cy="2222754"/>
          </a:xfrm>
          <a:prstGeom prst="rect">
            <a:avLst/>
          </a:prstGeom>
        </p:spPr>
        <p:txBody>
          <a:bodyPr anchor="t" rtlCol="false" tIns="0" lIns="0" bIns="0" rIns="0">
            <a:spAutoFit/>
          </a:bodyPr>
          <a:lstStyle/>
          <a:p>
            <a:pPr algn="l">
              <a:lnSpc>
                <a:spcPts val="2520"/>
              </a:lnSpc>
            </a:pPr>
            <a:r>
              <a:rPr lang="en-US" sz="2100" b="true">
                <a:solidFill>
                  <a:srgbClr val="122645"/>
                </a:solidFill>
                <a:latin typeface="DejaVu Sans Bold"/>
                <a:ea typeface="DejaVu Sans Bold"/>
                <a:cs typeface="DejaVu Sans Bold"/>
                <a:sym typeface="DejaVu Sans Bold"/>
              </a:rPr>
              <a:t>Đồng bộ yếu tố &amp; các loại thị trường</a:t>
            </a:r>
          </a:p>
          <a:p>
            <a:pPr algn="l">
              <a:lnSpc>
                <a:spcPts val="3124"/>
              </a:lnSpc>
            </a:pPr>
            <a:r>
              <a:rPr lang="en-US" sz="2100">
                <a:solidFill>
                  <a:srgbClr val="1E293B"/>
                </a:solidFill>
                <a:latin typeface="DejaVu Sans Light"/>
                <a:ea typeface="DejaVu Sans Light"/>
                <a:cs typeface="DejaVu Sans Light"/>
                <a:sym typeface="DejaVu Sans Light"/>
              </a:rPr>
              <a:t>Vận hành thông suốt thị trường hàng hóa, vốn – tín dụng, đất đai – bất động sản, lao động và KH&amp;CN.</a:t>
            </a:r>
          </a:p>
        </p:txBody>
      </p:sp>
      <p:grpSp>
        <p:nvGrpSpPr>
          <p:cNvPr name="Group 42" id="42"/>
          <p:cNvGrpSpPr/>
          <p:nvPr/>
        </p:nvGrpSpPr>
        <p:grpSpPr>
          <a:xfrm rot="0">
            <a:off x="12072366" y="1963674"/>
            <a:ext cx="5454396" cy="3479292"/>
            <a:chOff x="0" y="0"/>
            <a:chExt cx="7272528" cy="4639056"/>
          </a:xfrm>
        </p:grpSpPr>
        <p:sp>
          <p:nvSpPr>
            <p:cNvPr name="Freeform 43" id="43"/>
            <p:cNvSpPr/>
            <p:nvPr/>
          </p:nvSpPr>
          <p:spPr>
            <a:xfrm flipH="false" flipV="false" rot="0">
              <a:off x="0" y="0"/>
              <a:ext cx="7272528" cy="4639056"/>
            </a:xfrm>
            <a:custGeom>
              <a:avLst/>
              <a:gdLst/>
              <a:ahLst/>
              <a:cxnLst/>
              <a:rect r="r" b="b" t="t" l="l"/>
              <a:pathLst>
                <a:path h="4639056" w="7272528">
                  <a:moveTo>
                    <a:pt x="0" y="185547"/>
                  </a:moveTo>
                  <a:cubicBezTo>
                    <a:pt x="0" y="83058"/>
                    <a:pt x="83058" y="0"/>
                    <a:pt x="185547" y="0"/>
                  </a:cubicBezTo>
                  <a:lnTo>
                    <a:pt x="7086981" y="0"/>
                  </a:lnTo>
                  <a:cubicBezTo>
                    <a:pt x="7189470" y="0"/>
                    <a:pt x="7272528" y="83058"/>
                    <a:pt x="7272528" y="185547"/>
                  </a:cubicBezTo>
                  <a:lnTo>
                    <a:pt x="7272528" y="4453509"/>
                  </a:lnTo>
                  <a:cubicBezTo>
                    <a:pt x="7272528" y="4555998"/>
                    <a:pt x="7189470" y="4639056"/>
                    <a:pt x="7086981" y="4639056"/>
                  </a:cubicBezTo>
                  <a:lnTo>
                    <a:pt x="185547" y="4639056"/>
                  </a:lnTo>
                  <a:cubicBezTo>
                    <a:pt x="83058" y="4639056"/>
                    <a:pt x="0" y="4555998"/>
                    <a:pt x="0" y="4453509"/>
                  </a:cubicBezTo>
                  <a:close/>
                </a:path>
              </a:pathLst>
            </a:custGeom>
            <a:solidFill>
              <a:srgbClr val="FFFFFF"/>
            </a:solidFill>
            <a:ln w="22860" cap="sq">
              <a:solidFill>
                <a:srgbClr val="CBD5E1"/>
              </a:solidFill>
              <a:prstDash val="solid"/>
              <a:miter/>
            </a:ln>
          </p:spPr>
        </p:sp>
      </p:grpSp>
      <p:grpSp>
        <p:nvGrpSpPr>
          <p:cNvPr name="Group 44" id="44"/>
          <p:cNvGrpSpPr/>
          <p:nvPr/>
        </p:nvGrpSpPr>
        <p:grpSpPr>
          <a:xfrm rot="0">
            <a:off x="12330684" y="2221992"/>
            <a:ext cx="905256" cy="630936"/>
            <a:chOff x="0" y="0"/>
            <a:chExt cx="1207008" cy="841248"/>
          </a:xfrm>
        </p:grpSpPr>
        <p:sp>
          <p:nvSpPr>
            <p:cNvPr name="Freeform 45" id="45"/>
            <p:cNvSpPr/>
            <p:nvPr/>
          </p:nvSpPr>
          <p:spPr>
            <a:xfrm flipH="false" flipV="false" rot="0">
              <a:off x="0" y="0"/>
              <a:ext cx="1207008" cy="841248"/>
            </a:xfrm>
            <a:custGeom>
              <a:avLst/>
              <a:gdLst/>
              <a:ahLst/>
              <a:cxnLst/>
              <a:rect r="r" b="b" t="t" l="l"/>
              <a:pathLst>
                <a:path h="841248" w="1207008">
                  <a:moveTo>
                    <a:pt x="0" y="33655"/>
                  </a:moveTo>
                  <a:cubicBezTo>
                    <a:pt x="0" y="15113"/>
                    <a:pt x="15113" y="0"/>
                    <a:pt x="33655" y="0"/>
                  </a:cubicBezTo>
                  <a:lnTo>
                    <a:pt x="1173353" y="0"/>
                  </a:lnTo>
                  <a:cubicBezTo>
                    <a:pt x="1191895" y="0"/>
                    <a:pt x="1207008" y="15113"/>
                    <a:pt x="1207008" y="33655"/>
                  </a:cubicBezTo>
                  <a:lnTo>
                    <a:pt x="1207008" y="807593"/>
                  </a:lnTo>
                  <a:cubicBezTo>
                    <a:pt x="1207008" y="826135"/>
                    <a:pt x="1191895" y="841248"/>
                    <a:pt x="1173353" y="841248"/>
                  </a:cubicBezTo>
                  <a:lnTo>
                    <a:pt x="33655" y="841248"/>
                  </a:lnTo>
                  <a:cubicBezTo>
                    <a:pt x="15113" y="841248"/>
                    <a:pt x="0" y="826135"/>
                    <a:pt x="0" y="807593"/>
                  </a:cubicBezTo>
                  <a:close/>
                </a:path>
              </a:pathLst>
            </a:custGeom>
            <a:solidFill>
              <a:srgbClr val="122645"/>
            </a:solidFill>
          </p:spPr>
        </p:sp>
      </p:grpSp>
      <p:grpSp>
        <p:nvGrpSpPr>
          <p:cNvPr name="Group 46" id="46"/>
          <p:cNvGrpSpPr/>
          <p:nvPr/>
        </p:nvGrpSpPr>
        <p:grpSpPr>
          <a:xfrm rot="0">
            <a:off x="12330684" y="2221992"/>
            <a:ext cx="905256" cy="630936"/>
            <a:chOff x="0" y="0"/>
            <a:chExt cx="1207008" cy="841248"/>
          </a:xfrm>
        </p:grpSpPr>
        <p:sp>
          <p:nvSpPr>
            <p:cNvPr name="Freeform 47" id="47"/>
            <p:cNvSpPr/>
            <p:nvPr/>
          </p:nvSpPr>
          <p:spPr>
            <a:xfrm flipH="false" flipV="false" rot="0">
              <a:off x="0" y="0"/>
              <a:ext cx="1207008" cy="841248"/>
            </a:xfrm>
            <a:custGeom>
              <a:avLst/>
              <a:gdLst/>
              <a:ahLst/>
              <a:cxnLst/>
              <a:rect r="r" b="b" t="t" l="l"/>
              <a:pathLst>
                <a:path h="841248" w="1207008">
                  <a:moveTo>
                    <a:pt x="0" y="0"/>
                  </a:moveTo>
                  <a:lnTo>
                    <a:pt x="1207008" y="0"/>
                  </a:lnTo>
                  <a:lnTo>
                    <a:pt x="1207008" y="841248"/>
                  </a:lnTo>
                  <a:lnTo>
                    <a:pt x="0" y="841248"/>
                  </a:lnTo>
                  <a:close/>
                </a:path>
              </a:pathLst>
            </a:custGeom>
            <a:blipFill>
              <a:blip r:embed="rId2">
                <a:alphaModFix amt="0"/>
              </a:blip>
              <a:stretch>
                <a:fillRect l="-39423" t="0" r="-39423" b="0"/>
              </a:stretch>
            </a:blipFill>
          </p:spPr>
        </p:sp>
        <p:sp>
          <p:nvSpPr>
            <p:cNvPr name="TextBox 48" id="48"/>
            <p:cNvSpPr txBox="true"/>
            <p:nvPr/>
          </p:nvSpPr>
          <p:spPr>
            <a:xfrm>
              <a:off x="0" y="-19050"/>
              <a:ext cx="1207008" cy="860298"/>
            </a:xfrm>
            <a:prstGeom prst="rect">
              <a:avLst/>
            </a:prstGeom>
          </p:spPr>
          <p:txBody>
            <a:bodyPr anchor="ctr" rtlCol="false" tIns="0" lIns="0" bIns="0" rIns="0"/>
            <a:lstStyle/>
            <a:p>
              <a:pPr algn="ctr">
                <a:lnSpc>
                  <a:spcPts val="2700"/>
                </a:lnSpc>
              </a:pPr>
              <a:r>
                <a:rPr lang="en-US" sz="2250" b="true">
                  <a:solidFill>
                    <a:srgbClr val="FFFFFF"/>
                  </a:solidFill>
                  <a:latin typeface="DejaVu Sans Bold"/>
                  <a:ea typeface="DejaVu Sans Bold"/>
                  <a:cs typeface="DejaVu Sans Bold"/>
                  <a:sym typeface="DejaVu Sans Bold"/>
                </a:rPr>
                <a:t>03</a:t>
              </a:r>
            </a:p>
          </p:txBody>
        </p:sp>
      </p:grpSp>
      <p:sp>
        <p:nvSpPr>
          <p:cNvPr name="TextBox 49" id="49"/>
          <p:cNvSpPr txBox="true"/>
          <p:nvPr/>
        </p:nvSpPr>
        <p:spPr>
          <a:xfrm rot="0">
            <a:off x="12385548" y="3007614"/>
            <a:ext cx="4828032" cy="2222754"/>
          </a:xfrm>
          <a:prstGeom prst="rect">
            <a:avLst/>
          </a:prstGeom>
        </p:spPr>
        <p:txBody>
          <a:bodyPr anchor="t" rtlCol="false" tIns="0" lIns="0" bIns="0" rIns="0">
            <a:spAutoFit/>
          </a:bodyPr>
          <a:lstStyle/>
          <a:p>
            <a:pPr algn="l">
              <a:lnSpc>
                <a:spcPts val="2700"/>
              </a:lnSpc>
            </a:pPr>
            <a:r>
              <a:rPr lang="en-US" sz="2250" b="true">
                <a:solidFill>
                  <a:srgbClr val="122645"/>
                </a:solidFill>
                <a:latin typeface="DejaVu Sans Bold"/>
                <a:ea typeface="DejaVu Sans Bold"/>
                <a:cs typeface="DejaVu Sans Bold"/>
                <a:sym typeface="DejaVu Sans Bold"/>
              </a:rPr>
              <a:t>Gắn tăng trưởng với Công bằng XH</a:t>
            </a:r>
          </a:p>
          <a:p>
            <a:pPr algn="l">
              <a:lnSpc>
                <a:spcPts val="2700"/>
              </a:lnSpc>
            </a:pPr>
            <a:r>
              <a:rPr lang="en-US" sz="2250">
                <a:solidFill>
                  <a:srgbClr val="1E293B"/>
                </a:solidFill>
                <a:latin typeface="DejaVu Sans Light"/>
                <a:ea typeface="DejaVu Sans Light"/>
                <a:cs typeface="DejaVu Sans Light"/>
                <a:sym typeface="DejaVu Sans Light"/>
              </a:rPr>
              <a:t>Hoàn thiện thể chế phân phối, thuế, an sinh xã hội đa tầng, tín dụng ưu đãi và chính sách Nhà ở xã hội.</a:t>
            </a:r>
          </a:p>
        </p:txBody>
      </p:sp>
      <p:grpSp>
        <p:nvGrpSpPr>
          <p:cNvPr name="Group 50" id="50"/>
          <p:cNvGrpSpPr/>
          <p:nvPr/>
        </p:nvGrpSpPr>
        <p:grpSpPr>
          <a:xfrm rot="0">
            <a:off x="742950" y="5776722"/>
            <a:ext cx="5454396" cy="3479292"/>
            <a:chOff x="0" y="0"/>
            <a:chExt cx="7272528" cy="4639056"/>
          </a:xfrm>
        </p:grpSpPr>
        <p:sp>
          <p:nvSpPr>
            <p:cNvPr name="Freeform 51" id="51"/>
            <p:cNvSpPr/>
            <p:nvPr/>
          </p:nvSpPr>
          <p:spPr>
            <a:xfrm flipH="false" flipV="false" rot="0">
              <a:off x="0" y="0"/>
              <a:ext cx="7272528" cy="4639056"/>
            </a:xfrm>
            <a:custGeom>
              <a:avLst/>
              <a:gdLst/>
              <a:ahLst/>
              <a:cxnLst/>
              <a:rect r="r" b="b" t="t" l="l"/>
              <a:pathLst>
                <a:path h="4639056" w="7272528">
                  <a:moveTo>
                    <a:pt x="0" y="185547"/>
                  </a:moveTo>
                  <a:cubicBezTo>
                    <a:pt x="0" y="83058"/>
                    <a:pt x="83058" y="0"/>
                    <a:pt x="185547" y="0"/>
                  </a:cubicBezTo>
                  <a:lnTo>
                    <a:pt x="7086981" y="0"/>
                  </a:lnTo>
                  <a:cubicBezTo>
                    <a:pt x="7189470" y="0"/>
                    <a:pt x="7272528" y="83058"/>
                    <a:pt x="7272528" y="185547"/>
                  </a:cubicBezTo>
                  <a:lnTo>
                    <a:pt x="7272528" y="4453509"/>
                  </a:lnTo>
                  <a:cubicBezTo>
                    <a:pt x="7272528" y="4555998"/>
                    <a:pt x="7189470" y="4639056"/>
                    <a:pt x="7086981" y="4639056"/>
                  </a:cubicBezTo>
                  <a:lnTo>
                    <a:pt x="185547" y="4639056"/>
                  </a:lnTo>
                  <a:cubicBezTo>
                    <a:pt x="83058" y="4639056"/>
                    <a:pt x="0" y="4555998"/>
                    <a:pt x="0" y="4453509"/>
                  </a:cubicBezTo>
                  <a:close/>
                </a:path>
              </a:pathLst>
            </a:custGeom>
            <a:solidFill>
              <a:srgbClr val="FFFFFF"/>
            </a:solidFill>
            <a:ln w="22860" cap="sq">
              <a:solidFill>
                <a:srgbClr val="CBD5E1"/>
              </a:solidFill>
              <a:prstDash val="solid"/>
              <a:miter/>
            </a:ln>
          </p:spPr>
        </p:sp>
      </p:grpSp>
      <p:grpSp>
        <p:nvGrpSpPr>
          <p:cNvPr name="Group 52" id="52"/>
          <p:cNvGrpSpPr/>
          <p:nvPr/>
        </p:nvGrpSpPr>
        <p:grpSpPr>
          <a:xfrm rot="0">
            <a:off x="1001268" y="6035040"/>
            <a:ext cx="905256" cy="630936"/>
            <a:chOff x="0" y="0"/>
            <a:chExt cx="1207008" cy="841248"/>
          </a:xfrm>
        </p:grpSpPr>
        <p:sp>
          <p:nvSpPr>
            <p:cNvPr name="Freeform 53" id="53"/>
            <p:cNvSpPr/>
            <p:nvPr/>
          </p:nvSpPr>
          <p:spPr>
            <a:xfrm flipH="false" flipV="false" rot="0">
              <a:off x="0" y="0"/>
              <a:ext cx="1207008" cy="841248"/>
            </a:xfrm>
            <a:custGeom>
              <a:avLst/>
              <a:gdLst/>
              <a:ahLst/>
              <a:cxnLst/>
              <a:rect r="r" b="b" t="t" l="l"/>
              <a:pathLst>
                <a:path h="841248" w="1207008">
                  <a:moveTo>
                    <a:pt x="0" y="33655"/>
                  </a:moveTo>
                  <a:cubicBezTo>
                    <a:pt x="0" y="15113"/>
                    <a:pt x="15113" y="0"/>
                    <a:pt x="33655" y="0"/>
                  </a:cubicBezTo>
                  <a:lnTo>
                    <a:pt x="1173353" y="0"/>
                  </a:lnTo>
                  <a:cubicBezTo>
                    <a:pt x="1191895" y="0"/>
                    <a:pt x="1207008" y="15113"/>
                    <a:pt x="1207008" y="33655"/>
                  </a:cubicBezTo>
                  <a:lnTo>
                    <a:pt x="1207008" y="807593"/>
                  </a:lnTo>
                  <a:cubicBezTo>
                    <a:pt x="1207008" y="826135"/>
                    <a:pt x="1191895" y="841248"/>
                    <a:pt x="1173353" y="841248"/>
                  </a:cubicBezTo>
                  <a:lnTo>
                    <a:pt x="33655" y="841248"/>
                  </a:lnTo>
                  <a:cubicBezTo>
                    <a:pt x="15113" y="841248"/>
                    <a:pt x="0" y="826135"/>
                    <a:pt x="0" y="807593"/>
                  </a:cubicBezTo>
                  <a:close/>
                </a:path>
              </a:pathLst>
            </a:custGeom>
            <a:solidFill>
              <a:srgbClr val="122645"/>
            </a:solidFill>
          </p:spPr>
        </p:sp>
      </p:grpSp>
      <p:grpSp>
        <p:nvGrpSpPr>
          <p:cNvPr name="Group 54" id="54"/>
          <p:cNvGrpSpPr/>
          <p:nvPr/>
        </p:nvGrpSpPr>
        <p:grpSpPr>
          <a:xfrm rot="0">
            <a:off x="1001268" y="6035040"/>
            <a:ext cx="905256" cy="630936"/>
            <a:chOff x="0" y="0"/>
            <a:chExt cx="1207008" cy="841248"/>
          </a:xfrm>
        </p:grpSpPr>
        <p:sp>
          <p:nvSpPr>
            <p:cNvPr name="Freeform 55" id="55"/>
            <p:cNvSpPr/>
            <p:nvPr/>
          </p:nvSpPr>
          <p:spPr>
            <a:xfrm flipH="false" flipV="false" rot="0">
              <a:off x="0" y="0"/>
              <a:ext cx="1207008" cy="841248"/>
            </a:xfrm>
            <a:custGeom>
              <a:avLst/>
              <a:gdLst/>
              <a:ahLst/>
              <a:cxnLst/>
              <a:rect r="r" b="b" t="t" l="l"/>
              <a:pathLst>
                <a:path h="841248" w="1207008">
                  <a:moveTo>
                    <a:pt x="0" y="0"/>
                  </a:moveTo>
                  <a:lnTo>
                    <a:pt x="1207008" y="0"/>
                  </a:lnTo>
                  <a:lnTo>
                    <a:pt x="1207008" y="841248"/>
                  </a:lnTo>
                  <a:lnTo>
                    <a:pt x="0" y="841248"/>
                  </a:lnTo>
                  <a:close/>
                </a:path>
              </a:pathLst>
            </a:custGeom>
            <a:blipFill>
              <a:blip r:embed="rId2">
                <a:alphaModFix amt="0"/>
              </a:blip>
              <a:stretch>
                <a:fillRect l="-39423" t="0" r="-39423" b="0"/>
              </a:stretch>
            </a:blipFill>
          </p:spPr>
        </p:sp>
        <p:sp>
          <p:nvSpPr>
            <p:cNvPr name="TextBox 56" id="56"/>
            <p:cNvSpPr txBox="true"/>
            <p:nvPr/>
          </p:nvSpPr>
          <p:spPr>
            <a:xfrm>
              <a:off x="0" y="-19050"/>
              <a:ext cx="1207008" cy="860298"/>
            </a:xfrm>
            <a:prstGeom prst="rect">
              <a:avLst/>
            </a:prstGeom>
          </p:spPr>
          <p:txBody>
            <a:bodyPr anchor="ctr" rtlCol="false" tIns="0" lIns="0" bIns="0" rIns="0"/>
            <a:lstStyle/>
            <a:p>
              <a:pPr algn="ctr">
                <a:lnSpc>
                  <a:spcPts val="2700"/>
                </a:lnSpc>
              </a:pPr>
              <a:r>
                <a:rPr lang="en-US" sz="2250" b="true">
                  <a:solidFill>
                    <a:srgbClr val="FFFFFF"/>
                  </a:solidFill>
                  <a:latin typeface="DejaVu Sans Bold"/>
                  <a:ea typeface="DejaVu Sans Bold"/>
                  <a:cs typeface="DejaVu Sans Bold"/>
                  <a:sym typeface="DejaVu Sans Bold"/>
                </a:rPr>
                <a:t>04</a:t>
              </a:r>
            </a:p>
          </p:txBody>
        </p:sp>
      </p:grpSp>
      <p:sp>
        <p:nvSpPr>
          <p:cNvPr name="TextBox 57" id="57"/>
          <p:cNvSpPr txBox="true"/>
          <p:nvPr/>
        </p:nvSpPr>
        <p:spPr>
          <a:xfrm rot="0">
            <a:off x="1056132" y="6820662"/>
            <a:ext cx="4828032" cy="2222754"/>
          </a:xfrm>
          <a:prstGeom prst="rect">
            <a:avLst/>
          </a:prstGeom>
        </p:spPr>
        <p:txBody>
          <a:bodyPr anchor="t" rtlCol="false" tIns="0" lIns="0" bIns="0" rIns="0">
            <a:spAutoFit/>
          </a:bodyPr>
          <a:lstStyle/>
          <a:p>
            <a:pPr algn="l">
              <a:lnSpc>
                <a:spcPts val="2520"/>
              </a:lnSpc>
            </a:pPr>
            <a:r>
              <a:rPr lang="en-US" sz="2100" b="true">
                <a:solidFill>
                  <a:srgbClr val="122645"/>
                </a:solidFill>
                <a:latin typeface="DejaVu Sans Bold"/>
                <a:ea typeface="DejaVu Sans Bold"/>
                <a:cs typeface="DejaVu Sans Bold"/>
                <a:sym typeface="DejaVu Sans Bold"/>
              </a:rPr>
              <a:t>Thúc đẩy hội nhập kinh tế quốc tế</a:t>
            </a:r>
          </a:p>
          <a:p>
            <a:pPr algn="l">
              <a:lnSpc>
                <a:spcPts val="3124"/>
              </a:lnSpc>
            </a:pPr>
            <a:r>
              <a:rPr lang="en-US" sz="2100">
                <a:solidFill>
                  <a:srgbClr val="1E293B"/>
                </a:solidFill>
                <a:latin typeface="DejaVu Sans Light"/>
                <a:ea typeface="DejaVu Sans Light"/>
                <a:cs typeface="DejaVu Sans Light"/>
                <a:sym typeface="DejaVu Sans Light"/>
              </a:rPr>
              <a:t>Thực thi cam kết các FTA thế hệ mới gắn với nâng cao năng lực tự chủ của doanh nghiệp trong nước.</a:t>
            </a:r>
          </a:p>
        </p:txBody>
      </p:sp>
      <p:grpSp>
        <p:nvGrpSpPr>
          <p:cNvPr name="Group 58" id="58"/>
          <p:cNvGrpSpPr/>
          <p:nvPr/>
        </p:nvGrpSpPr>
        <p:grpSpPr>
          <a:xfrm rot="0">
            <a:off x="6407658" y="5776722"/>
            <a:ext cx="5454396" cy="3479292"/>
            <a:chOff x="0" y="0"/>
            <a:chExt cx="7272528" cy="4639056"/>
          </a:xfrm>
        </p:grpSpPr>
        <p:sp>
          <p:nvSpPr>
            <p:cNvPr name="Freeform 59" id="59"/>
            <p:cNvSpPr/>
            <p:nvPr/>
          </p:nvSpPr>
          <p:spPr>
            <a:xfrm flipH="false" flipV="false" rot="0">
              <a:off x="0" y="0"/>
              <a:ext cx="7272528" cy="4639056"/>
            </a:xfrm>
            <a:custGeom>
              <a:avLst/>
              <a:gdLst/>
              <a:ahLst/>
              <a:cxnLst/>
              <a:rect r="r" b="b" t="t" l="l"/>
              <a:pathLst>
                <a:path h="4639056" w="7272528">
                  <a:moveTo>
                    <a:pt x="0" y="185547"/>
                  </a:moveTo>
                  <a:cubicBezTo>
                    <a:pt x="0" y="83058"/>
                    <a:pt x="83058" y="0"/>
                    <a:pt x="185547" y="0"/>
                  </a:cubicBezTo>
                  <a:lnTo>
                    <a:pt x="7086981" y="0"/>
                  </a:lnTo>
                  <a:cubicBezTo>
                    <a:pt x="7189470" y="0"/>
                    <a:pt x="7272528" y="83058"/>
                    <a:pt x="7272528" y="185547"/>
                  </a:cubicBezTo>
                  <a:lnTo>
                    <a:pt x="7272528" y="4453509"/>
                  </a:lnTo>
                  <a:cubicBezTo>
                    <a:pt x="7272528" y="4555998"/>
                    <a:pt x="7189470" y="4639056"/>
                    <a:pt x="7086981" y="4639056"/>
                  </a:cubicBezTo>
                  <a:lnTo>
                    <a:pt x="185547" y="4639056"/>
                  </a:lnTo>
                  <a:cubicBezTo>
                    <a:pt x="83058" y="4639056"/>
                    <a:pt x="0" y="4555998"/>
                    <a:pt x="0" y="4453509"/>
                  </a:cubicBezTo>
                  <a:close/>
                </a:path>
              </a:pathLst>
            </a:custGeom>
            <a:solidFill>
              <a:srgbClr val="FFFFFF"/>
            </a:solidFill>
            <a:ln w="22860" cap="sq">
              <a:solidFill>
                <a:srgbClr val="CBD5E1"/>
              </a:solidFill>
              <a:prstDash val="solid"/>
              <a:miter/>
            </a:ln>
          </p:spPr>
        </p:sp>
      </p:grpSp>
      <p:grpSp>
        <p:nvGrpSpPr>
          <p:cNvPr name="Group 60" id="60"/>
          <p:cNvGrpSpPr/>
          <p:nvPr/>
        </p:nvGrpSpPr>
        <p:grpSpPr>
          <a:xfrm rot="0">
            <a:off x="6665976" y="6035040"/>
            <a:ext cx="905256" cy="630936"/>
            <a:chOff x="0" y="0"/>
            <a:chExt cx="1207008" cy="841248"/>
          </a:xfrm>
        </p:grpSpPr>
        <p:sp>
          <p:nvSpPr>
            <p:cNvPr name="Freeform 61" id="61"/>
            <p:cNvSpPr/>
            <p:nvPr/>
          </p:nvSpPr>
          <p:spPr>
            <a:xfrm flipH="false" flipV="false" rot="0">
              <a:off x="0" y="0"/>
              <a:ext cx="1207008" cy="841248"/>
            </a:xfrm>
            <a:custGeom>
              <a:avLst/>
              <a:gdLst/>
              <a:ahLst/>
              <a:cxnLst/>
              <a:rect r="r" b="b" t="t" l="l"/>
              <a:pathLst>
                <a:path h="841248" w="1207008">
                  <a:moveTo>
                    <a:pt x="0" y="33655"/>
                  </a:moveTo>
                  <a:cubicBezTo>
                    <a:pt x="0" y="15113"/>
                    <a:pt x="15113" y="0"/>
                    <a:pt x="33655" y="0"/>
                  </a:cubicBezTo>
                  <a:lnTo>
                    <a:pt x="1173353" y="0"/>
                  </a:lnTo>
                  <a:cubicBezTo>
                    <a:pt x="1191895" y="0"/>
                    <a:pt x="1207008" y="15113"/>
                    <a:pt x="1207008" y="33655"/>
                  </a:cubicBezTo>
                  <a:lnTo>
                    <a:pt x="1207008" y="807593"/>
                  </a:lnTo>
                  <a:cubicBezTo>
                    <a:pt x="1207008" y="826135"/>
                    <a:pt x="1191895" y="841248"/>
                    <a:pt x="1173353" y="841248"/>
                  </a:cubicBezTo>
                  <a:lnTo>
                    <a:pt x="33655" y="841248"/>
                  </a:lnTo>
                  <a:cubicBezTo>
                    <a:pt x="15113" y="841248"/>
                    <a:pt x="0" y="826135"/>
                    <a:pt x="0" y="807593"/>
                  </a:cubicBezTo>
                  <a:close/>
                </a:path>
              </a:pathLst>
            </a:custGeom>
            <a:solidFill>
              <a:srgbClr val="122645"/>
            </a:solidFill>
          </p:spPr>
        </p:sp>
      </p:grpSp>
      <p:grpSp>
        <p:nvGrpSpPr>
          <p:cNvPr name="Group 62" id="62"/>
          <p:cNvGrpSpPr/>
          <p:nvPr/>
        </p:nvGrpSpPr>
        <p:grpSpPr>
          <a:xfrm rot="0">
            <a:off x="6665976" y="6035040"/>
            <a:ext cx="905256" cy="630936"/>
            <a:chOff x="0" y="0"/>
            <a:chExt cx="1207008" cy="841248"/>
          </a:xfrm>
        </p:grpSpPr>
        <p:sp>
          <p:nvSpPr>
            <p:cNvPr name="Freeform 63" id="63"/>
            <p:cNvSpPr/>
            <p:nvPr/>
          </p:nvSpPr>
          <p:spPr>
            <a:xfrm flipH="false" flipV="false" rot="0">
              <a:off x="0" y="0"/>
              <a:ext cx="1207008" cy="841248"/>
            </a:xfrm>
            <a:custGeom>
              <a:avLst/>
              <a:gdLst/>
              <a:ahLst/>
              <a:cxnLst/>
              <a:rect r="r" b="b" t="t" l="l"/>
              <a:pathLst>
                <a:path h="841248" w="1207008">
                  <a:moveTo>
                    <a:pt x="0" y="0"/>
                  </a:moveTo>
                  <a:lnTo>
                    <a:pt x="1207008" y="0"/>
                  </a:lnTo>
                  <a:lnTo>
                    <a:pt x="1207008" y="841248"/>
                  </a:lnTo>
                  <a:lnTo>
                    <a:pt x="0" y="841248"/>
                  </a:lnTo>
                  <a:close/>
                </a:path>
              </a:pathLst>
            </a:custGeom>
            <a:blipFill>
              <a:blip r:embed="rId2">
                <a:alphaModFix amt="0"/>
              </a:blip>
              <a:stretch>
                <a:fillRect l="-39423" t="0" r="-39423" b="0"/>
              </a:stretch>
            </a:blipFill>
          </p:spPr>
        </p:sp>
        <p:sp>
          <p:nvSpPr>
            <p:cNvPr name="TextBox 64" id="64"/>
            <p:cNvSpPr txBox="true"/>
            <p:nvPr/>
          </p:nvSpPr>
          <p:spPr>
            <a:xfrm>
              <a:off x="0" y="-19050"/>
              <a:ext cx="1207008" cy="860298"/>
            </a:xfrm>
            <a:prstGeom prst="rect">
              <a:avLst/>
            </a:prstGeom>
          </p:spPr>
          <p:txBody>
            <a:bodyPr anchor="ctr" rtlCol="false" tIns="0" lIns="0" bIns="0" rIns="0"/>
            <a:lstStyle/>
            <a:p>
              <a:pPr algn="ctr">
                <a:lnSpc>
                  <a:spcPts val="2700"/>
                </a:lnSpc>
              </a:pPr>
              <a:r>
                <a:rPr lang="en-US" sz="2250" b="true">
                  <a:solidFill>
                    <a:srgbClr val="FFFFFF"/>
                  </a:solidFill>
                  <a:latin typeface="DejaVu Sans Bold"/>
                  <a:ea typeface="DejaVu Sans Bold"/>
                  <a:cs typeface="DejaVu Sans Bold"/>
                  <a:sym typeface="DejaVu Sans Bold"/>
                </a:rPr>
                <a:t>05</a:t>
              </a:r>
            </a:p>
          </p:txBody>
        </p:sp>
      </p:grpSp>
      <p:sp>
        <p:nvSpPr>
          <p:cNvPr name="TextBox 65" id="65"/>
          <p:cNvSpPr txBox="true"/>
          <p:nvPr/>
        </p:nvSpPr>
        <p:spPr>
          <a:xfrm rot="0">
            <a:off x="6720840" y="6820662"/>
            <a:ext cx="4828032" cy="2222754"/>
          </a:xfrm>
          <a:prstGeom prst="rect">
            <a:avLst/>
          </a:prstGeom>
        </p:spPr>
        <p:txBody>
          <a:bodyPr anchor="t" rtlCol="false" tIns="0" lIns="0" bIns="0" rIns="0">
            <a:spAutoFit/>
          </a:bodyPr>
          <a:lstStyle/>
          <a:p>
            <a:pPr algn="l">
              <a:lnSpc>
                <a:spcPts val="2700"/>
              </a:lnSpc>
            </a:pPr>
            <a:r>
              <a:rPr lang="en-US" sz="2250" b="true">
                <a:solidFill>
                  <a:srgbClr val="122645"/>
                </a:solidFill>
                <a:latin typeface="DejaVu Sans Bold"/>
                <a:ea typeface="DejaVu Sans Bold"/>
                <a:cs typeface="DejaVu Sans Bold"/>
                <a:sym typeface="DejaVu Sans Bold"/>
              </a:rPr>
              <a:t>Nâng cao năng lực hệ thống chính trị</a:t>
            </a:r>
          </a:p>
          <a:p>
            <a:pPr algn="l">
              <a:lnSpc>
                <a:spcPts val="2700"/>
              </a:lnSpc>
            </a:pPr>
            <a:r>
              <a:rPr lang="en-US" sz="2250">
                <a:solidFill>
                  <a:srgbClr val="1E293B"/>
                </a:solidFill>
                <a:latin typeface="DejaVu Sans Light"/>
                <a:ea typeface="DejaVu Sans Light"/>
                <a:cs typeface="DejaVu Sans Light"/>
                <a:sym typeface="DejaVu Sans Light"/>
              </a:rPr>
              <a:t>Đổi mới phương thức lãnh đạo của Đảng; xây dựng Nhà nước pháp quyền kiến tạo, minh bạch, cắt giảm thủ tục.</a:t>
            </a:r>
          </a:p>
        </p:txBody>
      </p:sp>
      <p:grpSp>
        <p:nvGrpSpPr>
          <p:cNvPr name="Group 66" id="66"/>
          <p:cNvGrpSpPr/>
          <p:nvPr/>
        </p:nvGrpSpPr>
        <p:grpSpPr>
          <a:xfrm rot="0">
            <a:off x="12066651" y="5771007"/>
            <a:ext cx="5465826" cy="3490722"/>
            <a:chOff x="0" y="0"/>
            <a:chExt cx="7287768" cy="4654296"/>
          </a:xfrm>
        </p:grpSpPr>
        <p:sp>
          <p:nvSpPr>
            <p:cNvPr name="Freeform 67" id="67"/>
            <p:cNvSpPr/>
            <p:nvPr/>
          </p:nvSpPr>
          <p:spPr>
            <a:xfrm flipH="false" flipV="false" rot="0">
              <a:off x="0" y="0"/>
              <a:ext cx="7287768" cy="4654296"/>
            </a:xfrm>
            <a:custGeom>
              <a:avLst/>
              <a:gdLst/>
              <a:ahLst/>
              <a:cxnLst/>
              <a:rect r="r" b="b" t="t" l="l"/>
              <a:pathLst>
                <a:path h="4654296" w="7287768">
                  <a:moveTo>
                    <a:pt x="0" y="186182"/>
                  </a:moveTo>
                  <a:cubicBezTo>
                    <a:pt x="0" y="83312"/>
                    <a:pt x="83312" y="0"/>
                    <a:pt x="186182" y="0"/>
                  </a:cubicBezTo>
                  <a:lnTo>
                    <a:pt x="7101586" y="0"/>
                  </a:lnTo>
                  <a:cubicBezTo>
                    <a:pt x="7204456" y="0"/>
                    <a:pt x="7287768" y="83312"/>
                    <a:pt x="7287768" y="186182"/>
                  </a:cubicBezTo>
                  <a:lnTo>
                    <a:pt x="7287768" y="4468114"/>
                  </a:lnTo>
                  <a:cubicBezTo>
                    <a:pt x="7287768" y="4570984"/>
                    <a:pt x="7204456" y="4654296"/>
                    <a:pt x="7101586" y="4654296"/>
                  </a:cubicBezTo>
                  <a:lnTo>
                    <a:pt x="186182" y="4654296"/>
                  </a:lnTo>
                  <a:cubicBezTo>
                    <a:pt x="83312" y="4654296"/>
                    <a:pt x="0" y="4570984"/>
                    <a:pt x="0" y="4468114"/>
                  </a:cubicBezTo>
                  <a:close/>
                </a:path>
              </a:pathLst>
            </a:custGeom>
            <a:solidFill>
              <a:srgbClr val="EAF7F5"/>
            </a:solidFill>
            <a:ln w="34290" cap="sq">
              <a:solidFill>
                <a:srgbClr val="0F766E"/>
              </a:solidFill>
              <a:prstDash val="solid"/>
              <a:miter/>
            </a:ln>
          </p:spPr>
        </p:sp>
      </p:grpSp>
      <p:grpSp>
        <p:nvGrpSpPr>
          <p:cNvPr name="Group 68" id="68"/>
          <p:cNvGrpSpPr/>
          <p:nvPr/>
        </p:nvGrpSpPr>
        <p:grpSpPr>
          <a:xfrm rot="0">
            <a:off x="12316968" y="5925312"/>
            <a:ext cx="4992624" cy="3182112"/>
            <a:chOff x="0" y="0"/>
            <a:chExt cx="6656832" cy="4242816"/>
          </a:xfrm>
        </p:grpSpPr>
        <p:sp>
          <p:nvSpPr>
            <p:cNvPr name="Freeform 69" id="69"/>
            <p:cNvSpPr/>
            <p:nvPr/>
          </p:nvSpPr>
          <p:spPr>
            <a:xfrm flipH="false" flipV="false" rot="0">
              <a:off x="0" y="0"/>
              <a:ext cx="6656832" cy="4242816"/>
            </a:xfrm>
            <a:custGeom>
              <a:avLst/>
              <a:gdLst/>
              <a:ahLst/>
              <a:cxnLst/>
              <a:rect r="r" b="b" t="t" l="l"/>
              <a:pathLst>
                <a:path h="4242816" w="6656832">
                  <a:moveTo>
                    <a:pt x="0" y="0"/>
                  </a:moveTo>
                  <a:lnTo>
                    <a:pt x="6656832" y="0"/>
                  </a:lnTo>
                  <a:lnTo>
                    <a:pt x="6656832" y="4242816"/>
                  </a:lnTo>
                  <a:lnTo>
                    <a:pt x="0" y="4242816"/>
                  </a:lnTo>
                  <a:close/>
                </a:path>
              </a:pathLst>
            </a:custGeom>
            <a:blipFill>
              <a:blip r:embed="rId2">
                <a:alphaModFix amt="0"/>
              </a:blip>
              <a:stretch>
                <a:fillRect l="-31775" t="0" r="-31775" b="0"/>
              </a:stretch>
            </a:blipFill>
          </p:spPr>
        </p:sp>
        <p:sp>
          <p:nvSpPr>
            <p:cNvPr name="TextBox 70" id="70"/>
            <p:cNvSpPr txBox="true"/>
            <p:nvPr/>
          </p:nvSpPr>
          <p:spPr>
            <a:xfrm>
              <a:off x="0" y="-19050"/>
              <a:ext cx="6656832" cy="4261866"/>
            </a:xfrm>
            <a:prstGeom prst="rect">
              <a:avLst/>
            </a:prstGeom>
          </p:spPr>
          <p:txBody>
            <a:bodyPr anchor="ctr" rtlCol="false" tIns="0" lIns="0" bIns="0" rIns="0"/>
            <a:lstStyle/>
            <a:p>
              <a:pPr algn="l">
                <a:lnSpc>
                  <a:spcPts val="2520"/>
                </a:lnSpc>
              </a:pPr>
              <a:r>
                <a:rPr lang="en-US" sz="2100" b="true">
                  <a:solidFill>
                    <a:srgbClr val="0F766E"/>
                  </a:solidFill>
                  <a:latin typeface="DejaVu Sans Bold"/>
                  <a:ea typeface="DejaVu Sans Bold"/>
                  <a:cs typeface="DejaVu Sans Bold"/>
                  <a:sym typeface="DejaVu Sans Bold"/>
                </a:rPr>
                <a:t>ĐỘT PHÁ THỂ CHẾ CHO CQ7:</a:t>
              </a:r>
            </a:p>
            <a:p>
              <a:pPr algn="l">
                <a:lnSpc>
                  <a:spcPts val="2520"/>
                </a:lnSpc>
              </a:pPr>
              <a:r>
                <a:rPr lang="en-US" sz="2100" b="true">
                  <a:solidFill>
                    <a:srgbClr val="0B192E"/>
                  </a:solidFill>
                  <a:latin typeface="DejaVu Sans Bold"/>
                  <a:ea typeface="DejaVu Sans Bold"/>
                  <a:cs typeface="DejaVu Sans Bold"/>
                  <a:sym typeface="DejaVu Sans Bold"/>
                </a:rPr>
                <a:t>Đồng bộ bộ 3 đạo luật từ 01/8/2024:</a:t>
              </a:r>
            </a:p>
            <a:p>
              <a:pPr algn="l">
                <a:lnSpc>
                  <a:spcPts val="2520"/>
                </a:lnSpc>
              </a:pPr>
              <a:r>
                <a:rPr lang="en-US" sz="2100" b="true">
                  <a:solidFill>
                    <a:srgbClr val="0B192E"/>
                  </a:solidFill>
                  <a:latin typeface="DejaVu Sans Bold"/>
                  <a:ea typeface="DejaVu Sans Bold"/>
                  <a:cs typeface="DejaVu Sans Bold"/>
                  <a:sym typeface="DejaVu Sans Bold"/>
                </a:rPr>
                <a:t>• Luật Đất đai 2024</a:t>
              </a:r>
            </a:p>
            <a:p>
              <a:pPr algn="l">
                <a:lnSpc>
                  <a:spcPts val="2520"/>
                </a:lnSpc>
              </a:pPr>
              <a:r>
                <a:rPr lang="en-US" sz="2100" b="true">
                  <a:solidFill>
                    <a:srgbClr val="0B192E"/>
                  </a:solidFill>
                  <a:latin typeface="DejaVu Sans Bold"/>
                  <a:ea typeface="DejaVu Sans Bold"/>
                  <a:cs typeface="DejaVu Sans Bold"/>
                  <a:sym typeface="DejaVu Sans Bold"/>
                </a:rPr>
                <a:t>• Luật Nhà ở 2023</a:t>
              </a:r>
            </a:p>
            <a:p>
              <a:pPr algn="l">
                <a:lnSpc>
                  <a:spcPts val="2520"/>
                </a:lnSpc>
              </a:pPr>
              <a:r>
                <a:rPr lang="en-US" sz="2100" b="true">
                  <a:solidFill>
                    <a:srgbClr val="0B192E"/>
                  </a:solidFill>
                  <a:latin typeface="DejaVu Sans Bold"/>
                  <a:ea typeface="DejaVu Sans Bold"/>
                  <a:cs typeface="DejaVu Sans Bold"/>
                  <a:sym typeface="DejaVu Sans Bold"/>
                </a:rPr>
                <a:t>• Luật Kinh doanh BĐS 2023</a:t>
              </a:r>
            </a:p>
            <a:p>
              <a:pPr algn="l">
                <a:lnSpc>
                  <a:spcPts val="2520"/>
                </a:lnSpc>
              </a:pPr>
              <a:r>
                <a:rPr lang="en-US" sz="2100" b="true">
                  <a:solidFill>
                    <a:srgbClr val="0B192E"/>
                  </a:solidFill>
                  <a:latin typeface="DejaVu Sans Bold"/>
                  <a:ea typeface="DejaVu Sans Bold"/>
                  <a:cs typeface="DejaVu Sans Bold"/>
                  <a:sym typeface="DejaVu Sans Bold"/>
                </a:rPr>
                <a:t>+ Nghị định 136/2026/NĐ-CP</a:t>
              </a:r>
            </a:p>
            <a:p>
              <a:pPr algn="l">
                <a:lnSpc>
                  <a:spcPts val="2520"/>
                </a:lnSpc>
              </a:pPr>
              <a:r>
                <a:rPr lang="en-US" sz="2100" b="true">
                  <a:solidFill>
                    <a:srgbClr val="0B192E"/>
                  </a:solidFill>
                  <a:latin typeface="DejaVu Sans Bold"/>
                  <a:ea typeface="DejaVu Sans Bold"/>
                  <a:cs typeface="DejaVu Sans Bold"/>
                  <a:sym typeface="DejaVu Sans Bold"/>
                </a:rPr>
                <a:t>→ Khơi thông 'luật chơi' NOXH!</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7543" cy="137160"/>
            <a:chOff x="0" y="0"/>
            <a:chExt cx="24383390" cy="182880"/>
          </a:xfrm>
        </p:grpSpPr>
        <p:sp>
          <p:nvSpPr>
            <p:cNvPr name="Freeform 3" id="3"/>
            <p:cNvSpPr/>
            <p:nvPr/>
          </p:nvSpPr>
          <p:spPr>
            <a:xfrm flipH="false" flipV="false" rot="0">
              <a:off x="0" y="0"/>
              <a:ext cx="24383364" cy="182880"/>
            </a:xfrm>
            <a:custGeom>
              <a:avLst/>
              <a:gdLst/>
              <a:ahLst/>
              <a:cxnLst/>
              <a:rect r="r" b="b" t="t" l="l"/>
              <a:pathLst>
                <a:path h="182880" w="24383364">
                  <a:moveTo>
                    <a:pt x="0" y="0"/>
                  </a:moveTo>
                  <a:lnTo>
                    <a:pt x="24383364" y="0"/>
                  </a:lnTo>
                  <a:lnTo>
                    <a:pt x="24383364" y="182880"/>
                  </a:lnTo>
                  <a:lnTo>
                    <a:pt x="0" y="182880"/>
                  </a:lnTo>
                  <a:close/>
                </a:path>
              </a:pathLst>
            </a:custGeom>
            <a:solidFill>
              <a:srgbClr val="122645"/>
            </a:solidFill>
          </p:spPr>
        </p:sp>
      </p:grpSp>
      <p:grpSp>
        <p:nvGrpSpPr>
          <p:cNvPr name="Group 4" id="4"/>
          <p:cNvGrpSpPr/>
          <p:nvPr/>
        </p:nvGrpSpPr>
        <p:grpSpPr>
          <a:xfrm rot="0">
            <a:off x="0" y="0"/>
            <a:ext cx="10972524" cy="137160"/>
            <a:chOff x="0" y="0"/>
            <a:chExt cx="14630032" cy="182880"/>
          </a:xfrm>
        </p:grpSpPr>
        <p:sp>
          <p:nvSpPr>
            <p:cNvPr name="Freeform 5" id="5"/>
            <p:cNvSpPr/>
            <p:nvPr/>
          </p:nvSpPr>
          <p:spPr>
            <a:xfrm flipH="false" flipV="false" rot="0">
              <a:off x="0" y="0"/>
              <a:ext cx="14630019" cy="182880"/>
            </a:xfrm>
            <a:custGeom>
              <a:avLst/>
              <a:gdLst/>
              <a:ahLst/>
              <a:cxnLst/>
              <a:rect r="r" b="b" t="t" l="l"/>
              <a:pathLst>
                <a:path h="182880" w="14630019">
                  <a:moveTo>
                    <a:pt x="0" y="0"/>
                  </a:moveTo>
                  <a:lnTo>
                    <a:pt x="14630019" y="0"/>
                  </a:lnTo>
                  <a:lnTo>
                    <a:pt x="14630019" y="182880"/>
                  </a:lnTo>
                  <a:lnTo>
                    <a:pt x="0" y="182880"/>
                  </a:lnTo>
                  <a:close/>
                </a:path>
              </a:pathLst>
            </a:custGeom>
            <a:solidFill>
              <a:srgbClr val="B91C1C"/>
            </a:solidFill>
          </p:spPr>
        </p:sp>
      </p:grpSp>
      <p:grpSp>
        <p:nvGrpSpPr>
          <p:cNvPr name="Group 6" id="6"/>
          <p:cNvGrpSpPr/>
          <p:nvPr/>
        </p:nvGrpSpPr>
        <p:grpSpPr>
          <a:xfrm rot="0">
            <a:off x="744855" y="292227"/>
            <a:ext cx="7151370" cy="485394"/>
            <a:chOff x="0" y="0"/>
            <a:chExt cx="9535160" cy="647192"/>
          </a:xfrm>
        </p:grpSpPr>
        <p:sp>
          <p:nvSpPr>
            <p:cNvPr name="Freeform 7" id="7"/>
            <p:cNvSpPr/>
            <p:nvPr/>
          </p:nvSpPr>
          <p:spPr>
            <a:xfrm flipH="false" flipV="false" rot="0">
              <a:off x="0" y="0"/>
              <a:ext cx="9535160" cy="647192"/>
            </a:xfrm>
            <a:custGeom>
              <a:avLst/>
              <a:gdLst/>
              <a:ahLst/>
              <a:cxnLst/>
              <a:rect r="r" b="b" t="t" l="l"/>
              <a:pathLst>
                <a:path h="647192" w="9535160">
                  <a:moveTo>
                    <a:pt x="0" y="25908"/>
                  </a:moveTo>
                  <a:cubicBezTo>
                    <a:pt x="0" y="11557"/>
                    <a:pt x="11557" y="0"/>
                    <a:pt x="25908" y="0"/>
                  </a:cubicBezTo>
                  <a:lnTo>
                    <a:pt x="9509252" y="0"/>
                  </a:lnTo>
                  <a:cubicBezTo>
                    <a:pt x="9523603" y="0"/>
                    <a:pt x="9535160" y="11557"/>
                    <a:pt x="9535160" y="25908"/>
                  </a:cubicBezTo>
                  <a:lnTo>
                    <a:pt x="9535160" y="621284"/>
                  </a:lnTo>
                  <a:cubicBezTo>
                    <a:pt x="9535160" y="635635"/>
                    <a:pt x="9523603" y="647192"/>
                    <a:pt x="9509252" y="647192"/>
                  </a:cubicBezTo>
                  <a:lnTo>
                    <a:pt x="25908" y="647192"/>
                  </a:lnTo>
                  <a:cubicBezTo>
                    <a:pt x="11557" y="647192"/>
                    <a:pt x="0" y="635635"/>
                    <a:pt x="0" y="621284"/>
                  </a:cubicBezTo>
                  <a:close/>
                </a:path>
              </a:pathLst>
            </a:custGeom>
            <a:solidFill>
              <a:srgbClr val="EEF6FC"/>
            </a:solidFill>
            <a:ln w="19050" cap="sq">
              <a:solidFill>
                <a:srgbClr val="B91C1C"/>
              </a:solidFill>
              <a:prstDash val="solid"/>
              <a:miter/>
            </a:ln>
          </p:spPr>
        </p:sp>
      </p:grpSp>
      <p:grpSp>
        <p:nvGrpSpPr>
          <p:cNvPr name="Group 8" id="8"/>
          <p:cNvGrpSpPr/>
          <p:nvPr/>
        </p:nvGrpSpPr>
        <p:grpSpPr>
          <a:xfrm rot="0">
            <a:off x="850392" y="413737"/>
            <a:ext cx="6926580" cy="242373"/>
            <a:chOff x="0" y="0"/>
            <a:chExt cx="9235440" cy="323164"/>
          </a:xfrm>
        </p:grpSpPr>
        <p:sp>
          <p:nvSpPr>
            <p:cNvPr name="Freeform 9" id="9"/>
            <p:cNvSpPr/>
            <p:nvPr/>
          </p:nvSpPr>
          <p:spPr>
            <a:xfrm flipH="false" flipV="false" rot="0">
              <a:off x="0" y="0"/>
              <a:ext cx="9235440" cy="323166"/>
            </a:xfrm>
            <a:custGeom>
              <a:avLst/>
              <a:gdLst/>
              <a:ahLst/>
              <a:cxnLst/>
              <a:rect r="r" b="b" t="t" l="l"/>
              <a:pathLst>
                <a:path h="323166" w="9235440">
                  <a:moveTo>
                    <a:pt x="0" y="0"/>
                  </a:moveTo>
                  <a:lnTo>
                    <a:pt x="9235440" y="0"/>
                  </a:lnTo>
                  <a:lnTo>
                    <a:pt x="9235440" y="323166"/>
                  </a:lnTo>
                  <a:lnTo>
                    <a:pt x="0" y="323166"/>
                  </a:lnTo>
                  <a:close/>
                </a:path>
              </a:pathLst>
            </a:custGeom>
            <a:blipFill>
              <a:blip r:embed="rId2">
                <a:alphaModFix amt="0"/>
              </a:blip>
              <a:stretch>
                <a:fillRect l="0" t="-506843" r="0" b="-506843"/>
              </a:stretch>
            </a:blipFill>
          </p:spPr>
        </p:sp>
        <p:sp>
          <p:nvSpPr>
            <p:cNvPr name="TextBox 10" id="10"/>
            <p:cNvSpPr txBox="true"/>
            <p:nvPr/>
          </p:nvSpPr>
          <p:spPr>
            <a:xfrm>
              <a:off x="0" y="-9525"/>
              <a:ext cx="9235440" cy="332689"/>
            </a:xfrm>
            <a:prstGeom prst="rect">
              <a:avLst/>
            </a:prstGeom>
          </p:spPr>
          <p:txBody>
            <a:bodyPr anchor="ctr" rtlCol="false" tIns="0" lIns="0" bIns="0" rIns="0"/>
            <a:lstStyle/>
            <a:p>
              <a:pPr algn="l">
                <a:lnSpc>
                  <a:spcPts val="1889"/>
                </a:lnSpc>
              </a:pPr>
              <a:r>
                <a:rPr lang="en-US" sz="1575" b="true">
                  <a:solidFill>
                    <a:srgbClr val="B91C1C"/>
                  </a:solidFill>
                  <a:latin typeface="DejaVu Sans Bold"/>
                  <a:ea typeface="DejaVu Sans Bold"/>
                  <a:cs typeface="DejaVu Sans Bold"/>
                  <a:sym typeface="DejaVu Sans Bold"/>
                </a:rPr>
                <a:t>“Bàn tay vô hình thất bại”</a:t>
              </a:r>
            </a:p>
          </p:txBody>
        </p:sp>
      </p:grpSp>
      <p:grpSp>
        <p:nvGrpSpPr>
          <p:cNvPr name="Group 11" id="11"/>
          <p:cNvGrpSpPr/>
          <p:nvPr/>
        </p:nvGrpSpPr>
        <p:grpSpPr>
          <a:xfrm rot="0">
            <a:off x="15704820" y="301752"/>
            <a:ext cx="1824228" cy="466344"/>
            <a:chOff x="0" y="0"/>
            <a:chExt cx="2432304" cy="621792"/>
          </a:xfrm>
        </p:grpSpPr>
        <p:sp>
          <p:nvSpPr>
            <p:cNvPr name="Freeform 12" id="12"/>
            <p:cNvSpPr/>
            <p:nvPr/>
          </p:nvSpPr>
          <p:spPr>
            <a:xfrm flipH="false" flipV="false" rot="0">
              <a:off x="0" y="0"/>
              <a:ext cx="2432304" cy="621792"/>
            </a:xfrm>
            <a:custGeom>
              <a:avLst/>
              <a:gdLst/>
              <a:ahLst/>
              <a:cxnLst/>
              <a:rect r="r" b="b" t="t" l="l"/>
              <a:pathLst>
                <a:path h="621792" w="2432304">
                  <a:moveTo>
                    <a:pt x="0" y="24892"/>
                  </a:moveTo>
                  <a:cubicBezTo>
                    <a:pt x="0" y="11176"/>
                    <a:pt x="11176" y="0"/>
                    <a:pt x="24892" y="0"/>
                  </a:cubicBezTo>
                  <a:lnTo>
                    <a:pt x="2407412" y="0"/>
                  </a:lnTo>
                  <a:cubicBezTo>
                    <a:pt x="2421128" y="0"/>
                    <a:pt x="2432304" y="11176"/>
                    <a:pt x="2432304" y="24892"/>
                  </a:cubicBezTo>
                  <a:lnTo>
                    <a:pt x="2432304" y="596900"/>
                  </a:lnTo>
                  <a:cubicBezTo>
                    <a:pt x="2432304" y="610616"/>
                    <a:pt x="2421128" y="621792"/>
                    <a:pt x="2407412" y="621792"/>
                  </a:cubicBezTo>
                  <a:lnTo>
                    <a:pt x="24892" y="621792"/>
                  </a:lnTo>
                  <a:cubicBezTo>
                    <a:pt x="11176" y="621792"/>
                    <a:pt x="0" y="610616"/>
                    <a:pt x="0" y="596900"/>
                  </a:cubicBezTo>
                  <a:close/>
                </a:path>
              </a:pathLst>
            </a:custGeom>
            <a:solidFill>
              <a:srgbClr val="122645"/>
            </a:solidFill>
          </p:spPr>
        </p:sp>
      </p:grpSp>
      <p:grpSp>
        <p:nvGrpSpPr>
          <p:cNvPr name="Group 13" id="13"/>
          <p:cNvGrpSpPr/>
          <p:nvPr/>
        </p:nvGrpSpPr>
        <p:grpSpPr>
          <a:xfrm rot="0">
            <a:off x="15704820" y="301752"/>
            <a:ext cx="1824228" cy="466344"/>
            <a:chOff x="0" y="0"/>
            <a:chExt cx="2432304" cy="621792"/>
          </a:xfrm>
        </p:grpSpPr>
        <p:sp>
          <p:nvSpPr>
            <p:cNvPr name="Freeform 14" id="14"/>
            <p:cNvSpPr/>
            <p:nvPr/>
          </p:nvSpPr>
          <p:spPr>
            <a:xfrm flipH="false" flipV="false" rot="0">
              <a:off x="0" y="0"/>
              <a:ext cx="2432304" cy="621792"/>
            </a:xfrm>
            <a:custGeom>
              <a:avLst/>
              <a:gdLst/>
              <a:ahLst/>
              <a:cxnLst/>
              <a:rect r="r" b="b" t="t" l="l"/>
              <a:pathLst>
                <a:path h="621792" w="2432304">
                  <a:moveTo>
                    <a:pt x="0" y="0"/>
                  </a:moveTo>
                  <a:lnTo>
                    <a:pt x="2432304" y="0"/>
                  </a:lnTo>
                  <a:lnTo>
                    <a:pt x="2432304" y="621792"/>
                  </a:lnTo>
                  <a:lnTo>
                    <a:pt x="0" y="621792"/>
                  </a:lnTo>
                  <a:close/>
                </a:path>
              </a:pathLst>
            </a:custGeom>
            <a:blipFill>
              <a:blip r:embed="rId2">
                <a:alphaModFix amt="0"/>
              </a:blip>
              <a:stretch>
                <a:fillRect l="0" t="-26220" r="0" b="-26220"/>
              </a:stretch>
            </a:blipFill>
          </p:spPr>
        </p:sp>
        <p:sp>
          <p:nvSpPr>
            <p:cNvPr name="TextBox 15" id="15"/>
            <p:cNvSpPr txBox="true"/>
            <p:nvPr/>
          </p:nvSpPr>
          <p:spPr>
            <a:xfrm>
              <a:off x="0" y="-19050"/>
              <a:ext cx="2432304" cy="640842"/>
            </a:xfrm>
            <a:prstGeom prst="rect">
              <a:avLst/>
            </a:prstGeom>
          </p:spPr>
          <p:txBody>
            <a:bodyPr anchor="ctr" rtlCol="false" tIns="0" lIns="0" bIns="0" rIns="0"/>
            <a:lstStyle/>
            <a:p>
              <a:pPr algn="ctr">
                <a:lnSpc>
                  <a:spcPts val="2700"/>
                </a:lnSpc>
              </a:pPr>
              <a:r>
                <a:rPr lang="en-US" sz="2250" b="true">
                  <a:solidFill>
                    <a:srgbClr val="FFFFFF"/>
                  </a:solidFill>
                  <a:latin typeface="DejaVu Sans Bold"/>
                  <a:ea typeface="DejaVu Sans Bold"/>
                  <a:cs typeface="DejaVu Sans Bold"/>
                  <a:sym typeface="DejaVu Sans Bold"/>
                </a:rPr>
                <a:t>Slide 9 / 15</a:t>
              </a:r>
            </a:p>
          </p:txBody>
        </p:sp>
      </p:grpSp>
      <p:grpSp>
        <p:nvGrpSpPr>
          <p:cNvPr name="Group 16" id="16"/>
          <p:cNvGrpSpPr/>
          <p:nvPr/>
        </p:nvGrpSpPr>
        <p:grpSpPr>
          <a:xfrm rot="0">
            <a:off x="754380" y="850392"/>
            <a:ext cx="16774668" cy="740664"/>
            <a:chOff x="0" y="0"/>
            <a:chExt cx="22366224" cy="987552"/>
          </a:xfrm>
        </p:grpSpPr>
        <p:sp>
          <p:nvSpPr>
            <p:cNvPr name="Freeform 17" id="17"/>
            <p:cNvSpPr/>
            <p:nvPr/>
          </p:nvSpPr>
          <p:spPr>
            <a:xfrm flipH="false" flipV="false" rot="0">
              <a:off x="0" y="0"/>
              <a:ext cx="22366224" cy="987552"/>
            </a:xfrm>
            <a:custGeom>
              <a:avLst/>
              <a:gdLst/>
              <a:ahLst/>
              <a:cxnLst/>
              <a:rect r="r" b="b" t="t" l="l"/>
              <a:pathLst>
                <a:path h="987552" w="22366224">
                  <a:moveTo>
                    <a:pt x="0" y="0"/>
                  </a:moveTo>
                  <a:lnTo>
                    <a:pt x="22366224" y="0"/>
                  </a:lnTo>
                  <a:lnTo>
                    <a:pt x="22366224" y="987552"/>
                  </a:lnTo>
                  <a:lnTo>
                    <a:pt x="0" y="987552"/>
                  </a:lnTo>
                  <a:close/>
                </a:path>
              </a:pathLst>
            </a:custGeom>
            <a:blipFill>
              <a:blip r:embed="rId2">
                <a:alphaModFix amt="0"/>
              </a:blip>
              <a:stretch>
                <a:fillRect l="0" t="-391300" r="0" b="-391300"/>
              </a:stretch>
            </a:blipFill>
          </p:spPr>
        </p:sp>
        <p:sp>
          <p:nvSpPr>
            <p:cNvPr name="TextBox 18" id="18"/>
            <p:cNvSpPr txBox="true"/>
            <p:nvPr/>
          </p:nvSpPr>
          <p:spPr>
            <a:xfrm>
              <a:off x="0" y="-9525"/>
              <a:ext cx="22366224" cy="997077"/>
            </a:xfrm>
            <a:prstGeom prst="rect">
              <a:avLst/>
            </a:prstGeom>
          </p:spPr>
          <p:txBody>
            <a:bodyPr anchor="ctr" rtlCol="false" tIns="0" lIns="0" bIns="0" rIns="0"/>
            <a:lstStyle/>
            <a:p>
              <a:pPr algn="l">
                <a:lnSpc>
                  <a:spcPts val="3869"/>
                </a:lnSpc>
              </a:pPr>
              <a:r>
                <a:rPr lang="en-US" sz="3225" b="true">
                  <a:solidFill>
                    <a:srgbClr val="122645"/>
                  </a:solidFill>
                  <a:latin typeface="DejaVu Sans Bold"/>
                  <a:ea typeface="DejaVu Sans Bold"/>
                  <a:cs typeface="DejaVu Sans Bold"/>
                  <a:sym typeface="DejaVu Sans Bold"/>
                </a:rPr>
                <a:t>Lệch pha cung – cầu nhà ở đô thị &amp; Thực tế khả năng chi trả</a:t>
              </a:r>
            </a:p>
          </p:txBody>
        </p:sp>
      </p:grpSp>
      <p:grpSp>
        <p:nvGrpSpPr>
          <p:cNvPr name="Group 19" id="19"/>
          <p:cNvGrpSpPr/>
          <p:nvPr/>
        </p:nvGrpSpPr>
        <p:grpSpPr>
          <a:xfrm rot="0">
            <a:off x="754380" y="1645920"/>
            <a:ext cx="16774668" cy="41148"/>
            <a:chOff x="0" y="0"/>
            <a:chExt cx="22366224" cy="54864"/>
          </a:xfrm>
        </p:grpSpPr>
        <p:sp>
          <p:nvSpPr>
            <p:cNvPr name="Freeform 20" id="20"/>
            <p:cNvSpPr/>
            <p:nvPr/>
          </p:nvSpPr>
          <p:spPr>
            <a:xfrm flipH="false" flipV="false" rot="0">
              <a:off x="0" y="0"/>
              <a:ext cx="22366224" cy="54864"/>
            </a:xfrm>
            <a:custGeom>
              <a:avLst/>
              <a:gdLst/>
              <a:ahLst/>
              <a:cxnLst/>
              <a:rect r="r" b="b" t="t" l="l"/>
              <a:pathLst>
                <a:path h="54864" w="22366224">
                  <a:moveTo>
                    <a:pt x="0" y="0"/>
                  </a:moveTo>
                  <a:lnTo>
                    <a:pt x="22366224" y="0"/>
                  </a:lnTo>
                  <a:lnTo>
                    <a:pt x="22366224" y="54864"/>
                  </a:lnTo>
                  <a:lnTo>
                    <a:pt x="0" y="54864"/>
                  </a:lnTo>
                  <a:close/>
                </a:path>
              </a:pathLst>
            </a:custGeom>
            <a:solidFill>
              <a:srgbClr val="CBD5E1"/>
            </a:solidFill>
          </p:spPr>
        </p:sp>
      </p:grpSp>
      <p:grpSp>
        <p:nvGrpSpPr>
          <p:cNvPr name="Group 21" id="21"/>
          <p:cNvGrpSpPr/>
          <p:nvPr/>
        </p:nvGrpSpPr>
        <p:grpSpPr>
          <a:xfrm rot="0">
            <a:off x="-7144" y="9662636"/>
            <a:ext cx="18301830" cy="631507"/>
            <a:chOff x="0" y="0"/>
            <a:chExt cx="24402440" cy="842010"/>
          </a:xfrm>
        </p:grpSpPr>
        <p:sp>
          <p:nvSpPr>
            <p:cNvPr name="Freeform 22" id="22"/>
            <p:cNvSpPr/>
            <p:nvPr/>
          </p:nvSpPr>
          <p:spPr>
            <a:xfrm flipH="false" flipV="false" rot="0">
              <a:off x="0" y="0"/>
              <a:ext cx="24402414" cy="842010"/>
            </a:xfrm>
            <a:custGeom>
              <a:avLst/>
              <a:gdLst/>
              <a:ahLst/>
              <a:cxnLst/>
              <a:rect r="r" b="b" t="t" l="l"/>
              <a:pathLst>
                <a:path h="842010" w="24402414">
                  <a:moveTo>
                    <a:pt x="0" y="0"/>
                  </a:moveTo>
                  <a:lnTo>
                    <a:pt x="24402414" y="0"/>
                  </a:lnTo>
                  <a:lnTo>
                    <a:pt x="24402414" y="842010"/>
                  </a:lnTo>
                  <a:lnTo>
                    <a:pt x="0" y="842010"/>
                  </a:lnTo>
                  <a:close/>
                </a:path>
              </a:pathLst>
            </a:custGeom>
            <a:solidFill>
              <a:srgbClr val="FFFFFF"/>
            </a:solidFill>
            <a:ln w="14288" cap="sq">
              <a:solidFill>
                <a:srgbClr val="CBD5E1"/>
              </a:solidFill>
              <a:prstDash val="solid"/>
              <a:miter/>
            </a:ln>
          </p:spPr>
        </p:sp>
      </p:grpSp>
      <p:grpSp>
        <p:nvGrpSpPr>
          <p:cNvPr name="Group 23" id="23"/>
          <p:cNvGrpSpPr/>
          <p:nvPr/>
        </p:nvGrpSpPr>
        <p:grpSpPr>
          <a:xfrm rot="0">
            <a:off x="754380" y="9710928"/>
            <a:ext cx="16774668" cy="493776"/>
            <a:chOff x="0" y="0"/>
            <a:chExt cx="22366224" cy="658368"/>
          </a:xfrm>
        </p:grpSpPr>
        <p:sp>
          <p:nvSpPr>
            <p:cNvPr name="Freeform 24" id="24"/>
            <p:cNvSpPr/>
            <p:nvPr/>
          </p:nvSpPr>
          <p:spPr>
            <a:xfrm flipH="false" flipV="false" rot="0">
              <a:off x="0" y="0"/>
              <a:ext cx="22366224" cy="658368"/>
            </a:xfrm>
            <a:custGeom>
              <a:avLst/>
              <a:gdLst/>
              <a:ahLst/>
              <a:cxnLst/>
              <a:rect r="r" b="b" t="t" l="l"/>
              <a:pathLst>
                <a:path h="658368" w="22366224">
                  <a:moveTo>
                    <a:pt x="0" y="0"/>
                  </a:moveTo>
                  <a:lnTo>
                    <a:pt x="22366224" y="0"/>
                  </a:lnTo>
                  <a:lnTo>
                    <a:pt x="22366224" y="658368"/>
                  </a:lnTo>
                  <a:lnTo>
                    <a:pt x="0" y="658368"/>
                  </a:lnTo>
                  <a:close/>
                </a:path>
              </a:pathLst>
            </a:custGeom>
            <a:blipFill>
              <a:blip r:embed="rId2">
                <a:alphaModFix amt="0"/>
              </a:blip>
              <a:stretch>
                <a:fillRect l="0" t="-611950" r="0" b="-611950"/>
              </a:stretch>
            </a:blipFill>
          </p:spPr>
        </p:sp>
        <p:sp>
          <p:nvSpPr>
            <p:cNvPr name="TextBox 25" id="25"/>
            <p:cNvSpPr txBox="true"/>
            <p:nvPr/>
          </p:nvSpPr>
          <p:spPr>
            <a:xfrm>
              <a:off x="0" y="-9525"/>
              <a:ext cx="22366224" cy="667893"/>
            </a:xfrm>
            <a:prstGeom prst="rect">
              <a:avLst/>
            </a:prstGeom>
          </p:spPr>
          <p:txBody>
            <a:bodyPr anchor="ctr" rtlCol="false" tIns="0" lIns="0" bIns="0" rIns="0"/>
            <a:lstStyle/>
            <a:p>
              <a:pPr algn="l">
                <a:lnSpc>
                  <a:spcPts val="1260"/>
                </a:lnSpc>
              </a:pPr>
              <a:r>
                <a:rPr lang="en-US" sz="1050" i="true">
                  <a:solidFill>
                    <a:srgbClr val="475569"/>
                  </a:solidFill>
                  <a:latin typeface="DejaVu Sans Bold Italics"/>
                  <a:ea typeface="DejaVu Sans Bold Italics"/>
                  <a:cs typeface="DejaVu Sans Bold Italics"/>
                  <a:sym typeface="DejaVu Sans Bold Italics"/>
                </a:rPr>
                <a:t>Nguồn: Bộ Xây dựng (BC Thị trường BĐS Q2/2026); Cục Thống kê (BC 9T/2026); Nghị định 261/2025/NĐ-CP.</a:t>
              </a:r>
            </a:p>
          </p:txBody>
        </p:sp>
      </p:grpSp>
      <p:grpSp>
        <p:nvGrpSpPr>
          <p:cNvPr name="Group 26" id="26"/>
          <p:cNvGrpSpPr/>
          <p:nvPr/>
        </p:nvGrpSpPr>
        <p:grpSpPr>
          <a:xfrm rot="0">
            <a:off x="742950" y="1881378"/>
            <a:ext cx="10337292" cy="7566660"/>
            <a:chOff x="0" y="0"/>
            <a:chExt cx="13783056" cy="10088880"/>
          </a:xfrm>
        </p:grpSpPr>
        <p:sp>
          <p:nvSpPr>
            <p:cNvPr name="Freeform 27" id="27"/>
            <p:cNvSpPr/>
            <p:nvPr/>
          </p:nvSpPr>
          <p:spPr>
            <a:xfrm flipH="false" flipV="false" rot="0">
              <a:off x="0" y="0"/>
              <a:ext cx="13783056" cy="10088880"/>
            </a:xfrm>
            <a:custGeom>
              <a:avLst/>
              <a:gdLst/>
              <a:ahLst/>
              <a:cxnLst/>
              <a:rect r="r" b="b" t="t" l="l"/>
              <a:pathLst>
                <a:path h="10088880" w="13783056">
                  <a:moveTo>
                    <a:pt x="0" y="403606"/>
                  </a:moveTo>
                  <a:cubicBezTo>
                    <a:pt x="0" y="180721"/>
                    <a:pt x="180721" y="0"/>
                    <a:pt x="403606" y="0"/>
                  </a:cubicBezTo>
                  <a:lnTo>
                    <a:pt x="13379450" y="0"/>
                  </a:lnTo>
                  <a:cubicBezTo>
                    <a:pt x="13602336" y="0"/>
                    <a:pt x="13783056" y="180721"/>
                    <a:pt x="13783056" y="403606"/>
                  </a:cubicBezTo>
                  <a:lnTo>
                    <a:pt x="13783056" y="9685274"/>
                  </a:lnTo>
                  <a:cubicBezTo>
                    <a:pt x="13783056" y="9908159"/>
                    <a:pt x="13602336" y="10088880"/>
                    <a:pt x="13379450" y="10088880"/>
                  </a:cubicBezTo>
                  <a:lnTo>
                    <a:pt x="403606" y="10088880"/>
                  </a:lnTo>
                  <a:cubicBezTo>
                    <a:pt x="180721" y="10088880"/>
                    <a:pt x="0" y="9908159"/>
                    <a:pt x="0" y="9685274"/>
                  </a:cubicBezTo>
                  <a:close/>
                </a:path>
              </a:pathLst>
            </a:custGeom>
            <a:solidFill>
              <a:srgbClr val="FFFFFF"/>
            </a:solidFill>
            <a:ln w="22860" cap="sq">
              <a:solidFill>
                <a:srgbClr val="CBD5E1"/>
              </a:solidFill>
              <a:prstDash val="solid"/>
              <a:miter/>
            </a:ln>
          </p:spPr>
        </p:sp>
      </p:grpSp>
      <p:grpSp>
        <p:nvGrpSpPr>
          <p:cNvPr name="Group 28" id="28"/>
          <p:cNvGrpSpPr/>
          <p:nvPr/>
        </p:nvGrpSpPr>
        <p:grpSpPr>
          <a:xfrm rot="0">
            <a:off x="905256" y="2002536"/>
            <a:ext cx="10012680" cy="6501384"/>
            <a:chOff x="0" y="0"/>
            <a:chExt cx="13350240" cy="8668512"/>
          </a:xfrm>
        </p:grpSpPr>
        <p:sp>
          <p:nvSpPr>
            <p:cNvPr name="Freeform 29" id="29" descr="chart_housing_projector.png"/>
            <p:cNvSpPr/>
            <p:nvPr/>
          </p:nvSpPr>
          <p:spPr>
            <a:xfrm flipH="false" flipV="false" rot="0">
              <a:off x="0" y="0"/>
              <a:ext cx="13350239" cy="8668512"/>
            </a:xfrm>
            <a:custGeom>
              <a:avLst/>
              <a:gdLst/>
              <a:ahLst/>
              <a:cxnLst/>
              <a:rect r="r" b="b" t="t" l="l"/>
              <a:pathLst>
                <a:path h="8668512" w="13350239">
                  <a:moveTo>
                    <a:pt x="0" y="0"/>
                  </a:moveTo>
                  <a:lnTo>
                    <a:pt x="13350239" y="0"/>
                  </a:lnTo>
                  <a:lnTo>
                    <a:pt x="13350239" y="8668512"/>
                  </a:lnTo>
                  <a:lnTo>
                    <a:pt x="0" y="8668512"/>
                  </a:lnTo>
                  <a:lnTo>
                    <a:pt x="0" y="0"/>
                  </a:lnTo>
                  <a:close/>
                </a:path>
              </a:pathLst>
            </a:custGeom>
            <a:blipFill>
              <a:blip r:embed="rId3"/>
              <a:stretch>
                <a:fillRect l="0" t="-52" r="0" b="-52"/>
              </a:stretch>
            </a:blipFill>
          </p:spPr>
        </p:sp>
      </p:grpSp>
      <p:grpSp>
        <p:nvGrpSpPr>
          <p:cNvPr name="Group 30" id="30"/>
          <p:cNvGrpSpPr/>
          <p:nvPr/>
        </p:nvGrpSpPr>
        <p:grpSpPr>
          <a:xfrm rot="0">
            <a:off x="960120" y="8558784"/>
            <a:ext cx="9902952" cy="768096"/>
            <a:chOff x="0" y="0"/>
            <a:chExt cx="13203936" cy="1024128"/>
          </a:xfrm>
        </p:grpSpPr>
        <p:sp>
          <p:nvSpPr>
            <p:cNvPr name="Freeform 31" id="31"/>
            <p:cNvSpPr/>
            <p:nvPr/>
          </p:nvSpPr>
          <p:spPr>
            <a:xfrm flipH="false" flipV="false" rot="0">
              <a:off x="0" y="0"/>
              <a:ext cx="13203937" cy="1024128"/>
            </a:xfrm>
            <a:custGeom>
              <a:avLst/>
              <a:gdLst/>
              <a:ahLst/>
              <a:cxnLst/>
              <a:rect r="r" b="b" t="t" l="l"/>
              <a:pathLst>
                <a:path h="1024128" w="13203937">
                  <a:moveTo>
                    <a:pt x="0" y="0"/>
                  </a:moveTo>
                  <a:lnTo>
                    <a:pt x="13203937" y="0"/>
                  </a:lnTo>
                  <a:lnTo>
                    <a:pt x="13203937" y="1024128"/>
                  </a:lnTo>
                  <a:lnTo>
                    <a:pt x="0" y="1024128"/>
                  </a:lnTo>
                  <a:close/>
                </a:path>
              </a:pathLst>
            </a:custGeom>
            <a:blipFill>
              <a:blip r:embed="rId2">
                <a:alphaModFix amt="0"/>
              </a:blip>
              <a:stretch>
                <a:fillRect l="0" t="-201217" r="0" b="-201217"/>
              </a:stretch>
            </a:blipFill>
          </p:spPr>
        </p:sp>
        <p:sp>
          <p:nvSpPr>
            <p:cNvPr name="TextBox 32" id="32"/>
            <p:cNvSpPr txBox="true"/>
            <p:nvPr/>
          </p:nvSpPr>
          <p:spPr>
            <a:xfrm>
              <a:off x="0" y="-9525"/>
              <a:ext cx="13203936" cy="1033653"/>
            </a:xfrm>
            <a:prstGeom prst="rect">
              <a:avLst/>
            </a:prstGeom>
          </p:spPr>
          <p:txBody>
            <a:bodyPr anchor="ctr" rtlCol="false" tIns="0" lIns="0" bIns="0" rIns="0"/>
            <a:lstStyle/>
            <a:p>
              <a:pPr algn="l">
                <a:lnSpc>
                  <a:spcPts val="1727"/>
                </a:lnSpc>
              </a:pPr>
              <a:r>
                <a:rPr lang="en-US" sz="1439" b="true">
                  <a:solidFill>
                    <a:srgbClr val="475569"/>
                  </a:solidFill>
                  <a:latin typeface="DejaVu Sans Bold"/>
                  <a:ea typeface="DejaVu Sans Bold"/>
                  <a:cs typeface="DejaVu Sans Bold"/>
                  <a:sym typeface="DejaVu Sans Bold"/>
                </a:rPr>
                <a:t>Biểu đồ: Khoảng cách thu nhập – trả góp thương mại và mức giảm áp lực khi vay NOXH (Nguồn: Cục Thống kê 9T/2026, Bộ Xây dựng Q2/2026 &amp; NĐ 261/2025).</a:t>
              </a:r>
            </a:p>
          </p:txBody>
        </p:sp>
      </p:grpSp>
      <p:grpSp>
        <p:nvGrpSpPr>
          <p:cNvPr name="Group 33" id="33"/>
          <p:cNvGrpSpPr/>
          <p:nvPr/>
        </p:nvGrpSpPr>
        <p:grpSpPr>
          <a:xfrm rot="0">
            <a:off x="11343513" y="1879473"/>
            <a:ext cx="6198870" cy="2413254"/>
            <a:chOff x="0" y="0"/>
            <a:chExt cx="8265160" cy="3217672"/>
          </a:xfrm>
        </p:grpSpPr>
        <p:sp>
          <p:nvSpPr>
            <p:cNvPr name="Freeform 34" id="34"/>
            <p:cNvSpPr/>
            <p:nvPr/>
          </p:nvSpPr>
          <p:spPr>
            <a:xfrm flipH="false" flipV="false" rot="0">
              <a:off x="0" y="0"/>
              <a:ext cx="8265160" cy="3217672"/>
            </a:xfrm>
            <a:custGeom>
              <a:avLst/>
              <a:gdLst/>
              <a:ahLst/>
              <a:cxnLst/>
              <a:rect r="r" b="b" t="t" l="l"/>
              <a:pathLst>
                <a:path h="3217672" w="8265160">
                  <a:moveTo>
                    <a:pt x="0" y="128651"/>
                  </a:moveTo>
                  <a:cubicBezTo>
                    <a:pt x="0" y="57658"/>
                    <a:pt x="57658" y="0"/>
                    <a:pt x="128651" y="0"/>
                  </a:cubicBezTo>
                  <a:lnTo>
                    <a:pt x="8136509" y="0"/>
                  </a:lnTo>
                  <a:cubicBezTo>
                    <a:pt x="8207628" y="0"/>
                    <a:pt x="8265160" y="57658"/>
                    <a:pt x="8265160" y="128651"/>
                  </a:cubicBezTo>
                  <a:lnTo>
                    <a:pt x="8265160" y="3089021"/>
                  </a:lnTo>
                  <a:cubicBezTo>
                    <a:pt x="8265160" y="3160141"/>
                    <a:pt x="8207502" y="3217672"/>
                    <a:pt x="8136509" y="3217672"/>
                  </a:cubicBezTo>
                  <a:lnTo>
                    <a:pt x="128651" y="3217672"/>
                  </a:lnTo>
                  <a:cubicBezTo>
                    <a:pt x="57658" y="3217672"/>
                    <a:pt x="0" y="3160014"/>
                    <a:pt x="0" y="3089021"/>
                  </a:cubicBezTo>
                  <a:close/>
                </a:path>
              </a:pathLst>
            </a:custGeom>
            <a:solidFill>
              <a:srgbClr val="FFFFFF"/>
            </a:solidFill>
            <a:ln w="26670" cap="sq">
              <a:solidFill>
                <a:srgbClr val="122645"/>
              </a:solidFill>
              <a:prstDash val="solid"/>
              <a:miter/>
            </a:ln>
          </p:spPr>
        </p:sp>
      </p:grpSp>
      <p:grpSp>
        <p:nvGrpSpPr>
          <p:cNvPr name="Group 35" id="35"/>
          <p:cNvGrpSpPr/>
          <p:nvPr/>
        </p:nvGrpSpPr>
        <p:grpSpPr>
          <a:xfrm rot="0">
            <a:off x="11576304" y="2002536"/>
            <a:ext cx="5760720" cy="2167128"/>
            <a:chOff x="0" y="0"/>
            <a:chExt cx="7680960" cy="2889504"/>
          </a:xfrm>
        </p:grpSpPr>
        <p:sp>
          <p:nvSpPr>
            <p:cNvPr name="Freeform 36" id="36"/>
            <p:cNvSpPr/>
            <p:nvPr/>
          </p:nvSpPr>
          <p:spPr>
            <a:xfrm flipH="false" flipV="false" rot="0">
              <a:off x="0" y="0"/>
              <a:ext cx="7680960" cy="2889504"/>
            </a:xfrm>
            <a:custGeom>
              <a:avLst/>
              <a:gdLst/>
              <a:ahLst/>
              <a:cxnLst/>
              <a:rect r="r" b="b" t="t" l="l"/>
              <a:pathLst>
                <a:path h="2889504" w="7680960">
                  <a:moveTo>
                    <a:pt x="0" y="0"/>
                  </a:moveTo>
                  <a:lnTo>
                    <a:pt x="7680960" y="0"/>
                  </a:lnTo>
                  <a:lnTo>
                    <a:pt x="7680960" y="2889504"/>
                  </a:lnTo>
                  <a:lnTo>
                    <a:pt x="0" y="2889504"/>
                  </a:lnTo>
                  <a:close/>
                </a:path>
              </a:pathLst>
            </a:custGeom>
            <a:blipFill>
              <a:blip r:embed="rId2">
                <a:alphaModFix amt="0"/>
              </a:blip>
              <a:stretch>
                <a:fillRect l="0" t="-1795" r="0" b="-1795"/>
              </a:stretch>
            </a:blipFill>
          </p:spPr>
        </p:sp>
        <p:sp>
          <p:nvSpPr>
            <p:cNvPr name="TextBox 37" id="37"/>
            <p:cNvSpPr txBox="true"/>
            <p:nvPr/>
          </p:nvSpPr>
          <p:spPr>
            <a:xfrm>
              <a:off x="0" y="-19050"/>
              <a:ext cx="7680960" cy="2908554"/>
            </a:xfrm>
            <a:prstGeom prst="rect">
              <a:avLst/>
            </a:prstGeom>
          </p:spPr>
          <p:txBody>
            <a:bodyPr anchor="ctr" rtlCol="false" tIns="0" lIns="0" bIns="0" rIns="0"/>
            <a:lstStyle/>
            <a:p>
              <a:pPr algn="l">
                <a:lnSpc>
                  <a:spcPts val="2700"/>
                </a:lnSpc>
              </a:pPr>
              <a:r>
                <a:rPr lang="en-US" sz="2250" b="true">
                  <a:solidFill>
                    <a:srgbClr val="122645"/>
                  </a:solidFill>
                  <a:latin typeface="DejaVu Sans Bold"/>
                  <a:ea typeface="DejaVu Sans Bold"/>
                  <a:cs typeface="DejaVu Sans Bold"/>
                  <a:sym typeface="DejaVu Sans Bold"/>
                </a:rPr>
                <a:t>1. MÂU THUẪN LỢI ÍCH KINH TẾ</a:t>
              </a:r>
            </a:p>
            <a:p>
              <a:pPr algn="l">
                <a:lnSpc>
                  <a:spcPts val="3240"/>
                </a:lnSpc>
              </a:pPr>
              <a:r>
                <a:rPr lang="en-US" sz="2250">
                  <a:solidFill>
                    <a:srgbClr val="1E293B"/>
                  </a:solidFill>
                  <a:latin typeface="DejaVu Sans Light"/>
                  <a:ea typeface="DejaVu Sans Light"/>
                  <a:cs typeface="DejaVu Sans Light"/>
                  <a:sym typeface="DejaVu Sans Light"/>
                </a:rPr>
                <a:t>Doanh nghiệp tối đa hóa lợi nhuận mâu thuẫn với Lợi ích của Người dân thu nhập thấp nhu cầu an cư giá rẻ</a:t>
              </a:r>
            </a:p>
          </p:txBody>
        </p:sp>
      </p:grpSp>
      <p:grpSp>
        <p:nvGrpSpPr>
          <p:cNvPr name="Group 38" id="38"/>
          <p:cNvGrpSpPr/>
          <p:nvPr/>
        </p:nvGrpSpPr>
        <p:grpSpPr>
          <a:xfrm rot="0">
            <a:off x="11343513" y="4458081"/>
            <a:ext cx="6198870" cy="2413254"/>
            <a:chOff x="0" y="0"/>
            <a:chExt cx="8265160" cy="3217672"/>
          </a:xfrm>
        </p:grpSpPr>
        <p:sp>
          <p:nvSpPr>
            <p:cNvPr name="Freeform 39" id="39"/>
            <p:cNvSpPr/>
            <p:nvPr/>
          </p:nvSpPr>
          <p:spPr>
            <a:xfrm flipH="false" flipV="false" rot="0">
              <a:off x="0" y="0"/>
              <a:ext cx="8265160" cy="3217672"/>
            </a:xfrm>
            <a:custGeom>
              <a:avLst/>
              <a:gdLst/>
              <a:ahLst/>
              <a:cxnLst/>
              <a:rect r="r" b="b" t="t" l="l"/>
              <a:pathLst>
                <a:path h="3217672" w="8265160">
                  <a:moveTo>
                    <a:pt x="0" y="128651"/>
                  </a:moveTo>
                  <a:cubicBezTo>
                    <a:pt x="0" y="57658"/>
                    <a:pt x="57658" y="0"/>
                    <a:pt x="128651" y="0"/>
                  </a:cubicBezTo>
                  <a:lnTo>
                    <a:pt x="8136509" y="0"/>
                  </a:lnTo>
                  <a:cubicBezTo>
                    <a:pt x="8207628" y="0"/>
                    <a:pt x="8265160" y="57658"/>
                    <a:pt x="8265160" y="128651"/>
                  </a:cubicBezTo>
                  <a:lnTo>
                    <a:pt x="8265160" y="3089021"/>
                  </a:lnTo>
                  <a:cubicBezTo>
                    <a:pt x="8265160" y="3160141"/>
                    <a:pt x="8207502" y="3217672"/>
                    <a:pt x="8136509" y="3217672"/>
                  </a:cubicBezTo>
                  <a:lnTo>
                    <a:pt x="128651" y="3217672"/>
                  </a:lnTo>
                  <a:cubicBezTo>
                    <a:pt x="57658" y="3217672"/>
                    <a:pt x="0" y="3160014"/>
                    <a:pt x="0" y="3089021"/>
                  </a:cubicBezTo>
                  <a:close/>
                </a:path>
              </a:pathLst>
            </a:custGeom>
            <a:solidFill>
              <a:srgbClr val="EAF7F5"/>
            </a:solidFill>
            <a:ln w="26670" cap="sq">
              <a:solidFill>
                <a:srgbClr val="0F766E"/>
              </a:solidFill>
              <a:prstDash val="solid"/>
              <a:miter/>
            </a:ln>
          </p:spPr>
        </p:sp>
      </p:grpSp>
      <p:grpSp>
        <p:nvGrpSpPr>
          <p:cNvPr name="Group 40" id="40"/>
          <p:cNvGrpSpPr/>
          <p:nvPr/>
        </p:nvGrpSpPr>
        <p:grpSpPr>
          <a:xfrm rot="0">
            <a:off x="11576304" y="4581144"/>
            <a:ext cx="5760720" cy="2167128"/>
            <a:chOff x="0" y="0"/>
            <a:chExt cx="7680960" cy="2889504"/>
          </a:xfrm>
        </p:grpSpPr>
        <p:sp>
          <p:nvSpPr>
            <p:cNvPr name="Freeform 41" id="41"/>
            <p:cNvSpPr/>
            <p:nvPr/>
          </p:nvSpPr>
          <p:spPr>
            <a:xfrm flipH="false" flipV="false" rot="0">
              <a:off x="0" y="0"/>
              <a:ext cx="7680960" cy="2889504"/>
            </a:xfrm>
            <a:custGeom>
              <a:avLst/>
              <a:gdLst/>
              <a:ahLst/>
              <a:cxnLst/>
              <a:rect r="r" b="b" t="t" l="l"/>
              <a:pathLst>
                <a:path h="2889504" w="7680960">
                  <a:moveTo>
                    <a:pt x="0" y="0"/>
                  </a:moveTo>
                  <a:lnTo>
                    <a:pt x="7680960" y="0"/>
                  </a:lnTo>
                  <a:lnTo>
                    <a:pt x="7680960" y="2889504"/>
                  </a:lnTo>
                  <a:lnTo>
                    <a:pt x="0" y="2889504"/>
                  </a:lnTo>
                  <a:close/>
                </a:path>
              </a:pathLst>
            </a:custGeom>
            <a:blipFill>
              <a:blip r:embed="rId2">
                <a:alphaModFix amt="0"/>
              </a:blip>
              <a:stretch>
                <a:fillRect l="0" t="-1795" r="0" b="-1795"/>
              </a:stretch>
            </a:blipFill>
          </p:spPr>
        </p:sp>
        <p:sp>
          <p:nvSpPr>
            <p:cNvPr name="TextBox 42" id="42"/>
            <p:cNvSpPr txBox="true"/>
            <p:nvPr/>
          </p:nvSpPr>
          <p:spPr>
            <a:xfrm>
              <a:off x="0" y="-19050"/>
              <a:ext cx="7680960" cy="2908554"/>
            </a:xfrm>
            <a:prstGeom prst="rect">
              <a:avLst/>
            </a:prstGeom>
          </p:spPr>
          <p:txBody>
            <a:bodyPr anchor="ctr" rtlCol="false" tIns="0" lIns="0" bIns="0" rIns="0"/>
            <a:lstStyle/>
            <a:p>
              <a:pPr algn="l">
                <a:lnSpc>
                  <a:spcPts val="2700"/>
                </a:lnSpc>
              </a:pPr>
              <a:r>
                <a:rPr lang="en-US" sz="2250" b="true">
                  <a:solidFill>
                    <a:srgbClr val="0F766E"/>
                  </a:solidFill>
                  <a:latin typeface="DejaVu Sans Bold"/>
                  <a:ea typeface="DejaVu Sans Bold"/>
                  <a:cs typeface="DejaVu Sans Bold"/>
                  <a:sym typeface="DejaVu Sans Bold"/>
                </a:rPr>
                <a:t>2. CẦU Ở THỰC ≠ CẦU CÓ KHẢ NĂNG CHI TRẢ</a:t>
              </a:r>
            </a:p>
            <a:p>
              <a:pPr algn="l">
                <a:lnSpc>
                  <a:spcPts val="3240"/>
                </a:lnSpc>
              </a:pPr>
              <a:r>
                <a:rPr lang="en-US" sz="2250">
                  <a:solidFill>
                    <a:srgbClr val="1E293B"/>
                  </a:solidFill>
                  <a:latin typeface="DejaVu Sans Light"/>
                  <a:ea typeface="DejaVu Sans Light"/>
                  <a:cs typeface="DejaVu Sans Light"/>
                  <a:sym typeface="DejaVu Sans Light"/>
                </a:rPr>
                <a:t>Tài liệu ước tính hơn 80% người lao động/sinh viên cần nhà; thu nhập 10–15 triệu khó mua căn 3–5 tỷ.</a:t>
              </a:r>
            </a:p>
          </p:txBody>
        </p:sp>
      </p:grpSp>
      <p:grpSp>
        <p:nvGrpSpPr>
          <p:cNvPr name="Group 43" id="43"/>
          <p:cNvGrpSpPr/>
          <p:nvPr/>
        </p:nvGrpSpPr>
        <p:grpSpPr>
          <a:xfrm rot="0">
            <a:off x="11343513" y="7036689"/>
            <a:ext cx="6198870" cy="2413254"/>
            <a:chOff x="0" y="0"/>
            <a:chExt cx="8265160" cy="3217672"/>
          </a:xfrm>
        </p:grpSpPr>
        <p:sp>
          <p:nvSpPr>
            <p:cNvPr name="Freeform 44" id="44"/>
            <p:cNvSpPr/>
            <p:nvPr/>
          </p:nvSpPr>
          <p:spPr>
            <a:xfrm flipH="false" flipV="false" rot="0">
              <a:off x="0" y="0"/>
              <a:ext cx="8265160" cy="3217672"/>
            </a:xfrm>
            <a:custGeom>
              <a:avLst/>
              <a:gdLst/>
              <a:ahLst/>
              <a:cxnLst/>
              <a:rect r="r" b="b" t="t" l="l"/>
              <a:pathLst>
                <a:path h="3217672" w="8265160">
                  <a:moveTo>
                    <a:pt x="0" y="128651"/>
                  </a:moveTo>
                  <a:cubicBezTo>
                    <a:pt x="0" y="57658"/>
                    <a:pt x="57658" y="0"/>
                    <a:pt x="128651" y="0"/>
                  </a:cubicBezTo>
                  <a:lnTo>
                    <a:pt x="8136509" y="0"/>
                  </a:lnTo>
                  <a:cubicBezTo>
                    <a:pt x="8207628" y="0"/>
                    <a:pt x="8265160" y="57658"/>
                    <a:pt x="8265160" y="128651"/>
                  </a:cubicBezTo>
                  <a:lnTo>
                    <a:pt x="8265160" y="3089021"/>
                  </a:lnTo>
                  <a:cubicBezTo>
                    <a:pt x="8265160" y="3160141"/>
                    <a:pt x="8207502" y="3217672"/>
                    <a:pt x="8136509" y="3217672"/>
                  </a:cubicBezTo>
                  <a:lnTo>
                    <a:pt x="128651" y="3217672"/>
                  </a:lnTo>
                  <a:cubicBezTo>
                    <a:pt x="57658" y="3217672"/>
                    <a:pt x="0" y="3160014"/>
                    <a:pt x="0" y="3089021"/>
                  </a:cubicBezTo>
                  <a:close/>
                </a:path>
              </a:pathLst>
            </a:custGeom>
            <a:solidFill>
              <a:srgbClr val="FEF2F2"/>
            </a:solidFill>
            <a:ln w="26670" cap="sq">
              <a:solidFill>
                <a:srgbClr val="B91C1C"/>
              </a:solidFill>
              <a:prstDash val="solid"/>
              <a:miter/>
            </a:ln>
          </p:spPr>
        </p:sp>
      </p:grpSp>
      <p:grpSp>
        <p:nvGrpSpPr>
          <p:cNvPr name="Group 45" id="45"/>
          <p:cNvGrpSpPr/>
          <p:nvPr/>
        </p:nvGrpSpPr>
        <p:grpSpPr>
          <a:xfrm rot="0">
            <a:off x="11576304" y="7159752"/>
            <a:ext cx="5760720" cy="2167128"/>
            <a:chOff x="0" y="0"/>
            <a:chExt cx="7680960" cy="2889504"/>
          </a:xfrm>
        </p:grpSpPr>
        <p:sp>
          <p:nvSpPr>
            <p:cNvPr name="Freeform 46" id="46"/>
            <p:cNvSpPr/>
            <p:nvPr/>
          </p:nvSpPr>
          <p:spPr>
            <a:xfrm flipH="false" flipV="false" rot="0">
              <a:off x="0" y="0"/>
              <a:ext cx="7680960" cy="2889504"/>
            </a:xfrm>
            <a:custGeom>
              <a:avLst/>
              <a:gdLst/>
              <a:ahLst/>
              <a:cxnLst/>
              <a:rect r="r" b="b" t="t" l="l"/>
              <a:pathLst>
                <a:path h="2889504" w="7680960">
                  <a:moveTo>
                    <a:pt x="0" y="0"/>
                  </a:moveTo>
                  <a:lnTo>
                    <a:pt x="7680960" y="0"/>
                  </a:lnTo>
                  <a:lnTo>
                    <a:pt x="7680960" y="2889504"/>
                  </a:lnTo>
                  <a:lnTo>
                    <a:pt x="0" y="2889504"/>
                  </a:lnTo>
                  <a:close/>
                </a:path>
              </a:pathLst>
            </a:custGeom>
            <a:blipFill>
              <a:blip r:embed="rId2">
                <a:alphaModFix amt="0"/>
              </a:blip>
              <a:stretch>
                <a:fillRect l="0" t="-1795" r="0" b="-1795"/>
              </a:stretch>
            </a:blipFill>
          </p:spPr>
        </p:sp>
        <p:sp>
          <p:nvSpPr>
            <p:cNvPr name="TextBox 47" id="47"/>
            <p:cNvSpPr txBox="true"/>
            <p:nvPr/>
          </p:nvSpPr>
          <p:spPr>
            <a:xfrm>
              <a:off x="0" y="-19050"/>
              <a:ext cx="7680960" cy="2908554"/>
            </a:xfrm>
            <a:prstGeom prst="rect">
              <a:avLst/>
            </a:prstGeom>
          </p:spPr>
          <p:txBody>
            <a:bodyPr anchor="ctr" rtlCol="false" tIns="0" lIns="0" bIns="0" rIns="0"/>
            <a:lstStyle/>
            <a:p>
              <a:pPr algn="l">
                <a:lnSpc>
                  <a:spcPts val="2700"/>
                </a:lnSpc>
              </a:pPr>
              <a:r>
                <a:rPr lang="en-US" sz="2250" b="true">
                  <a:solidFill>
                    <a:srgbClr val="B91C1C"/>
                  </a:solidFill>
                  <a:latin typeface="DejaVu Sans Bold"/>
                  <a:ea typeface="DejaVu Sans Bold"/>
                  <a:cs typeface="DejaVu Sans Bold"/>
                  <a:sym typeface="DejaVu Sans Bold"/>
                </a:rPr>
                <a:t>3. ĐẤT KHAN HIẾM &amp; NGOẠI ỨNG</a:t>
              </a:r>
            </a:p>
            <a:p>
              <a:pPr algn="l">
                <a:lnSpc>
                  <a:spcPts val="3240"/>
                </a:lnSpc>
              </a:pPr>
              <a:r>
                <a:rPr lang="en-US" sz="2250">
                  <a:solidFill>
                    <a:srgbClr val="1E293B"/>
                  </a:solidFill>
                  <a:latin typeface="DejaVu Sans Light"/>
                  <a:ea typeface="DejaVu Sans Light"/>
                  <a:cs typeface="DejaVu Sans Light"/>
                  <a:sym typeface="DejaVu Sans Light"/>
                </a:rPr>
                <a:t>Đầu cơ, bong bóng và giá đất đẩy chi phí lên, phân hóa giàu nghèo, làm giảm cơ hội an cư và năng suất xã hội.</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7543" cy="137160"/>
            <a:chOff x="0" y="0"/>
            <a:chExt cx="24383390" cy="182880"/>
          </a:xfrm>
        </p:grpSpPr>
        <p:sp>
          <p:nvSpPr>
            <p:cNvPr name="Freeform 3" id="3"/>
            <p:cNvSpPr/>
            <p:nvPr/>
          </p:nvSpPr>
          <p:spPr>
            <a:xfrm flipH="false" flipV="false" rot="0">
              <a:off x="0" y="0"/>
              <a:ext cx="24383364" cy="182880"/>
            </a:xfrm>
            <a:custGeom>
              <a:avLst/>
              <a:gdLst/>
              <a:ahLst/>
              <a:cxnLst/>
              <a:rect r="r" b="b" t="t" l="l"/>
              <a:pathLst>
                <a:path h="182880" w="24383364">
                  <a:moveTo>
                    <a:pt x="0" y="0"/>
                  </a:moveTo>
                  <a:lnTo>
                    <a:pt x="24383364" y="0"/>
                  </a:lnTo>
                  <a:lnTo>
                    <a:pt x="24383364" y="182880"/>
                  </a:lnTo>
                  <a:lnTo>
                    <a:pt x="0" y="182880"/>
                  </a:lnTo>
                  <a:close/>
                </a:path>
              </a:pathLst>
            </a:custGeom>
            <a:solidFill>
              <a:srgbClr val="122645"/>
            </a:solidFill>
          </p:spPr>
        </p:sp>
      </p:grpSp>
      <p:grpSp>
        <p:nvGrpSpPr>
          <p:cNvPr name="Group 4" id="4"/>
          <p:cNvGrpSpPr/>
          <p:nvPr/>
        </p:nvGrpSpPr>
        <p:grpSpPr>
          <a:xfrm rot="0">
            <a:off x="0" y="0"/>
            <a:ext cx="12191695" cy="137160"/>
            <a:chOff x="0" y="0"/>
            <a:chExt cx="16255594" cy="182880"/>
          </a:xfrm>
        </p:grpSpPr>
        <p:sp>
          <p:nvSpPr>
            <p:cNvPr name="Freeform 5" id="5"/>
            <p:cNvSpPr/>
            <p:nvPr/>
          </p:nvSpPr>
          <p:spPr>
            <a:xfrm flipH="false" flipV="false" rot="0">
              <a:off x="0" y="0"/>
              <a:ext cx="16255619" cy="182880"/>
            </a:xfrm>
            <a:custGeom>
              <a:avLst/>
              <a:gdLst/>
              <a:ahLst/>
              <a:cxnLst/>
              <a:rect r="r" b="b" t="t" l="l"/>
              <a:pathLst>
                <a:path h="182880" w="16255619">
                  <a:moveTo>
                    <a:pt x="0" y="0"/>
                  </a:moveTo>
                  <a:lnTo>
                    <a:pt x="16255619" y="0"/>
                  </a:lnTo>
                  <a:lnTo>
                    <a:pt x="16255619" y="182880"/>
                  </a:lnTo>
                  <a:lnTo>
                    <a:pt x="0" y="182880"/>
                  </a:lnTo>
                  <a:close/>
                </a:path>
              </a:pathLst>
            </a:custGeom>
            <a:solidFill>
              <a:srgbClr val="0F766E"/>
            </a:solidFill>
          </p:spPr>
        </p:sp>
      </p:grpSp>
      <p:grpSp>
        <p:nvGrpSpPr>
          <p:cNvPr name="Group 6" id="6"/>
          <p:cNvGrpSpPr/>
          <p:nvPr/>
        </p:nvGrpSpPr>
        <p:grpSpPr>
          <a:xfrm rot="0">
            <a:off x="744855" y="292227"/>
            <a:ext cx="7151370" cy="485394"/>
            <a:chOff x="0" y="0"/>
            <a:chExt cx="9535160" cy="647192"/>
          </a:xfrm>
        </p:grpSpPr>
        <p:sp>
          <p:nvSpPr>
            <p:cNvPr name="Freeform 7" id="7"/>
            <p:cNvSpPr/>
            <p:nvPr/>
          </p:nvSpPr>
          <p:spPr>
            <a:xfrm flipH="false" flipV="false" rot="0">
              <a:off x="0" y="0"/>
              <a:ext cx="9535160" cy="647192"/>
            </a:xfrm>
            <a:custGeom>
              <a:avLst/>
              <a:gdLst/>
              <a:ahLst/>
              <a:cxnLst/>
              <a:rect r="r" b="b" t="t" l="l"/>
              <a:pathLst>
                <a:path h="647192" w="9535160">
                  <a:moveTo>
                    <a:pt x="0" y="25908"/>
                  </a:moveTo>
                  <a:cubicBezTo>
                    <a:pt x="0" y="11557"/>
                    <a:pt x="11557" y="0"/>
                    <a:pt x="25908" y="0"/>
                  </a:cubicBezTo>
                  <a:lnTo>
                    <a:pt x="9509252" y="0"/>
                  </a:lnTo>
                  <a:cubicBezTo>
                    <a:pt x="9523603" y="0"/>
                    <a:pt x="9535160" y="11557"/>
                    <a:pt x="9535160" y="25908"/>
                  </a:cubicBezTo>
                  <a:lnTo>
                    <a:pt x="9535160" y="621284"/>
                  </a:lnTo>
                  <a:cubicBezTo>
                    <a:pt x="9535160" y="635635"/>
                    <a:pt x="9523603" y="647192"/>
                    <a:pt x="9509252" y="647192"/>
                  </a:cubicBezTo>
                  <a:lnTo>
                    <a:pt x="25908" y="647192"/>
                  </a:lnTo>
                  <a:cubicBezTo>
                    <a:pt x="11557" y="647192"/>
                    <a:pt x="0" y="635635"/>
                    <a:pt x="0" y="621284"/>
                  </a:cubicBezTo>
                  <a:close/>
                </a:path>
              </a:pathLst>
            </a:custGeom>
            <a:solidFill>
              <a:srgbClr val="EAF7F5"/>
            </a:solidFill>
            <a:ln w="19050" cap="sq">
              <a:solidFill>
                <a:srgbClr val="0F766E"/>
              </a:solidFill>
              <a:prstDash val="solid"/>
              <a:miter/>
            </a:ln>
          </p:spPr>
        </p:sp>
      </p:grpSp>
      <p:grpSp>
        <p:nvGrpSpPr>
          <p:cNvPr name="Group 8" id="8"/>
          <p:cNvGrpSpPr/>
          <p:nvPr/>
        </p:nvGrpSpPr>
        <p:grpSpPr>
          <a:xfrm rot="0">
            <a:off x="850392" y="301752"/>
            <a:ext cx="6926580" cy="466344"/>
            <a:chOff x="0" y="0"/>
            <a:chExt cx="9235440" cy="621792"/>
          </a:xfrm>
        </p:grpSpPr>
        <p:sp>
          <p:nvSpPr>
            <p:cNvPr name="Freeform 9" id="9"/>
            <p:cNvSpPr/>
            <p:nvPr/>
          </p:nvSpPr>
          <p:spPr>
            <a:xfrm flipH="false" flipV="false" rot="0">
              <a:off x="0" y="0"/>
              <a:ext cx="9235440" cy="621792"/>
            </a:xfrm>
            <a:custGeom>
              <a:avLst/>
              <a:gdLst/>
              <a:ahLst/>
              <a:cxnLst/>
              <a:rect r="r" b="b" t="t" l="l"/>
              <a:pathLst>
                <a:path h="621792" w="9235440">
                  <a:moveTo>
                    <a:pt x="0" y="0"/>
                  </a:moveTo>
                  <a:lnTo>
                    <a:pt x="9235440" y="0"/>
                  </a:lnTo>
                  <a:lnTo>
                    <a:pt x="9235440" y="621792"/>
                  </a:lnTo>
                  <a:lnTo>
                    <a:pt x="0" y="621792"/>
                  </a:lnTo>
                  <a:close/>
                </a:path>
              </a:pathLst>
            </a:custGeom>
            <a:blipFill>
              <a:blip r:embed="rId2">
                <a:alphaModFix amt="0"/>
              </a:blip>
              <a:stretch>
                <a:fillRect l="0" t="-239410" r="0" b="-239410"/>
              </a:stretch>
            </a:blipFill>
          </p:spPr>
        </p:sp>
        <p:sp>
          <p:nvSpPr>
            <p:cNvPr name="TextBox 10" id="10"/>
            <p:cNvSpPr txBox="true"/>
            <p:nvPr/>
          </p:nvSpPr>
          <p:spPr>
            <a:xfrm>
              <a:off x="0" y="-9525"/>
              <a:ext cx="9235440" cy="631317"/>
            </a:xfrm>
            <a:prstGeom prst="rect">
              <a:avLst/>
            </a:prstGeom>
          </p:spPr>
          <p:txBody>
            <a:bodyPr anchor="ctr" rtlCol="false" tIns="0" lIns="0" bIns="0" rIns="0"/>
            <a:lstStyle/>
            <a:p>
              <a:pPr algn="l">
                <a:lnSpc>
                  <a:spcPts val="1889"/>
                </a:lnSpc>
              </a:pPr>
              <a:r>
                <a:rPr lang="en-US" sz="1575" b="true">
                  <a:solidFill>
                    <a:srgbClr val="0F766E"/>
                  </a:solidFill>
                  <a:latin typeface="DejaVu Sans Bold"/>
                  <a:ea typeface="DejaVu Sans Bold"/>
                  <a:cs typeface="DejaVu Sans Bold"/>
                  <a:sym typeface="DejaVu Sans Bold"/>
                </a:rPr>
                <a:t>TRẢ LỜI CÂU HỎI 2 • ĐÒN BẨY KINH TẾ PHÍA CUNG</a:t>
              </a:r>
            </a:p>
          </p:txBody>
        </p:sp>
      </p:grpSp>
      <p:grpSp>
        <p:nvGrpSpPr>
          <p:cNvPr name="Group 11" id="11"/>
          <p:cNvGrpSpPr/>
          <p:nvPr/>
        </p:nvGrpSpPr>
        <p:grpSpPr>
          <a:xfrm rot="0">
            <a:off x="15704820" y="301752"/>
            <a:ext cx="1824228" cy="466344"/>
            <a:chOff x="0" y="0"/>
            <a:chExt cx="2432304" cy="621792"/>
          </a:xfrm>
        </p:grpSpPr>
        <p:sp>
          <p:nvSpPr>
            <p:cNvPr name="Freeform 12" id="12"/>
            <p:cNvSpPr/>
            <p:nvPr/>
          </p:nvSpPr>
          <p:spPr>
            <a:xfrm flipH="false" flipV="false" rot="0">
              <a:off x="0" y="0"/>
              <a:ext cx="2432304" cy="621792"/>
            </a:xfrm>
            <a:custGeom>
              <a:avLst/>
              <a:gdLst/>
              <a:ahLst/>
              <a:cxnLst/>
              <a:rect r="r" b="b" t="t" l="l"/>
              <a:pathLst>
                <a:path h="621792" w="2432304">
                  <a:moveTo>
                    <a:pt x="0" y="24892"/>
                  </a:moveTo>
                  <a:cubicBezTo>
                    <a:pt x="0" y="11176"/>
                    <a:pt x="11176" y="0"/>
                    <a:pt x="24892" y="0"/>
                  </a:cubicBezTo>
                  <a:lnTo>
                    <a:pt x="2407412" y="0"/>
                  </a:lnTo>
                  <a:cubicBezTo>
                    <a:pt x="2421128" y="0"/>
                    <a:pt x="2432304" y="11176"/>
                    <a:pt x="2432304" y="24892"/>
                  </a:cubicBezTo>
                  <a:lnTo>
                    <a:pt x="2432304" y="596900"/>
                  </a:lnTo>
                  <a:cubicBezTo>
                    <a:pt x="2432304" y="610616"/>
                    <a:pt x="2421128" y="621792"/>
                    <a:pt x="2407412" y="621792"/>
                  </a:cubicBezTo>
                  <a:lnTo>
                    <a:pt x="24892" y="621792"/>
                  </a:lnTo>
                  <a:cubicBezTo>
                    <a:pt x="11176" y="621792"/>
                    <a:pt x="0" y="610616"/>
                    <a:pt x="0" y="596900"/>
                  </a:cubicBezTo>
                  <a:close/>
                </a:path>
              </a:pathLst>
            </a:custGeom>
            <a:solidFill>
              <a:srgbClr val="122645"/>
            </a:solidFill>
          </p:spPr>
        </p:sp>
      </p:grpSp>
      <p:grpSp>
        <p:nvGrpSpPr>
          <p:cNvPr name="Group 13" id="13"/>
          <p:cNvGrpSpPr/>
          <p:nvPr/>
        </p:nvGrpSpPr>
        <p:grpSpPr>
          <a:xfrm rot="0">
            <a:off x="15704820" y="301752"/>
            <a:ext cx="1824228" cy="466344"/>
            <a:chOff x="0" y="0"/>
            <a:chExt cx="2432304" cy="621792"/>
          </a:xfrm>
        </p:grpSpPr>
        <p:sp>
          <p:nvSpPr>
            <p:cNvPr name="Freeform 14" id="14"/>
            <p:cNvSpPr/>
            <p:nvPr/>
          </p:nvSpPr>
          <p:spPr>
            <a:xfrm flipH="false" flipV="false" rot="0">
              <a:off x="0" y="0"/>
              <a:ext cx="2432304" cy="621792"/>
            </a:xfrm>
            <a:custGeom>
              <a:avLst/>
              <a:gdLst/>
              <a:ahLst/>
              <a:cxnLst/>
              <a:rect r="r" b="b" t="t" l="l"/>
              <a:pathLst>
                <a:path h="621792" w="2432304">
                  <a:moveTo>
                    <a:pt x="0" y="0"/>
                  </a:moveTo>
                  <a:lnTo>
                    <a:pt x="2432304" y="0"/>
                  </a:lnTo>
                  <a:lnTo>
                    <a:pt x="2432304" y="621792"/>
                  </a:lnTo>
                  <a:lnTo>
                    <a:pt x="0" y="621792"/>
                  </a:lnTo>
                  <a:close/>
                </a:path>
              </a:pathLst>
            </a:custGeom>
            <a:blipFill>
              <a:blip r:embed="rId2">
                <a:alphaModFix amt="0"/>
              </a:blip>
              <a:stretch>
                <a:fillRect l="0" t="-26220" r="0" b="-26220"/>
              </a:stretch>
            </a:blipFill>
          </p:spPr>
        </p:sp>
        <p:sp>
          <p:nvSpPr>
            <p:cNvPr name="TextBox 15" id="15"/>
            <p:cNvSpPr txBox="true"/>
            <p:nvPr/>
          </p:nvSpPr>
          <p:spPr>
            <a:xfrm>
              <a:off x="0" y="-9525"/>
              <a:ext cx="2432304" cy="631317"/>
            </a:xfrm>
            <a:prstGeom prst="rect">
              <a:avLst/>
            </a:prstGeom>
          </p:spPr>
          <p:txBody>
            <a:bodyPr anchor="ctr" rtlCol="false" tIns="0" lIns="0" bIns="0" rIns="0"/>
            <a:lstStyle/>
            <a:p>
              <a:pPr algn="ctr">
                <a:lnSpc>
                  <a:spcPts val="1889"/>
                </a:lnSpc>
              </a:pPr>
              <a:r>
                <a:rPr lang="en-US" sz="1575" b="true">
                  <a:solidFill>
                    <a:srgbClr val="FFFFFF"/>
                  </a:solidFill>
                  <a:latin typeface="DejaVu Sans Bold"/>
                  <a:ea typeface="DejaVu Sans Bold"/>
                  <a:cs typeface="DejaVu Sans Bold"/>
                  <a:sym typeface="DejaVu Sans Bold"/>
                </a:rPr>
                <a:t>Slide 10 / 15</a:t>
              </a:r>
            </a:p>
          </p:txBody>
        </p:sp>
      </p:grpSp>
      <p:grpSp>
        <p:nvGrpSpPr>
          <p:cNvPr name="Group 16" id="16"/>
          <p:cNvGrpSpPr/>
          <p:nvPr/>
        </p:nvGrpSpPr>
        <p:grpSpPr>
          <a:xfrm rot="0">
            <a:off x="754380" y="850392"/>
            <a:ext cx="16774668" cy="740664"/>
            <a:chOff x="0" y="0"/>
            <a:chExt cx="22366224" cy="987552"/>
          </a:xfrm>
        </p:grpSpPr>
        <p:sp>
          <p:nvSpPr>
            <p:cNvPr name="Freeform 17" id="17"/>
            <p:cNvSpPr/>
            <p:nvPr/>
          </p:nvSpPr>
          <p:spPr>
            <a:xfrm flipH="false" flipV="false" rot="0">
              <a:off x="0" y="0"/>
              <a:ext cx="22366224" cy="987552"/>
            </a:xfrm>
            <a:custGeom>
              <a:avLst/>
              <a:gdLst/>
              <a:ahLst/>
              <a:cxnLst/>
              <a:rect r="r" b="b" t="t" l="l"/>
              <a:pathLst>
                <a:path h="987552" w="22366224">
                  <a:moveTo>
                    <a:pt x="0" y="0"/>
                  </a:moveTo>
                  <a:lnTo>
                    <a:pt x="22366224" y="0"/>
                  </a:lnTo>
                  <a:lnTo>
                    <a:pt x="22366224" y="987552"/>
                  </a:lnTo>
                  <a:lnTo>
                    <a:pt x="0" y="987552"/>
                  </a:lnTo>
                  <a:close/>
                </a:path>
              </a:pathLst>
            </a:custGeom>
            <a:blipFill>
              <a:blip r:embed="rId2">
                <a:alphaModFix amt="0"/>
              </a:blip>
              <a:stretch>
                <a:fillRect l="0" t="-391300" r="0" b="-391300"/>
              </a:stretch>
            </a:blipFill>
          </p:spPr>
        </p:sp>
        <p:sp>
          <p:nvSpPr>
            <p:cNvPr name="TextBox 18" id="18"/>
            <p:cNvSpPr txBox="true"/>
            <p:nvPr/>
          </p:nvSpPr>
          <p:spPr>
            <a:xfrm>
              <a:off x="0" y="-9525"/>
              <a:ext cx="22366224" cy="997077"/>
            </a:xfrm>
            <a:prstGeom prst="rect">
              <a:avLst/>
            </a:prstGeom>
          </p:spPr>
          <p:txBody>
            <a:bodyPr anchor="ctr" rtlCol="false" tIns="0" lIns="0" bIns="0" rIns="0"/>
            <a:lstStyle/>
            <a:p>
              <a:pPr algn="l">
                <a:lnSpc>
                  <a:spcPts val="3869"/>
                </a:lnSpc>
              </a:pPr>
              <a:r>
                <a:rPr lang="en-US" sz="3225" b="true">
                  <a:solidFill>
                    <a:srgbClr val="122645"/>
                  </a:solidFill>
                  <a:latin typeface="DejaVu Sans Bold"/>
                  <a:ea typeface="DejaVu Sans Bold"/>
                  <a:cs typeface="DejaVu Sans Bold"/>
                  <a:sym typeface="DejaVu Sans Bold"/>
                </a:rPr>
                <a:t>Công cụ 1 – 2 – 4: Giảm chi phí đầu vào &amp; bù đắp lợi nhuận hợp pháp</a:t>
              </a:r>
            </a:p>
          </p:txBody>
        </p:sp>
      </p:grpSp>
      <p:grpSp>
        <p:nvGrpSpPr>
          <p:cNvPr name="Group 19" id="19"/>
          <p:cNvGrpSpPr/>
          <p:nvPr/>
        </p:nvGrpSpPr>
        <p:grpSpPr>
          <a:xfrm rot="0">
            <a:off x="754380" y="1645920"/>
            <a:ext cx="16774668" cy="41148"/>
            <a:chOff x="0" y="0"/>
            <a:chExt cx="22366224" cy="54864"/>
          </a:xfrm>
        </p:grpSpPr>
        <p:sp>
          <p:nvSpPr>
            <p:cNvPr name="Freeform 20" id="20"/>
            <p:cNvSpPr/>
            <p:nvPr/>
          </p:nvSpPr>
          <p:spPr>
            <a:xfrm flipH="false" flipV="false" rot="0">
              <a:off x="0" y="0"/>
              <a:ext cx="22366224" cy="54864"/>
            </a:xfrm>
            <a:custGeom>
              <a:avLst/>
              <a:gdLst/>
              <a:ahLst/>
              <a:cxnLst/>
              <a:rect r="r" b="b" t="t" l="l"/>
              <a:pathLst>
                <a:path h="54864" w="22366224">
                  <a:moveTo>
                    <a:pt x="0" y="0"/>
                  </a:moveTo>
                  <a:lnTo>
                    <a:pt x="22366224" y="0"/>
                  </a:lnTo>
                  <a:lnTo>
                    <a:pt x="22366224" y="54864"/>
                  </a:lnTo>
                  <a:lnTo>
                    <a:pt x="0" y="54864"/>
                  </a:lnTo>
                  <a:close/>
                </a:path>
              </a:pathLst>
            </a:custGeom>
            <a:solidFill>
              <a:srgbClr val="CBD5E1"/>
            </a:solidFill>
          </p:spPr>
        </p:sp>
      </p:grpSp>
      <p:grpSp>
        <p:nvGrpSpPr>
          <p:cNvPr name="Group 21" id="21"/>
          <p:cNvGrpSpPr/>
          <p:nvPr/>
        </p:nvGrpSpPr>
        <p:grpSpPr>
          <a:xfrm rot="0">
            <a:off x="-7144" y="9662636"/>
            <a:ext cx="18301830" cy="631507"/>
            <a:chOff x="0" y="0"/>
            <a:chExt cx="24402440" cy="842010"/>
          </a:xfrm>
        </p:grpSpPr>
        <p:sp>
          <p:nvSpPr>
            <p:cNvPr name="Freeform 22" id="22"/>
            <p:cNvSpPr/>
            <p:nvPr/>
          </p:nvSpPr>
          <p:spPr>
            <a:xfrm flipH="false" flipV="false" rot="0">
              <a:off x="0" y="0"/>
              <a:ext cx="24402414" cy="842010"/>
            </a:xfrm>
            <a:custGeom>
              <a:avLst/>
              <a:gdLst/>
              <a:ahLst/>
              <a:cxnLst/>
              <a:rect r="r" b="b" t="t" l="l"/>
              <a:pathLst>
                <a:path h="842010" w="24402414">
                  <a:moveTo>
                    <a:pt x="0" y="0"/>
                  </a:moveTo>
                  <a:lnTo>
                    <a:pt x="24402414" y="0"/>
                  </a:lnTo>
                  <a:lnTo>
                    <a:pt x="24402414" y="842010"/>
                  </a:lnTo>
                  <a:lnTo>
                    <a:pt x="0" y="842010"/>
                  </a:lnTo>
                  <a:close/>
                </a:path>
              </a:pathLst>
            </a:custGeom>
            <a:solidFill>
              <a:srgbClr val="FFFFFF"/>
            </a:solidFill>
            <a:ln w="14288" cap="sq">
              <a:solidFill>
                <a:srgbClr val="CBD5E1"/>
              </a:solidFill>
              <a:prstDash val="solid"/>
              <a:miter/>
            </a:ln>
          </p:spPr>
        </p:sp>
      </p:grpSp>
      <p:grpSp>
        <p:nvGrpSpPr>
          <p:cNvPr name="Group 23" id="23"/>
          <p:cNvGrpSpPr/>
          <p:nvPr/>
        </p:nvGrpSpPr>
        <p:grpSpPr>
          <a:xfrm rot="0">
            <a:off x="754380" y="9710928"/>
            <a:ext cx="16774668" cy="493776"/>
            <a:chOff x="0" y="0"/>
            <a:chExt cx="22366224" cy="658368"/>
          </a:xfrm>
        </p:grpSpPr>
        <p:sp>
          <p:nvSpPr>
            <p:cNvPr name="Freeform 24" id="24"/>
            <p:cNvSpPr/>
            <p:nvPr/>
          </p:nvSpPr>
          <p:spPr>
            <a:xfrm flipH="false" flipV="false" rot="0">
              <a:off x="0" y="0"/>
              <a:ext cx="22366224" cy="658368"/>
            </a:xfrm>
            <a:custGeom>
              <a:avLst/>
              <a:gdLst/>
              <a:ahLst/>
              <a:cxnLst/>
              <a:rect r="r" b="b" t="t" l="l"/>
              <a:pathLst>
                <a:path h="658368" w="22366224">
                  <a:moveTo>
                    <a:pt x="0" y="0"/>
                  </a:moveTo>
                  <a:lnTo>
                    <a:pt x="22366224" y="0"/>
                  </a:lnTo>
                  <a:lnTo>
                    <a:pt x="22366224" y="658368"/>
                  </a:lnTo>
                  <a:lnTo>
                    <a:pt x="0" y="658368"/>
                  </a:lnTo>
                  <a:close/>
                </a:path>
              </a:pathLst>
            </a:custGeom>
            <a:blipFill>
              <a:blip r:embed="rId2">
                <a:alphaModFix amt="0"/>
              </a:blip>
              <a:stretch>
                <a:fillRect l="0" t="-611950" r="0" b="-611950"/>
              </a:stretch>
            </a:blipFill>
          </p:spPr>
        </p:sp>
        <p:sp>
          <p:nvSpPr>
            <p:cNvPr name="TextBox 25" id="25"/>
            <p:cNvSpPr txBox="true"/>
            <p:nvPr/>
          </p:nvSpPr>
          <p:spPr>
            <a:xfrm>
              <a:off x="0" y="-9525"/>
              <a:ext cx="22366224" cy="667893"/>
            </a:xfrm>
            <a:prstGeom prst="rect">
              <a:avLst/>
            </a:prstGeom>
          </p:spPr>
          <p:txBody>
            <a:bodyPr anchor="ctr" rtlCol="false" tIns="0" lIns="0" bIns="0" rIns="0"/>
            <a:lstStyle/>
            <a:p>
              <a:pPr algn="l">
                <a:lnSpc>
                  <a:spcPts val="1260"/>
                </a:lnSpc>
              </a:pPr>
              <a:r>
                <a:rPr lang="en-US" sz="1050" i="true">
                  <a:solidFill>
                    <a:srgbClr val="475569"/>
                  </a:solidFill>
                  <a:latin typeface="DejaVu Sans Bold Italics"/>
                  <a:ea typeface="DejaVu Sans Bold Italics"/>
                  <a:cs typeface="DejaVu Sans Bold Italics"/>
                  <a:sym typeface="DejaVu Sans Bold Italics"/>
                </a:rPr>
                <a:t>Nguồn pháp lý: Điều 85 Luật Nhà ở 2023; Luật Thuế GTGT 2024; Luật Thuế TNDN 2025.</a:t>
              </a:r>
            </a:p>
          </p:txBody>
        </p:sp>
      </p:grpSp>
      <p:grpSp>
        <p:nvGrpSpPr>
          <p:cNvPr name="Group 26" id="26"/>
          <p:cNvGrpSpPr/>
          <p:nvPr/>
        </p:nvGrpSpPr>
        <p:grpSpPr>
          <a:xfrm rot="0">
            <a:off x="754380" y="1975104"/>
            <a:ext cx="2221992" cy="2249424"/>
            <a:chOff x="0" y="0"/>
            <a:chExt cx="2962656" cy="2999232"/>
          </a:xfrm>
        </p:grpSpPr>
        <p:sp>
          <p:nvSpPr>
            <p:cNvPr name="Freeform 27" id="27"/>
            <p:cNvSpPr/>
            <p:nvPr/>
          </p:nvSpPr>
          <p:spPr>
            <a:xfrm flipH="false" flipV="false" rot="0">
              <a:off x="0" y="0"/>
              <a:ext cx="2962656" cy="2999232"/>
            </a:xfrm>
            <a:custGeom>
              <a:avLst/>
              <a:gdLst/>
              <a:ahLst/>
              <a:cxnLst/>
              <a:rect r="r" b="b" t="t" l="l"/>
              <a:pathLst>
                <a:path h="2999232" w="2962656">
                  <a:moveTo>
                    <a:pt x="0" y="118491"/>
                  </a:moveTo>
                  <a:cubicBezTo>
                    <a:pt x="0" y="53086"/>
                    <a:pt x="53086" y="0"/>
                    <a:pt x="118491" y="0"/>
                  </a:cubicBezTo>
                  <a:lnTo>
                    <a:pt x="2844165" y="0"/>
                  </a:lnTo>
                  <a:cubicBezTo>
                    <a:pt x="2909570" y="0"/>
                    <a:pt x="2962656" y="53086"/>
                    <a:pt x="2962656" y="118491"/>
                  </a:cubicBezTo>
                  <a:lnTo>
                    <a:pt x="2962656" y="2880741"/>
                  </a:lnTo>
                  <a:cubicBezTo>
                    <a:pt x="2962656" y="2946146"/>
                    <a:pt x="2909570" y="2999232"/>
                    <a:pt x="2844165" y="2999232"/>
                  </a:cubicBezTo>
                  <a:lnTo>
                    <a:pt x="118491" y="2999232"/>
                  </a:lnTo>
                  <a:cubicBezTo>
                    <a:pt x="53086" y="2999232"/>
                    <a:pt x="0" y="2946146"/>
                    <a:pt x="0" y="2880741"/>
                  </a:cubicBezTo>
                  <a:close/>
                </a:path>
              </a:pathLst>
            </a:custGeom>
            <a:solidFill>
              <a:srgbClr val="0F766E"/>
            </a:solidFill>
          </p:spPr>
        </p:sp>
      </p:grpSp>
      <p:grpSp>
        <p:nvGrpSpPr>
          <p:cNvPr name="Group 28" id="28"/>
          <p:cNvGrpSpPr/>
          <p:nvPr/>
        </p:nvGrpSpPr>
        <p:grpSpPr>
          <a:xfrm rot="0">
            <a:off x="754380" y="1975104"/>
            <a:ext cx="2221992" cy="2249424"/>
            <a:chOff x="0" y="0"/>
            <a:chExt cx="2962656" cy="2999232"/>
          </a:xfrm>
        </p:grpSpPr>
        <p:sp>
          <p:nvSpPr>
            <p:cNvPr name="Freeform 29" id="29"/>
            <p:cNvSpPr/>
            <p:nvPr/>
          </p:nvSpPr>
          <p:spPr>
            <a:xfrm flipH="false" flipV="false" rot="0">
              <a:off x="0" y="0"/>
              <a:ext cx="2962656" cy="2999232"/>
            </a:xfrm>
            <a:custGeom>
              <a:avLst/>
              <a:gdLst/>
              <a:ahLst/>
              <a:cxnLst/>
              <a:rect r="r" b="b" t="t" l="l"/>
              <a:pathLst>
                <a:path h="2999232" w="2962656">
                  <a:moveTo>
                    <a:pt x="0" y="0"/>
                  </a:moveTo>
                  <a:lnTo>
                    <a:pt x="2962656" y="0"/>
                  </a:lnTo>
                  <a:lnTo>
                    <a:pt x="2962656" y="2999232"/>
                  </a:lnTo>
                  <a:lnTo>
                    <a:pt x="0" y="2999232"/>
                  </a:lnTo>
                  <a:close/>
                </a:path>
              </a:pathLst>
            </a:custGeom>
            <a:blipFill>
              <a:blip r:embed="rId2">
                <a:alphaModFix amt="0"/>
              </a:blip>
              <a:stretch>
                <a:fillRect l="-79887" t="0" r="-79887" b="0"/>
              </a:stretch>
            </a:blipFill>
          </p:spPr>
        </p:sp>
        <p:sp>
          <p:nvSpPr>
            <p:cNvPr name="TextBox 30" id="30"/>
            <p:cNvSpPr txBox="true"/>
            <p:nvPr/>
          </p:nvSpPr>
          <p:spPr>
            <a:xfrm>
              <a:off x="0" y="-19050"/>
              <a:ext cx="2962656" cy="3018282"/>
            </a:xfrm>
            <a:prstGeom prst="rect">
              <a:avLst/>
            </a:prstGeom>
          </p:spPr>
          <p:txBody>
            <a:bodyPr anchor="ctr" rtlCol="false" tIns="0" lIns="0" bIns="0" rIns="0"/>
            <a:lstStyle/>
            <a:p>
              <a:pPr algn="ctr">
                <a:lnSpc>
                  <a:spcPts val="2700"/>
                </a:lnSpc>
              </a:pPr>
              <a:r>
                <a:rPr lang="en-US" sz="2250" b="true">
                  <a:solidFill>
                    <a:srgbClr val="FFFFFF"/>
                  </a:solidFill>
                  <a:latin typeface="DejaVu Sans Bold"/>
                  <a:ea typeface="DejaVu Sans Bold"/>
                  <a:cs typeface="DejaVu Sans Bold"/>
                  <a:sym typeface="DejaVu Sans Bold"/>
                </a:rPr>
                <a:t>MIỄN</a:t>
              </a:r>
            </a:p>
            <a:p>
              <a:pPr algn="ctr">
                <a:lnSpc>
                  <a:spcPts val="2700"/>
                </a:lnSpc>
              </a:pPr>
              <a:r>
                <a:rPr lang="en-US" sz="2250" b="true">
                  <a:solidFill>
                    <a:srgbClr val="FFFFFF"/>
                  </a:solidFill>
                  <a:latin typeface="DejaVu Sans Bold"/>
                  <a:ea typeface="DejaVu Sans Bold"/>
                  <a:cs typeface="DejaVu Sans Bold"/>
                  <a:sym typeface="DejaVu Sans Bold"/>
                </a:rPr>
                <a:t>TIỀN ĐẤT</a:t>
              </a:r>
            </a:p>
          </p:txBody>
        </p:sp>
      </p:grpSp>
      <p:grpSp>
        <p:nvGrpSpPr>
          <p:cNvPr name="Group 31" id="31"/>
          <p:cNvGrpSpPr/>
          <p:nvPr/>
        </p:nvGrpSpPr>
        <p:grpSpPr>
          <a:xfrm rot="0">
            <a:off x="3114866" y="1962722"/>
            <a:ext cx="7458837" cy="2274189"/>
            <a:chOff x="0" y="0"/>
            <a:chExt cx="9945116" cy="3032252"/>
          </a:xfrm>
        </p:grpSpPr>
        <p:sp>
          <p:nvSpPr>
            <p:cNvPr name="Freeform 32" id="32"/>
            <p:cNvSpPr/>
            <p:nvPr/>
          </p:nvSpPr>
          <p:spPr>
            <a:xfrm flipH="false" flipV="false" rot="0">
              <a:off x="0" y="0"/>
              <a:ext cx="9945116" cy="3032252"/>
            </a:xfrm>
            <a:custGeom>
              <a:avLst/>
              <a:gdLst/>
              <a:ahLst/>
              <a:cxnLst/>
              <a:rect r="r" b="b" t="t" l="l"/>
              <a:pathLst>
                <a:path h="3032252" w="9945116">
                  <a:moveTo>
                    <a:pt x="0" y="121285"/>
                  </a:moveTo>
                  <a:cubicBezTo>
                    <a:pt x="0" y="54356"/>
                    <a:pt x="54356" y="0"/>
                    <a:pt x="121285" y="0"/>
                  </a:cubicBezTo>
                  <a:lnTo>
                    <a:pt x="9823831" y="0"/>
                  </a:lnTo>
                  <a:cubicBezTo>
                    <a:pt x="9890761" y="0"/>
                    <a:pt x="9945116" y="54356"/>
                    <a:pt x="9945116" y="121285"/>
                  </a:cubicBezTo>
                  <a:lnTo>
                    <a:pt x="9945116" y="2910967"/>
                  </a:lnTo>
                  <a:cubicBezTo>
                    <a:pt x="9945116" y="2977896"/>
                    <a:pt x="9890761" y="3032252"/>
                    <a:pt x="9823831" y="3032252"/>
                  </a:cubicBezTo>
                  <a:lnTo>
                    <a:pt x="121285" y="3032252"/>
                  </a:lnTo>
                  <a:cubicBezTo>
                    <a:pt x="54356" y="3032252"/>
                    <a:pt x="0" y="2977896"/>
                    <a:pt x="0" y="2910967"/>
                  </a:cubicBezTo>
                  <a:close/>
                </a:path>
              </a:pathLst>
            </a:custGeom>
            <a:solidFill>
              <a:srgbClr val="FFFFFF"/>
            </a:solidFill>
            <a:ln w="24765" cap="sq">
              <a:solidFill>
                <a:srgbClr val="0F766E"/>
              </a:solidFill>
              <a:prstDash val="solid"/>
              <a:miter/>
            </a:ln>
          </p:spPr>
        </p:sp>
      </p:grpSp>
      <p:grpSp>
        <p:nvGrpSpPr>
          <p:cNvPr name="Group 33" id="33"/>
          <p:cNvGrpSpPr/>
          <p:nvPr/>
        </p:nvGrpSpPr>
        <p:grpSpPr>
          <a:xfrm rot="0">
            <a:off x="3346704" y="2057400"/>
            <a:ext cx="7022592" cy="2084832"/>
            <a:chOff x="0" y="0"/>
            <a:chExt cx="9363456" cy="2779776"/>
          </a:xfrm>
        </p:grpSpPr>
        <p:sp>
          <p:nvSpPr>
            <p:cNvPr name="Freeform 34" id="34"/>
            <p:cNvSpPr/>
            <p:nvPr/>
          </p:nvSpPr>
          <p:spPr>
            <a:xfrm flipH="false" flipV="false" rot="0">
              <a:off x="0" y="0"/>
              <a:ext cx="9363456" cy="2779776"/>
            </a:xfrm>
            <a:custGeom>
              <a:avLst/>
              <a:gdLst/>
              <a:ahLst/>
              <a:cxnLst/>
              <a:rect r="r" b="b" t="t" l="l"/>
              <a:pathLst>
                <a:path h="2779776" w="9363456">
                  <a:moveTo>
                    <a:pt x="0" y="0"/>
                  </a:moveTo>
                  <a:lnTo>
                    <a:pt x="9363456" y="0"/>
                  </a:lnTo>
                  <a:lnTo>
                    <a:pt x="9363456" y="2779776"/>
                  </a:lnTo>
                  <a:lnTo>
                    <a:pt x="0" y="2779776"/>
                  </a:lnTo>
                  <a:close/>
                </a:path>
              </a:pathLst>
            </a:custGeom>
            <a:blipFill>
              <a:blip r:embed="rId2">
                <a:alphaModFix amt="0"/>
              </a:blip>
              <a:stretch>
                <a:fillRect l="0" t="-15633" r="0" b="-15633"/>
              </a:stretch>
            </a:blipFill>
          </p:spPr>
        </p:sp>
        <p:sp>
          <p:nvSpPr>
            <p:cNvPr name="TextBox 35" id="35"/>
            <p:cNvSpPr txBox="true"/>
            <p:nvPr/>
          </p:nvSpPr>
          <p:spPr>
            <a:xfrm>
              <a:off x="0" y="-19050"/>
              <a:ext cx="9363456" cy="2798826"/>
            </a:xfrm>
            <a:prstGeom prst="rect">
              <a:avLst/>
            </a:prstGeom>
          </p:spPr>
          <p:txBody>
            <a:bodyPr anchor="ctr" rtlCol="false" tIns="0" lIns="0" bIns="0" rIns="0"/>
            <a:lstStyle/>
            <a:p>
              <a:pPr algn="l">
                <a:lnSpc>
                  <a:spcPts val="2520"/>
                </a:lnSpc>
              </a:pPr>
              <a:r>
                <a:rPr lang="en-US" sz="2100" b="true">
                  <a:solidFill>
                    <a:srgbClr val="0F766E"/>
                  </a:solidFill>
                  <a:latin typeface="DejaVu Sans Bold"/>
                  <a:ea typeface="DejaVu Sans Bold"/>
                  <a:cs typeface="DejaVu Sans Bold"/>
                  <a:sym typeface="DejaVu Sans Bold"/>
                </a:rPr>
                <a:t>1. Đất đai &amp; Hạ tầng (Điều 85 Luật Nhà ở 2023)</a:t>
              </a:r>
            </a:p>
            <a:p>
              <a:pPr algn="l">
                <a:lnSpc>
                  <a:spcPts val="2520"/>
                </a:lnSpc>
              </a:pPr>
              <a:r>
                <a:rPr lang="en-US" sz="2100">
                  <a:solidFill>
                    <a:srgbClr val="1E293B"/>
                  </a:solidFill>
                  <a:latin typeface="DejaVu Sans Light"/>
                  <a:ea typeface="DejaVu Sans Light"/>
                  <a:cs typeface="DejaVu Sans Light"/>
                  <a:sym typeface="DejaVu Sans Light"/>
                </a:rPr>
                <a:t>Miễn tiền sử dụng đất, tiền thuê đất (không phải làm thủ tục tính giá đất); chủ đầu tư có thể được hỗ trợ kết nối hạ tầng kỹ thuật theo quy định và điều kiện cụ thể.</a:t>
              </a:r>
            </a:p>
          </p:txBody>
        </p:sp>
      </p:grpSp>
      <p:grpSp>
        <p:nvGrpSpPr>
          <p:cNvPr name="Group 36" id="36"/>
          <p:cNvGrpSpPr/>
          <p:nvPr/>
        </p:nvGrpSpPr>
        <p:grpSpPr>
          <a:xfrm rot="0">
            <a:off x="754380" y="4498848"/>
            <a:ext cx="2221992" cy="2249424"/>
            <a:chOff x="0" y="0"/>
            <a:chExt cx="2962656" cy="2999232"/>
          </a:xfrm>
        </p:grpSpPr>
        <p:sp>
          <p:nvSpPr>
            <p:cNvPr name="Freeform 37" id="37"/>
            <p:cNvSpPr/>
            <p:nvPr/>
          </p:nvSpPr>
          <p:spPr>
            <a:xfrm flipH="false" flipV="false" rot="0">
              <a:off x="0" y="0"/>
              <a:ext cx="2962656" cy="2999232"/>
            </a:xfrm>
            <a:custGeom>
              <a:avLst/>
              <a:gdLst/>
              <a:ahLst/>
              <a:cxnLst/>
              <a:rect r="r" b="b" t="t" l="l"/>
              <a:pathLst>
                <a:path h="2999232" w="2962656">
                  <a:moveTo>
                    <a:pt x="0" y="118491"/>
                  </a:moveTo>
                  <a:cubicBezTo>
                    <a:pt x="0" y="53086"/>
                    <a:pt x="53086" y="0"/>
                    <a:pt x="118491" y="0"/>
                  </a:cubicBezTo>
                  <a:lnTo>
                    <a:pt x="2844165" y="0"/>
                  </a:lnTo>
                  <a:cubicBezTo>
                    <a:pt x="2909570" y="0"/>
                    <a:pt x="2962656" y="53086"/>
                    <a:pt x="2962656" y="118491"/>
                  </a:cubicBezTo>
                  <a:lnTo>
                    <a:pt x="2962656" y="2880741"/>
                  </a:lnTo>
                  <a:cubicBezTo>
                    <a:pt x="2962656" y="2946146"/>
                    <a:pt x="2909570" y="2999232"/>
                    <a:pt x="2844165" y="2999232"/>
                  </a:cubicBezTo>
                  <a:lnTo>
                    <a:pt x="118491" y="2999232"/>
                  </a:lnTo>
                  <a:cubicBezTo>
                    <a:pt x="53086" y="2999232"/>
                    <a:pt x="0" y="2946146"/>
                    <a:pt x="0" y="2880741"/>
                  </a:cubicBezTo>
                  <a:close/>
                </a:path>
              </a:pathLst>
            </a:custGeom>
            <a:solidFill>
              <a:srgbClr val="0369A1"/>
            </a:solidFill>
          </p:spPr>
        </p:sp>
      </p:grpSp>
      <p:grpSp>
        <p:nvGrpSpPr>
          <p:cNvPr name="Group 38" id="38"/>
          <p:cNvGrpSpPr/>
          <p:nvPr/>
        </p:nvGrpSpPr>
        <p:grpSpPr>
          <a:xfrm rot="0">
            <a:off x="754380" y="4498848"/>
            <a:ext cx="2221992" cy="2249424"/>
            <a:chOff x="0" y="0"/>
            <a:chExt cx="2962656" cy="2999232"/>
          </a:xfrm>
        </p:grpSpPr>
        <p:sp>
          <p:nvSpPr>
            <p:cNvPr name="Freeform 39" id="39"/>
            <p:cNvSpPr/>
            <p:nvPr/>
          </p:nvSpPr>
          <p:spPr>
            <a:xfrm flipH="false" flipV="false" rot="0">
              <a:off x="0" y="0"/>
              <a:ext cx="2962656" cy="2999232"/>
            </a:xfrm>
            <a:custGeom>
              <a:avLst/>
              <a:gdLst/>
              <a:ahLst/>
              <a:cxnLst/>
              <a:rect r="r" b="b" t="t" l="l"/>
              <a:pathLst>
                <a:path h="2999232" w="2962656">
                  <a:moveTo>
                    <a:pt x="0" y="0"/>
                  </a:moveTo>
                  <a:lnTo>
                    <a:pt x="2962656" y="0"/>
                  </a:lnTo>
                  <a:lnTo>
                    <a:pt x="2962656" y="2999232"/>
                  </a:lnTo>
                  <a:lnTo>
                    <a:pt x="0" y="2999232"/>
                  </a:lnTo>
                  <a:close/>
                </a:path>
              </a:pathLst>
            </a:custGeom>
            <a:blipFill>
              <a:blip r:embed="rId2">
                <a:alphaModFix amt="0"/>
              </a:blip>
              <a:stretch>
                <a:fillRect l="-79887" t="0" r="-79887" b="0"/>
              </a:stretch>
            </a:blipFill>
          </p:spPr>
        </p:sp>
        <p:sp>
          <p:nvSpPr>
            <p:cNvPr name="TextBox 40" id="40"/>
            <p:cNvSpPr txBox="true"/>
            <p:nvPr/>
          </p:nvSpPr>
          <p:spPr>
            <a:xfrm>
              <a:off x="0" y="-19050"/>
              <a:ext cx="2962656" cy="3018282"/>
            </a:xfrm>
            <a:prstGeom prst="rect">
              <a:avLst/>
            </a:prstGeom>
          </p:spPr>
          <p:txBody>
            <a:bodyPr anchor="ctr" rtlCol="false" tIns="0" lIns="0" bIns="0" rIns="0"/>
            <a:lstStyle/>
            <a:p>
              <a:pPr algn="ctr">
                <a:lnSpc>
                  <a:spcPts val="2700"/>
                </a:lnSpc>
              </a:pPr>
              <a:r>
                <a:rPr lang="en-US" sz="2250" b="true">
                  <a:solidFill>
                    <a:srgbClr val="FFFFFF"/>
                  </a:solidFill>
                  <a:latin typeface="DejaVu Sans Bold"/>
                  <a:ea typeface="DejaVu Sans Bold"/>
                  <a:cs typeface="DejaVu Sans Bold"/>
                  <a:sym typeface="DejaVu Sans Bold"/>
                </a:rPr>
                <a:t>5% GTGT</a:t>
              </a:r>
            </a:p>
            <a:p>
              <a:pPr algn="ctr">
                <a:lnSpc>
                  <a:spcPts val="2700"/>
                </a:lnSpc>
              </a:pPr>
              <a:r>
                <a:rPr lang="en-US" sz="2250" b="true">
                  <a:solidFill>
                    <a:srgbClr val="FFFFFF"/>
                  </a:solidFill>
                  <a:latin typeface="DejaVu Sans Bold"/>
                  <a:ea typeface="DejaVu Sans Bold"/>
                  <a:cs typeface="DejaVu Sans Bold"/>
                  <a:sym typeface="DejaVu Sans Bold"/>
                </a:rPr>
                <a:t>10% TNDN</a:t>
              </a:r>
            </a:p>
          </p:txBody>
        </p:sp>
      </p:grpSp>
      <p:grpSp>
        <p:nvGrpSpPr>
          <p:cNvPr name="Group 41" id="41"/>
          <p:cNvGrpSpPr/>
          <p:nvPr/>
        </p:nvGrpSpPr>
        <p:grpSpPr>
          <a:xfrm rot="0">
            <a:off x="3114866" y="4486466"/>
            <a:ext cx="7458837" cy="2274189"/>
            <a:chOff x="0" y="0"/>
            <a:chExt cx="9945116" cy="3032252"/>
          </a:xfrm>
        </p:grpSpPr>
        <p:sp>
          <p:nvSpPr>
            <p:cNvPr name="Freeform 42" id="42"/>
            <p:cNvSpPr/>
            <p:nvPr/>
          </p:nvSpPr>
          <p:spPr>
            <a:xfrm flipH="false" flipV="false" rot="0">
              <a:off x="0" y="0"/>
              <a:ext cx="9945116" cy="3032252"/>
            </a:xfrm>
            <a:custGeom>
              <a:avLst/>
              <a:gdLst/>
              <a:ahLst/>
              <a:cxnLst/>
              <a:rect r="r" b="b" t="t" l="l"/>
              <a:pathLst>
                <a:path h="3032252" w="9945116">
                  <a:moveTo>
                    <a:pt x="0" y="121285"/>
                  </a:moveTo>
                  <a:cubicBezTo>
                    <a:pt x="0" y="54356"/>
                    <a:pt x="54356" y="0"/>
                    <a:pt x="121285" y="0"/>
                  </a:cubicBezTo>
                  <a:lnTo>
                    <a:pt x="9823831" y="0"/>
                  </a:lnTo>
                  <a:cubicBezTo>
                    <a:pt x="9890761" y="0"/>
                    <a:pt x="9945116" y="54356"/>
                    <a:pt x="9945116" y="121285"/>
                  </a:cubicBezTo>
                  <a:lnTo>
                    <a:pt x="9945116" y="2910967"/>
                  </a:lnTo>
                  <a:cubicBezTo>
                    <a:pt x="9945116" y="2977896"/>
                    <a:pt x="9890761" y="3032252"/>
                    <a:pt x="9823831" y="3032252"/>
                  </a:cubicBezTo>
                  <a:lnTo>
                    <a:pt x="121285" y="3032252"/>
                  </a:lnTo>
                  <a:cubicBezTo>
                    <a:pt x="54356" y="3032252"/>
                    <a:pt x="0" y="2977896"/>
                    <a:pt x="0" y="2910967"/>
                  </a:cubicBezTo>
                  <a:close/>
                </a:path>
              </a:pathLst>
            </a:custGeom>
            <a:solidFill>
              <a:srgbClr val="FFFFFF"/>
            </a:solidFill>
            <a:ln w="24765" cap="sq">
              <a:solidFill>
                <a:srgbClr val="0369A1"/>
              </a:solidFill>
              <a:prstDash val="solid"/>
              <a:miter/>
            </a:ln>
          </p:spPr>
        </p:sp>
      </p:grpSp>
      <p:grpSp>
        <p:nvGrpSpPr>
          <p:cNvPr name="Group 43" id="43"/>
          <p:cNvGrpSpPr/>
          <p:nvPr/>
        </p:nvGrpSpPr>
        <p:grpSpPr>
          <a:xfrm rot="0">
            <a:off x="3346704" y="4581144"/>
            <a:ext cx="7022592" cy="2084832"/>
            <a:chOff x="0" y="0"/>
            <a:chExt cx="9363456" cy="2779776"/>
          </a:xfrm>
        </p:grpSpPr>
        <p:sp>
          <p:nvSpPr>
            <p:cNvPr name="Freeform 44" id="44"/>
            <p:cNvSpPr/>
            <p:nvPr/>
          </p:nvSpPr>
          <p:spPr>
            <a:xfrm flipH="false" flipV="false" rot="0">
              <a:off x="0" y="0"/>
              <a:ext cx="9363456" cy="2779776"/>
            </a:xfrm>
            <a:custGeom>
              <a:avLst/>
              <a:gdLst/>
              <a:ahLst/>
              <a:cxnLst/>
              <a:rect r="r" b="b" t="t" l="l"/>
              <a:pathLst>
                <a:path h="2779776" w="9363456">
                  <a:moveTo>
                    <a:pt x="0" y="0"/>
                  </a:moveTo>
                  <a:lnTo>
                    <a:pt x="9363456" y="0"/>
                  </a:lnTo>
                  <a:lnTo>
                    <a:pt x="9363456" y="2779776"/>
                  </a:lnTo>
                  <a:lnTo>
                    <a:pt x="0" y="2779776"/>
                  </a:lnTo>
                  <a:close/>
                </a:path>
              </a:pathLst>
            </a:custGeom>
            <a:blipFill>
              <a:blip r:embed="rId2">
                <a:alphaModFix amt="0"/>
              </a:blip>
              <a:stretch>
                <a:fillRect l="0" t="-15633" r="0" b="-15633"/>
              </a:stretch>
            </a:blipFill>
          </p:spPr>
        </p:sp>
        <p:sp>
          <p:nvSpPr>
            <p:cNvPr name="TextBox 45" id="45"/>
            <p:cNvSpPr txBox="true"/>
            <p:nvPr/>
          </p:nvSpPr>
          <p:spPr>
            <a:xfrm>
              <a:off x="0" y="-19050"/>
              <a:ext cx="9363456" cy="2798826"/>
            </a:xfrm>
            <a:prstGeom prst="rect">
              <a:avLst/>
            </a:prstGeom>
          </p:spPr>
          <p:txBody>
            <a:bodyPr anchor="ctr" rtlCol="false" tIns="0" lIns="0" bIns="0" rIns="0"/>
            <a:lstStyle/>
            <a:p>
              <a:pPr algn="l">
                <a:lnSpc>
                  <a:spcPts val="2520"/>
                </a:lnSpc>
              </a:pPr>
              <a:r>
                <a:rPr lang="en-US" sz="2100" b="true">
                  <a:solidFill>
                    <a:srgbClr val="0369A1"/>
                  </a:solidFill>
                  <a:latin typeface="DejaVu Sans Bold"/>
                  <a:ea typeface="DejaVu Sans Bold"/>
                  <a:cs typeface="DejaVu Sans Bold"/>
                  <a:sym typeface="DejaVu Sans Bold"/>
                </a:rPr>
                <a:t>2. Ưu đãi Thuế đúng phạm vi (Luật Thuế 2024 – 2025)</a:t>
              </a:r>
            </a:p>
            <a:p>
              <a:pPr algn="l">
                <a:lnSpc>
                  <a:spcPts val="3074"/>
                </a:lnSpc>
              </a:pPr>
              <a:r>
                <a:rPr lang="en-US" sz="2100">
                  <a:solidFill>
                    <a:srgbClr val="1E293B"/>
                  </a:solidFill>
                  <a:latin typeface="DejaVu Sans Light"/>
                  <a:ea typeface="DejaVu Sans Light"/>
                  <a:cs typeface="DejaVu Sans Light"/>
                  <a:sym typeface="DejaVu Sans Light"/>
                </a:rPr>
                <a:t>Áp thuế GTGT 5% đối với bán, cho thuê, cho thuê mua NOXH; áp thuế suất TNDN ưu đãi 10% đối với phần thu nhập từ đầu tư NOXH đủ điều kiện.</a:t>
              </a:r>
            </a:p>
          </p:txBody>
        </p:sp>
      </p:grpSp>
      <p:grpSp>
        <p:nvGrpSpPr>
          <p:cNvPr name="Group 46" id="46"/>
          <p:cNvGrpSpPr/>
          <p:nvPr/>
        </p:nvGrpSpPr>
        <p:grpSpPr>
          <a:xfrm rot="0">
            <a:off x="754380" y="7022592"/>
            <a:ext cx="2221992" cy="2249424"/>
            <a:chOff x="0" y="0"/>
            <a:chExt cx="2962656" cy="2999232"/>
          </a:xfrm>
        </p:grpSpPr>
        <p:sp>
          <p:nvSpPr>
            <p:cNvPr name="Freeform 47" id="47"/>
            <p:cNvSpPr/>
            <p:nvPr/>
          </p:nvSpPr>
          <p:spPr>
            <a:xfrm flipH="false" flipV="false" rot="0">
              <a:off x="0" y="0"/>
              <a:ext cx="2962656" cy="2999232"/>
            </a:xfrm>
            <a:custGeom>
              <a:avLst/>
              <a:gdLst/>
              <a:ahLst/>
              <a:cxnLst/>
              <a:rect r="r" b="b" t="t" l="l"/>
              <a:pathLst>
                <a:path h="2999232" w="2962656">
                  <a:moveTo>
                    <a:pt x="0" y="118491"/>
                  </a:moveTo>
                  <a:cubicBezTo>
                    <a:pt x="0" y="53086"/>
                    <a:pt x="53086" y="0"/>
                    <a:pt x="118491" y="0"/>
                  </a:cubicBezTo>
                  <a:lnTo>
                    <a:pt x="2844165" y="0"/>
                  </a:lnTo>
                  <a:cubicBezTo>
                    <a:pt x="2909570" y="0"/>
                    <a:pt x="2962656" y="53086"/>
                    <a:pt x="2962656" y="118491"/>
                  </a:cubicBezTo>
                  <a:lnTo>
                    <a:pt x="2962656" y="2880741"/>
                  </a:lnTo>
                  <a:cubicBezTo>
                    <a:pt x="2962656" y="2946146"/>
                    <a:pt x="2909570" y="2999232"/>
                    <a:pt x="2844165" y="2999232"/>
                  </a:cubicBezTo>
                  <a:lnTo>
                    <a:pt x="118491" y="2999232"/>
                  </a:lnTo>
                  <a:cubicBezTo>
                    <a:pt x="53086" y="2999232"/>
                    <a:pt x="0" y="2946146"/>
                    <a:pt x="0" y="2880741"/>
                  </a:cubicBezTo>
                  <a:close/>
                </a:path>
              </a:pathLst>
            </a:custGeom>
            <a:solidFill>
              <a:srgbClr val="C25915"/>
            </a:solidFill>
          </p:spPr>
        </p:sp>
      </p:grpSp>
      <p:grpSp>
        <p:nvGrpSpPr>
          <p:cNvPr name="Group 48" id="48"/>
          <p:cNvGrpSpPr/>
          <p:nvPr/>
        </p:nvGrpSpPr>
        <p:grpSpPr>
          <a:xfrm rot="0">
            <a:off x="754380" y="7022592"/>
            <a:ext cx="2221992" cy="2249424"/>
            <a:chOff x="0" y="0"/>
            <a:chExt cx="2962656" cy="2999232"/>
          </a:xfrm>
        </p:grpSpPr>
        <p:sp>
          <p:nvSpPr>
            <p:cNvPr name="Freeform 49" id="49"/>
            <p:cNvSpPr/>
            <p:nvPr/>
          </p:nvSpPr>
          <p:spPr>
            <a:xfrm flipH="false" flipV="false" rot="0">
              <a:off x="0" y="0"/>
              <a:ext cx="2962656" cy="2999232"/>
            </a:xfrm>
            <a:custGeom>
              <a:avLst/>
              <a:gdLst/>
              <a:ahLst/>
              <a:cxnLst/>
              <a:rect r="r" b="b" t="t" l="l"/>
              <a:pathLst>
                <a:path h="2999232" w="2962656">
                  <a:moveTo>
                    <a:pt x="0" y="0"/>
                  </a:moveTo>
                  <a:lnTo>
                    <a:pt x="2962656" y="0"/>
                  </a:lnTo>
                  <a:lnTo>
                    <a:pt x="2962656" y="2999232"/>
                  </a:lnTo>
                  <a:lnTo>
                    <a:pt x="0" y="2999232"/>
                  </a:lnTo>
                  <a:close/>
                </a:path>
              </a:pathLst>
            </a:custGeom>
            <a:blipFill>
              <a:blip r:embed="rId2">
                <a:alphaModFix amt="0"/>
              </a:blip>
              <a:stretch>
                <a:fillRect l="-79887" t="0" r="-79887" b="0"/>
              </a:stretch>
            </a:blipFill>
          </p:spPr>
        </p:sp>
        <p:sp>
          <p:nvSpPr>
            <p:cNvPr name="TextBox 50" id="50"/>
            <p:cNvSpPr txBox="true"/>
            <p:nvPr/>
          </p:nvSpPr>
          <p:spPr>
            <a:xfrm>
              <a:off x="0" y="-19050"/>
              <a:ext cx="2962656" cy="3018282"/>
            </a:xfrm>
            <a:prstGeom prst="rect">
              <a:avLst/>
            </a:prstGeom>
          </p:spPr>
          <p:txBody>
            <a:bodyPr anchor="ctr" rtlCol="false" tIns="0" lIns="0" bIns="0" rIns="0"/>
            <a:lstStyle/>
            <a:p>
              <a:pPr algn="ctr">
                <a:lnSpc>
                  <a:spcPts val="2700"/>
                </a:lnSpc>
              </a:pPr>
              <a:r>
                <a:rPr lang="en-US" sz="2250" b="true">
                  <a:solidFill>
                    <a:srgbClr val="FFFFFF"/>
                  </a:solidFill>
                  <a:latin typeface="DejaVu Sans Bold"/>
                  <a:ea typeface="DejaVu Sans Bold"/>
                  <a:cs typeface="DejaVu Sans Bold"/>
                  <a:sym typeface="DejaVu Sans Bold"/>
                </a:rPr>
                <a:t>LÃI ≤10%</a:t>
              </a:r>
            </a:p>
            <a:p>
              <a:pPr algn="ctr">
                <a:lnSpc>
                  <a:spcPts val="2700"/>
                </a:lnSpc>
              </a:pPr>
              <a:r>
                <a:rPr lang="en-US" sz="2250" b="true">
                  <a:solidFill>
                    <a:srgbClr val="FFFFFF"/>
                  </a:solidFill>
                  <a:latin typeface="DejaVu Sans Bold"/>
                  <a:ea typeface="DejaVu Sans Bold"/>
                  <a:cs typeface="DejaVu Sans Bold"/>
                  <a:sym typeface="DejaVu Sans Bold"/>
                </a:rPr>
                <a:t>&amp; 20% TM</a:t>
              </a:r>
            </a:p>
          </p:txBody>
        </p:sp>
      </p:grpSp>
      <p:grpSp>
        <p:nvGrpSpPr>
          <p:cNvPr name="Group 51" id="51"/>
          <p:cNvGrpSpPr/>
          <p:nvPr/>
        </p:nvGrpSpPr>
        <p:grpSpPr>
          <a:xfrm rot="0">
            <a:off x="3114866" y="7010210"/>
            <a:ext cx="7458837" cy="2274189"/>
            <a:chOff x="0" y="0"/>
            <a:chExt cx="9945116" cy="3032252"/>
          </a:xfrm>
        </p:grpSpPr>
        <p:sp>
          <p:nvSpPr>
            <p:cNvPr name="Freeform 52" id="52"/>
            <p:cNvSpPr/>
            <p:nvPr/>
          </p:nvSpPr>
          <p:spPr>
            <a:xfrm flipH="false" flipV="false" rot="0">
              <a:off x="0" y="0"/>
              <a:ext cx="9945116" cy="3032252"/>
            </a:xfrm>
            <a:custGeom>
              <a:avLst/>
              <a:gdLst/>
              <a:ahLst/>
              <a:cxnLst/>
              <a:rect r="r" b="b" t="t" l="l"/>
              <a:pathLst>
                <a:path h="3032252" w="9945116">
                  <a:moveTo>
                    <a:pt x="0" y="121285"/>
                  </a:moveTo>
                  <a:cubicBezTo>
                    <a:pt x="0" y="54356"/>
                    <a:pt x="54356" y="0"/>
                    <a:pt x="121285" y="0"/>
                  </a:cubicBezTo>
                  <a:lnTo>
                    <a:pt x="9823831" y="0"/>
                  </a:lnTo>
                  <a:cubicBezTo>
                    <a:pt x="9890761" y="0"/>
                    <a:pt x="9945116" y="54356"/>
                    <a:pt x="9945116" y="121285"/>
                  </a:cubicBezTo>
                  <a:lnTo>
                    <a:pt x="9945116" y="2910967"/>
                  </a:lnTo>
                  <a:cubicBezTo>
                    <a:pt x="9945116" y="2977896"/>
                    <a:pt x="9890761" y="3032252"/>
                    <a:pt x="9823831" y="3032252"/>
                  </a:cubicBezTo>
                  <a:lnTo>
                    <a:pt x="121285" y="3032252"/>
                  </a:lnTo>
                  <a:cubicBezTo>
                    <a:pt x="54356" y="3032252"/>
                    <a:pt x="0" y="2977896"/>
                    <a:pt x="0" y="2910967"/>
                  </a:cubicBezTo>
                  <a:close/>
                </a:path>
              </a:pathLst>
            </a:custGeom>
            <a:solidFill>
              <a:srgbClr val="FFFFFF"/>
            </a:solidFill>
            <a:ln w="24765" cap="sq">
              <a:solidFill>
                <a:srgbClr val="C25915"/>
              </a:solidFill>
              <a:prstDash val="solid"/>
              <a:miter/>
            </a:ln>
          </p:spPr>
        </p:sp>
      </p:grpSp>
      <p:grpSp>
        <p:nvGrpSpPr>
          <p:cNvPr name="Group 53" id="53"/>
          <p:cNvGrpSpPr/>
          <p:nvPr/>
        </p:nvGrpSpPr>
        <p:grpSpPr>
          <a:xfrm rot="0">
            <a:off x="3346704" y="7104888"/>
            <a:ext cx="7022592" cy="2084832"/>
            <a:chOff x="0" y="0"/>
            <a:chExt cx="9363456" cy="2779776"/>
          </a:xfrm>
        </p:grpSpPr>
        <p:sp>
          <p:nvSpPr>
            <p:cNvPr name="Freeform 54" id="54"/>
            <p:cNvSpPr/>
            <p:nvPr/>
          </p:nvSpPr>
          <p:spPr>
            <a:xfrm flipH="false" flipV="false" rot="0">
              <a:off x="0" y="0"/>
              <a:ext cx="9363456" cy="2779776"/>
            </a:xfrm>
            <a:custGeom>
              <a:avLst/>
              <a:gdLst/>
              <a:ahLst/>
              <a:cxnLst/>
              <a:rect r="r" b="b" t="t" l="l"/>
              <a:pathLst>
                <a:path h="2779776" w="9363456">
                  <a:moveTo>
                    <a:pt x="0" y="0"/>
                  </a:moveTo>
                  <a:lnTo>
                    <a:pt x="9363456" y="0"/>
                  </a:lnTo>
                  <a:lnTo>
                    <a:pt x="9363456" y="2779776"/>
                  </a:lnTo>
                  <a:lnTo>
                    <a:pt x="0" y="2779776"/>
                  </a:lnTo>
                  <a:close/>
                </a:path>
              </a:pathLst>
            </a:custGeom>
            <a:blipFill>
              <a:blip r:embed="rId2">
                <a:alphaModFix amt="0"/>
              </a:blip>
              <a:stretch>
                <a:fillRect l="0" t="-15633" r="0" b="-15633"/>
              </a:stretch>
            </a:blipFill>
          </p:spPr>
        </p:sp>
        <p:sp>
          <p:nvSpPr>
            <p:cNvPr name="TextBox 55" id="55"/>
            <p:cNvSpPr txBox="true"/>
            <p:nvPr/>
          </p:nvSpPr>
          <p:spPr>
            <a:xfrm>
              <a:off x="0" y="-19050"/>
              <a:ext cx="9363456" cy="2798826"/>
            </a:xfrm>
            <a:prstGeom prst="rect">
              <a:avLst/>
            </a:prstGeom>
          </p:spPr>
          <p:txBody>
            <a:bodyPr anchor="ctr" rtlCol="false" tIns="0" lIns="0" bIns="0" rIns="0"/>
            <a:lstStyle/>
            <a:p>
              <a:pPr algn="l">
                <a:lnSpc>
                  <a:spcPts val="2520"/>
                </a:lnSpc>
              </a:pPr>
              <a:r>
                <a:rPr lang="en-US" sz="2100" b="true">
                  <a:solidFill>
                    <a:srgbClr val="C25915"/>
                  </a:solidFill>
                  <a:latin typeface="DejaVu Sans Bold"/>
                  <a:ea typeface="DejaVu Sans Bold"/>
                  <a:cs typeface="DejaVu Sans Bold"/>
                  <a:sym typeface="DejaVu Sans Bold"/>
                </a:rPr>
                <a:t>4. Trần lợi nhuận NOXH &amp; Bù đắp thương mại theo luật</a:t>
              </a:r>
            </a:p>
            <a:p>
              <a:pPr algn="l">
                <a:lnSpc>
                  <a:spcPts val="2520"/>
                </a:lnSpc>
              </a:pPr>
              <a:r>
                <a:rPr lang="en-US" sz="2100">
                  <a:solidFill>
                    <a:srgbClr val="1E293B"/>
                  </a:solidFill>
                  <a:latin typeface="DejaVu Sans Light"/>
                  <a:ea typeface="DejaVu Sans Light"/>
                  <a:cs typeface="DejaVu Sans Light"/>
                  <a:sym typeface="DejaVu Sans Light"/>
                </a:rPr>
                <a:t>Áp trần lợi nhuận định mức tối đa 10% cho phần diện tích xây dựng NOXH; cho phép bố trí tối đa 20% diện tích đất/sàn kinh doanh dịch vụ, thương mại theo phương án luật định.</a:t>
              </a:r>
            </a:p>
          </p:txBody>
        </p:sp>
      </p:grpSp>
      <p:grpSp>
        <p:nvGrpSpPr>
          <p:cNvPr name="Group 56" id="56"/>
          <p:cNvGrpSpPr/>
          <p:nvPr/>
        </p:nvGrpSpPr>
        <p:grpSpPr>
          <a:xfrm rot="0">
            <a:off x="10906506" y="1881378"/>
            <a:ext cx="6633972" cy="7511796"/>
            <a:chOff x="0" y="0"/>
            <a:chExt cx="8845296" cy="10015728"/>
          </a:xfrm>
        </p:grpSpPr>
        <p:sp>
          <p:nvSpPr>
            <p:cNvPr name="Freeform 57" id="57"/>
            <p:cNvSpPr/>
            <p:nvPr/>
          </p:nvSpPr>
          <p:spPr>
            <a:xfrm flipH="false" flipV="false" rot="0">
              <a:off x="0" y="0"/>
              <a:ext cx="8845296" cy="10015728"/>
            </a:xfrm>
            <a:custGeom>
              <a:avLst/>
              <a:gdLst/>
              <a:ahLst/>
              <a:cxnLst/>
              <a:rect r="r" b="b" t="t" l="l"/>
              <a:pathLst>
                <a:path h="10015728" w="8845296">
                  <a:moveTo>
                    <a:pt x="0" y="353822"/>
                  </a:moveTo>
                  <a:cubicBezTo>
                    <a:pt x="0" y="158369"/>
                    <a:pt x="158369" y="0"/>
                    <a:pt x="353822" y="0"/>
                  </a:cubicBezTo>
                  <a:lnTo>
                    <a:pt x="8491474" y="0"/>
                  </a:lnTo>
                  <a:cubicBezTo>
                    <a:pt x="8686927" y="0"/>
                    <a:pt x="8845296" y="158369"/>
                    <a:pt x="8845296" y="353822"/>
                  </a:cubicBezTo>
                  <a:lnTo>
                    <a:pt x="8845296" y="9661906"/>
                  </a:lnTo>
                  <a:cubicBezTo>
                    <a:pt x="8845296" y="9857360"/>
                    <a:pt x="8686927" y="10015728"/>
                    <a:pt x="8491474" y="10015728"/>
                  </a:cubicBezTo>
                  <a:lnTo>
                    <a:pt x="353822" y="10015728"/>
                  </a:lnTo>
                  <a:cubicBezTo>
                    <a:pt x="158369" y="10015728"/>
                    <a:pt x="0" y="9857359"/>
                    <a:pt x="0" y="9661906"/>
                  </a:cubicBezTo>
                  <a:close/>
                </a:path>
              </a:pathLst>
            </a:custGeom>
            <a:solidFill>
              <a:srgbClr val="FFFFFF"/>
            </a:solidFill>
            <a:ln w="22860" cap="sq">
              <a:solidFill>
                <a:srgbClr val="CBD5E1"/>
              </a:solidFill>
              <a:prstDash val="solid"/>
              <a:miter/>
            </a:ln>
          </p:spPr>
        </p:sp>
      </p:grpSp>
      <p:grpSp>
        <p:nvGrpSpPr>
          <p:cNvPr name="Group 58" id="58"/>
          <p:cNvGrpSpPr/>
          <p:nvPr/>
        </p:nvGrpSpPr>
        <p:grpSpPr>
          <a:xfrm rot="0">
            <a:off x="11000232" y="1975104"/>
            <a:ext cx="6446520" cy="6748272"/>
            <a:chOff x="0" y="0"/>
            <a:chExt cx="8595360" cy="8997696"/>
          </a:xfrm>
        </p:grpSpPr>
        <p:sp>
          <p:nvSpPr>
            <p:cNvPr name="Freeform 59" id="59" descr="image9.jpg"/>
            <p:cNvSpPr/>
            <p:nvPr/>
          </p:nvSpPr>
          <p:spPr>
            <a:xfrm flipH="false" flipV="false" rot="0">
              <a:off x="0" y="0"/>
              <a:ext cx="8595360" cy="8997696"/>
            </a:xfrm>
            <a:custGeom>
              <a:avLst/>
              <a:gdLst/>
              <a:ahLst/>
              <a:cxnLst/>
              <a:rect r="r" b="b" t="t" l="l"/>
              <a:pathLst>
                <a:path h="8997696" w="8595360">
                  <a:moveTo>
                    <a:pt x="0" y="0"/>
                  </a:moveTo>
                  <a:lnTo>
                    <a:pt x="8595360" y="0"/>
                  </a:lnTo>
                  <a:lnTo>
                    <a:pt x="8595360" y="8997696"/>
                  </a:lnTo>
                  <a:lnTo>
                    <a:pt x="0" y="8997696"/>
                  </a:lnTo>
                  <a:lnTo>
                    <a:pt x="0" y="0"/>
                  </a:lnTo>
                  <a:close/>
                </a:path>
              </a:pathLst>
            </a:custGeom>
            <a:blipFill>
              <a:blip r:embed="rId3"/>
              <a:stretch>
                <a:fillRect l="-1272" t="0" r="-1272" b="0"/>
              </a:stretch>
            </a:blipFill>
          </p:spPr>
        </p:sp>
      </p:grpSp>
      <p:grpSp>
        <p:nvGrpSpPr>
          <p:cNvPr name="Group 60" id="60"/>
          <p:cNvGrpSpPr/>
          <p:nvPr/>
        </p:nvGrpSpPr>
        <p:grpSpPr>
          <a:xfrm rot="0">
            <a:off x="11000232" y="8778240"/>
            <a:ext cx="6446520" cy="548640"/>
            <a:chOff x="0" y="0"/>
            <a:chExt cx="8595360" cy="731520"/>
          </a:xfrm>
        </p:grpSpPr>
        <p:sp>
          <p:nvSpPr>
            <p:cNvPr name="Freeform 61" id="61"/>
            <p:cNvSpPr/>
            <p:nvPr/>
          </p:nvSpPr>
          <p:spPr>
            <a:xfrm flipH="false" flipV="false" rot="0">
              <a:off x="0" y="0"/>
              <a:ext cx="8595360" cy="731520"/>
            </a:xfrm>
            <a:custGeom>
              <a:avLst/>
              <a:gdLst/>
              <a:ahLst/>
              <a:cxnLst/>
              <a:rect r="r" b="b" t="t" l="l"/>
              <a:pathLst>
                <a:path h="731520" w="8595360">
                  <a:moveTo>
                    <a:pt x="0" y="0"/>
                  </a:moveTo>
                  <a:lnTo>
                    <a:pt x="8595360" y="0"/>
                  </a:lnTo>
                  <a:lnTo>
                    <a:pt x="8595360" y="731520"/>
                  </a:lnTo>
                  <a:lnTo>
                    <a:pt x="0" y="731520"/>
                  </a:lnTo>
                  <a:close/>
                </a:path>
              </a:pathLst>
            </a:custGeom>
            <a:solidFill>
              <a:srgbClr val="F1F5F9"/>
            </a:solidFill>
          </p:spPr>
        </p:sp>
      </p:grpSp>
      <p:grpSp>
        <p:nvGrpSpPr>
          <p:cNvPr name="Group 62" id="62"/>
          <p:cNvGrpSpPr/>
          <p:nvPr/>
        </p:nvGrpSpPr>
        <p:grpSpPr>
          <a:xfrm rot="0">
            <a:off x="11082528" y="8778240"/>
            <a:ext cx="6281928" cy="548640"/>
            <a:chOff x="0" y="0"/>
            <a:chExt cx="8375904" cy="731520"/>
          </a:xfrm>
        </p:grpSpPr>
        <p:sp>
          <p:nvSpPr>
            <p:cNvPr name="Freeform 63" id="63"/>
            <p:cNvSpPr/>
            <p:nvPr/>
          </p:nvSpPr>
          <p:spPr>
            <a:xfrm flipH="false" flipV="false" rot="0">
              <a:off x="0" y="0"/>
              <a:ext cx="8375904" cy="731520"/>
            </a:xfrm>
            <a:custGeom>
              <a:avLst/>
              <a:gdLst/>
              <a:ahLst/>
              <a:cxnLst/>
              <a:rect r="r" b="b" t="t" l="l"/>
              <a:pathLst>
                <a:path h="731520" w="8375904">
                  <a:moveTo>
                    <a:pt x="0" y="0"/>
                  </a:moveTo>
                  <a:lnTo>
                    <a:pt x="8375904" y="0"/>
                  </a:lnTo>
                  <a:lnTo>
                    <a:pt x="8375904" y="731520"/>
                  </a:lnTo>
                  <a:lnTo>
                    <a:pt x="0" y="731520"/>
                  </a:lnTo>
                  <a:close/>
                </a:path>
              </a:pathLst>
            </a:custGeom>
            <a:blipFill>
              <a:blip r:embed="rId2">
                <a:alphaModFix amt="0"/>
              </a:blip>
              <a:stretch>
                <a:fillRect l="0" t="-173103" r="0" b="-173103"/>
              </a:stretch>
            </a:blipFill>
          </p:spPr>
        </p:sp>
        <p:sp>
          <p:nvSpPr>
            <p:cNvPr name="TextBox 64" id="64"/>
            <p:cNvSpPr txBox="true"/>
            <p:nvPr/>
          </p:nvSpPr>
          <p:spPr>
            <a:xfrm>
              <a:off x="0" y="-9525"/>
              <a:ext cx="8375904" cy="741045"/>
            </a:xfrm>
            <a:prstGeom prst="rect">
              <a:avLst/>
            </a:prstGeom>
          </p:spPr>
          <p:txBody>
            <a:bodyPr anchor="ctr" rtlCol="false" tIns="0" lIns="0" bIns="0" rIns="0"/>
            <a:lstStyle/>
            <a:p>
              <a:pPr algn="l">
                <a:lnSpc>
                  <a:spcPts val="1727"/>
                </a:lnSpc>
              </a:pPr>
              <a:r>
                <a:rPr lang="en-US" sz="1439" b="true">
                  <a:solidFill>
                    <a:srgbClr val="1E293B"/>
                  </a:solidFill>
                  <a:latin typeface="DejaVu Sans Bold"/>
                  <a:ea typeface="DejaVu Sans Bold"/>
                  <a:cs typeface="DejaVu Sans Bold"/>
                  <a:sym typeface="DejaVu Sans Bold"/>
                </a:rPr>
                <a:t>Ảnh thật: Khu NOXH tích hợp siêu thị thương mại tầng trệt (L-Mart) | Nguồn: Báo Điện tử Chính phủ</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7543" cy="137160"/>
            <a:chOff x="0" y="0"/>
            <a:chExt cx="24383390" cy="182880"/>
          </a:xfrm>
        </p:grpSpPr>
        <p:sp>
          <p:nvSpPr>
            <p:cNvPr name="Freeform 3" id="3"/>
            <p:cNvSpPr/>
            <p:nvPr/>
          </p:nvSpPr>
          <p:spPr>
            <a:xfrm flipH="false" flipV="false" rot="0">
              <a:off x="0" y="0"/>
              <a:ext cx="24383364" cy="182880"/>
            </a:xfrm>
            <a:custGeom>
              <a:avLst/>
              <a:gdLst/>
              <a:ahLst/>
              <a:cxnLst/>
              <a:rect r="r" b="b" t="t" l="l"/>
              <a:pathLst>
                <a:path h="182880" w="24383364">
                  <a:moveTo>
                    <a:pt x="0" y="0"/>
                  </a:moveTo>
                  <a:lnTo>
                    <a:pt x="24383364" y="0"/>
                  </a:lnTo>
                  <a:lnTo>
                    <a:pt x="24383364" y="182880"/>
                  </a:lnTo>
                  <a:lnTo>
                    <a:pt x="0" y="182880"/>
                  </a:lnTo>
                  <a:close/>
                </a:path>
              </a:pathLst>
            </a:custGeom>
            <a:solidFill>
              <a:srgbClr val="122645"/>
            </a:solidFill>
          </p:spPr>
        </p:sp>
      </p:grpSp>
      <p:grpSp>
        <p:nvGrpSpPr>
          <p:cNvPr name="Group 4" id="4"/>
          <p:cNvGrpSpPr/>
          <p:nvPr/>
        </p:nvGrpSpPr>
        <p:grpSpPr>
          <a:xfrm rot="0">
            <a:off x="0" y="0"/>
            <a:ext cx="13410867" cy="137160"/>
            <a:chOff x="0" y="0"/>
            <a:chExt cx="17881156" cy="182880"/>
          </a:xfrm>
        </p:grpSpPr>
        <p:sp>
          <p:nvSpPr>
            <p:cNvPr name="Freeform 5" id="5"/>
            <p:cNvSpPr/>
            <p:nvPr/>
          </p:nvSpPr>
          <p:spPr>
            <a:xfrm flipH="false" flipV="false" rot="0">
              <a:off x="0" y="0"/>
              <a:ext cx="17881092" cy="182880"/>
            </a:xfrm>
            <a:custGeom>
              <a:avLst/>
              <a:gdLst/>
              <a:ahLst/>
              <a:cxnLst/>
              <a:rect r="r" b="b" t="t" l="l"/>
              <a:pathLst>
                <a:path h="182880" w="17881092">
                  <a:moveTo>
                    <a:pt x="0" y="0"/>
                  </a:moveTo>
                  <a:lnTo>
                    <a:pt x="17881092" y="0"/>
                  </a:lnTo>
                  <a:lnTo>
                    <a:pt x="17881092" y="182880"/>
                  </a:lnTo>
                  <a:lnTo>
                    <a:pt x="0" y="182880"/>
                  </a:lnTo>
                  <a:close/>
                </a:path>
              </a:pathLst>
            </a:custGeom>
            <a:solidFill>
              <a:srgbClr val="0F766E"/>
            </a:solidFill>
          </p:spPr>
        </p:sp>
      </p:grpSp>
      <p:grpSp>
        <p:nvGrpSpPr>
          <p:cNvPr name="Group 6" id="6"/>
          <p:cNvGrpSpPr/>
          <p:nvPr/>
        </p:nvGrpSpPr>
        <p:grpSpPr>
          <a:xfrm rot="0">
            <a:off x="744855" y="292227"/>
            <a:ext cx="7151370" cy="485394"/>
            <a:chOff x="0" y="0"/>
            <a:chExt cx="9535160" cy="647192"/>
          </a:xfrm>
        </p:grpSpPr>
        <p:sp>
          <p:nvSpPr>
            <p:cNvPr name="Freeform 7" id="7"/>
            <p:cNvSpPr/>
            <p:nvPr/>
          </p:nvSpPr>
          <p:spPr>
            <a:xfrm flipH="false" flipV="false" rot="0">
              <a:off x="0" y="0"/>
              <a:ext cx="9535160" cy="647192"/>
            </a:xfrm>
            <a:custGeom>
              <a:avLst/>
              <a:gdLst/>
              <a:ahLst/>
              <a:cxnLst/>
              <a:rect r="r" b="b" t="t" l="l"/>
              <a:pathLst>
                <a:path h="647192" w="9535160">
                  <a:moveTo>
                    <a:pt x="0" y="25908"/>
                  </a:moveTo>
                  <a:cubicBezTo>
                    <a:pt x="0" y="11557"/>
                    <a:pt x="11557" y="0"/>
                    <a:pt x="25908" y="0"/>
                  </a:cubicBezTo>
                  <a:lnTo>
                    <a:pt x="9509252" y="0"/>
                  </a:lnTo>
                  <a:cubicBezTo>
                    <a:pt x="9523603" y="0"/>
                    <a:pt x="9535160" y="11557"/>
                    <a:pt x="9535160" y="25908"/>
                  </a:cubicBezTo>
                  <a:lnTo>
                    <a:pt x="9535160" y="621284"/>
                  </a:lnTo>
                  <a:cubicBezTo>
                    <a:pt x="9535160" y="635635"/>
                    <a:pt x="9523603" y="647192"/>
                    <a:pt x="9509252" y="647192"/>
                  </a:cubicBezTo>
                  <a:lnTo>
                    <a:pt x="25908" y="647192"/>
                  </a:lnTo>
                  <a:cubicBezTo>
                    <a:pt x="11557" y="647192"/>
                    <a:pt x="0" y="635635"/>
                    <a:pt x="0" y="621284"/>
                  </a:cubicBezTo>
                  <a:close/>
                </a:path>
              </a:pathLst>
            </a:custGeom>
            <a:solidFill>
              <a:srgbClr val="EAF7F5"/>
            </a:solidFill>
            <a:ln w="19050" cap="sq">
              <a:solidFill>
                <a:srgbClr val="0F766E"/>
              </a:solidFill>
              <a:prstDash val="solid"/>
              <a:miter/>
            </a:ln>
          </p:spPr>
        </p:sp>
      </p:grpSp>
      <p:grpSp>
        <p:nvGrpSpPr>
          <p:cNvPr name="Group 8" id="8"/>
          <p:cNvGrpSpPr/>
          <p:nvPr/>
        </p:nvGrpSpPr>
        <p:grpSpPr>
          <a:xfrm rot="0">
            <a:off x="850392" y="301752"/>
            <a:ext cx="6926580" cy="466344"/>
            <a:chOff x="0" y="0"/>
            <a:chExt cx="9235440" cy="621792"/>
          </a:xfrm>
        </p:grpSpPr>
        <p:sp>
          <p:nvSpPr>
            <p:cNvPr name="Freeform 9" id="9"/>
            <p:cNvSpPr/>
            <p:nvPr/>
          </p:nvSpPr>
          <p:spPr>
            <a:xfrm flipH="false" flipV="false" rot="0">
              <a:off x="0" y="0"/>
              <a:ext cx="9235440" cy="621792"/>
            </a:xfrm>
            <a:custGeom>
              <a:avLst/>
              <a:gdLst/>
              <a:ahLst/>
              <a:cxnLst/>
              <a:rect r="r" b="b" t="t" l="l"/>
              <a:pathLst>
                <a:path h="621792" w="9235440">
                  <a:moveTo>
                    <a:pt x="0" y="0"/>
                  </a:moveTo>
                  <a:lnTo>
                    <a:pt x="9235440" y="0"/>
                  </a:lnTo>
                  <a:lnTo>
                    <a:pt x="9235440" y="621792"/>
                  </a:lnTo>
                  <a:lnTo>
                    <a:pt x="0" y="621792"/>
                  </a:lnTo>
                  <a:close/>
                </a:path>
              </a:pathLst>
            </a:custGeom>
            <a:blipFill>
              <a:blip r:embed="rId2">
                <a:alphaModFix amt="0"/>
              </a:blip>
              <a:stretch>
                <a:fillRect l="0" t="-239410" r="0" b="-239410"/>
              </a:stretch>
            </a:blipFill>
          </p:spPr>
        </p:sp>
        <p:sp>
          <p:nvSpPr>
            <p:cNvPr name="TextBox 10" id="10"/>
            <p:cNvSpPr txBox="true"/>
            <p:nvPr/>
          </p:nvSpPr>
          <p:spPr>
            <a:xfrm>
              <a:off x="0" y="-9525"/>
              <a:ext cx="9235440" cy="631317"/>
            </a:xfrm>
            <a:prstGeom prst="rect">
              <a:avLst/>
            </a:prstGeom>
          </p:spPr>
          <p:txBody>
            <a:bodyPr anchor="ctr" rtlCol="false" tIns="0" lIns="0" bIns="0" rIns="0"/>
            <a:lstStyle/>
            <a:p>
              <a:pPr algn="l">
                <a:lnSpc>
                  <a:spcPts val="1889"/>
                </a:lnSpc>
              </a:pPr>
              <a:r>
                <a:rPr lang="en-US" sz="1575" b="true">
                  <a:solidFill>
                    <a:srgbClr val="0F766E"/>
                  </a:solidFill>
                  <a:latin typeface="DejaVu Sans Bold"/>
                  <a:ea typeface="DejaVu Sans Bold"/>
                  <a:cs typeface="DejaVu Sans Bold"/>
                  <a:sym typeface="DejaVu Sans Bold"/>
                </a:rPr>
                <a:t>TRẢ LỜI CÂU HỎI 2 • ĐÒN BẨY PHÍA CẦU (CẬP NHẬT 2026)</a:t>
              </a:r>
            </a:p>
          </p:txBody>
        </p:sp>
      </p:grpSp>
      <p:grpSp>
        <p:nvGrpSpPr>
          <p:cNvPr name="Group 11" id="11"/>
          <p:cNvGrpSpPr/>
          <p:nvPr/>
        </p:nvGrpSpPr>
        <p:grpSpPr>
          <a:xfrm rot="0">
            <a:off x="15704820" y="301752"/>
            <a:ext cx="1824228" cy="466344"/>
            <a:chOff x="0" y="0"/>
            <a:chExt cx="2432304" cy="621792"/>
          </a:xfrm>
        </p:grpSpPr>
        <p:sp>
          <p:nvSpPr>
            <p:cNvPr name="Freeform 12" id="12"/>
            <p:cNvSpPr/>
            <p:nvPr/>
          </p:nvSpPr>
          <p:spPr>
            <a:xfrm flipH="false" flipV="false" rot="0">
              <a:off x="0" y="0"/>
              <a:ext cx="2432304" cy="621792"/>
            </a:xfrm>
            <a:custGeom>
              <a:avLst/>
              <a:gdLst/>
              <a:ahLst/>
              <a:cxnLst/>
              <a:rect r="r" b="b" t="t" l="l"/>
              <a:pathLst>
                <a:path h="621792" w="2432304">
                  <a:moveTo>
                    <a:pt x="0" y="24892"/>
                  </a:moveTo>
                  <a:cubicBezTo>
                    <a:pt x="0" y="11176"/>
                    <a:pt x="11176" y="0"/>
                    <a:pt x="24892" y="0"/>
                  </a:cubicBezTo>
                  <a:lnTo>
                    <a:pt x="2407412" y="0"/>
                  </a:lnTo>
                  <a:cubicBezTo>
                    <a:pt x="2421128" y="0"/>
                    <a:pt x="2432304" y="11176"/>
                    <a:pt x="2432304" y="24892"/>
                  </a:cubicBezTo>
                  <a:lnTo>
                    <a:pt x="2432304" y="596900"/>
                  </a:lnTo>
                  <a:cubicBezTo>
                    <a:pt x="2432304" y="610616"/>
                    <a:pt x="2421128" y="621792"/>
                    <a:pt x="2407412" y="621792"/>
                  </a:cubicBezTo>
                  <a:lnTo>
                    <a:pt x="24892" y="621792"/>
                  </a:lnTo>
                  <a:cubicBezTo>
                    <a:pt x="11176" y="621792"/>
                    <a:pt x="0" y="610616"/>
                    <a:pt x="0" y="596900"/>
                  </a:cubicBezTo>
                  <a:close/>
                </a:path>
              </a:pathLst>
            </a:custGeom>
            <a:solidFill>
              <a:srgbClr val="122645"/>
            </a:solidFill>
          </p:spPr>
        </p:sp>
      </p:grpSp>
      <p:grpSp>
        <p:nvGrpSpPr>
          <p:cNvPr name="Group 13" id="13"/>
          <p:cNvGrpSpPr/>
          <p:nvPr/>
        </p:nvGrpSpPr>
        <p:grpSpPr>
          <a:xfrm rot="0">
            <a:off x="15704820" y="301752"/>
            <a:ext cx="1824228" cy="466344"/>
            <a:chOff x="0" y="0"/>
            <a:chExt cx="2432304" cy="621792"/>
          </a:xfrm>
        </p:grpSpPr>
        <p:sp>
          <p:nvSpPr>
            <p:cNvPr name="Freeform 14" id="14"/>
            <p:cNvSpPr/>
            <p:nvPr/>
          </p:nvSpPr>
          <p:spPr>
            <a:xfrm flipH="false" flipV="false" rot="0">
              <a:off x="0" y="0"/>
              <a:ext cx="2432304" cy="621792"/>
            </a:xfrm>
            <a:custGeom>
              <a:avLst/>
              <a:gdLst/>
              <a:ahLst/>
              <a:cxnLst/>
              <a:rect r="r" b="b" t="t" l="l"/>
              <a:pathLst>
                <a:path h="621792" w="2432304">
                  <a:moveTo>
                    <a:pt x="0" y="0"/>
                  </a:moveTo>
                  <a:lnTo>
                    <a:pt x="2432304" y="0"/>
                  </a:lnTo>
                  <a:lnTo>
                    <a:pt x="2432304" y="621792"/>
                  </a:lnTo>
                  <a:lnTo>
                    <a:pt x="0" y="621792"/>
                  </a:lnTo>
                  <a:close/>
                </a:path>
              </a:pathLst>
            </a:custGeom>
            <a:blipFill>
              <a:blip r:embed="rId2">
                <a:alphaModFix amt="0"/>
              </a:blip>
              <a:stretch>
                <a:fillRect l="0" t="-26220" r="0" b="-26220"/>
              </a:stretch>
            </a:blipFill>
          </p:spPr>
        </p:sp>
        <p:sp>
          <p:nvSpPr>
            <p:cNvPr name="TextBox 15" id="15"/>
            <p:cNvSpPr txBox="true"/>
            <p:nvPr/>
          </p:nvSpPr>
          <p:spPr>
            <a:xfrm>
              <a:off x="0" y="-9525"/>
              <a:ext cx="2432304" cy="631317"/>
            </a:xfrm>
            <a:prstGeom prst="rect">
              <a:avLst/>
            </a:prstGeom>
          </p:spPr>
          <p:txBody>
            <a:bodyPr anchor="ctr" rtlCol="false" tIns="0" lIns="0" bIns="0" rIns="0"/>
            <a:lstStyle/>
            <a:p>
              <a:pPr algn="ctr">
                <a:lnSpc>
                  <a:spcPts val="1889"/>
                </a:lnSpc>
              </a:pPr>
              <a:r>
                <a:rPr lang="en-US" sz="1575" b="true">
                  <a:solidFill>
                    <a:srgbClr val="FFFFFF"/>
                  </a:solidFill>
                  <a:latin typeface="DejaVu Sans Bold"/>
                  <a:ea typeface="DejaVu Sans Bold"/>
                  <a:cs typeface="DejaVu Sans Bold"/>
                  <a:sym typeface="DejaVu Sans Bold"/>
                </a:rPr>
                <a:t>Slide 11 / 15</a:t>
              </a:r>
            </a:p>
          </p:txBody>
        </p:sp>
      </p:grpSp>
      <p:grpSp>
        <p:nvGrpSpPr>
          <p:cNvPr name="Group 16" id="16"/>
          <p:cNvGrpSpPr/>
          <p:nvPr/>
        </p:nvGrpSpPr>
        <p:grpSpPr>
          <a:xfrm rot="0">
            <a:off x="754380" y="850392"/>
            <a:ext cx="16774668" cy="740664"/>
            <a:chOff x="0" y="0"/>
            <a:chExt cx="22366224" cy="987552"/>
          </a:xfrm>
        </p:grpSpPr>
        <p:sp>
          <p:nvSpPr>
            <p:cNvPr name="Freeform 17" id="17"/>
            <p:cNvSpPr/>
            <p:nvPr/>
          </p:nvSpPr>
          <p:spPr>
            <a:xfrm flipH="false" flipV="false" rot="0">
              <a:off x="0" y="0"/>
              <a:ext cx="22366224" cy="987552"/>
            </a:xfrm>
            <a:custGeom>
              <a:avLst/>
              <a:gdLst/>
              <a:ahLst/>
              <a:cxnLst/>
              <a:rect r="r" b="b" t="t" l="l"/>
              <a:pathLst>
                <a:path h="987552" w="22366224">
                  <a:moveTo>
                    <a:pt x="0" y="0"/>
                  </a:moveTo>
                  <a:lnTo>
                    <a:pt x="22366224" y="0"/>
                  </a:lnTo>
                  <a:lnTo>
                    <a:pt x="22366224" y="987552"/>
                  </a:lnTo>
                  <a:lnTo>
                    <a:pt x="0" y="987552"/>
                  </a:lnTo>
                  <a:close/>
                </a:path>
              </a:pathLst>
            </a:custGeom>
            <a:blipFill>
              <a:blip r:embed="rId2">
                <a:alphaModFix amt="0"/>
              </a:blip>
              <a:stretch>
                <a:fillRect l="0" t="-391300" r="0" b="-391300"/>
              </a:stretch>
            </a:blipFill>
          </p:spPr>
        </p:sp>
        <p:sp>
          <p:nvSpPr>
            <p:cNvPr name="TextBox 18" id="18"/>
            <p:cNvSpPr txBox="true"/>
            <p:nvPr/>
          </p:nvSpPr>
          <p:spPr>
            <a:xfrm>
              <a:off x="0" y="-9525"/>
              <a:ext cx="22366224" cy="997077"/>
            </a:xfrm>
            <a:prstGeom prst="rect">
              <a:avLst/>
            </a:prstGeom>
          </p:spPr>
          <p:txBody>
            <a:bodyPr anchor="ctr" rtlCol="false" tIns="0" lIns="0" bIns="0" rIns="0"/>
            <a:lstStyle/>
            <a:p>
              <a:pPr algn="l">
                <a:lnSpc>
                  <a:spcPts val="3869"/>
                </a:lnSpc>
              </a:pPr>
              <a:r>
                <a:rPr lang="en-US" sz="3225" b="true">
                  <a:solidFill>
                    <a:srgbClr val="122645"/>
                  </a:solidFill>
                  <a:latin typeface="DejaVu Sans Bold"/>
                  <a:ea typeface="DejaVu Sans Bold"/>
                  <a:cs typeface="DejaVu Sans Bold"/>
                  <a:sym typeface="DejaVu Sans Bold"/>
                </a:rPr>
                <a:t>Công cụ 3: Trần thu nhập mới (NĐ 136/2026) &amp; 2 kênh tín dụng ưu đãi</a:t>
              </a:r>
            </a:p>
          </p:txBody>
        </p:sp>
      </p:grpSp>
      <p:grpSp>
        <p:nvGrpSpPr>
          <p:cNvPr name="Group 19" id="19"/>
          <p:cNvGrpSpPr/>
          <p:nvPr/>
        </p:nvGrpSpPr>
        <p:grpSpPr>
          <a:xfrm rot="0">
            <a:off x="754380" y="1645920"/>
            <a:ext cx="16774668" cy="41148"/>
            <a:chOff x="0" y="0"/>
            <a:chExt cx="22366224" cy="54864"/>
          </a:xfrm>
        </p:grpSpPr>
        <p:sp>
          <p:nvSpPr>
            <p:cNvPr name="Freeform 20" id="20"/>
            <p:cNvSpPr/>
            <p:nvPr/>
          </p:nvSpPr>
          <p:spPr>
            <a:xfrm flipH="false" flipV="false" rot="0">
              <a:off x="0" y="0"/>
              <a:ext cx="22366224" cy="54864"/>
            </a:xfrm>
            <a:custGeom>
              <a:avLst/>
              <a:gdLst/>
              <a:ahLst/>
              <a:cxnLst/>
              <a:rect r="r" b="b" t="t" l="l"/>
              <a:pathLst>
                <a:path h="54864" w="22366224">
                  <a:moveTo>
                    <a:pt x="0" y="0"/>
                  </a:moveTo>
                  <a:lnTo>
                    <a:pt x="22366224" y="0"/>
                  </a:lnTo>
                  <a:lnTo>
                    <a:pt x="22366224" y="54864"/>
                  </a:lnTo>
                  <a:lnTo>
                    <a:pt x="0" y="54864"/>
                  </a:lnTo>
                  <a:close/>
                </a:path>
              </a:pathLst>
            </a:custGeom>
            <a:solidFill>
              <a:srgbClr val="CBD5E1"/>
            </a:solidFill>
          </p:spPr>
        </p:sp>
      </p:grpSp>
      <p:grpSp>
        <p:nvGrpSpPr>
          <p:cNvPr name="Group 21" id="21"/>
          <p:cNvGrpSpPr/>
          <p:nvPr/>
        </p:nvGrpSpPr>
        <p:grpSpPr>
          <a:xfrm rot="0">
            <a:off x="-7144" y="9662636"/>
            <a:ext cx="18301830" cy="631507"/>
            <a:chOff x="0" y="0"/>
            <a:chExt cx="24402440" cy="842010"/>
          </a:xfrm>
        </p:grpSpPr>
        <p:sp>
          <p:nvSpPr>
            <p:cNvPr name="Freeform 22" id="22"/>
            <p:cNvSpPr/>
            <p:nvPr/>
          </p:nvSpPr>
          <p:spPr>
            <a:xfrm flipH="false" flipV="false" rot="0">
              <a:off x="0" y="0"/>
              <a:ext cx="24402414" cy="842010"/>
            </a:xfrm>
            <a:custGeom>
              <a:avLst/>
              <a:gdLst/>
              <a:ahLst/>
              <a:cxnLst/>
              <a:rect r="r" b="b" t="t" l="l"/>
              <a:pathLst>
                <a:path h="842010" w="24402414">
                  <a:moveTo>
                    <a:pt x="0" y="0"/>
                  </a:moveTo>
                  <a:lnTo>
                    <a:pt x="24402414" y="0"/>
                  </a:lnTo>
                  <a:lnTo>
                    <a:pt x="24402414" y="842010"/>
                  </a:lnTo>
                  <a:lnTo>
                    <a:pt x="0" y="842010"/>
                  </a:lnTo>
                  <a:close/>
                </a:path>
              </a:pathLst>
            </a:custGeom>
            <a:solidFill>
              <a:srgbClr val="FFFFFF"/>
            </a:solidFill>
            <a:ln w="14288" cap="sq">
              <a:solidFill>
                <a:srgbClr val="CBD5E1"/>
              </a:solidFill>
              <a:prstDash val="solid"/>
              <a:miter/>
            </a:ln>
          </p:spPr>
        </p:sp>
      </p:grpSp>
      <p:grpSp>
        <p:nvGrpSpPr>
          <p:cNvPr name="Group 23" id="23"/>
          <p:cNvGrpSpPr/>
          <p:nvPr/>
        </p:nvGrpSpPr>
        <p:grpSpPr>
          <a:xfrm rot="0">
            <a:off x="754380" y="9710928"/>
            <a:ext cx="16774668" cy="493776"/>
            <a:chOff x="0" y="0"/>
            <a:chExt cx="22366224" cy="658368"/>
          </a:xfrm>
        </p:grpSpPr>
        <p:sp>
          <p:nvSpPr>
            <p:cNvPr name="Freeform 24" id="24"/>
            <p:cNvSpPr/>
            <p:nvPr/>
          </p:nvSpPr>
          <p:spPr>
            <a:xfrm flipH="false" flipV="false" rot="0">
              <a:off x="0" y="0"/>
              <a:ext cx="22366224" cy="658368"/>
            </a:xfrm>
            <a:custGeom>
              <a:avLst/>
              <a:gdLst/>
              <a:ahLst/>
              <a:cxnLst/>
              <a:rect r="r" b="b" t="t" l="l"/>
              <a:pathLst>
                <a:path h="658368" w="22366224">
                  <a:moveTo>
                    <a:pt x="0" y="0"/>
                  </a:moveTo>
                  <a:lnTo>
                    <a:pt x="22366224" y="0"/>
                  </a:lnTo>
                  <a:lnTo>
                    <a:pt x="22366224" y="658368"/>
                  </a:lnTo>
                  <a:lnTo>
                    <a:pt x="0" y="658368"/>
                  </a:lnTo>
                  <a:close/>
                </a:path>
              </a:pathLst>
            </a:custGeom>
            <a:blipFill>
              <a:blip r:embed="rId2">
                <a:alphaModFix amt="0"/>
              </a:blip>
              <a:stretch>
                <a:fillRect l="0" t="-611950" r="0" b="-611950"/>
              </a:stretch>
            </a:blipFill>
          </p:spPr>
        </p:sp>
        <p:sp>
          <p:nvSpPr>
            <p:cNvPr name="TextBox 25" id="25"/>
            <p:cNvSpPr txBox="true"/>
            <p:nvPr/>
          </p:nvSpPr>
          <p:spPr>
            <a:xfrm>
              <a:off x="0" y="-9525"/>
              <a:ext cx="22366224" cy="667893"/>
            </a:xfrm>
            <a:prstGeom prst="rect">
              <a:avLst/>
            </a:prstGeom>
          </p:spPr>
          <p:txBody>
            <a:bodyPr anchor="ctr" rtlCol="false" tIns="0" lIns="0" bIns="0" rIns="0"/>
            <a:lstStyle/>
            <a:p>
              <a:pPr algn="l">
                <a:lnSpc>
                  <a:spcPts val="1764"/>
                </a:lnSpc>
              </a:pPr>
              <a:r>
                <a:rPr lang="en-US" sz="1470" i="true">
                  <a:solidFill>
                    <a:srgbClr val="475569"/>
                  </a:solidFill>
                  <a:latin typeface="DejaVu Sans Bold Italics"/>
                  <a:ea typeface="DejaVu Sans Bold Italics"/>
                  <a:cs typeface="DejaVu Sans Bold Italics"/>
                  <a:sym typeface="DejaVu Sans Bold Italics"/>
                </a:rPr>
                <a:t>Nguồn pháp lý: Nghị định 136/2026/NĐ-CP (hiệu lực 07/4/2026); Nghị định 261/2025/NĐ-CP; NHNN (CV 5340/NHNN-CSTT, H2/2026).</a:t>
              </a:r>
            </a:p>
          </p:txBody>
        </p:sp>
      </p:grpSp>
      <p:grpSp>
        <p:nvGrpSpPr>
          <p:cNvPr name="Group 26" id="26"/>
          <p:cNvGrpSpPr/>
          <p:nvPr/>
        </p:nvGrpSpPr>
        <p:grpSpPr>
          <a:xfrm rot="0">
            <a:off x="756666" y="1881378"/>
            <a:ext cx="6606540" cy="7511796"/>
            <a:chOff x="0" y="0"/>
            <a:chExt cx="8808720" cy="10015728"/>
          </a:xfrm>
        </p:grpSpPr>
        <p:sp>
          <p:nvSpPr>
            <p:cNvPr name="Freeform 27" id="27"/>
            <p:cNvSpPr/>
            <p:nvPr/>
          </p:nvSpPr>
          <p:spPr>
            <a:xfrm flipH="false" flipV="false" rot="0">
              <a:off x="0" y="0"/>
              <a:ext cx="8808720" cy="10015728"/>
            </a:xfrm>
            <a:custGeom>
              <a:avLst/>
              <a:gdLst/>
              <a:ahLst/>
              <a:cxnLst/>
              <a:rect r="r" b="b" t="t" l="l"/>
              <a:pathLst>
                <a:path h="10015728" w="8808720">
                  <a:moveTo>
                    <a:pt x="0" y="352298"/>
                  </a:moveTo>
                  <a:cubicBezTo>
                    <a:pt x="0" y="157734"/>
                    <a:pt x="157734" y="0"/>
                    <a:pt x="352298" y="0"/>
                  </a:cubicBezTo>
                  <a:lnTo>
                    <a:pt x="8456422" y="0"/>
                  </a:lnTo>
                  <a:cubicBezTo>
                    <a:pt x="8650986" y="0"/>
                    <a:pt x="8808720" y="157734"/>
                    <a:pt x="8808720" y="352298"/>
                  </a:cubicBezTo>
                  <a:lnTo>
                    <a:pt x="8808720" y="9663430"/>
                  </a:lnTo>
                  <a:cubicBezTo>
                    <a:pt x="8808720" y="9857994"/>
                    <a:pt x="8650986" y="10015728"/>
                    <a:pt x="8456422" y="10015728"/>
                  </a:cubicBezTo>
                  <a:lnTo>
                    <a:pt x="352298" y="10015728"/>
                  </a:lnTo>
                  <a:cubicBezTo>
                    <a:pt x="157734" y="10015728"/>
                    <a:pt x="0" y="9857994"/>
                    <a:pt x="0" y="9663430"/>
                  </a:cubicBezTo>
                  <a:close/>
                </a:path>
              </a:pathLst>
            </a:custGeom>
            <a:solidFill>
              <a:srgbClr val="FFFFFF"/>
            </a:solidFill>
            <a:ln w="22860" cap="sq">
              <a:solidFill>
                <a:srgbClr val="CBD5E1"/>
              </a:solidFill>
              <a:prstDash val="solid"/>
              <a:miter/>
            </a:ln>
          </p:spPr>
        </p:sp>
      </p:grpSp>
      <p:grpSp>
        <p:nvGrpSpPr>
          <p:cNvPr name="Group 28" id="28"/>
          <p:cNvGrpSpPr/>
          <p:nvPr/>
        </p:nvGrpSpPr>
        <p:grpSpPr>
          <a:xfrm rot="0">
            <a:off x="850392" y="1975104"/>
            <a:ext cx="6419088" cy="6748272"/>
            <a:chOff x="0" y="0"/>
            <a:chExt cx="8558784" cy="8997696"/>
          </a:xfrm>
        </p:grpSpPr>
        <p:sp>
          <p:nvSpPr>
            <p:cNvPr name="Freeform 29" id="29" descr="image10.jpg"/>
            <p:cNvSpPr/>
            <p:nvPr/>
          </p:nvSpPr>
          <p:spPr>
            <a:xfrm flipH="false" flipV="false" rot="0">
              <a:off x="0" y="0"/>
              <a:ext cx="8558784" cy="8997696"/>
            </a:xfrm>
            <a:custGeom>
              <a:avLst/>
              <a:gdLst/>
              <a:ahLst/>
              <a:cxnLst/>
              <a:rect r="r" b="b" t="t" l="l"/>
              <a:pathLst>
                <a:path h="8997696" w="8558784">
                  <a:moveTo>
                    <a:pt x="0" y="0"/>
                  </a:moveTo>
                  <a:lnTo>
                    <a:pt x="8558784" y="0"/>
                  </a:lnTo>
                  <a:lnTo>
                    <a:pt x="8558784" y="8997696"/>
                  </a:lnTo>
                  <a:lnTo>
                    <a:pt x="0" y="8997696"/>
                  </a:lnTo>
                  <a:lnTo>
                    <a:pt x="0" y="0"/>
                  </a:lnTo>
                  <a:close/>
                </a:path>
              </a:pathLst>
            </a:custGeom>
            <a:blipFill>
              <a:blip r:embed="rId3"/>
              <a:stretch>
                <a:fillRect l="-1491" t="0" r="-1491" b="0"/>
              </a:stretch>
            </a:blipFill>
          </p:spPr>
        </p:sp>
      </p:grpSp>
      <p:grpSp>
        <p:nvGrpSpPr>
          <p:cNvPr name="Group 30" id="30"/>
          <p:cNvGrpSpPr/>
          <p:nvPr/>
        </p:nvGrpSpPr>
        <p:grpSpPr>
          <a:xfrm rot="0">
            <a:off x="850392" y="8778240"/>
            <a:ext cx="6419088" cy="548640"/>
            <a:chOff x="0" y="0"/>
            <a:chExt cx="8558784" cy="731520"/>
          </a:xfrm>
        </p:grpSpPr>
        <p:sp>
          <p:nvSpPr>
            <p:cNvPr name="Freeform 31" id="31"/>
            <p:cNvSpPr/>
            <p:nvPr/>
          </p:nvSpPr>
          <p:spPr>
            <a:xfrm flipH="false" flipV="false" rot="0">
              <a:off x="0" y="0"/>
              <a:ext cx="8558784" cy="731520"/>
            </a:xfrm>
            <a:custGeom>
              <a:avLst/>
              <a:gdLst/>
              <a:ahLst/>
              <a:cxnLst/>
              <a:rect r="r" b="b" t="t" l="l"/>
              <a:pathLst>
                <a:path h="731520" w="8558784">
                  <a:moveTo>
                    <a:pt x="0" y="0"/>
                  </a:moveTo>
                  <a:lnTo>
                    <a:pt x="8558784" y="0"/>
                  </a:lnTo>
                  <a:lnTo>
                    <a:pt x="8558784" y="731520"/>
                  </a:lnTo>
                  <a:lnTo>
                    <a:pt x="0" y="731520"/>
                  </a:lnTo>
                  <a:close/>
                </a:path>
              </a:pathLst>
            </a:custGeom>
            <a:solidFill>
              <a:srgbClr val="F1F5F9"/>
            </a:solidFill>
          </p:spPr>
        </p:sp>
      </p:grpSp>
      <p:grpSp>
        <p:nvGrpSpPr>
          <p:cNvPr name="Group 32" id="32"/>
          <p:cNvGrpSpPr/>
          <p:nvPr/>
        </p:nvGrpSpPr>
        <p:grpSpPr>
          <a:xfrm rot="0">
            <a:off x="932688" y="8778240"/>
            <a:ext cx="6254496" cy="548640"/>
            <a:chOff x="0" y="0"/>
            <a:chExt cx="8339328" cy="731520"/>
          </a:xfrm>
        </p:grpSpPr>
        <p:sp>
          <p:nvSpPr>
            <p:cNvPr name="Freeform 33" id="33"/>
            <p:cNvSpPr/>
            <p:nvPr/>
          </p:nvSpPr>
          <p:spPr>
            <a:xfrm flipH="false" flipV="false" rot="0">
              <a:off x="0" y="0"/>
              <a:ext cx="8339326" cy="731520"/>
            </a:xfrm>
            <a:custGeom>
              <a:avLst/>
              <a:gdLst/>
              <a:ahLst/>
              <a:cxnLst/>
              <a:rect r="r" b="b" t="t" l="l"/>
              <a:pathLst>
                <a:path h="731520" w="8339326">
                  <a:moveTo>
                    <a:pt x="0" y="0"/>
                  </a:moveTo>
                  <a:lnTo>
                    <a:pt x="8339326" y="0"/>
                  </a:lnTo>
                  <a:lnTo>
                    <a:pt x="8339326" y="731520"/>
                  </a:lnTo>
                  <a:lnTo>
                    <a:pt x="0" y="731520"/>
                  </a:lnTo>
                  <a:close/>
                </a:path>
              </a:pathLst>
            </a:custGeom>
            <a:blipFill>
              <a:blip r:embed="rId2">
                <a:alphaModFix amt="0"/>
              </a:blip>
              <a:stretch>
                <a:fillRect l="0" t="-172129" r="0" b="-172129"/>
              </a:stretch>
            </a:blipFill>
          </p:spPr>
        </p:sp>
        <p:sp>
          <p:nvSpPr>
            <p:cNvPr name="TextBox 34" id="34"/>
            <p:cNvSpPr txBox="true"/>
            <p:nvPr/>
          </p:nvSpPr>
          <p:spPr>
            <a:xfrm>
              <a:off x="0" y="-9525"/>
              <a:ext cx="8339328" cy="741045"/>
            </a:xfrm>
            <a:prstGeom prst="rect">
              <a:avLst/>
            </a:prstGeom>
          </p:spPr>
          <p:txBody>
            <a:bodyPr anchor="ctr" rtlCol="false" tIns="0" lIns="0" bIns="0" rIns="0"/>
            <a:lstStyle/>
            <a:p>
              <a:pPr algn="l">
                <a:lnSpc>
                  <a:spcPts val="1727"/>
                </a:lnSpc>
              </a:pPr>
              <a:r>
                <a:rPr lang="en-US" sz="1439" b="true">
                  <a:solidFill>
                    <a:srgbClr val="1E293B"/>
                  </a:solidFill>
                  <a:latin typeface="DejaVu Sans Bold"/>
                  <a:ea typeface="DejaVu Sans Bold"/>
                  <a:cs typeface="DejaVu Sans Bold"/>
                  <a:sym typeface="DejaVu Sans Bold"/>
                </a:rPr>
                <a:t>Ảnh thật: Gia đình trẻ &amp; trường mầm non nội khu NOXH Lê Thành An Lạc, TP.HCM | Nguồn: Báo Xây dựng</a:t>
              </a:r>
            </a:p>
          </p:txBody>
        </p:sp>
      </p:grpSp>
      <p:grpSp>
        <p:nvGrpSpPr>
          <p:cNvPr name="Group 35" id="35"/>
          <p:cNvGrpSpPr/>
          <p:nvPr/>
        </p:nvGrpSpPr>
        <p:grpSpPr>
          <a:xfrm rot="0">
            <a:off x="7721536" y="1905952"/>
            <a:ext cx="9821799" cy="2250567"/>
            <a:chOff x="0" y="0"/>
            <a:chExt cx="13095732" cy="3000756"/>
          </a:xfrm>
        </p:grpSpPr>
        <p:sp>
          <p:nvSpPr>
            <p:cNvPr name="Freeform 36" id="36"/>
            <p:cNvSpPr/>
            <p:nvPr/>
          </p:nvSpPr>
          <p:spPr>
            <a:xfrm flipH="false" flipV="false" rot="0">
              <a:off x="0" y="0"/>
              <a:ext cx="13095732" cy="3000756"/>
            </a:xfrm>
            <a:custGeom>
              <a:avLst/>
              <a:gdLst/>
              <a:ahLst/>
              <a:cxnLst/>
              <a:rect r="r" b="b" t="t" l="l"/>
              <a:pathLst>
                <a:path h="3000756" w="13095732">
                  <a:moveTo>
                    <a:pt x="0" y="120015"/>
                  </a:moveTo>
                  <a:cubicBezTo>
                    <a:pt x="0" y="53721"/>
                    <a:pt x="53721" y="0"/>
                    <a:pt x="120015" y="0"/>
                  </a:cubicBezTo>
                  <a:lnTo>
                    <a:pt x="12975717" y="0"/>
                  </a:lnTo>
                  <a:cubicBezTo>
                    <a:pt x="13042012" y="0"/>
                    <a:pt x="13095732" y="53721"/>
                    <a:pt x="13095732" y="120015"/>
                  </a:cubicBezTo>
                  <a:lnTo>
                    <a:pt x="13095732" y="2880741"/>
                  </a:lnTo>
                  <a:cubicBezTo>
                    <a:pt x="13095732" y="2947035"/>
                    <a:pt x="13042012" y="3000756"/>
                    <a:pt x="12975717" y="3000756"/>
                  </a:cubicBezTo>
                  <a:lnTo>
                    <a:pt x="120015" y="3000756"/>
                  </a:lnTo>
                  <a:cubicBezTo>
                    <a:pt x="53721" y="3000756"/>
                    <a:pt x="0" y="2947035"/>
                    <a:pt x="0" y="2880741"/>
                  </a:cubicBezTo>
                  <a:close/>
                </a:path>
              </a:pathLst>
            </a:custGeom>
            <a:solidFill>
              <a:srgbClr val="EAF7F5"/>
            </a:solidFill>
            <a:ln w="28575" cap="sq">
              <a:solidFill>
                <a:srgbClr val="0F766E"/>
              </a:solidFill>
              <a:prstDash val="solid"/>
              <a:miter/>
            </a:ln>
          </p:spPr>
        </p:sp>
      </p:grpSp>
      <p:grpSp>
        <p:nvGrpSpPr>
          <p:cNvPr name="Group 37" id="37"/>
          <p:cNvGrpSpPr/>
          <p:nvPr/>
        </p:nvGrpSpPr>
        <p:grpSpPr>
          <a:xfrm rot="0">
            <a:off x="7955280" y="2002536"/>
            <a:ext cx="9381744" cy="2057400"/>
            <a:chOff x="0" y="0"/>
            <a:chExt cx="12508992" cy="2743200"/>
          </a:xfrm>
        </p:grpSpPr>
        <p:sp>
          <p:nvSpPr>
            <p:cNvPr name="Freeform 38" id="38"/>
            <p:cNvSpPr/>
            <p:nvPr/>
          </p:nvSpPr>
          <p:spPr>
            <a:xfrm flipH="false" flipV="false" rot="0">
              <a:off x="0" y="0"/>
              <a:ext cx="12508992" cy="2743200"/>
            </a:xfrm>
            <a:custGeom>
              <a:avLst/>
              <a:gdLst/>
              <a:ahLst/>
              <a:cxnLst/>
              <a:rect r="r" b="b" t="t" l="l"/>
              <a:pathLst>
                <a:path h="2743200" w="12508992">
                  <a:moveTo>
                    <a:pt x="0" y="0"/>
                  </a:moveTo>
                  <a:lnTo>
                    <a:pt x="12508992" y="0"/>
                  </a:lnTo>
                  <a:lnTo>
                    <a:pt x="12508992" y="2743200"/>
                  </a:lnTo>
                  <a:lnTo>
                    <a:pt x="0" y="2743200"/>
                  </a:lnTo>
                  <a:close/>
                </a:path>
              </a:pathLst>
            </a:custGeom>
            <a:blipFill>
              <a:blip r:embed="rId2">
                <a:alphaModFix amt="0"/>
              </a:blip>
              <a:stretch>
                <a:fillRect l="0" t="-38851" r="0" b="-38851"/>
              </a:stretch>
            </a:blipFill>
          </p:spPr>
        </p:sp>
        <p:sp>
          <p:nvSpPr>
            <p:cNvPr name="TextBox 39" id="39"/>
            <p:cNvSpPr txBox="true"/>
            <p:nvPr/>
          </p:nvSpPr>
          <p:spPr>
            <a:xfrm>
              <a:off x="0" y="-19050"/>
              <a:ext cx="12508992" cy="2762250"/>
            </a:xfrm>
            <a:prstGeom prst="rect">
              <a:avLst/>
            </a:prstGeom>
          </p:spPr>
          <p:txBody>
            <a:bodyPr anchor="ctr" rtlCol="false" tIns="0" lIns="0" bIns="0" rIns="0"/>
            <a:lstStyle/>
            <a:p>
              <a:pPr algn="l">
                <a:lnSpc>
                  <a:spcPts val="2520"/>
                </a:lnSpc>
              </a:pPr>
              <a:r>
                <a:rPr lang="en-US" sz="2100" b="true">
                  <a:solidFill>
                    <a:srgbClr val="0F766E"/>
                  </a:solidFill>
                  <a:latin typeface="DejaVu Sans Bold"/>
                  <a:ea typeface="DejaVu Sans Bold"/>
                  <a:cs typeface="DejaVu Sans Bold"/>
                  <a:sym typeface="DejaVu Sans Bold"/>
                </a:rPr>
                <a:t>1. TRẦN THU NHẬP MỚI (NGHỊ ĐỊNH 136/2026/NĐ-CP TỪ 07/4/2026):</a:t>
              </a:r>
            </a:p>
            <a:p>
              <a:pPr algn="l">
                <a:lnSpc>
                  <a:spcPts val="2520"/>
                </a:lnSpc>
              </a:pPr>
              <a:r>
                <a:rPr lang="en-US" sz="2100">
                  <a:solidFill>
                    <a:srgbClr val="0B192E"/>
                  </a:solidFill>
                  <a:latin typeface="DejaVu Sans Light"/>
                  <a:ea typeface="DejaVu Sans Light"/>
                  <a:cs typeface="DejaVu Sans Light"/>
                  <a:sym typeface="DejaVu Sans Light"/>
                </a:rPr>
                <a:t>• Độc thân: ≤ 25 triệu/tháng | Độc thân nuôi con chưa thành niên: ≤ 35 triệu | Vợ chồng: ≤ 50 triệu/tháng.</a:t>
              </a:r>
            </a:p>
            <a:p>
              <a:pPr algn="l">
                <a:lnSpc>
                  <a:spcPts val="2520"/>
                </a:lnSpc>
              </a:pPr>
              <a:r>
                <a:rPr lang="en-US" sz="2100">
                  <a:solidFill>
                    <a:srgbClr val="0B192E"/>
                  </a:solidFill>
                  <a:latin typeface="DejaVu Sans Light"/>
                  <a:ea typeface="DejaVu Sans Light"/>
                  <a:cs typeface="DejaVu Sans Light"/>
                  <a:sym typeface="DejaVu Sans Light"/>
                </a:rPr>
                <a:t>• Lưu ý: Thu nhập chỉ là 1 điều kiện; người mua còn phải thuộc nhóm đối tượng (Điều 76) &amp; chưa có nhà ở theo luật.</a:t>
              </a:r>
            </a:p>
          </p:txBody>
        </p:sp>
      </p:grpSp>
      <p:grpSp>
        <p:nvGrpSpPr>
          <p:cNvPr name="Group 40" id="40"/>
          <p:cNvGrpSpPr/>
          <p:nvPr/>
        </p:nvGrpSpPr>
        <p:grpSpPr>
          <a:xfrm rot="0">
            <a:off x="7721536" y="4292536"/>
            <a:ext cx="9821799" cy="2662047"/>
            <a:chOff x="0" y="0"/>
            <a:chExt cx="13095732" cy="3549396"/>
          </a:xfrm>
        </p:grpSpPr>
        <p:sp>
          <p:nvSpPr>
            <p:cNvPr name="Freeform 41" id="41"/>
            <p:cNvSpPr/>
            <p:nvPr/>
          </p:nvSpPr>
          <p:spPr>
            <a:xfrm flipH="false" flipV="false" rot="0">
              <a:off x="0" y="0"/>
              <a:ext cx="13095732" cy="3549396"/>
            </a:xfrm>
            <a:custGeom>
              <a:avLst/>
              <a:gdLst/>
              <a:ahLst/>
              <a:cxnLst/>
              <a:rect r="r" b="b" t="t" l="l"/>
              <a:pathLst>
                <a:path h="3549396" w="13095732">
                  <a:moveTo>
                    <a:pt x="0" y="141986"/>
                  </a:moveTo>
                  <a:cubicBezTo>
                    <a:pt x="0" y="63627"/>
                    <a:pt x="63627" y="0"/>
                    <a:pt x="141986" y="0"/>
                  </a:cubicBezTo>
                  <a:lnTo>
                    <a:pt x="12953746" y="0"/>
                  </a:lnTo>
                  <a:cubicBezTo>
                    <a:pt x="13032105" y="0"/>
                    <a:pt x="13095732" y="63627"/>
                    <a:pt x="13095732" y="141986"/>
                  </a:cubicBezTo>
                  <a:lnTo>
                    <a:pt x="13095732" y="3407410"/>
                  </a:lnTo>
                  <a:cubicBezTo>
                    <a:pt x="13095732" y="3485769"/>
                    <a:pt x="13032105" y="3549396"/>
                    <a:pt x="12953746" y="3549396"/>
                  </a:cubicBezTo>
                  <a:lnTo>
                    <a:pt x="141986" y="3549396"/>
                  </a:lnTo>
                  <a:cubicBezTo>
                    <a:pt x="63627" y="3549396"/>
                    <a:pt x="0" y="3485769"/>
                    <a:pt x="0" y="3407410"/>
                  </a:cubicBezTo>
                  <a:close/>
                </a:path>
              </a:pathLst>
            </a:custGeom>
            <a:solidFill>
              <a:srgbClr val="EEF6FC"/>
            </a:solidFill>
            <a:ln w="28575" cap="sq">
              <a:solidFill>
                <a:srgbClr val="0369A1"/>
              </a:solidFill>
              <a:prstDash val="solid"/>
              <a:miter/>
            </a:ln>
          </p:spPr>
        </p:sp>
      </p:grpSp>
      <p:grpSp>
        <p:nvGrpSpPr>
          <p:cNvPr name="Group 42" id="42"/>
          <p:cNvGrpSpPr/>
          <p:nvPr/>
        </p:nvGrpSpPr>
        <p:grpSpPr>
          <a:xfrm rot="0">
            <a:off x="7955280" y="4389120"/>
            <a:ext cx="9381744" cy="2468880"/>
            <a:chOff x="0" y="0"/>
            <a:chExt cx="12508992" cy="3291840"/>
          </a:xfrm>
        </p:grpSpPr>
        <p:sp>
          <p:nvSpPr>
            <p:cNvPr name="Freeform 43" id="43"/>
            <p:cNvSpPr/>
            <p:nvPr/>
          </p:nvSpPr>
          <p:spPr>
            <a:xfrm flipH="false" flipV="false" rot="0">
              <a:off x="0" y="0"/>
              <a:ext cx="12508992" cy="3291838"/>
            </a:xfrm>
            <a:custGeom>
              <a:avLst/>
              <a:gdLst/>
              <a:ahLst/>
              <a:cxnLst/>
              <a:rect r="r" b="b" t="t" l="l"/>
              <a:pathLst>
                <a:path h="3291838" w="12508992">
                  <a:moveTo>
                    <a:pt x="0" y="0"/>
                  </a:moveTo>
                  <a:lnTo>
                    <a:pt x="12508992" y="0"/>
                  </a:lnTo>
                  <a:lnTo>
                    <a:pt x="12508992" y="3291838"/>
                  </a:lnTo>
                  <a:lnTo>
                    <a:pt x="0" y="3291838"/>
                  </a:lnTo>
                  <a:close/>
                </a:path>
              </a:pathLst>
            </a:custGeom>
            <a:blipFill>
              <a:blip r:embed="rId2">
                <a:alphaModFix amt="0"/>
              </a:blip>
              <a:stretch>
                <a:fillRect l="0" t="-24043" r="0" b="-24043"/>
              </a:stretch>
            </a:blipFill>
          </p:spPr>
        </p:sp>
        <p:sp>
          <p:nvSpPr>
            <p:cNvPr name="TextBox 44" id="44"/>
            <p:cNvSpPr txBox="true"/>
            <p:nvPr/>
          </p:nvSpPr>
          <p:spPr>
            <a:xfrm>
              <a:off x="0" y="-19050"/>
              <a:ext cx="12508992" cy="3310890"/>
            </a:xfrm>
            <a:prstGeom prst="rect">
              <a:avLst/>
            </a:prstGeom>
          </p:spPr>
          <p:txBody>
            <a:bodyPr anchor="ctr" rtlCol="false" tIns="0" lIns="0" bIns="0" rIns="0"/>
            <a:lstStyle/>
            <a:p>
              <a:pPr algn="l">
                <a:lnSpc>
                  <a:spcPts val="2520"/>
                </a:lnSpc>
              </a:pPr>
              <a:r>
                <a:rPr lang="en-US" sz="2100" b="true">
                  <a:solidFill>
                    <a:srgbClr val="0369A1"/>
                  </a:solidFill>
                  <a:latin typeface="DejaVu Sans Bold"/>
                  <a:ea typeface="DejaVu Sans Bold"/>
                  <a:cs typeface="DejaVu Sans Bold"/>
                  <a:sym typeface="DejaVu Sans Bold"/>
                </a:rPr>
                <a:t>2. TÁCH BẠCH RÕ 2 CHƯƠNG TRÌNH TÍN DỤNG ƯU ĐÃI (NĂM 2026):</a:t>
              </a:r>
            </a:p>
            <a:p>
              <a:pPr algn="l">
                <a:lnSpc>
                  <a:spcPts val="2520"/>
                </a:lnSpc>
              </a:pPr>
              <a:r>
                <a:rPr lang="en-US" sz="2100">
                  <a:solidFill>
                    <a:srgbClr val="0B192E"/>
                  </a:solidFill>
                  <a:latin typeface="DejaVu Sans Light"/>
                  <a:ea typeface="DejaVu Sans Light"/>
                  <a:cs typeface="DejaVu Sans Light"/>
                  <a:sym typeface="DejaVu Sans Light"/>
                </a:rPr>
                <a:t>• Kênh NHCSXH (NĐ 261/2025): Lãi suất 5,4%/năm, tối đa 25 năm (cho đối tượng đủ điều kiện vay vốn chính sách).</a:t>
              </a:r>
            </a:p>
            <a:p>
              <a:pPr algn="l">
                <a:lnSpc>
                  <a:spcPts val="2520"/>
                </a:lnSpc>
              </a:pPr>
              <a:r>
                <a:rPr lang="en-US" sz="2100">
                  <a:solidFill>
                    <a:srgbClr val="0B192E"/>
                  </a:solidFill>
                  <a:latin typeface="DejaVu Sans Light"/>
                  <a:ea typeface="DejaVu Sans Light"/>
                  <a:cs typeface="DejaVu Sans Light"/>
                  <a:sym typeface="DejaVu Sans Light"/>
                </a:rPr>
                <a:t>• Kênh 9 NHTM cho người &lt;35 tuổi mua NOXH (01/7–31/12/2026, CV 5340/NHNN): 6,5%/năm (5 năm đầu) &amp; mức tham chiếu 7,5%/năm (10 năm tiếp theo, điều chỉnh định kỳ).</a:t>
              </a:r>
            </a:p>
          </p:txBody>
        </p:sp>
      </p:grpSp>
      <p:grpSp>
        <p:nvGrpSpPr>
          <p:cNvPr name="Group 45" id="45"/>
          <p:cNvGrpSpPr/>
          <p:nvPr/>
        </p:nvGrpSpPr>
        <p:grpSpPr>
          <a:xfrm rot="0">
            <a:off x="7721536" y="7090600"/>
            <a:ext cx="9821799" cy="2305431"/>
            <a:chOff x="0" y="0"/>
            <a:chExt cx="13095732" cy="3073908"/>
          </a:xfrm>
        </p:grpSpPr>
        <p:sp>
          <p:nvSpPr>
            <p:cNvPr name="Freeform 46" id="46"/>
            <p:cNvSpPr/>
            <p:nvPr/>
          </p:nvSpPr>
          <p:spPr>
            <a:xfrm flipH="false" flipV="false" rot="0">
              <a:off x="0" y="0"/>
              <a:ext cx="13095732" cy="3073908"/>
            </a:xfrm>
            <a:custGeom>
              <a:avLst/>
              <a:gdLst/>
              <a:ahLst/>
              <a:cxnLst/>
              <a:rect r="r" b="b" t="t" l="l"/>
              <a:pathLst>
                <a:path h="3073908" w="13095732">
                  <a:moveTo>
                    <a:pt x="0" y="122936"/>
                  </a:moveTo>
                  <a:cubicBezTo>
                    <a:pt x="0" y="54991"/>
                    <a:pt x="54991" y="0"/>
                    <a:pt x="122936" y="0"/>
                  </a:cubicBezTo>
                  <a:lnTo>
                    <a:pt x="12972796" y="0"/>
                  </a:lnTo>
                  <a:cubicBezTo>
                    <a:pt x="13040740" y="0"/>
                    <a:pt x="13095732" y="54991"/>
                    <a:pt x="13095732" y="122936"/>
                  </a:cubicBezTo>
                  <a:lnTo>
                    <a:pt x="13095732" y="2950972"/>
                  </a:lnTo>
                  <a:cubicBezTo>
                    <a:pt x="13095732" y="3018917"/>
                    <a:pt x="13040740" y="3073908"/>
                    <a:pt x="12972796" y="3073908"/>
                  </a:cubicBezTo>
                  <a:lnTo>
                    <a:pt x="122936" y="3073908"/>
                  </a:lnTo>
                  <a:cubicBezTo>
                    <a:pt x="54991" y="3073908"/>
                    <a:pt x="0" y="3018917"/>
                    <a:pt x="0" y="2950972"/>
                  </a:cubicBezTo>
                  <a:close/>
                </a:path>
              </a:pathLst>
            </a:custGeom>
            <a:solidFill>
              <a:srgbClr val="FFF7ED"/>
            </a:solidFill>
            <a:ln w="28575" cap="sq">
              <a:solidFill>
                <a:srgbClr val="C25915"/>
              </a:solidFill>
              <a:prstDash val="solid"/>
              <a:miter/>
            </a:ln>
          </p:spPr>
        </p:sp>
      </p:grpSp>
      <p:grpSp>
        <p:nvGrpSpPr>
          <p:cNvPr name="Group 47" id="47"/>
          <p:cNvGrpSpPr/>
          <p:nvPr/>
        </p:nvGrpSpPr>
        <p:grpSpPr>
          <a:xfrm rot="0">
            <a:off x="7955280" y="7187184"/>
            <a:ext cx="9381744" cy="2112264"/>
            <a:chOff x="0" y="0"/>
            <a:chExt cx="12508992" cy="2816352"/>
          </a:xfrm>
        </p:grpSpPr>
        <p:sp>
          <p:nvSpPr>
            <p:cNvPr name="Freeform 48" id="48"/>
            <p:cNvSpPr/>
            <p:nvPr/>
          </p:nvSpPr>
          <p:spPr>
            <a:xfrm flipH="false" flipV="false" rot="0">
              <a:off x="0" y="0"/>
              <a:ext cx="12508992" cy="2816352"/>
            </a:xfrm>
            <a:custGeom>
              <a:avLst/>
              <a:gdLst/>
              <a:ahLst/>
              <a:cxnLst/>
              <a:rect r="r" b="b" t="t" l="l"/>
              <a:pathLst>
                <a:path h="2816352" w="12508992">
                  <a:moveTo>
                    <a:pt x="0" y="0"/>
                  </a:moveTo>
                  <a:lnTo>
                    <a:pt x="12508992" y="0"/>
                  </a:lnTo>
                  <a:lnTo>
                    <a:pt x="12508992" y="2816352"/>
                  </a:lnTo>
                  <a:lnTo>
                    <a:pt x="0" y="2816352"/>
                  </a:lnTo>
                  <a:close/>
                </a:path>
              </a:pathLst>
            </a:custGeom>
            <a:blipFill>
              <a:blip r:embed="rId2">
                <a:alphaModFix amt="0"/>
              </a:blip>
              <a:stretch>
                <a:fillRect l="0" t="-36543" r="0" b="-36543"/>
              </a:stretch>
            </a:blipFill>
          </p:spPr>
        </p:sp>
        <p:sp>
          <p:nvSpPr>
            <p:cNvPr name="TextBox 49" id="49"/>
            <p:cNvSpPr txBox="true"/>
            <p:nvPr/>
          </p:nvSpPr>
          <p:spPr>
            <a:xfrm>
              <a:off x="0" y="-19050"/>
              <a:ext cx="12508992" cy="2835402"/>
            </a:xfrm>
            <a:prstGeom prst="rect">
              <a:avLst/>
            </a:prstGeom>
          </p:spPr>
          <p:txBody>
            <a:bodyPr anchor="ctr" rtlCol="false" tIns="0" lIns="0" bIns="0" rIns="0"/>
            <a:lstStyle/>
            <a:p>
              <a:pPr algn="l">
                <a:lnSpc>
                  <a:spcPts val="2520"/>
                </a:lnSpc>
              </a:pPr>
              <a:r>
                <a:rPr lang="en-US" sz="2100" b="true">
                  <a:solidFill>
                    <a:srgbClr val="C25915"/>
                  </a:solidFill>
                  <a:latin typeface="DejaVu Sans Bold"/>
                  <a:ea typeface="DejaVu Sans Bold"/>
                  <a:cs typeface="DejaVu Sans Bold"/>
                  <a:sym typeface="DejaVu Sans Bold"/>
                </a:rPr>
                <a:t>3. BÀI TOÁN DÒNG TIỀN THỰC TẾ (MINH HỌA CĂN NOXH ~1 TỶ ĐỒNG):</a:t>
              </a:r>
            </a:p>
            <a:p>
              <a:pPr algn="l">
                <a:lnSpc>
                  <a:spcPts val="3024"/>
                </a:lnSpc>
              </a:pPr>
              <a:r>
                <a:rPr lang="en-US" sz="2100">
                  <a:solidFill>
                    <a:srgbClr val="0B192E"/>
                  </a:solidFill>
                  <a:latin typeface="DejaVu Sans Light"/>
                  <a:ea typeface="DejaVu Sans Light"/>
                  <a:cs typeface="DejaVu Sans Light"/>
                  <a:sym typeface="DejaVu Sans Light"/>
                </a:rPr>
                <a:t>• Vay NHCSXH 800 triệu (5,4% – 25 năm) trả trung bình ~4,9 triệu/tháng — giảm mạnh so với vay thương mại, nhưng vẫn cần ~200 triệu vốn ban đầu &amp; chiếm 33–49% lương SV mới ra trường.</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7543" cy="137160"/>
            <a:chOff x="0" y="0"/>
            <a:chExt cx="24383390" cy="182880"/>
          </a:xfrm>
        </p:grpSpPr>
        <p:sp>
          <p:nvSpPr>
            <p:cNvPr name="Freeform 3" id="3"/>
            <p:cNvSpPr/>
            <p:nvPr/>
          </p:nvSpPr>
          <p:spPr>
            <a:xfrm flipH="false" flipV="false" rot="0">
              <a:off x="0" y="0"/>
              <a:ext cx="24383364" cy="182880"/>
            </a:xfrm>
            <a:custGeom>
              <a:avLst/>
              <a:gdLst/>
              <a:ahLst/>
              <a:cxnLst/>
              <a:rect r="r" b="b" t="t" l="l"/>
              <a:pathLst>
                <a:path h="182880" w="24383364">
                  <a:moveTo>
                    <a:pt x="0" y="0"/>
                  </a:moveTo>
                  <a:lnTo>
                    <a:pt x="24383364" y="0"/>
                  </a:lnTo>
                  <a:lnTo>
                    <a:pt x="24383364" y="182880"/>
                  </a:lnTo>
                  <a:lnTo>
                    <a:pt x="0" y="182880"/>
                  </a:lnTo>
                  <a:close/>
                </a:path>
              </a:pathLst>
            </a:custGeom>
            <a:solidFill>
              <a:srgbClr val="122645"/>
            </a:solidFill>
          </p:spPr>
        </p:sp>
      </p:grpSp>
      <p:grpSp>
        <p:nvGrpSpPr>
          <p:cNvPr name="Group 4" id="4"/>
          <p:cNvGrpSpPr/>
          <p:nvPr/>
        </p:nvGrpSpPr>
        <p:grpSpPr>
          <a:xfrm rot="0">
            <a:off x="0" y="0"/>
            <a:ext cx="14630038" cy="137160"/>
            <a:chOff x="0" y="0"/>
            <a:chExt cx="19506717" cy="182880"/>
          </a:xfrm>
        </p:grpSpPr>
        <p:sp>
          <p:nvSpPr>
            <p:cNvPr name="Freeform 5" id="5"/>
            <p:cNvSpPr/>
            <p:nvPr/>
          </p:nvSpPr>
          <p:spPr>
            <a:xfrm flipH="false" flipV="false" rot="0">
              <a:off x="0" y="0"/>
              <a:ext cx="19506692" cy="182880"/>
            </a:xfrm>
            <a:custGeom>
              <a:avLst/>
              <a:gdLst/>
              <a:ahLst/>
              <a:cxnLst/>
              <a:rect r="r" b="b" t="t" l="l"/>
              <a:pathLst>
                <a:path h="182880" w="19506692">
                  <a:moveTo>
                    <a:pt x="0" y="0"/>
                  </a:moveTo>
                  <a:lnTo>
                    <a:pt x="19506692" y="0"/>
                  </a:lnTo>
                  <a:lnTo>
                    <a:pt x="19506692" y="182880"/>
                  </a:lnTo>
                  <a:lnTo>
                    <a:pt x="0" y="182880"/>
                  </a:lnTo>
                  <a:close/>
                </a:path>
              </a:pathLst>
            </a:custGeom>
            <a:solidFill>
              <a:srgbClr val="0369A1"/>
            </a:solidFill>
          </p:spPr>
        </p:sp>
      </p:grpSp>
      <p:grpSp>
        <p:nvGrpSpPr>
          <p:cNvPr name="Group 6" id="6"/>
          <p:cNvGrpSpPr/>
          <p:nvPr/>
        </p:nvGrpSpPr>
        <p:grpSpPr>
          <a:xfrm rot="0">
            <a:off x="744855" y="292227"/>
            <a:ext cx="7151370" cy="485394"/>
            <a:chOff x="0" y="0"/>
            <a:chExt cx="9535160" cy="647192"/>
          </a:xfrm>
        </p:grpSpPr>
        <p:sp>
          <p:nvSpPr>
            <p:cNvPr name="Freeform 7" id="7"/>
            <p:cNvSpPr/>
            <p:nvPr/>
          </p:nvSpPr>
          <p:spPr>
            <a:xfrm flipH="false" flipV="false" rot="0">
              <a:off x="0" y="0"/>
              <a:ext cx="9535160" cy="647192"/>
            </a:xfrm>
            <a:custGeom>
              <a:avLst/>
              <a:gdLst/>
              <a:ahLst/>
              <a:cxnLst/>
              <a:rect r="r" b="b" t="t" l="l"/>
              <a:pathLst>
                <a:path h="647192" w="9535160">
                  <a:moveTo>
                    <a:pt x="0" y="25908"/>
                  </a:moveTo>
                  <a:cubicBezTo>
                    <a:pt x="0" y="11557"/>
                    <a:pt x="11557" y="0"/>
                    <a:pt x="25908" y="0"/>
                  </a:cubicBezTo>
                  <a:lnTo>
                    <a:pt x="9509252" y="0"/>
                  </a:lnTo>
                  <a:cubicBezTo>
                    <a:pt x="9523603" y="0"/>
                    <a:pt x="9535160" y="11557"/>
                    <a:pt x="9535160" y="25908"/>
                  </a:cubicBezTo>
                  <a:lnTo>
                    <a:pt x="9535160" y="621284"/>
                  </a:lnTo>
                  <a:cubicBezTo>
                    <a:pt x="9535160" y="635635"/>
                    <a:pt x="9523603" y="647192"/>
                    <a:pt x="9509252" y="647192"/>
                  </a:cubicBezTo>
                  <a:lnTo>
                    <a:pt x="25908" y="647192"/>
                  </a:lnTo>
                  <a:cubicBezTo>
                    <a:pt x="11557" y="647192"/>
                    <a:pt x="0" y="635635"/>
                    <a:pt x="0" y="621284"/>
                  </a:cubicBezTo>
                  <a:close/>
                </a:path>
              </a:pathLst>
            </a:custGeom>
            <a:solidFill>
              <a:srgbClr val="EEF6FC"/>
            </a:solidFill>
            <a:ln w="19050" cap="sq">
              <a:solidFill>
                <a:srgbClr val="0369A1"/>
              </a:solidFill>
              <a:prstDash val="solid"/>
              <a:miter/>
            </a:ln>
          </p:spPr>
        </p:sp>
      </p:grpSp>
      <p:grpSp>
        <p:nvGrpSpPr>
          <p:cNvPr name="Group 8" id="8"/>
          <p:cNvGrpSpPr/>
          <p:nvPr/>
        </p:nvGrpSpPr>
        <p:grpSpPr>
          <a:xfrm rot="0">
            <a:off x="850392" y="301752"/>
            <a:ext cx="6926580" cy="466344"/>
            <a:chOff x="0" y="0"/>
            <a:chExt cx="9235440" cy="621792"/>
          </a:xfrm>
        </p:grpSpPr>
        <p:sp>
          <p:nvSpPr>
            <p:cNvPr name="Freeform 9" id="9"/>
            <p:cNvSpPr/>
            <p:nvPr/>
          </p:nvSpPr>
          <p:spPr>
            <a:xfrm flipH="false" flipV="false" rot="0">
              <a:off x="0" y="0"/>
              <a:ext cx="9235440" cy="621792"/>
            </a:xfrm>
            <a:custGeom>
              <a:avLst/>
              <a:gdLst/>
              <a:ahLst/>
              <a:cxnLst/>
              <a:rect r="r" b="b" t="t" l="l"/>
              <a:pathLst>
                <a:path h="621792" w="9235440">
                  <a:moveTo>
                    <a:pt x="0" y="0"/>
                  </a:moveTo>
                  <a:lnTo>
                    <a:pt x="9235440" y="0"/>
                  </a:lnTo>
                  <a:lnTo>
                    <a:pt x="9235440" y="621792"/>
                  </a:lnTo>
                  <a:lnTo>
                    <a:pt x="0" y="621792"/>
                  </a:lnTo>
                  <a:close/>
                </a:path>
              </a:pathLst>
            </a:custGeom>
            <a:blipFill>
              <a:blip r:embed="rId2">
                <a:alphaModFix amt="0"/>
              </a:blip>
              <a:stretch>
                <a:fillRect l="0" t="-239410" r="0" b="-239410"/>
              </a:stretch>
            </a:blipFill>
          </p:spPr>
        </p:sp>
        <p:sp>
          <p:nvSpPr>
            <p:cNvPr name="TextBox 10" id="10"/>
            <p:cNvSpPr txBox="true"/>
            <p:nvPr/>
          </p:nvSpPr>
          <p:spPr>
            <a:xfrm>
              <a:off x="0" y="-9525"/>
              <a:ext cx="9235440" cy="631317"/>
            </a:xfrm>
            <a:prstGeom prst="rect">
              <a:avLst/>
            </a:prstGeom>
          </p:spPr>
          <p:txBody>
            <a:bodyPr anchor="ctr" rtlCol="false" tIns="0" lIns="0" bIns="0" rIns="0"/>
            <a:lstStyle/>
            <a:p>
              <a:pPr algn="l">
                <a:lnSpc>
                  <a:spcPts val="1889"/>
                </a:lnSpc>
              </a:pPr>
              <a:r>
                <a:rPr lang="en-US" sz="1575" b="true">
                  <a:solidFill>
                    <a:srgbClr val="0369A1"/>
                  </a:solidFill>
                  <a:latin typeface="DejaVu Sans Bold"/>
                  <a:ea typeface="DejaVu Sans Bold"/>
                  <a:cs typeface="DejaVu Sans Bold"/>
                  <a:sym typeface="DejaVu Sans Bold"/>
                </a:rPr>
                <a:t>TRẢ LỜI CÂU HỎI 2 • NHÀ CHO THUÊ &amp; THỂ CHẾ (MỤC 5.2)</a:t>
              </a:r>
            </a:p>
          </p:txBody>
        </p:sp>
      </p:grpSp>
      <p:grpSp>
        <p:nvGrpSpPr>
          <p:cNvPr name="Group 11" id="11"/>
          <p:cNvGrpSpPr/>
          <p:nvPr/>
        </p:nvGrpSpPr>
        <p:grpSpPr>
          <a:xfrm rot="0">
            <a:off x="15704820" y="301752"/>
            <a:ext cx="1824228" cy="466344"/>
            <a:chOff x="0" y="0"/>
            <a:chExt cx="2432304" cy="621792"/>
          </a:xfrm>
        </p:grpSpPr>
        <p:sp>
          <p:nvSpPr>
            <p:cNvPr name="Freeform 12" id="12"/>
            <p:cNvSpPr/>
            <p:nvPr/>
          </p:nvSpPr>
          <p:spPr>
            <a:xfrm flipH="false" flipV="false" rot="0">
              <a:off x="0" y="0"/>
              <a:ext cx="2432304" cy="621792"/>
            </a:xfrm>
            <a:custGeom>
              <a:avLst/>
              <a:gdLst/>
              <a:ahLst/>
              <a:cxnLst/>
              <a:rect r="r" b="b" t="t" l="l"/>
              <a:pathLst>
                <a:path h="621792" w="2432304">
                  <a:moveTo>
                    <a:pt x="0" y="24892"/>
                  </a:moveTo>
                  <a:cubicBezTo>
                    <a:pt x="0" y="11176"/>
                    <a:pt x="11176" y="0"/>
                    <a:pt x="24892" y="0"/>
                  </a:cubicBezTo>
                  <a:lnTo>
                    <a:pt x="2407412" y="0"/>
                  </a:lnTo>
                  <a:cubicBezTo>
                    <a:pt x="2421128" y="0"/>
                    <a:pt x="2432304" y="11176"/>
                    <a:pt x="2432304" y="24892"/>
                  </a:cubicBezTo>
                  <a:lnTo>
                    <a:pt x="2432304" y="596900"/>
                  </a:lnTo>
                  <a:cubicBezTo>
                    <a:pt x="2432304" y="610616"/>
                    <a:pt x="2421128" y="621792"/>
                    <a:pt x="2407412" y="621792"/>
                  </a:cubicBezTo>
                  <a:lnTo>
                    <a:pt x="24892" y="621792"/>
                  </a:lnTo>
                  <a:cubicBezTo>
                    <a:pt x="11176" y="621792"/>
                    <a:pt x="0" y="610616"/>
                    <a:pt x="0" y="596900"/>
                  </a:cubicBezTo>
                  <a:close/>
                </a:path>
              </a:pathLst>
            </a:custGeom>
            <a:solidFill>
              <a:srgbClr val="122645"/>
            </a:solidFill>
          </p:spPr>
        </p:sp>
      </p:grpSp>
      <p:grpSp>
        <p:nvGrpSpPr>
          <p:cNvPr name="Group 13" id="13"/>
          <p:cNvGrpSpPr/>
          <p:nvPr/>
        </p:nvGrpSpPr>
        <p:grpSpPr>
          <a:xfrm rot="0">
            <a:off x="15704820" y="301752"/>
            <a:ext cx="1824228" cy="466344"/>
            <a:chOff x="0" y="0"/>
            <a:chExt cx="2432304" cy="621792"/>
          </a:xfrm>
        </p:grpSpPr>
        <p:sp>
          <p:nvSpPr>
            <p:cNvPr name="Freeform 14" id="14"/>
            <p:cNvSpPr/>
            <p:nvPr/>
          </p:nvSpPr>
          <p:spPr>
            <a:xfrm flipH="false" flipV="false" rot="0">
              <a:off x="0" y="0"/>
              <a:ext cx="2432304" cy="621792"/>
            </a:xfrm>
            <a:custGeom>
              <a:avLst/>
              <a:gdLst/>
              <a:ahLst/>
              <a:cxnLst/>
              <a:rect r="r" b="b" t="t" l="l"/>
              <a:pathLst>
                <a:path h="621792" w="2432304">
                  <a:moveTo>
                    <a:pt x="0" y="0"/>
                  </a:moveTo>
                  <a:lnTo>
                    <a:pt x="2432304" y="0"/>
                  </a:lnTo>
                  <a:lnTo>
                    <a:pt x="2432304" y="621792"/>
                  </a:lnTo>
                  <a:lnTo>
                    <a:pt x="0" y="621792"/>
                  </a:lnTo>
                  <a:close/>
                </a:path>
              </a:pathLst>
            </a:custGeom>
            <a:blipFill>
              <a:blip r:embed="rId2">
                <a:alphaModFix amt="0"/>
              </a:blip>
              <a:stretch>
                <a:fillRect l="0" t="-26220" r="0" b="-26220"/>
              </a:stretch>
            </a:blipFill>
          </p:spPr>
        </p:sp>
        <p:sp>
          <p:nvSpPr>
            <p:cNvPr name="TextBox 15" id="15"/>
            <p:cNvSpPr txBox="true"/>
            <p:nvPr/>
          </p:nvSpPr>
          <p:spPr>
            <a:xfrm>
              <a:off x="0" y="-9525"/>
              <a:ext cx="2432304" cy="631317"/>
            </a:xfrm>
            <a:prstGeom prst="rect">
              <a:avLst/>
            </a:prstGeom>
          </p:spPr>
          <p:txBody>
            <a:bodyPr anchor="ctr" rtlCol="false" tIns="0" lIns="0" bIns="0" rIns="0"/>
            <a:lstStyle/>
            <a:p>
              <a:pPr algn="ctr">
                <a:lnSpc>
                  <a:spcPts val="1889"/>
                </a:lnSpc>
              </a:pPr>
              <a:r>
                <a:rPr lang="en-US" sz="1575" b="true">
                  <a:solidFill>
                    <a:srgbClr val="FFFFFF"/>
                  </a:solidFill>
                  <a:latin typeface="DejaVu Sans Bold"/>
                  <a:ea typeface="DejaVu Sans Bold"/>
                  <a:cs typeface="DejaVu Sans Bold"/>
                  <a:sym typeface="DejaVu Sans Bold"/>
                </a:rPr>
                <a:t>Slide 12 / 15</a:t>
              </a:r>
            </a:p>
          </p:txBody>
        </p:sp>
      </p:grpSp>
      <p:grpSp>
        <p:nvGrpSpPr>
          <p:cNvPr name="Group 16" id="16"/>
          <p:cNvGrpSpPr/>
          <p:nvPr/>
        </p:nvGrpSpPr>
        <p:grpSpPr>
          <a:xfrm rot="0">
            <a:off x="754380" y="850392"/>
            <a:ext cx="16774668" cy="740664"/>
            <a:chOff x="0" y="0"/>
            <a:chExt cx="22366224" cy="987552"/>
          </a:xfrm>
        </p:grpSpPr>
        <p:sp>
          <p:nvSpPr>
            <p:cNvPr name="Freeform 17" id="17"/>
            <p:cNvSpPr/>
            <p:nvPr/>
          </p:nvSpPr>
          <p:spPr>
            <a:xfrm flipH="false" flipV="false" rot="0">
              <a:off x="0" y="0"/>
              <a:ext cx="22366224" cy="987552"/>
            </a:xfrm>
            <a:custGeom>
              <a:avLst/>
              <a:gdLst/>
              <a:ahLst/>
              <a:cxnLst/>
              <a:rect r="r" b="b" t="t" l="l"/>
              <a:pathLst>
                <a:path h="987552" w="22366224">
                  <a:moveTo>
                    <a:pt x="0" y="0"/>
                  </a:moveTo>
                  <a:lnTo>
                    <a:pt x="22366224" y="0"/>
                  </a:lnTo>
                  <a:lnTo>
                    <a:pt x="22366224" y="987552"/>
                  </a:lnTo>
                  <a:lnTo>
                    <a:pt x="0" y="987552"/>
                  </a:lnTo>
                  <a:close/>
                </a:path>
              </a:pathLst>
            </a:custGeom>
            <a:blipFill>
              <a:blip r:embed="rId2">
                <a:alphaModFix amt="0"/>
              </a:blip>
              <a:stretch>
                <a:fillRect l="0" t="-391300" r="0" b="-391300"/>
              </a:stretch>
            </a:blipFill>
          </p:spPr>
        </p:sp>
        <p:sp>
          <p:nvSpPr>
            <p:cNvPr name="TextBox 18" id="18"/>
            <p:cNvSpPr txBox="true"/>
            <p:nvPr/>
          </p:nvSpPr>
          <p:spPr>
            <a:xfrm>
              <a:off x="0" y="-9525"/>
              <a:ext cx="22366224" cy="997077"/>
            </a:xfrm>
            <a:prstGeom prst="rect">
              <a:avLst/>
            </a:prstGeom>
          </p:spPr>
          <p:txBody>
            <a:bodyPr anchor="ctr" rtlCol="false" tIns="0" lIns="0" bIns="0" rIns="0"/>
            <a:lstStyle/>
            <a:p>
              <a:pPr algn="l">
                <a:lnSpc>
                  <a:spcPts val="3869"/>
                </a:lnSpc>
              </a:pPr>
              <a:r>
                <a:rPr lang="en-US" sz="3225" b="true">
                  <a:solidFill>
                    <a:srgbClr val="122645"/>
                  </a:solidFill>
                  <a:latin typeface="DejaVu Sans Bold"/>
                  <a:ea typeface="DejaVu Sans Bold"/>
                  <a:cs typeface="DejaVu Sans Bold"/>
                  <a:sym typeface="DejaVu Sans Bold"/>
                </a:rPr>
                <a:t>Công cụ 5 &amp; 6: Phát triển NOXH cho thuê, "Luồng xanh" &amp; Quy mô 2026</a:t>
              </a:r>
            </a:p>
          </p:txBody>
        </p:sp>
      </p:grpSp>
      <p:grpSp>
        <p:nvGrpSpPr>
          <p:cNvPr name="Group 19" id="19"/>
          <p:cNvGrpSpPr/>
          <p:nvPr/>
        </p:nvGrpSpPr>
        <p:grpSpPr>
          <a:xfrm rot="0">
            <a:off x="754380" y="1645920"/>
            <a:ext cx="16774668" cy="41148"/>
            <a:chOff x="0" y="0"/>
            <a:chExt cx="22366224" cy="54864"/>
          </a:xfrm>
        </p:grpSpPr>
        <p:sp>
          <p:nvSpPr>
            <p:cNvPr name="Freeform 20" id="20"/>
            <p:cNvSpPr/>
            <p:nvPr/>
          </p:nvSpPr>
          <p:spPr>
            <a:xfrm flipH="false" flipV="false" rot="0">
              <a:off x="0" y="0"/>
              <a:ext cx="22366224" cy="54864"/>
            </a:xfrm>
            <a:custGeom>
              <a:avLst/>
              <a:gdLst/>
              <a:ahLst/>
              <a:cxnLst/>
              <a:rect r="r" b="b" t="t" l="l"/>
              <a:pathLst>
                <a:path h="54864" w="22366224">
                  <a:moveTo>
                    <a:pt x="0" y="0"/>
                  </a:moveTo>
                  <a:lnTo>
                    <a:pt x="22366224" y="0"/>
                  </a:lnTo>
                  <a:lnTo>
                    <a:pt x="22366224" y="54864"/>
                  </a:lnTo>
                  <a:lnTo>
                    <a:pt x="0" y="54864"/>
                  </a:lnTo>
                  <a:close/>
                </a:path>
              </a:pathLst>
            </a:custGeom>
            <a:solidFill>
              <a:srgbClr val="CBD5E1"/>
            </a:solidFill>
          </p:spPr>
        </p:sp>
      </p:grpSp>
      <p:grpSp>
        <p:nvGrpSpPr>
          <p:cNvPr name="Group 21" id="21"/>
          <p:cNvGrpSpPr/>
          <p:nvPr/>
        </p:nvGrpSpPr>
        <p:grpSpPr>
          <a:xfrm rot="0">
            <a:off x="-7144" y="9662636"/>
            <a:ext cx="18301830" cy="631507"/>
            <a:chOff x="0" y="0"/>
            <a:chExt cx="24402440" cy="842010"/>
          </a:xfrm>
        </p:grpSpPr>
        <p:sp>
          <p:nvSpPr>
            <p:cNvPr name="Freeform 22" id="22"/>
            <p:cNvSpPr/>
            <p:nvPr/>
          </p:nvSpPr>
          <p:spPr>
            <a:xfrm flipH="false" flipV="false" rot="0">
              <a:off x="0" y="0"/>
              <a:ext cx="24402414" cy="842010"/>
            </a:xfrm>
            <a:custGeom>
              <a:avLst/>
              <a:gdLst/>
              <a:ahLst/>
              <a:cxnLst/>
              <a:rect r="r" b="b" t="t" l="l"/>
              <a:pathLst>
                <a:path h="842010" w="24402414">
                  <a:moveTo>
                    <a:pt x="0" y="0"/>
                  </a:moveTo>
                  <a:lnTo>
                    <a:pt x="24402414" y="0"/>
                  </a:lnTo>
                  <a:lnTo>
                    <a:pt x="24402414" y="842010"/>
                  </a:lnTo>
                  <a:lnTo>
                    <a:pt x="0" y="842010"/>
                  </a:lnTo>
                  <a:close/>
                </a:path>
              </a:pathLst>
            </a:custGeom>
            <a:solidFill>
              <a:srgbClr val="FFFFFF"/>
            </a:solidFill>
            <a:ln w="14288" cap="sq">
              <a:solidFill>
                <a:srgbClr val="CBD5E1"/>
              </a:solidFill>
              <a:prstDash val="solid"/>
              <a:miter/>
            </a:ln>
          </p:spPr>
        </p:sp>
      </p:grpSp>
      <p:grpSp>
        <p:nvGrpSpPr>
          <p:cNvPr name="Group 23" id="23"/>
          <p:cNvGrpSpPr/>
          <p:nvPr/>
        </p:nvGrpSpPr>
        <p:grpSpPr>
          <a:xfrm rot="0">
            <a:off x="754380" y="9710928"/>
            <a:ext cx="16774668" cy="493776"/>
            <a:chOff x="0" y="0"/>
            <a:chExt cx="22366224" cy="658368"/>
          </a:xfrm>
        </p:grpSpPr>
        <p:sp>
          <p:nvSpPr>
            <p:cNvPr name="Freeform 24" id="24"/>
            <p:cNvSpPr/>
            <p:nvPr/>
          </p:nvSpPr>
          <p:spPr>
            <a:xfrm flipH="false" flipV="false" rot="0">
              <a:off x="0" y="0"/>
              <a:ext cx="22366224" cy="658368"/>
            </a:xfrm>
            <a:custGeom>
              <a:avLst/>
              <a:gdLst/>
              <a:ahLst/>
              <a:cxnLst/>
              <a:rect r="r" b="b" t="t" l="l"/>
              <a:pathLst>
                <a:path h="658368" w="22366224">
                  <a:moveTo>
                    <a:pt x="0" y="0"/>
                  </a:moveTo>
                  <a:lnTo>
                    <a:pt x="22366224" y="0"/>
                  </a:lnTo>
                  <a:lnTo>
                    <a:pt x="22366224" y="658368"/>
                  </a:lnTo>
                  <a:lnTo>
                    <a:pt x="0" y="658368"/>
                  </a:lnTo>
                  <a:close/>
                </a:path>
              </a:pathLst>
            </a:custGeom>
            <a:blipFill>
              <a:blip r:embed="rId2">
                <a:alphaModFix amt="0"/>
              </a:blip>
              <a:stretch>
                <a:fillRect l="0" t="-611950" r="0" b="-611950"/>
              </a:stretch>
            </a:blipFill>
          </p:spPr>
        </p:sp>
        <p:sp>
          <p:nvSpPr>
            <p:cNvPr name="TextBox 25" id="25"/>
            <p:cNvSpPr txBox="true"/>
            <p:nvPr/>
          </p:nvSpPr>
          <p:spPr>
            <a:xfrm>
              <a:off x="0" y="-19050"/>
              <a:ext cx="22366224" cy="677418"/>
            </a:xfrm>
            <a:prstGeom prst="rect">
              <a:avLst/>
            </a:prstGeom>
          </p:spPr>
          <p:txBody>
            <a:bodyPr anchor="ctr" rtlCol="false" tIns="0" lIns="0" bIns="0" rIns="0"/>
            <a:lstStyle/>
            <a:p>
              <a:pPr algn="l">
                <a:lnSpc>
                  <a:spcPts val="2520"/>
                </a:lnSpc>
              </a:pPr>
              <a:r>
                <a:rPr lang="en-US" sz="2100" i="true">
                  <a:solidFill>
                    <a:srgbClr val="475569"/>
                  </a:solidFill>
                  <a:latin typeface="DejaVu Sans Bold Italics"/>
                  <a:ea typeface="DejaVu Sans Bold Italics"/>
                  <a:cs typeface="DejaVu Sans Bold Italics"/>
                  <a:sym typeface="DejaVu Sans Bold Italics"/>
                </a:rPr>
                <a:t>Nguồn số liệu: Họp báo Quý III/2026 của Bộ Xây dựng (15/10/2026); Nghị quyết 07/NQ-CP (2026) &amp; NĐ 302/2025/NĐ-CP.</a:t>
              </a:r>
            </a:p>
          </p:txBody>
        </p:sp>
      </p:grpSp>
      <p:grpSp>
        <p:nvGrpSpPr>
          <p:cNvPr name="Group 26" id="26"/>
          <p:cNvGrpSpPr/>
          <p:nvPr/>
        </p:nvGrpSpPr>
        <p:grpSpPr>
          <a:xfrm rot="0">
            <a:off x="740093" y="1905952"/>
            <a:ext cx="9835515" cy="2497455"/>
            <a:chOff x="0" y="0"/>
            <a:chExt cx="13114020" cy="3329940"/>
          </a:xfrm>
        </p:grpSpPr>
        <p:sp>
          <p:nvSpPr>
            <p:cNvPr name="Freeform 27" id="27"/>
            <p:cNvSpPr/>
            <p:nvPr/>
          </p:nvSpPr>
          <p:spPr>
            <a:xfrm flipH="false" flipV="false" rot="0">
              <a:off x="0" y="0"/>
              <a:ext cx="13114020" cy="3329940"/>
            </a:xfrm>
            <a:custGeom>
              <a:avLst/>
              <a:gdLst/>
              <a:ahLst/>
              <a:cxnLst/>
              <a:rect r="r" b="b" t="t" l="l"/>
              <a:pathLst>
                <a:path h="3329940" w="13114020">
                  <a:moveTo>
                    <a:pt x="0" y="133223"/>
                  </a:moveTo>
                  <a:cubicBezTo>
                    <a:pt x="0" y="59690"/>
                    <a:pt x="59690" y="0"/>
                    <a:pt x="133223" y="0"/>
                  </a:cubicBezTo>
                  <a:lnTo>
                    <a:pt x="12980797" y="0"/>
                  </a:lnTo>
                  <a:cubicBezTo>
                    <a:pt x="13054330" y="0"/>
                    <a:pt x="13114020" y="59690"/>
                    <a:pt x="13114020" y="133223"/>
                  </a:cubicBezTo>
                  <a:lnTo>
                    <a:pt x="13114020" y="3196717"/>
                  </a:lnTo>
                  <a:cubicBezTo>
                    <a:pt x="13114020" y="3270250"/>
                    <a:pt x="13054330" y="3329940"/>
                    <a:pt x="12980797" y="3329940"/>
                  </a:cubicBezTo>
                  <a:lnTo>
                    <a:pt x="133223" y="3329940"/>
                  </a:lnTo>
                  <a:cubicBezTo>
                    <a:pt x="59690" y="3329940"/>
                    <a:pt x="0" y="3270250"/>
                    <a:pt x="0" y="3196717"/>
                  </a:cubicBezTo>
                  <a:close/>
                </a:path>
              </a:pathLst>
            </a:custGeom>
            <a:solidFill>
              <a:srgbClr val="EEF6FC"/>
            </a:solidFill>
            <a:ln w="28575" cap="sq">
              <a:solidFill>
                <a:srgbClr val="0369A1"/>
              </a:solidFill>
              <a:prstDash val="solid"/>
              <a:miter/>
            </a:ln>
          </p:spPr>
        </p:sp>
      </p:grpSp>
      <p:grpSp>
        <p:nvGrpSpPr>
          <p:cNvPr name="Group 28" id="28"/>
          <p:cNvGrpSpPr/>
          <p:nvPr/>
        </p:nvGrpSpPr>
        <p:grpSpPr>
          <a:xfrm rot="0">
            <a:off x="987552" y="2002536"/>
            <a:ext cx="9354312" cy="2304288"/>
            <a:chOff x="0" y="0"/>
            <a:chExt cx="12472416" cy="3072384"/>
          </a:xfrm>
        </p:grpSpPr>
        <p:sp>
          <p:nvSpPr>
            <p:cNvPr name="Freeform 29" id="29"/>
            <p:cNvSpPr/>
            <p:nvPr/>
          </p:nvSpPr>
          <p:spPr>
            <a:xfrm flipH="false" flipV="false" rot="0">
              <a:off x="0" y="0"/>
              <a:ext cx="12472416" cy="3072384"/>
            </a:xfrm>
            <a:custGeom>
              <a:avLst/>
              <a:gdLst/>
              <a:ahLst/>
              <a:cxnLst/>
              <a:rect r="r" b="b" t="t" l="l"/>
              <a:pathLst>
                <a:path h="3072384" w="12472416">
                  <a:moveTo>
                    <a:pt x="0" y="0"/>
                  </a:moveTo>
                  <a:lnTo>
                    <a:pt x="12472416" y="0"/>
                  </a:lnTo>
                  <a:lnTo>
                    <a:pt x="12472416" y="3072384"/>
                  </a:lnTo>
                  <a:lnTo>
                    <a:pt x="0" y="3072384"/>
                  </a:lnTo>
                  <a:close/>
                </a:path>
              </a:pathLst>
            </a:custGeom>
            <a:blipFill>
              <a:blip r:embed="rId2">
                <a:alphaModFix amt="0"/>
              </a:blip>
              <a:stretch>
                <a:fillRect l="0" t="-29099" r="0" b="-29099"/>
              </a:stretch>
            </a:blipFill>
          </p:spPr>
        </p:sp>
        <p:sp>
          <p:nvSpPr>
            <p:cNvPr name="TextBox 30" id="30"/>
            <p:cNvSpPr txBox="true"/>
            <p:nvPr/>
          </p:nvSpPr>
          <p:spPr>
            <a:xfrm>
              <a:off x="0" y="-9525"/>
              <a:ext cx="12472416" cy="3081909"/>
            </a:xfrm>
            <a:prstGeom prst="rect">
              <a:avLst/>
            </a:prstGeom>
          </p:spPr>
          <p:txBody>
            <a:bodyPr anchor="ctr" rtlCol="false" tIns="0" lIns="0" bIns="0" rIns="0"/>
            <a:lstStyle/>
            <a:p>
              <a:pPr algn="l">
                <a:lnSpc>
                  <a:spcPts val="2195"/>
                </a:lnSpc>
              </a:pPr>
              <a:r>
                <a:rPr lang="en-US" sz="1829" b="true">
                  <a:solidFill>
                    <a:srgbClr val="0369A1"/>
                  </a:solidFill>
                  <a:latin typeface="DejaVu Sans Bold"/>
                  <a:ea typeface="DejaVu Sans Bold"/>
                  <a:cs typeface="DejaVu Sans Bold"/>
                  <a:sym typeface="DejaVu Sans Bold"/>
                </a:rPr>
                <a:t>5. PHÁT TRIỂN NOXH CHO THUÊ (GIẢI BÀI TOÁN VỐN BAN ĐẦU):</a:t>
              </a:r>
            </a:p>
            <a:p>
              <a:pPr algn="l">
                <a:lnSpc>
                  <a:spcPts val="2481"/>
                </a:lnSpc>
              </a:pPr>
              <a:r>
                <a:rPr lang="en-US" sz="1695">
                  <a:solidFill>
                    <a:srgbClr val="1E293B"/>
                  </a:solidFill>
                  <a:latin typeface="DejaVu Sans Light"/>
                  <a:ea typeface="DejaVu Sans Light"/>
                  <a:cs typeface="DejaVu Sans Light"/>
                  <a:sym typeface="DejaVu Sans Light"/>
                </a:rPr>
                <a:t>• Đáp ứng nhu cầu chỗ ở cho lao động trẻ, công nhân chưa tích lũy đủ 20% vốn tự có ban đầu.</a:t>
              </a:r>
            </a:p>
            <a:p>
              <a:pPr algn="l">
                <a:lnSpc>
                  <a:spcPts val="2481"/>
                </a:lnSpc>
              </a:pPr>
              <a:r>
                <a:rPr lang="en-US" sz="1695">
                  <a:solidFill>
                    <a:srgbClr val="1E293B"/>
                  </a:solidFill>
                  <a:latin typeface="DejaVu Sans Light"/>
                  <a:ea typeface="DejaVu Sans Light"/>
                  <a:cs typeface="DejaVu Sans Light"/>
                  <a:sym typeface="DejaVu Sans Light"/>
                </a:rPr>
                <a:t>• Cả nước có 114 dự án NOXH có nhà ở cho thuê đang triển khai, với tổng cộng 63.970 căn (khung giá thuê do UBND cấp tỉnh ban hành phù hợp thu nhập).</a:t>
              </a:r>
            </a:p>
          </p:txBody>
        </p:sp>
      </p:grpSp>
      <p:grpSp>
        <p:nvGrpSpPr>
          <p:cNvPr name="Group 31" id="31"/>
          <p:cNvGrpSpPr/>
          <p:nvPr/>
        </p:nvGrpSpPr>
        <p:grpSpPr>
          <a:xfrm rot="0">
            <a:off x="740093" y="4539424"/>
            <a:ext cx="9835515" cy="2305431"/>
            <a:chOff x="0" y="0"/>
            <a:chExt cx="13114020" cy="3073908"/>
          </a:xfrm>
        </p:grpSpPr>
        <p:sp>
          <p:nvSpPr>
            <p:cNvPr name="Freeform 32" id="32"/>
            <p:cNvSpPr/>
            <p:nvPr/>
          </p:nvSpPr>
          <p:spPr>
            <a:xfrm flipH="false" flipV="false" rot="0">
              <a:off x="0" y="0"/>
              <a:ext cx="13114020" cy="3073908"/>
            </a:xfrm>
            <a:custGeom>
              <a:avLst/>
              <a:gdLst/>
              <a:ahLst/>
              <a:cxnLst/>
              <a:rect r="r" b="b" t="t" l="l"/>
              <a:pathLst>
                <a:path h="3073908" w="13114020">
                  <a:moveTo>
                    <a:pt x="0" y="122936"/>
                  </a:moveTo>
                  <a:cubicBezTo>
                    <a:pt x="0" y="54991"/>
                    <a:pt x="54991" y="0"/>
                    <a:pt x="122936" y="0"/>
                  </a:cubicBezTo>
                  <a:lnTo>
                    <a:pt x="12991084" y="0"/>
                  </a:lnTo>
                  <a:cubicBezTo>
                    <a:pt x="13059029" y="0"/>
                    <a:pt x="13114020" y="54991"/>
                    <a:pt x="13114020" y="122936"/>
                  </a:cubicBezTo>
                  <a:lnTo>
                    <a:pt x="13114020" y="2950972"/>
                  </a:lnTo>
                  <a:cubicBezTo>
                    <a:pt x="13114020" y="3018917"/>
                    <a:pt x="13059029" y="3073908"/>
                    <a:pt x="12991084" y="3073908"/>
                  </a:cubicBezTo>
                  <a:lnTo>
                    <a:pt x="122936" y="3073908"/>
                  </a:lnTo>
                  <a:cubicBezTo>
                    <a:pt x="54991" y="3073908"/>
                    <a:pt x="0" y="3018917"/>
                    <a:pt x="0" y="2950972"/>
                  </a:cubicBezTo>
                  <a:close/>
                </a:path>
              </a:pathLst>
            </a:custGeom>
            <a:solidFill>
              <a:srgbClr val="EAF7F5"/>
            </a:solidFill>
            <a:ln w="28575" cap="sq">
              <a:solidFill>
                <a:srgbClr val="0F766E"/>
              </a:solidFill>
              <a:prstDash val="solid"/>
              <a:miter/>
            </a:ln>
          </p:spPr>
        </p:sp>
      </p:grpSp>
      <p:grpSp>
        <p:nvGrpSpPr>
          <p:cNvPr name="Group 33" id="33"/>
          <p:cNvGrpSpPr/>
          <p:nvPr/>
        </p:nvGrpSpPr>
        <p:grpSpPr>
          <a:xfrm rot="0">
            <a:off x="987552" y="4636008"/>
            <a:ext cx="9354312" cy="2112264"/>
            <a:chOff x="0" y="0"/>
            <a:chExt cx="12472416" cy="2816352"/>
          </a:xfrm>
        </p:grpSpPr>
        <p:sp>
          <p:nvSpPr>
            <p:cNvPr name="Freeform 34" id="34"/>
            <p:cNvSpPr/>
            <p:nvPr/>
          </p:nvSpPr>
          <p:spPr>
            <a:xfrm flipH="false" flipV="false" rot="0">
              <a:off x="0" y="0"/>
              <a:ext cx="12472416" cy="2816352"/>
            </a:xfrm>
            <a:custGeom>
              <a:avLst/>
              <a:gdLst/>
              <a:ahLst/>
              <a:cxnLst/>
              <a:rect r="r" b="b" t="t" l="l"/>
              <a:pathLst>
                <a:path h="2816352" w="12472416">
                  <a:moveTo>
                    <a:pt x="0" y="0"/>
                  </a:moveTo>
                  <a:lnTo>
                    <a:pt x="12472416" y="0"/>
                  </a:lnTo>
                  <a:lnTo>
                    <a:pt x="12472416" y="2816352"/>
                  </a:lnTo>
                  <a:lnTo>
                    <a:pt x="0" y="2816352"/>
                  </a:lnTo>
                  <a:close/>
                </a:path>
              </a:pathLst>
            </a:custGeom>
            <a:blipFill>
              <a:blip r:embed="rId2">
                <a:alphaModFix amt="0"/>
              </a:blip>
              <a:stretch>
                <a:fillRect l="0" t="-36290" r="0" b="-36290"/>
              </a:stretch>
            </a:blipFill>
          </p:spPr>
        </p:sp>
        <p:sp>
          <p:nvSpPr>
            <p:cNvPr name="TextBox 35" id="35"/>
            <p:cNvSpPr txBox="true"/>
            <p:nvPr/>
          </p:nvSpPr>
          <p:spPr>
            <a:xfrm>
              <a:off x="0" y="-19050"/>
              <a:ext cx="12472416" cy="2835402"/>
            </a:xfrm>
            <a:prstGeom prst="rect">
              <a:avLst/>
            </a:prstGeom>
          </p:spPr>
          <p:txBody>
            <a:bodyPr anchor="ctr" rtlCol="false" tIns="0" lIns="0" bIns="0" rIns="0"/>
            <a:lstStyle/>
            <a:p>
              <a:pPr algn="l">
                <a:lnSpc>
                  <a:spcPts val="2520"/>
                </a:lnSpc>
              </a:pPr>
              <a:r>
                <a:rPr lang="en-US" sz="2100" b="true">
                  <a:solidFill>
                    <a:srgbClr val="0F766E"/>
                  </a:solidFill>
                  <a:latin typeface="DejaVu Sans Bold"/>
                  <a:ea typeface="DejaVu Sans Bold"/>
                  <a:cs typeface="DejaVu Sans Bold"/>
                  <a:sym typeface="DejaVu Sans Bold"/>
                </a:rPr>
                <a:t>6. THỂ CHẾ "LUỒNG XANH" &amp; HẬU KIỂM MINH BẠCH (MỤC 5.2):</a:t>
              </a:r>
            </a:p>
            <a:p>
              <a:pPr algn="l">
                <a:lnSpc>
                  <a:spcPts val="2520"/>
                </a:lnSpc>
              </a:pPr>
              <a:r>
                <a:rPr lang="en-US" sz="2100">
                  <a:solidFill>
                    <a:srgbClr val="1E293B"/>
                  </a:solidFill>
                  <a:latin typeface="DejaVu Sans Light"/>
                  <a:ea typeface="DejaVu Sans Light"/>
                  <a:cs typeface="DejaVu Sans Light"/>
                  <a:sym typeface="DejaVu Sans Light"/>
                </a:rPr>
                <a:t>• Cơ chế "luồng xanh" cắt giảm ≥50% thời gian thủ tục đầu tư → giúp DN đẩy nhanh tiến độ dự án.</a:t>
              </a:r>
            </a:p>
            <a:p>
              <a:pPr algn="l">
                <a:lnSpc>
                  <a:spcPts val="2520"/>
                </a:lnSpc>
              </a:pPr>
              <a:r>
                <a:rPr lang="en-US" sz="2100">
                  <a:solidFill>
                    <a:srgbClr val="1E293B"/>
                  </a:solidFill>
                  <a:latin typeface="DejaVu Sans Light"/>
                  <a:ea typeface="DejaVu Sans Light"/>
                  <a:cs typeface="DejaVu Sans Light"/>
                  <a:sym typeface="DejaVu Sans Light"/>
                </a:rPr>
                <a:t>• Đối soát dữ liệu dân cư – nhà đất &amp; hạn chế chuyển nhượng 5 năm nhằm ngăn chặn đầu cơ trục lợi.</a:t>
              </a:r>
            </a:p>
          </p:txBody>
        </p:sp>
      </p:grpSp>
      <p:grpSp>
        <p:nvGrpSpPr>
          <p:cNvPr name="Group 36" id="36"/>
          <p:cNvGrpSpPr/>
          <p:nvPr/>
        </p:nvGrpSpPr>
        <p:grpSpPr>
          <a:xfrm rot="0">
            <a:off x="740093" y="6980872"/>
            <a:ext cx="9835515" cy="2415159"/>
            <a:chOff x="0" y="0"/>
            <a:chExt cx="13114020" cy="3220212"/>
          </a:xfrm>
        </p:grpSpPr>
        <p:sp>
          <p:nvSpPr>
            <p:cNvPr name="Freeform 37" id="37"/>
            <p:cNvSpPr/>
            <p:nvPr/>
          </p:nvSpPr>
          <p:spPr>
            <a:xfrm flipH="false" flipV="false" rot="0">
              <a:off x="0" y="0"/>
              <a:ext cx="13114020" cy="3220212"/>
            </a:xfrm>
            <a:custGeom>
              <a:avLst/>
              <a:gdLst/>
              <a:ahLst/>
              <a:cxnLst/>
              <a:rect r="r" b="b" t="t" l="l"/>
              <a:pathLst>
                <a:path h="3220212" w="13114020">
                  <a:moveTo>
                    <a:pt x="0" y="128778"/>
                  </a:moveTo>
                  <a:cubicBezTo>
                    <a:pt x="0" y="57658"/>
                    <a:pt x="57658" y="0"/>
                    <a:pt x="128778" y="0"/>
                  </a:cubicBezTo>
                  <a:lnTo>
                    <a:pt x="12985242" y="0"/>
                  </a:lnTo>
                  <a:cubicBezTo>
                    <a:pt x="13056363" y="0"/>
                    <a:pt x="13114020" y="57658"/>
                    <a:pt x="13114020" y="128778"/>
                  </a:cubicBezTo>
                  <a:lnTo>
                    <a:pt x="13114020" y="3091434"/>
                  </a:lnTo>
                  <a:cubicBezTo>
                    <a:pt x="13114020" y="3162554"/>
                    <a:pt x="13056363" y="3220212"/>
                    <a:pt x="12985242" y="3220212"/>
                  </a:cubicBezTo>
                  <a:lnTo>
                    <a:pt x="128778" y="3220212"/>
                  </a:lnTo>
                  <a:cubicBezTo>
                    <a:pt x="57658" y="3220212"/>
                    <a:pt x="0" y="3162554"/>
                    <a:pt x="0" y="3091434"/>
                  </a:cubicBezTo>
                  <a:close/>
                </a:path>
              </a:pathLst>
            </a:custGeom>
            <a:solidFill>
              <a:srgbClr val="FFFFFF"/>
            </a:solidFill>
            <a:ln w="28575" cap="sq">
              <a:solidFill>
                <a:srgbClr val="122645"/>
              </a:solidFill>
              <a:prstDash val="solid"/>
              <a:miter/>
            </a:ln>
          </p:spPr>
        </p:sp>
      </p:grpSp>
      <p:grpSp>
        <p:nvGrpSpPr>
          <p:cNvPr name="Group 38" id="38"/>
          <p:cNvGrpSpPr/>
          <p:nvPr/>
        </p:nvGrpSpPr>
        <p:grpSpPr>
          <a:xfrm rot="0">
            <a:off x="987552" y="7077456"/>
            <a:ext cx="9354312" cy="2221992"/>
            <a:chOff x="0" y="0"/>
            <a:chExt cx="12472416" cy="2962656"/>
          </a:xfrm>
        </p:grpSpPr>
        <p:sp>
          <p:nvSpPr>
            <p:cNvPr name="Freeform 39" id="39"/>
            <p:cNvSpPr/>
            <p:nvPr/>
          </p:nvSpPr>
          <p:spPr>
            <a:xfrm flipH="false" flipV="false" rot="0">
              <a:off x="0" y="0"/>
              <a:ext cx="12472416" cy="2962656"/>
            </a:xfrm>
            <a:custGeom>
              <a:avLst/>
              <a:gdLst/>
              <a:ahLst/>
              <a:cxnLst/>
              <a:rect r="r" b="b" t="t" l="l"/>
              <a:pathLst>
                <a:path h="2962656" w="12472416">
                  <a:moveTo>
                    <a:pt x="0" y="0"/>
                  </a:moveTo>
                  <a:lnTo>
                    <a:pt x="12472416" y="0"/>
                  </a:lnTo>
                  <a:lnTo>
                    <a:pt x="12472416" y="2962656"/>
                  </a:lnTo>
                  <a:lnTo>
                    <a:pt x="0" y="2962656"/>
                  </a:lnTo>
                  <a:close/>
                </a:path>
              </a:pathLst>
            </a:custGeom>
            <a:blipFill>
              <a:blip r:embed="rId2">
                <a:alphaModFix amt="0"/>
              </a:blip>
              <a:stretch>
                <a:fillRect l="0" t="-32029" r="0" b="-32029"/>
              </a:stretch>
            </a:blipFill>
          </p:spPr>
        </p:sp>
        <p:sp>
          <p:nvSpPr>
            <p:cNvPr name="TextBox 40" id="40"/>
            <p:cNvSpPr txBox="true"/>
            <p:nvPr/>
          </p:nvSpPr>
          <p:spPr>
            <a:xfrm>
              <a:off x="0" y="-19050"/>
              <a:ext cx="12472416" cy="2981706"/>
            </a:xfrm>
            <a:prstGeom prst="rect">
              <a:avLst/>
            </a:prstGeom>
          </p:spPr>
          <p:txBody>
            <a:bodyPr anchor="ctr" rtlCol="false" tIns="0" lIns="0" bIns="0" rIns="0"/>
            <a:lstStyle/>
            <a:p>
              <a:pPr algn="l">
                <a:lnSpc>
                  <a:spcPts val="2700"/>
                </a:lnSpc>
              </a:pPr>
              <a:r>
                <a:rPr lang="en-US" sz="2250" b="true">
                  <a:solidFill>
                    <a:srgbClr val="122645"/>
                  </a:solidFill>
                  <a:latin typeface="DejaVu Sans Bold"/>
                  <a:ea typeface="DejaVu Sans Bold"/>
                  <a:cs typeface="DejaVu Sans Bold"/>
                  <a:sym typeface="DejaVu Sans Bold"/>
                </a:rPr>
                <a:t>QUY MÔ TRIỂN KHAI ĐẾN QUÝ III/2026 (BỘ XÂY DỰNG, 15/10/2026):</a:t>
              </a:r>
            </a:p>
            <a:p>
              <a:pPr algn="l">
                <a:lnSpc>
                  <a:spcPts val="3294"/>
                </a:lnSpc>
              </a:pPr>
              <a:r>
                <a:rPr lang="en-US" sz="2250">
                  <a:solidFill>
                    <a:srgbClr val="1E293B"/>
                  </a:solidFill>
                  <a:latin typeface="DejaVu Sans Light"/>
                  <a:ea typeface="DejaVu Sans Light"/>
                  <a:cs typeface="DejaVu Sans Light"/>
                  <a:sym typeface="DejaVu Sans Light"/>
                </a:rPr>
                <a:t>• Tổng cộng 947 dự án với 910.933 căn đã hoàn thành, đang xây dựng hoặc được chấp thuận chủ trương (~91% mục tiêu Đề án); trong đó 216.626 căn thuộc 363 dự án đã hoàn thành.</a:t>
              </a:r>
            </a:p>
          </p:txBody>
        </p:sp>
      </p:grpSp>
      <p:grpSp>
        <p:nvGrpSpPr>
          <p:cNvPr name="Group 41" id="41"/>
          <p:cNvGrpSpPr/>
          <p:nvPr/>
        </p:nvGrpSpPr>
        <p:grpSpPr>
          <a:xfrm rot="0">
            <a:off x="10906506" y="1881378"/>
            <a:ext cx="6633972" cy="7511796"/>
            <a:chOff x="0" y="0"/>
            <a:chExt cx="8845296" cy="10015728"/>
          </a:xfrm>
        </p:grpSpPr>
        <p:sp>
          <p:nvSpPr>
            <p:cNvPr name="Freeform 42" id="42"/>
            <p:cNvSpPr/>
            <p:nvPr/>
          </p:nvSpPr>
          <p:spPr>
            <a:xfrm flipH="false" flipV="false" rot="0">
              <a:off x="0" y="0"/>
              <a:ext cx="8845296" cy="10015728"/>
            </a:xfrm>
            <a:custGeom>
              <a:avLst/>
              <a:gdLst/>
              <a:ahLst/>
              <a:cxnLst/>
              <a:rect r="r" b="b" t="t" l="l"/>
              <a:pathLst>
                <a:path h="10015728" w="8845296">
                  <a:moveTo>
                    <a:pt x="0" y="353822"/>
                  </a:moveTo>
                  <a:cubicBezTo>
                    <a:pt x="0" y="158369"/>
                    <a:pt x="158369" y="0"/>
                    <a:pt x="353822" y="0"/>
                  </a:cubicBezTo>
                  <a:lnTo>
                    <a:pt x="8491474" y="0"/>
                  </a:lnTo>
                  <a:cubicBezTo>
                    <a:pt x="8686927" y="0"/>
                    <a:pt x="8845296" y="158369"/>
                    <a:pt x="8845296" y="353822"/>
                  </a:cubicBezTo>
                  <a:lnTo>
                    <a:pt x="8845296" y="9661906"/>
                  </a:lnTo>
                  <a:cubicBezTo>
                    <a:pt x="8845296" y="9857360"/>
                    <a:pt x="8686927" y="10015728"/>
                    <a:pt x="8491474" y="10015728"/>
                  </a:cubicBezTo>
                  <a:lnTo>
                    <a:pt x="353822" y="10015728"/>
                  </a:lnTo>
                  <a:cubicBezTo>
                    <a:pt x="158369" y="10015728"/>
                    <a:pt x="0" y="9857359"/>
                    <a:pt x="0" y="9661906"/>
                  </a:cubicBezTo>
                  <a:close/>
                </a:path>
              </a:pathLst>
            </a:custGeom>
            <a:solidFill>
              <a:srgbClr val="FFFFFF"/>
            </a:solidFill>
            <a:ln w="22860" cap="sq">
              <a:solidFill>
                <a:srgbClr val="CBD5E1"/>
              </a:solidFill>
              <a:prstDash val="solid"/>
              <a:miter/>
            </a:ln>
          </p:spPr>
        </p:sp>
      </p:grpSp>
      <p:grpSp>
        <p:nvGrpSpPr>
          <p:cNvPr name="Group 43" id="43"/>
          <p:cNvGrpSpPr/>
          <p:nvPr/>
        </p:nvGrpSpPr>
        <p:grpSpPr>
          <a:xfrm rot="0">
            <a:off x="11000232" y="1975104"/>
            <a:ext cx="6446520" cy="6748272"/>
            <a:chOff x="0" y="0"/>
            <a:chExt cx="8595360" cy="8997696"/>
          </a:xfrm>
        </p:grpSpPr>
        <p:sp>
          <p:nvSpPr>
            <p:cNvPr name="Freeform 44" id="44" descr="image11.jpg"/>
            <p:cNvSpPr/>
            <p:nvPr/>
          </p:nvSpPr>
          <p:spPr>
            <a:xfrm flipH="false" flipV="false" rot="0">
              <a:off x="0" y="0"/>
              <a:ext cx="8595360" cy="8997696"/>
            </a:xfrm>
            <a:custGeom>
              <a:avLst/>
              <a:gdLst/>
              <a:ahLst/>
              <a:cxnLst/>
              <a:rect r="r" b="b" t="t" l="l"/>
              <a:pathLst>
                <a:path h="8997696" w="8595360">
                  <a:moveTo>
                    <a:pt x="0" y="0"/>
                  </a:moveTo>
                  <a:lnTo>
                    <a:pt x="8595360" y="0"/>
                  </a:lnTo>
                  <a:lnTo>
                    <a:pt x="8595360" y="8997696"/>
                  </a:lnTo>
                  <a:lnTo>
                    <a:pt x="0" y="8997696"/>
                  </a:lnTo>
                  <a:lnTo>
                    <a:pt x="0" y="0"/>
                  </a:lnTo>
                  <a:close/>
                </a:path>
              </a:pathLst>
            </a:custGeom>
            <a:blipFill>
              <a:blip r:embed="rId3"/>
              <a:stretch>
                <a:fillRect l="-1272" t="0" r="-1272" b="0"/>
              </a:stretch>
            </a:blipFill>
          </p:spPr>
        </p:sp>
      </p:grpSp>
      <p:grpSp>
        <p:nvGrpSpPr>
          <p:cNvPr name="Group 45" id="45"/>
          <p:cNvGrpSpPr/>
          <p:nvPr/>
        </p:nvGrpSpPr>
        <p:grpSpPr>
          <a:xfrm rot="0">
            <a:off x="11000232" y="8778240"/>
            <a:ext cx="6446520" cy="548640"/>
            <a:chOff x="0" y="0"/>
            <a:chExt cx="8595360" cy="731520"/>
          </a:xfrm>
        </p:grpSpPr>
        <p:sp>
          <p:nvSpPr>
            <p:cNvPr name="Freeform 46" id="46"/>
            <p:cNvSpPr/>
            <p:nvPr/>
          </p:nvSpPr>
          <p:spPr>
            <a:xfrm flipH="false" flipV="false" rot="0">
              <a:off x="0" y="0"/>
              <a:ext cx="8595360" cy="731520"/>
            </a:xfrm>
            <a:custGeom>
              <a:avLst/>
              <a:gdLst/>
              <a:ahLst/>
              <a:cxnLst/>
              <a:rect r="r" b="b" t="t" l="l"/>
              <a:pathLst>
                <a:path h="731520" w="8595360">
                  <a:moveTo>
                    <a:pt x="0" y="0"/>
                  </a:moveTo>
                  <a:lnTo>
                    <a:pt x="8595360" y="0"/>
                  </a:lnTo>
                  <a:lnTo>
                    <a:pt x="8595360" y="731520"/>
                  </a:lnTo>
                  <a:lnTo>
                    <a:pt x="0" y="731520"/>
                  </a:lnTo>
                  <a:close/>
                </a:path>
              </a:pathLst>
            </a:custGeom>
            <a:solidFill>
              <a:srgbClr val="F1F5F9"/>
            </a:solidFill>
          </p:spPr>
        </p:sp>
      </p:grpSp>
      <p:grpSp>
        <p:nvGrpSpPr>
          <p:cNvPr name="Group 47" id="47"/>
          <p:cNvGrpSpPr/>
          <p:nvPr/>
        </p:nvGrpSpPr>
        <p:grpSpPr>
          <a:xfrm rot="0">
            <a:off x="11082528" y="8778240"/>
            <a:ext cx="6281928" cy="548640"/>
            <a:chOff x="0" y="0"/>
            <a:chExt cx="8375904" cy="731520"/>
          </a:xfrm>
        </p:grpSpPr>
        <p:sp>
          <p:nvSpPr>
            <p:cNvPr name="Freeform 48" id="48"/>
            <p:cNvSpPr/>
            <p:nvPr/>
          </p:nvSpPr>
          <p:spPr>
            <a:xfrm flipH="false" flipV="false" rot="0">
              <a:off x="0" y="0"/>
              <a:ext cx="8375904" cy="731520"/>
            </a:xfrm>
            <a:custGeom>
              <a:avLst/>
              <a:gdLst/>
              <a:ahLst/>
              <a:cxnLst/>
              <a:rect r="r" b="b" t="t" l="l"/>
              <a:pathLst>
                <a:path h="731520" w="8375904">
                  <a:moveTo>
                    <a:pt x="0" y="0"/>
                  </a:moveTo>
                  <a:lnTo>
                    <a:pt x="8375904" y="0"/>
                  </a:lnTo>
                  <a:lnTo>
                    <a:pt x="8375904" y="731520"/>
                  </a:lnTo>
                  <a:lnTo>
                    <a:pt x="0" y="731520"/>
                  </a:lnTo>
                  <a:close/>
                </a:path>
              </a:pathLst>
            </a:custGeom>
            <a:blipFill>
              <a:blip r:embed="rId2">
                <a:alphaModFix amt="0"/>
              </a:blip>
              <a:stretch>
                <a:fillRect l="0" t="-173103" r="0" b="-173103"/>
              </a:stretch>
            </a:blipFill>
          </p:spPr>
        </p:sp>
        <p:sp>
          <p:nvSpPr>
            <p:cNvPr name="TextBox 49" id="49"/>
            <p:cNvSpPr txBox="true"/>
            <p:nvPr/>
          </p:nvSpPr>
          <p:spPr>
            <a:xfrm>
              <a:off x="0" y="-9525"/>
              <a:ext cx="8375904" cy="741045"/>
            </a:xfrm>
            <a:prstGeom prst="rect">
              <a:avLst/>
            </a:prstGeom>
          </p:spPr>
          <p:txBody>
            <a:bodyPr anchor="ctr" rtlCol="false" tIns="0" lIns="0" bIns="0" rIns="0"/>
            <a:lstStyle/>
            <a:p>
              <a:pPr algn="l">
                <a:lnSpc>
                  <a:spcPts val="1727"/>
                </a:lnSpc>
              </a:pPr>
              <a:r>
                <a:rPr lang="en-US" sz="1439" b="true">
                  <a:solidFill>
                    <a:srgbClr val="1E293B"/>
                  </a:solidFill>
                  <a:latin typeface="DejaVu Sans Bold"/>
                  <a:ea typeface="DejaVu Sans Bold"/>
                  <a:cs typeface="DejaVu Sans Bold"/>
                  <a:sym typeface="DejaVu Sans Bold"/>
                </a:rPr>
                <a:t>Ảnh thật: Khu NOXH quy mô lớn cho người lao động mua &amp; thuê | Nguồn: Báo Điện tử Chính phủ</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7543" cy="137160"/>
            <a:chOff x="0" y="0"/>
            <a:chExt cx="24383390" cy="182880"/>
          </a:xfrm>
        </p:grpSpPr>
        <p:sp>
          <p:nvSpPr>
            <p:cNvPr name="Freeform 3" id="3"/>
            <p:cNvSpPr/>
            <p:nvPr/>
          </p:nvSpPr>
          <p:spPr>
            <a:xfrm flipH="false" flipV="false" rot="0">
              <a:off x="0" y="0"/>
              <a:ext cx="24383364" cy="182880"/>
            </a:xfrm>
            <a:custGeom>
              <a:avLst/>
              <a:gdLst/>
              <a:ahLst/>
              <a:cxnLst/>
              <a:rect r="r" b="b" t="t" l="l"/>
              <a:pathLst>
                <a:path h="182880" w="24383364">
                  <a:moveTo>
                    <a:pt x="0" y="0"/>
                  </a:moveTo>
                  <a:lnTo>
                    <a:pt x="24383364" y="0"/>
                  </a:lnTo>
                  <a:lnTo>
                    <a:pt x="24383364" y="182880"/>
                  </a:lnTo>
                  <a:lnTo>
                    <a:pt x="0" y="182880"/>
                  </a:lnTo>
                  <a:close/>
                </a:path>
              </a:pathLst>
            </a:custGeom>
            <a:solidFill>
              <a:srgbClr val="122645"/>
            </a:solidFill>
          </p:spPr>
        </p:sp>
      </p:grpSp>
      <p:grpSp>
        <p:nvGrpSpPr>
          <p:cNvPr name="Group 4" id="4"/>
          <p:cNvGrpSpPr/>
          <p:nvPr/>
        </p:nvGrpSpPr>
        <p:grpSpPr>
          <a:xfrm rot="0">
            <a:off x="0" y="0"/>
            <a:ext cx="15849200" cy="137160"/>
            <a:chOff x="0" y="0"/>
            <a:chExt cx="21132267" cy="182880"/>
          </a:xfrm>
        </p:grpSpPr>
        <p:sp>
          <p:nvSpPr>
            <p:cNvPr name="Freeform 5" id="5"/>
            <p:cNvSpPr/>
            <p:nvPr/>
          </p:nvSpPr>
          <p:spPr>
            <a:xfrm flipH="false" flipV="false" rot="0">
              <a:off x="0" y="0"/>
              <a:ext cx="21132292" cy="182880"/>
            </a:xfrm>
            <a:custGeom>
              <a:avLst/>
              <a:gdLst/>
              <a:ahLst/>
              <a:cxnLst/>
              <a:rect r="r" b="b" t="t" l="l"/>
              <a:pathLst>
                <a:path h="182880" w="21132292">
                  <a:moveTo>
                    <a:pt x="0" y="0"/>
                  </a:moveTo>
                  <a:lnTo>
                    <a:pt x="21132292" y="0"/>
                  </a:lnTo>
                  <a:lnTo>
                    <a:pt x="21132292" y="182880"/>
                  </a:lnTo>
                  <a:lnTo>
                    <a:pt x="0" y="182880"/>
                  </a:lnTo>
                  <a:close/>
                </a:path>
              </a:pathLst>
            </a:custGeom>
            <a:solidFill>
              <a:srgbClr val="122645"/>
            </a:solidFill>
          </p:spPr>
        </p:sp>
      </p:grpSp>
      <p:grpSp>
        <p:nvGrpSpPr>
          <p:cNvPr name="Group 6" id="6"/>
          <p:cNvGrpSpPr/>
          <p:nvPr/>
        </p:nvGrpSpPr>
        <p:grpSpPr>
          <a:xfrm rot="0">
            <a:off x="744855" y="292227"/>
            <a:ext cx="7151370" cy="485394"/>
            <a:chOff x="0" y="0"/>
            <a:chExt cx="9535160" cy="647192"/>
          </a:xfrm>
        </p:grpSpPr>
        <p:sp>
          <p:nvSpPr>
            <p:cNvPr name="Freeform 7" id="7"/>
            <p:cNvSpPr/>
            <p:nvPr/>
          </p:nvSpPr>
          <p:spPr>
            <a:xfrm flipH="false" flipV="false" rot="0">
              <a:off x="0" y="0"/>
              <a:ext cx="9535160" cy="647192"/>
            </a:xfrm>
            <a:custGeom>
              <a:avLst/>
              <a:gdLst/>
              <a:ahLst/>
              <a:cxnLst/>
              <a:rect r="r" b="b" t="t" l="l"/>
              <a:pathLst>
                <a:path h="647192" w="9535160">
                  <a:moveTo>
                    <a:pt x="0" y="25908"/>
                  </a:moveTo>
                  <a:cubicBezTo>
                    <a:pt x="0" y="11557"/>
                    <a:pt x="11557" y="0"/>
                    <a:pt x="25908" y="0"/>
                  </a:cubicBezTo>
                  <a:lnTo>
                    <a:pt x="9509252" y="0"/>
                  </a:lnTo>
                  <a:cubicBezTo>
                    <a:pt x="9523603" y="0"/>
                    <a:pt x="9535160" y="11557"/>
                    <a:pt x="9535160" y="25908"/>
                  </a:cubicBezTo>
                  <a:lnTo>
                    <a:pt x="9535160" y="621284"/>
                  </a:lnTo>
                  <a:cubicBezTo>
                    <a:pt x="9535160" y="635635"/>
                    <a:pt x="9523603" y="647192"/>
                    <a:pt x="9509252" y="647192"/>
                  </a:cubicBezTo>
                  <a:lnTo>
                    <a:pt x="25908" y="647192"/>
                  </a:lnTo>
                  <a:cubicBezTo>
                    <a:pt x="11557" y="647192"/>
                    <a:pt x="0" y="635635"/>
                    <a:pt x="0" y="621284"/>
                  </a:cubicBezTo>
                  <a:close/>
                </a:path>
              </a:pathLst>
            </a:custGeom>
            <a:solidFill>
              <a:srgbClr val="EEF6FC"/>
            </a:solidFill>
            <a:ln w="19050" cap="sq">
              <a:solidFill>
                <a:srgbClr val="122645"/>
              </a:solidFill>
              <a:prstDash val="solid"/>
              <a:miter/>
            </a:ln>
          </p:spPr>
        </p:sp>
      </p:grpSp>
      <p:grpSp>
        <p:nvGrpSpPr>
          <p:cNvPr name="Group 8" id="8"/>
          <p:cNvGrpSpPr/>
          <p:nvPr/>
        </p:nvGrpSpPr>
        <p:grpSpPr>
          <a:xfrm rot="0">
            <a:off x="850392" y="301752"/>
            <a:ext cx="6926580" cy="466344"/>
            <a:chOff x="0" y="0"/>
            <a:chExt cx="9235440" cy="621792"/>
          </a:xfrm>
        </p:grpSpPr>
        <p:sp>
          <p:nvSpPr>
            <p:cNvPr name="Freeform 9" id="9"/>
            <p:cNvSpPr/>
            <p:nvPr/>
          </p:nvSpPr>
          <p:spPr>
            <a:xfrm flipH="false" flipV="false" rot="0">
              <a:off x="0" y="0"/>
              <a:ext cx="9235440" cy="621792"/>
            </a:xfrm>
            <a:custGeom>
              <a:avLst/>
              <a:gdLst/>
              <a:ahLst/>
              <a:cxnLst/>
              <a:rect r="r" b="b" t="t" l="l"/>
              <a:pathLst>
                <a:path h="621792" w="9235440">
                  <a:moveTo>
                    <a:pt x="0" y="0"/>
                  </a:moveTo>
                  <a:lnTo>
                    <a:pt x="9235440" y="0"/>
                  </a:lnTo>
                  <a:lnTo>
                    <a:pt x="9235440" y="621792"/>
                  </a:lnTo>
                  <a:lnTo>
                    <a:pt x="0" y="621792"/>
                  </a:lnTo>
                  <a:close/>
                </a:path>
              </a:pathLst>
            </a:custGeom>
            <a:blipFill>
              <a:blip r:embed="rId2">
                <a:alphaModFix amt="0"/>
              </a:blip>
              <a:stretch>
                <a:fillRect l="0" t="-239410" r="0" b="-239410"/>
              </a:stretch>
            </a:blipFill>
          </p:spPr>
        </p:sp>
        <p:sp>
          <p:nvSpPr>
            <p:cNvPr name="TextBox 10" id="10"/>
            <p:cNvSpPr txBox="true"/>
            <p:nvPr/>
          </p:nvSpPr>
          <p:spPr>
            <a:xfrm>
              <a:off x="0" y="-9525"/>
              <a:ext cx="9235440" cy="631317"/>
            </a:xfrm>
            <a:prstGeom prst="rect">
              <a:avLst/>
            </a:prstGeom>
          </p:spPr>
          <p:txBody>
            <a:bodyPr anchor="ctr" rtlCol="false" tIns="0" lIns="0" bIns="0" rIns="0"/>
            <a:lstStyle/>
            <a:p>
              <a:pPr algn="l">
                <a:lnSpc>
                  <a:spcPts val="1889"/>
                </a:lnSpc>
              </a:pPr>
              <a:r>
                <a:rPr lang="en-US" sz="1575" b="true">
                  <a:solidFill>
                    <a:srgbClr val="122645"/>
                  </a:solidFill>
                  <a:latin typeface="DejaVu Sans Bold"/>
                  <a:ea typeface="DejaVu Sans Bold"/>
                  <a:cs typeface="DejaVu Sans Bold"/>
                  <a:sym typeface="DejaVu Sans Bold"/>
                </a:rPr>
                <a:t>CHỐT LẬP LUẬN PHÁP LÝ CÂU 2 • ĐIỀU 83 LUẬT NHÀ Ở 2023</a:t>
              </a:r>
            </a:p>
          </p:txBody>
        </p:sp>
      </p:grpSp>
      <p:grpSp>
        <p:nvGrpSpPr>
          <p:cNvPr name="Group 11" id="11"/>
          <p:cNvGrpSpPr/>
          <p:nvPr/>
        </p:nvGrpSpPr>
        <p:grpSpPr>
          <a:xfrm rot="0">
            <a:off x="15704820" y="301752"/>
            <a:ext cx="1824228" cy="466344"/>
            <a:chOff x="0" y="0"/>
            <a:chExt cx="2432304" cy="621792"/>
          </a:xfrm>
        </p:grpSpPr>
        <p:sp>
          <p:nvSpPr>
            <p:cNvPr name="Freeform 12" id="12"/>
            <p:cNvSpPr/>
            <p:nvPr/>
          </p:nvSpPr>
          <p:spPr>
            <a:xfrm flipH="false" flipV="false" rot="0">
              <a:off x="0" y="0"/>
              <a:ext cx="2432304" cy="621792"/>
            </a:xfrm>
            <a:custGeom>
              <a:avLst/>
              <a:gdLst/>
              <a:ahLst/>
              <a:cxnLst/>
              <a:rect r="r" b="b" t="t" l="l"/>
              <a:pathLst>
                <a:path h="621792" w="2432304">
                  <a:moveTo>
                    <a:pt x="0" y="24892"/>
                  </a:moveTo>
                  <a:cubicBezTo>
                    <a:pt x="0" y="11176"/>
                    <a:pt x="11176" y="0"/>
                    <a:pt x="24892" y="0"/>
                  </a:cubicBezTo>
                  <a:lnTo>
                    <a:pt x="2407412" y="0"/>
                  </a:lnTo>
                  <a:cubicBezTo>
                    <a:pt x="2421128" y="0"/>
                    <a:pt x="2432304" y="11176"/>
                    <a:pt x="2432304" y="24892"/>
                  </a:cubicBezTo>
                  <a:lnTo>
                    <a:pt x="2432304" y="596900"/>
                  </a:lnTo>
                  <a:cubicBezTo>
                    <a:pt x="2432304" y="610616"/>
                    <a:pt x="2421128" y="621792"/>
                    <a:pt x="2407412" y="621792"/>
                  </a:cubicBezTo>
                  <a:lnTo>
                    <a:pt x="24892" y="621792"/>
                  </a:lnTo>
                  <a:cubicBezTo>
                    <a:pt x="11176" y="621792"/>
                    <a:pt x="0" y="610616"/>
                    <a:pt x="0" y="596900"/>
                  </a:cubicBezTo>
                  <a:close/>
                </a:path>
              </a:pathLst>
            </a:custGeom>
            <a:solidFill>
              <a:srgbClr val="122645"/>
            </a:solidFill>
          </p:spPr>
        </p:sp>
      </p:grpSp>
      <p:grpSp>
        <p:nvGrpSpPr>
          <p:cNvPr name="Group 13" id="13"/>
          <p:cNvGrpSpPr/>
          <p:nvPr/>
        </p:nvGrpSpPr>
        <p:grpSpPr>
          <a:xfrm rot="0">
            <a:off x="15704820" y="301752"/>
            <a:ext cx="1824228" cy="466344"/>
            <a:chOff x="0" y="0"/>
            <a:chExt cx="2432304" cy="621792"/>
          </a:xfrm>
        </p:grpSpPr>
        <p:sp>
          <p:nvSpPr>
            <p:cNvPr name="Freeform 14" id="14"/>
            <p:cNvSpPr/>
            <p:nvPr/>
          </p:nvSpPr>
          <p:spPr>
            <a:xfrm flipH="false" flipV="false" rot="0">
              <a:off x="0" y="0"/>
              <a:ext cx="2432304" cy="621792"/>
            </a:xfrm>
            <a:custGeom>
              <a:avLst/>
              <a:gdLst/>
              <a:ahLst/>
              <a:cxnLst/>
              <a:rect r="r" b="b" t="t" l="l"/>
              <a:pathLst>
                <a:path h="621792" w="2432304">
                  <a:moveTo>
                    <a:pt x="0" y="0"/>
                  </a:moveTo>
                  <a:lnTo>
                    <a:pt x="2432304" y="0"/>
                  </a:lnTo>
                  <a:lnTo>
                    <a:pt x="2432304" y="621792"/>
                  </a:lnTo>
                  <a:lnTo>
                    <a:pt x="0" y="621792"/>
                  </a:lnTo>
                  <a:close/>
                </a:path>
              </a:pathLst>
            </a:custGeom>
            <a:blipFill>
              <a:blip r:embed="rId2">
                <a:alphaModFix amt="0"/>
              </a:blip>
              <a:stretch>
                <a:fillRect l="0" t="-26220" r="0" b="-26220"/>
              </a:stretch>
            </a:blipFill>
          </p:spPr>
        </p:sp>
        <p:sp>
          <p:nvSpPr>
            <p:cNvPr name="TextBox 15" id="15"/>
            <p:cNvSpPr txBox="true"/>
            <p:nvPr/>
          </p:nvSpPr>
          <p:spPr>
            <a:xfrm>
              <a:off x="0" y="-9525"/>
              <a:ext cx="2432304" cy="631317"/>
            </a:xfrm>
            <a:prstGeom prst="rect">
              <a:avLst/>
            </a:prstGeom>
          </p:spPr>
          <p:txBody>
            <a:bodyPr anchor="ctr" rtlCol="false" tIns="0" lIns="0" bIns="0" rIns="0"/>
            <a:lstStyle/>
            <a:p>
              <a:pPr algn="ctr">
                <a:lnSpc>
                  <a:spcPts val="1889"/>
                </a:lnSpc>
              </a:pPr>
              <a:r>
                <a:rPr lang="en-US" sz="1575" b="true">
                  <a:solidFill>
                    <a:srgbClr val="FFFFFF"/>
                  </a:solidFill>
                  <a:latin typeface="DejaVu Sans Bold"/>
                  <a:ea typeface="DejaVu Sans Bold"/>
                  <a:cs typeface="DejaVu Sans Bold"/>
                  <a:sym typeface="DejaVu Sans Bold"/>
                </a:rPr>
                <a:t>Slide 13 / 15</a:t>
              </a:r>
            </a:p>
          </p:txBody>
        </p:sp>
      </p:grpSp>
      <p:grpSp>
        <p:nvGrpSpPr>
          <p:cNvPr name="Group 16" id="16"/>
          <p:cNvGrpSpPr/>
          <p:nvPr/>
        </p:nvGrpSpPr>
        <p:grpSpPr>
          <a:xfrm rot="0">
            <a:off x="754380" y="850392"/>
            <a:ext cx="16774668" cy="740664"/>
            <a:chOff x="0" y="0"/>
            <a:chExt cx="22366224" cy="987552"/>
          </a:xfrm>
        </p:grpSpPr>
        <p:sp>
          <p:nvSpPr>
            <p:cNvPr name="Freeform 17" id="17"/>
            <p:cNvSpPr/>
            <p:nvPr/>
          </p:nvSpPr>
          <p:spPr>
            <a:xfrm flipH="false" flipV="false" rot="0">
              <a:off x="0" y="0"/>
              <a:ext cx="22366224" cy="987552"/>
            </a:xfrm>
            <a:custGeom>
              <a:avLst/>
              <a:gdLst/>
              <a:ahLst/>
              <a:cxnLst/>
              <a:rect r="r" b="b" t="t" l="l"/>
              <a:pathLst>
                <a:path h="987552" w="22366224">
                  <a:moveTo>
                    <a:pt x="0" y="0"/>
                  </a:moveTo>
                  <a:lnTo>
                    <a:pt x="22366224" y="0"/>
                  </a:lnTo>
                  <a:lnTo>
                    <a:pt x="22366224" y="987552"/>
                  </a:lnTo>
                  <a:lnTo>
                    <a:pt x="0" y="987552"/>
                  </a:lnTo>
                  <a:close/>
                </a:path>
              </a:pathLst>
            </a:custGeom>
            <a:blipFill>
              <a:blip r:embed="rId2">
                <a:alphaModFix amt="0"/>
              </a:blip>
              <a:stretch>
                <a:fillRect l="0" t="-391300" r="0" b="-391300"/>
              </a:stretch>
            </a:blipFill>
          </p:spPr>
        </p:sp>
        <p:sp>
          <p:nvSpPr>
            <p:cNvPr name="TextBox 18" id="18"/>
            <p:cNvSpPr txBox="true"/>
            <p:nvPr/>
          </p:nvSpPr>
          <p:spPr>
            <a:xfrm>
              <a:off x="0" y="-9525"/>
              <a:ext cx="22366224" cy="997077"/>
            </a:xfrm>
            <a:prstGeom prst="rect">
              <a:avLst/>
            </a:prstGeom>
          </p:spPr>
          <p:txBody>
            <a:bodyPr anchor="ctr" rtlCol="false" tIns="0" lIns="0" bIns="0" rIns="0"/>
            <a:lstStyle/>
            <a:p>
              <a:pPr algn="l">
                <a:lnSpc>
                  <a:spcPts val="3869"/>
                </a:lnSpc>
              </a:pPr>
              <a:r>
                <a:rPr lang="en-US" sz="3225" b="true">
                  <a:solidFill>
                    <a:srgbClr val="122645"/>
                  </a:solidFill>
                  <a:latin typeface="DejaVu Sans Bold"/>
                  <a:ea typeface="DejaVu Sans Bold"/>
                  <a:cs typeface="DejaVu Sans Bold"/>
                  <a:sym typeface="DejaVu Sans Bold"/>
                </a:rPr>
                <a:t>Nhà nước can thiệp có phải vi phạm quyền tự do kinh doanh?</a:t>
              </a:r>
            </a:p>
          </p:txBody>
        </p:sp>
      </p:grpSp>
      <p:grpSp>
        <p:nvGrpSpPr>
          <p:cNvPr name="Group 19" id="19"/>
          <p:cNvGrpSpPr/>
          <p:nvPr/>
        </p:nvGrpSpPr>
        <p:grpSpPr>
          <a:xfrm rot="0">
            <a:off x="754380" y="1645920"/>
            <a:ext cx="16774668" cy="41148"/>
            <a:chOff x="0" y="0"/>
            <a:chExt cx="22366224" cy="54864"/>
          </a:xfrm>
        </p:grpSpPr>
        <p:sp>
          <p:nvSpPr>
            <p:cNvPr name="Freeform 20" id="20"/>
            <p:cNvSpPr/>
            <p:nvPr/>
          </p:nvSpPr>
          <p:spPr>
            <a:xfrm flipH="false" flipV="false" rot="0">
              <a:off x="0" y="0"/>
              <a:ext cx="22366224" cy="54864"/>
            </a:xfrm>
            <a:custGeom>
              <a:avLst/>
              <a:gdLst/>
              <a:ahLst/>
              <a:cxnLst/>
              <a:rect r="r" b="b" t="t" l="l"/>
              <a:pathLst>
                <a:path h="54864" w="22366224">
                  <a:moveTo>
                    <a:pt x="0" y="0"/>
                  </a:moveTo>
                  <a:lnTo>
                    <a:pt x="22366224" y="0"/>
                  </a:lnTo>
                  <a:lnTo>
                    <a:pt x="22366224" y="54864"/>
                  </a:lnTo>
                  <a:lnTo>
                    <a:pt x="0" y="54864"/>
                  </a:lnTo>
                  <a:close/>
                </a:path>
              </a:pathLst>
            </a:custGeom>
            <a:solidFill>
              <a:srgbClr val="CBD5E1"/>
            </a:solidFill>
          </p:spPr>
        </p:sp>
      </p:grpSp>
      <p:grpSp>
        <p:nvGrpSpPr>
          <p:cNvPr name="Group 21" id="21"/>
          <p:cNvGrpSpPr/>
          <p:nvPr/>
        </p:nvGrpSpPr>
        <p:grpSpPr>
          <a:xfrm rot="0">
            <a:off x="-7144" y="9662636"/>
            <a:ext cx="18301830" cy="631507"/>
            <a:chOff x="0" y="0"/>
            <a:chExt cx="24402440" cy="842010"/>
          </a:xfrm>
        </p:grpSpPr>
        <p:sp>
          <p:nvSpPr>
            <p:cNvPr name="Freeform 22" id="22"/>
            <p:cNvSpPr/>
            <p:nvPr/>
          </p:nvSpPr>
          <p:spPr>
            <a:xfrm flipH="false" flipV="false" rot="0">
              <a:off x="0" y="0"/>
              <a:ext cx="24402414" cy="842010"/>
            </a:xfrm>
            <a:custGeom>
              <a:avLst/>
              <a:gdLst/>
              <a:ahLst/>
              <a:cxnLst/>
              <a:rect r="r" b="b" t="t" l="l"/>
              <a:pathLst>
                <a:path h="842010" w="24402414">
                  <a:moveTo>
                    <a:pt x="0" y="0"/>
                  </a:moveTo>
                  <a:lnTo>
                    <a:pt x="24402414" y="0"/>
                  </a:lnTo>
                  <a:lnTo>
                    <a:pt x="24402414" y="842010"/>
                  </a:lnTo>
                  <a:lnTo>
                    <a:pt x="0" y="842010"/>
                  </a:lnTo>
                  <a:close/>
                </a:path>
              </a:pathLst>
            </a:custGeom>
            <a:solidFill>
              <a:srgbClr val="FFFFFF"/>
            </a:solidFill>
            <a:ln w="14288" cap="sq">
              <a:solidFill>
                <a:srgbClr val="CBD5E1"/>
              </a:solidFill>
              <a:prstDash val="solid"/>
              <a:miter/>
            </a:ln>
          </p:spPr>
        </p:sp>
      </p:grpSp>
      <p:grpSp>
        <p:nvGrpSpPr>
          <p:cNvPr name="Group 23" id="23"/>
          <p:cNvGrpSpPr/>
          <p:nvPr/>
        </p:nvGrpSpPr>
        <p:grpSpPr>
          <a:xfrm rot="0">
            <a:off x="754380" y="9710928"/>
            <a:ext cx="16774668" cy="493776"/>
            <a:chOff x="0" y="0"/>
            <a:chExt cx="22366224" cy="658368"/>
          </a:xfrm>
        </p:grpSpPr>
        <p:sp>
          <p:nvSpPr>
            <p:cNvPr name="Freeform 24" id="24"/>
            <p:cNvSpPr/>
            <p:nvPr/>
          </p:nvSpPr>
          <p:spPr>
            <a:xfrm flipH="false" flipV="false" rot="0">
              <a:off x="0" y="0"/>
              <a:ext cx="22366224" cy="658368"/>
            </a:xfrm>
            <a:custGeom>
              <a:avLst/>
              <a:gdLst/>
              <a:ahLst/>
              <a:cxnLst/>
              <a:rect r="r" b="b" t="t" l="l"/>
              <a:pathLst>
                <a:path h="658368" w="22366224">
                  <a:moveTo>
                    <a:pt x="0" y="0"/>
                  </a:moveTo>
                  <a:lnTo>
                    <a:pt x="22366224" y="0"/>
                  </a:lnTo>
                  <a:lnTo>
                    <a:pt x="22366224" y="658368"/>
                  </a:lnTo>
                  <a:lnTo>
                    <a:pt x="0" y="658368"/>
                  </a:lnTo>
                  <a:close/>
                </a:path>
              </a:pathLst>
            </a:custGeom>
            <a:blipFill>
              <a:blip r:embed="rId2">
                <a:alphaModFix amt="0"/>
              </a:blip>
              <a:stretch>
                <a:fillRect l="0" t="-611950" r="0" b="-611950"/>
              </a:stretch>
            </a:blipFill>
          </p:spPr>
        </p:sp>
        <p:sp>
          <p:nvSpPr>
            <p:cNvPr name="TextBox 25" id="25"/>
            <p:cNvSpPr txBox="true"/>
            <p:nvPr/>
          </p:nvSpPr>
          <p:spPr>
            <a:xfrm>
              <a:off x="0" y="-19050"/>
              <a:ext cx="22366224" cy="677418"/>
            </a:xfrm>
            <a:prstGeom prst="rect">
              <a:avLst/>
            </a:prstGeom>
          </p:spPr>
          <p:txBody>
            <a:bodyPr anchor="ctr" rtlCol="false" tIns="0" lIns="0" bIns="0" rIns="0"/>
            <a:lstStyle/>
            <a:p>
              <a:pPr algn="l">
                <a:lnSpc>
                  <a:spcPts val="2520"/>
                </a:lnSpc>
              </a:pPr>
              <a:r>
                <a:rPr lang="en-US" sz="2100" i="true">
                  <a:solidFill>
                    <a:srgbClr val="475569"/>
                  </a:solidFill>
                  <a:latin typeface="DejaVu Sans Bold Italics"/>
                  <a:ea typeface="DejaVu Sans Bold Italics"/>
                  <a:cs typeface="DejaVu Sans Bold Italics"/>
                  <a:sym typeface="DejaVu Sans Bold Italics"/>
                </a:rPr>
                <a:t>Nguồn pháp lý: Hiến pháp 2013 (Điều 33); Luật Nhà ở 2023 (khoản 2 Điều 83 &amp; Điều 85); Nghị định 100/2024/NĐ-CP.</a:t>
              </a:r>
            </a:p>
          </p:txBody>
        </p:sp>
      </p:grpSp>
      <p:grpSp>
        <p:nvGrpSpPr>
          <p:cNvPr name="Group 26" id="26"/>
          <p:cNvGrpSpPr/>
          <p:nvPr/>
        </p:nvGrpSpPr>
        <p:grpSpPr>
          <a:xfrm rot="0">
            <a:off x="735330" y="1873758"/>
            <a:ext cx="8295132" cy="5359908"/>
            <a:chOff x="0" y="0"/>
            <a:chExt cx="11060176" cy="7146544"/>
          </a:xfrm>
        </p:grpSpPr>
        <p:sp>
          <p:nvSpPr>
            <p:cNvPr name="Freeform 27" id="27"/>
            <p:cNvSpPr/>
            <p:nvPr/>
          </p:nvSpPr>
          <p:spPr>
            <a:xfrm flipH="false" flipV="false" rot="0">
              <a:off x="0" y="0"/>
              <a:ext cx="11060176" cy="7146544"/>
            </a:xfrm>
            <a:custGeom>
              <a:avLst/>
              <a:gdLst/>
              <a:ahLst/>
              <a:cxnLst/>
              <a:rect r="r" b="b" t="t" l="l"/>
              <a:pathLst>
                <a:path h="7146544" w="11060176">
                  <a:moveTo>
                    <a:pt x="0" y="285877"/>
                  </a:moveTo>
                  <a:cubicBezTo>
                    <a:pt x="0" y="128016"/>
                    <a:pt x="128016" y="0"/>
                    <a:pt x="285877" y="0"/>
                  </a:cubicBezTo>
                  <a:lnTo>
                    <a:pt x="10774299" y="0"/>
                  </a:lnTo>
                  <a:cubicBezTo>
                    <a:pt x="10932160" y="0"/>
                    <a:pt x="11060176" y="128016"/>
                    <a:pt x="11060176" y="285877"/>
                  </a:cubicBezTo>
                  <a:lnTo>
                    <a:pt x="11060176" y="6860667"/>
                  </a:lnTo>
                  <a:cubicBezTo>
                    <a:pt x="11060176" y="7018528"/>
                    <a:pt x="10932160" y="7146544"/>
                    <a:pt x="10774299" y="7146544"/>
                  </a:cubicBezTo>
                  <a:lnTo>
                    <a:pt x="285877" y="7146544"/>
                  </a:lnTo>
                  <a:cubicBezTo>
                    <a:pt x="128016" y="7146544"/>
                    <a:pt x="0" y="7018528"/>
                    <a:pt x="0" y="6860667"/>
                  </a:cubicBezTo>
                  <a:close/>
                </a:path>
              </a:pathLst>
            </a:custGeom>
            <a:solidFill>
              <a:srgbClr val="ECFDF5"/>
            </a:solidFill>
            <a:ln w="38100" cap="sq">
              <a:solidFill>
                <a:srgbClr val="047857"/>
              </a:solidFill>
              <a:prstDash val="solid"/>
              <a:miter/>
            </a:ln>
          </p:spPr>
        </p:sp>
      </p:grpSp>
      <p:grpSp>
        <p:nvGrpSpPr>
          <p:cNvPr name="Group 28" id="28"/>
          <p:cNvGrpSpPr/>
          <p:nvPr/>
        </p:nvGrpSpPr>
        <p:grpSpPr>
          <a:xfrm rot="0">
            <a:off x="754380" y="1892808"/>
            <a:ext cx="8257032" cy="713232"/>
            <a:chOff x="0" y="0"/>
            <a:chExt cx="11009376" cy="950976"/>
          </a:xfrm>
        </p:grpSpPr>
        <p:sp>
          <p:nvSpPr>
            <p:cNvPr name="Freeform 29" id="29"/>
            <p:cNvSpPr/>
            <p:nvPr/>
          </p:nvSpPr>
          <p:spPr>
            <a:xfrm flipH="false" flipV="false" rot="0">
              <a:off x="0" y="0"/>
              <a:ext cx="11009376" cy="950976"/>
            </a:xfrm>
            <a:custGeom>
              <a:avLst/>
              <a:gdLst/>
              <a:ahLst/>
              <a:cxnLst/>
              <a:rect r="r" b="b" t="t" l="l"/>
              <a:pathLst>
                <a:path h="950976" w="11009376">
                  <a:moveTo>
                    <a:pt x="0" y="0"/>
                  </a:moveTo>
                  <a:lnTo>
                    <a:pt x="11009376" y="0"/>
                  </a:lnTo>
                  <a:lnTo>
                    <a:pt x="11009376" y="950976"/>
                  </a:lnTo>
                  <a:lnTo>
                    <a:pt x="0" y="950976"/>
                  </a:lnTo>
                  <a:close/>
                </a:path>
              </a:pathLst>
            </a:custGeom>
            <a:solidFill>
              <a:srgbClr val="047857"/>
            </a:solidFill>
          </p:spPr>
        </p:sp>
      </p:grpSp>
      <p:grpSp>
        <p:nvGrpSpPr>
          <p:cNvPr name="Group 30" id="30"/>
          <p:cNvGrpSpPr/>
          <p:nvPr/>
        </p:nvGrpSpPr>
        <p:grpSpPr>
          <a:xfrm rot="0">
            <a:off x="987552" y="1920240"/>
            <a:ext cx="7818120" cy="658368"/>
            <a:chOff x="0" y="0"/>
            <a:chExt cx="10424160" cy="877824"/>
          </a:xfrm>
        </p:grpSpPr>
        <p:sp>
          <p:nvSpPr>
            <p:cNvPr name="Freeform 31" id="31"/>
            <p:cNvSpPr/>
            <p:nvPr/>
          </p:nvSpPr>
          <p:spPr>
            <a:xfrm flipH="false" flipV="false" rot="0">
              <a:off x="0" y="0"/>
              <a:ext cx="10424160" cy="877824"/>
            </a:xfrm>
            <a:custGeom>
              <a:avLst/>
              <a:gdLst/>
              <a:ahLst/>
              <a:cxnLst/>
              <a:rect r="r" b="b" t="t" l="l"/>
              <a:pathLst>
                <a:path h="877824" w="10424160">
                  <a:moveTo>
                    <a:pt x="0" y="0"/>
                  </a:moveTo>
                  <a:lnTo>
                    <a:pt x="10424160" y="0"/>
                  </a:lnTo>
                  <a:lnTo>
                    <a:pt x="10424160" y="877824"/>
                  </a:lnTo>
                  <a:lnTo>
                    <a:pt x="0" y="877824"/>
                  </a:lnTo>
                  <a:close/>
                </a:path>
              </a:pathLst>
            </a:custGeom>
            <a:blipFill>
              <a:blip r:embed="rId2">
                <a:alphaModFix amt="0"/>
              </a:blip>
              <a:stretch>
                <a:fillRect l="0" t="-181384" r="0" b="-181384"/>
              </a:stretch>
            </a:blipFill>
          </p:spPr>
        </p:sp>
        <p:sp>
          <p:nvSpPr>
            <p:cNvPr name="TextBox 32" id="32"/>
            <p:cNvSpPr txBox="true"/>
            <p:nvPr/>
          </p:nvSpPr>
          <p:spPr>
            <a:xfrm>
              <a:off x="0" y="-57150"/>
              <a:ext cx="10424160" cy="934974"/>
            </a:xfrm>
            <a:prstGeom prst="rect">
              <a:avLst/>
            </a:prstGeom>
          </p:spPr>
          <p:txBody>
            <a:bodyPr anchor="ctr" rtlCol="false" tIns="0" lIns="0" bIns="0" rIns="0"/>
            <a:lstStyle/>
            <a:p>
              <a:pPr algn="l">
                <a:lnSpc>
                  <a:spcPts val="2700"/>
                </a:lnSpc>
              </a:pPr>
              <a:r>
                <a:rPr lang="en-US" sz="2250" b="true">
                  <a:solidFill>
                    <a:srgbClr val="FFFFFF"/>
                  </a:solidFill>
                  <a:latin typeface="Calibri (MS) Bold"/>
                  <a:ea typeface="Calibri (MS) Bold"/>
                  <a:cs typeface="Calibri (MS) Bold"/>
                  <a:sym typeface="Calibri (MS) Bold"/>
                </a:rPr>
                <a:t>✓  CAN THIỆP HỢP PHÁP THEO LUẬT ĐỊNH</a:t>
              </a:r>
            </a:p>
          </p:txBody>
        </p:sp>
      </p:grpSp>
      <p:sp>
        <p:nvSpPr>
          <p:cNvPr name="TextBox 33" id="33"/>
          <p:cNvSpPr txBox="true"/>
          <p:nvPr/>
        </p:nvSpPr>
        <p:spPr>
          <a:xfrm rot="0">
            <a:off x="1083564" y="2695194"/>
            <a:ext cx="7639812" cy="4345686"/>
          </a:xfrm>
          <a:prstGeom prst="rect">
            <a:avLst/>
          </a:prstGeom>
        </p:spPr>
        <p:txBody>
          <a:bodyPr anchor="t" rtlCol="false" tIns="0" lIns="0" bIns="0" rIns="0">
            <a:spAutoFit/>
          </a:bodyPr>
          <a:lstStyle/>
          <a:p>
            <a:pPr algn="l">
              <a:lnSpc>
                <a:spcPts val="2633"/>
              </a:lnSpc>
            </a:pPr>
            <a:r>
              <a:rPr lang="en-US" sz="1770" b="true">
                <a:solidFill>
                  <a:srgbClr val="0B192E"/>
                </a:solidFill>
                <a:latin typeface="DejaVu Sans Bold"/>
                <a:ea typeface="DejaVu Sans Bold"/>
                <a:cs typeface="DejaVu Sans Bold"/>
                <a:sym typeface="DejaVu Sans Bold"/>
              </a:rPr>
              <a:t>• Nhà nước quy định nghĩa vụ NOXH công khai, minh bạch từ khâu quy hoạch (khoản 2 Điều 83 Luật Nhà ở 2023).</a:t>
            </a:r>
          </a:p>
          <a:p>
            <a:pPr algn="l">
              <a:lnSpc>
                <a:spcPts val="2544"/>
              </a:lnSpc>
            </a:pPr>
            <a:r>
              <a:rPr lang="en-US" sz="1710">
                <a:solidFill>
                  <a:srgbClr val="1E293B"/>
                </a:solidFill>
                <a:latin typeface="DejaVu Sans Light"/>
                <a:ea typeface="DejaVu Sans Light"/>
                <a:cs typeface="DejaVu Sans Light"/>
                <a:sym typeface="DejaVu Sans Light"/>
              </a:rPr>
              <a:t>• Tại đô thị loại đặc biệt, loại I, II, III, chủ đầu tư dự án thương mại thực hiện 1 trong 3 hình thức linh hoạt:</a:t>
            </a:r>
          </a:p>
          <a:p>
            <a:pPr algn="l">
              <a:lnSpc>
                <a:spcPts val="2544"/>
              </a:lnSpc>
            </a:pPr>
            <a:r>
              <a:rPr lang="en-US" sz="1710">
                <a:solidFill>
                  <a:srgbClr val="1E293B"/>
                </a:solidFill>
                <a:latin typeface="DejaVu Sans Light"/>
                <a:ea typeface="DejaVu Sans Light"/>
                <a:cs typeface="DejaVu Sans Light"/>
                <a:sym typeface="DejaVu Sans Light"/>
              </a:rPr>
              <a:t>   (1) Dành một phần diện tích đất dự án xây dựng NOXH;</a:t>
            </a:r>
          </a:p>
          <a:p>
            <a:pPr algn="l">
              <a:lnSpc>
                <a:spcPts val="2544"/>
              </a:lnSpc>
            </a:pPr>
            <a:r>
              <a:rPr lang="en-US" sz="1710">
                <a:solidFill>
                  <a:srgbClr val="1E293B"/>
                </a:solidFill>
                <a:latin typeface="DejaVu Sans Light"/>
                <a:ea typeface="DejaVu Sans Light"/>
                <a:cs typeface="DejaVu Sans Light"/>
                <a:sym typeface="DejaVu Sans Light"/>
              </a:rPr>
              <a:t>   (2) Bố trí quỹ đất NOXH đã đầu tư hạ tầng ở vị trí khác; hoặc</a:t>
            </a:r>
          </a:p>
          <a:p>
            <a:pPr algn="l">
              <a:lnSpc>
                <a:spcPts val="2544"/>
              </a:lnSpc>
            </a:pPr>
            <a:r>
              <a:rPr lang="en-US" sz="1710">
                <a:solidFill>
                  <a:srgbClr val="1E293B"/>
                </a:solidFill>
                <a:latin typeface="DejaVu Sans Light"/>
                <a:ea typeface="DejaVu Sans Light"/>
                <a:cs typeface="DejaVu Sans Light"/>
                <a:sym typeface="DejaVu Sans Light"/>
              </a:rPr>
              <a:t>   (3) Đóng tiền tương đương giá trị quỹ đất đã đầu tư hạ tầng.</a:t>
            </a:r>
          </a:p>
          <a:p>
            <a:pPr algn="l">
              <a:lnSpc>
                <a:spcPts val="2525"/>
              </a:lnSpc>
            </a:pPr>
            <a:r>
              <a:rPr lang="en-US" sz="1725" b="true">
                <a:solidFill>
                  <a:srgbClr val="047857"/>
                </a:solidFill>
                <a:latin typeface="DejaVu Sans Bold"/>
                <a:ea typeface="DejaVu Sans Bold"/>
                <a:cs typeface="DejaVu Sans Bold"/>
                <a:sym typeface="DejaVu Sans Bold"/>
              </a:rPr>
              <a:t>• Đi kèm ưu đãi thuế, đất đai, tín dụng — bảo đảm quyền kinh doanh hợp pháp &amp; lợi nhuận chính đáng của doanh nghiệp.</a:t>
            </a:r>
          </a:p>
        </p:txBody>
      </p:sp>
      <p:grpSp>
        <p:nvGrpSpPr>
          <p:cNvPr name="Group 34" id="34"/>
          <p:cNvGrpSpPr/>
          <p:nvPr/>
        </p:nvGrpSpPr>
        <p:grpSpPr>
          <a:xfrm rot="0">
            <a:off x="9252966" y="1873758"/>
            <a:ext cx="8295132" cy="5359908"/>
            <a:chOff x="0" y="0"/>
            <a:chExt cx="11060176" cy="7146544"/>
          </a:xfrm>
        </p:grpSpPr>
        <p:sp>
          <p:nvSpPr>
            <p:cNvPr name="Freeform 35" id="35"/>
            <p:cNvSpPr/>
            <p:nvPr/>
          </p:nvSpPr>
          <p:spPr>
            <a:xfrm flipH="false" flipV="false" rot="0">
              <a:off x="0" y="0"/>
              <a:ext cx="11060176" cy="7146544"/>
            </a:xfrm>
            <a:custGeom>
              <a:avLst/>
              <a:gdLst/>
              <a:ahLst/>
              <a:cxnLst/>
              <a:rect r="r" b="b" t="t" l="l"/>
              <a:pathLst>
                <a:path h="7146544" w="11060176">
                  <a:moveTo>
                    <a:pt x="0" y="285877"/>
                  </a:moveTo>
                  <a:cubicBezTo>
                    <a:pt x="0" y="128016"/>
                    <a:pt x="128016" y="0"/>
                    <a:pt x="285877" y="0"/>
                  </a:cubicBezTo>
                  <a:lnTo>
                    <a:pt x="10774299" y="0"/>
                  </a:lnTo>
                  <a:cubicBezTo>
                    <a:pt x="10932160" y="0"/>
                    <a:pt x="11060176" y="128016"/>
                    <a:pt x="11060176" y="285877"/>
                  </a:cubicBezTo>
                  <a:lnTo>
                    <a:pt x="11060176" y="6860667"/>
                  </a:lnTo>
                  <a:cubicBezTo>
                    <a:pt x="11060176" y="7018528"/>
                    <a:pt x="10932160" y="7146544"/>
                    <a:pt x="10774299" y="7146544"/>
                  </a:cubicBezTo>
                  <a:lnTo>
                    <a:pt x="285877" y="7146544"/>
                  </a:lnTo>
                  <a:cubicBezTo>
                    <a:pt x="128016" y="7146544"/>
                    <a:pt x="0" y="7018528"/>
                    <a:pt x="0" y="6860667"/>
                  </a:cubicBezTo>
                  <a:close/>
                </a:path>
              </a:pathLst>
            </a:custGeom>
            <a:solidFill>
              <a:srgbClr val="FEF2F2"/>
            </a:solidFill>
            <a:ln w="38100" cap="sq">
              <a:solidFill>
                <a:srgbClr val="B91C1C"/>
              </a:solidFill>
              <a:prstDash val="solid"/>
              <a:miter/>
            </a:ln>
          </p:spPr>
        </p:sp>
      </p:grpSp>
      <p:grpSp>
        <p:nvGrpSpPr>
          <p:cNvPr name="Group 36" id="36"/>
          <p:cNvGrpSpPr/>
          <p:nvPr/>
        </p:nvGrpSpPr>
        <p:grpSpPr>
          <a:xfrm rot="0">
            <a:off x="9272016" y="1892808"/>
            <a:ext cx="8257032" cy="713232"/>
            <a:chOff x="0" y="0"/>
            <a:chExt cx="11009376" cy="950976"/>
          </a:xfrm>
        </p:grpSpPr>
        <p:sp>
          <p:nvSpPr>
            <p:cNvPr name="Freeform 37" id="37"/>
            <p:cNvSpPr/>
            <p:nvPr/>
          </p:nvSpPr>
          <p:spPr>
            <a:xfrm flipH="false" flipV="false" rot="0">
              <a:off x="0" y="0"/>
              <a:ext cx="11009376" cy="950976"/>
            </a:xfrm>
            <a:custGeom>
              <a:avLst/>
              <a:gdLst/>
              <a:ahLst/>
              <a:cxnLst/>
              <a:rect r="r" b="b" t="t" l="l"/>
              <a:pathLst>
                <a:path h="950976" w="11009376">
                  <a:moveTo>
                    <a:pt x="0" y="0"/>
                  </a:moveTo>
                  <a:lnTo>
                    <a:pt x="11009376" y="0"/>
                  </a:lnTo>
                  <a:lnTo>
                    <a:pt x="11009376" y="950976"/>
                  </a:lnTo>
                  <a:lnTo>
                    <a:pt x="0" y="950976"/>
                  </a:lnTo>
                  <a:close/>
                </a:path>
              </a:pathLst>
            </a:custGeom>
            <a:solidFill>
              <a:srgbClr val="B91C1C"/>
            </a:solidFill>
          </p:spPr>
        </p:sp>
      </p:grpSp>
      <p:grpSp>
        <p:nvGrpSpPr>
          <p:cNvPr name="Group 38" id="38"/>
          <p:cNvGrpSpPr/>
          <p:nvPr/>
        </p:nvGrpSpPr>
        <p:grpSpPr>
          <a:xfrm rot="0">
            <a:off x="9491472" y="1920240"/>
            <a:ext cx="7818120" cy="658368"/>
            <a:chOff x="0" y="0"/>
            <a:chExt cx="10424160" cy="877824"/>
          </a:xfrm>
        </p:grpSpPr>
        <p:sp>
          <p:nvSpPr>
            <p:cNvPr name="Freeform 39" id="39"/>
            <p:cNvSpPr/>
            <p:nvPr/>
          </p:nvSpPr>
          <p:spPr>
            <a:xfrm flipH="false" flipV="false" rot="0">
              <a:off x="0" y="0"/>
              <a:ext cx="10424160" cy="877824"/>
            </a:xfrm>
            <a:custGeom>
              <a:avLst/>
              <a:gdLst/>
              <a:ahLst/>
              <a:cxnLst/>
              <a:rect r="r" b="b" t="t" l="l"/>
              <a:pathLst>
                <a:path h="877824" w="10424160">
                  <a:moveTo>
                    <a:pt x="0" y="0"/>
                  </a:moveTo>
                  <a:lnTo>
                    <a:pt x="10424160" y="0"/>
                  </a:lnTo>
                  <a:lnTo>
                    <a:pt x="10424160" y="877824"/>
                  </a:lnTo>
                  <a:lnTo>
                    <a:pt x="0" y="877824"/>
                  </a:lnTo>
                  <a:close/>
                </a:path>
              </a:pathLst>
            </a:custGeom>
            <a:blipFill>
              <a:blip r:embed="rId2">
                <a:alphaModFix amt="0"/>
              </a:blip>
              <a:stretch>
                <a:fillRect l="0" t="-181384" r="0" b="-181384"/>
              </a:stretch>
            </a:blipFill>
          </p:spPr>
        </p:sp>
        <p:sp>
          <p:nvSpPr>
            <p:cNvPr name="TextBox 40" id="40"/>
            <p:cNvSpPr txBox="true"/>
            <p:nvPr/>
          </p:nvSpPr>
          <p:spPr>
            <a:xfrm>
              <a:off x="0" y="-57150"/>
              <a:ext cx="10424160" cy="934974"/>
            </a:xfrm>
            <a:prstGeom prst="rect">
              <a:avLst/>
            </a:prstGeom>
          </p:spPr>
          <p:txBody>
            <a:bodyPr anchor="ctr" rtlCol="false" tIns="0" lIns="0" bIns="0" rIns="0"/>
            <a:lstStyle/>
            <a:p>
              <a:pPr algn="l">
                <a:lnSpc>
                  <a:spcPts val="2700"/>
                </a:lnSpc>
              </a:pPr>
              <a:r>
                <a:rPr lang="en-US" sz="2250" b="true">
                  <a:solidFill>
                    <a:srgbClr val="FFFFFF"/>
                  </a:solidFill>
                  <a:latin typeface="Calibri (MS) Bold"/>
                  <a:ea typeface="Calibri (MS) Bold"/>
                  <a:cs typeface="Calibri (MS) Bold"/>
                  <a:sym typeface="Calibri (MS) Bold"/>
                </a:rPr>
                <a:t>✕  CAN THIỆP THIẾU HỢP LÝ / TÙY TIỆN</a:t>
              </a:r>
            </a:p>
          </p:txBody>
        </p:sp>
      </p:grpSp>
      <p:sp>
        <p:nvSpPr>
          <p:cNvPr name="TextBox 41" id="41"/>
          <p:cNvSpPr txBox="true"/>
          <p:nvPr/>
        </p:nvSpPr>
        <p:spPr>
          <a:xfrm rot="0">
            <a:off x="9601200" y="2676144"/>
            <a:ext cx="7639812" cy="4364736"/>
          </a:xfrm>
          <a:prstGeom prst="rect">
            <a:avLst/>
          </a:prstGeom>
        </p:spPr>
        <p:txBody>
          <a:bodyPr anchor="t" rtlCol="false" tIns="0" lIns="0" bIns="0" rIns="0">
            <a:spAutoFit/>
          </a:bodyPr>
          <a:lstStyle/>
          <a:p>
            <a:pPr algn="l">
              <a:lnSpc>
                <a:spcPts val="3375"/>
              </a:lnSpc>
            </a:pPr>
            <a:r>
              <a:rPr lang="en-US" sz="2250" b="true">
                <a:solidFill>
                  <a:srgbClr val="B91C1C"/>
                </a:solidFill>
                <a:latin typeface="DejaVu Sans Bold"/>
                <a:ea typeface="DejaVu Sans Bold"/>
                <a:cs typeface="DejaVu Sans Bold"/>
                <a:sym typeface="DejaVu Sans Bold"/>
              </a:rPr>
              <a:t>• Tùy tiện dùng mệnh lệnh hành chính buộc doanh nghiệp bán nhà thương mại dưới chi phí sản xuất.</a:t>
            </a:r>
          </a:p>
          <a:p>
            <a:pPr algn="l">
              <a:lnSpc>
                <a:spcPts val="3375"/>
              </a:lnSpc>
            </a:pPr>
            <a:r>
              <a:rPr lang="en-US" sz="2250">
                <a:solidFill>
                  <a:srgbClr val="1E293B"/>
                </a:solidFill>
                <a:latin typeface="DejaVu Sans Light"/>
                <a:ea typeface="DejaVu Sans Light"/>
                <a:cs typeface="DejaVu Sans Light"/>
                <a:sym typeface="DejaVu Sans Light"/>
              </a:rPr>
              <a:t>• Áp đặt nghĩa vụ ngoài căn cứ pháp luật, thay đổi chính sách bất ngờ hoặc tạo cơ chế "xin – cho" thiếu công bằng.</a:t>
            </a:r>
          </a:p>
          <a:p>
            <a:pPr algn="l">
              <a:lnSpc>
                <a:spcPts val="3375"/>
              </a:lnSpc>
            </a:pPr>
            <a:r>
              <a:rPr lang="en-US" sz="2250">
                <a:solidFill>
                  <a:srgbClr val="1E293B"/>
                </a:solidFill>
                <a:latin typeface="DejaVu Sans Light"/>
                <a:ea typeface="DejaVu Sans Light"/>
                <a:cs typeface="DejaVu Sans Light"/>
                <a:sym typeface="DejaVu Sans Light"/>
              </a:rPr>
              <a:t>• Hệ lụy kinh tế: Xâm phạm quyền tự do kinh doanh, làm doanh nghiệp thu hẹp đầu tư và gây khan hiếm nguồn cung trầm trọng hơn.</a:t>
            </a:r>
          </a:p>
        </p:txBody>
      </p:sp>
      <p:grpSp>
        <p:nvGrpSpPr>
          <p:cNvPr name="Group 42" id="42"/>
          <p:cNvGrpSpPr/>
          <p:nvPr/>
        </p:nvGrpSpPr>
        <p:grpSpPr>
          <a:xfrm rot="0">
            <a:off x="735330" y="7442454"/>
            <a:ext cx="16812768" cy="2013204"/>
            <a:chOff x="0" y="0"/>
            <a:chExt cx="22417024" cy="2684272"/>
          </a:xfrm>
        </p:grpSpPr>
        <p:sp>
          <p:nvSpPr>
            <p:cNvPr name="Freeform 43" id="43"/>
            <p:cNvSpPr/>
            <p:nvPr/>
          </p:nvSpPr>
          <p:spPr>
            <a:xfrm flipH="false" flipV="false" rot="0">
              <a:off x="0" y="0"/>
              <a:ext cx="22417024" cy="2684272"/>
            </a:xfrm>
            <a:custGeom>
              <a:avLst/>
              <a:gdLst/>
              <a:ahLst/>
              <a:cxnLst/>
              <a:rect r="r" b="b" t="t" l="l"/>
              <a:pathLst>
                <a:path h="2684272" w="22417024">
                  <a:moveTo>
                    <a:pt x="0" y="107315"/>
                  </a:moveTo>
                  <a:cubicBezTo>
                    <a:pt x="0" y="48133"/>
                    <a:pt x="48133" y="0"/>
                    <a:pt x="107315" y="0"/>
                  </a:cubicBezTo>
                  <a:lnTo>
                    <a:pt x="22309710" y="0"/>
                  </a:lnTo>
                  <a:cubicBezTo>
                    <a:pt x="22369019" y="0"/>
                    <a:pt x="22417024" y="48133"/>
                    <a:pt x="22417024" y="107315"/>
                  </a:cubicBezTo>
                  <a:lnTo>
                    <a:pt x="22417024" y="2576957"/>
                  </a:lnTo>
                  <a:cubicBezTo>
                    <a:pt x="22417024" y="2636266"/>
                    <a:pt x="22368892" y="2684272"/>
                    <a:pt x="22309710" y="2684272"/>
                  </a:cubicBezTo>
                  <a:lnTo>
                    <a:pt x="107315" y="2684272"/>
                  </a:lnTo>
                  <a:cubicBezTo>
                    <a:pt x="48006" y="2684272"/>
                    <a:pt x="0" y="2636139"/>
                    <a:pt x="0" y="2576957"/>
                  </a:cubicBezTo>
                  <a:close/>
                </a:path>
              </a:pathLst>
            </a:custGeom>
            <a:solidFill>
              <a:srgbClr val="122645"/>
            </a:solidFill>
            <a:ln w="38100" cap="sq">
              <a:solidFill>
                <a:srgbClr val="F59E0B"/>
              </a:solidFill>
              <a:prstDash val="solid"/>
              <a:miter/>
            </a:ln>
          </p:spPr>
        </p:sp>
      </p:grpSp>
      <p:grpSp>
        <p:nvGrpSpPr>
          <p:cNvPr name="Group 44" id="44"/>
          <p:cNvGrpSpPr/>
          <p:nvPr/>
        </p:nvGrpSpPr>
        <p:grpSpPr>
          <a:xfrm rot="0">
            <a:off x="1097280" y="7543800"/>
            <a:ext cx="16116300" cy="1810512"/>
            <a:chOff x="0" y="0"/>
            <a:chExt cx="21488400" cy="2414016"/>
          </a:xfrm>
        </p:grpSpPr>
        <p:sp>
          <p:nvSpPr>
            <p:cNvPr name="Freeform 45" id="45"/>
            <p:cNvSpPr/>
            <p:nvPr/>
          </p:nvSpPr>
          <p:spPr>
            <a:xfrm flipH="false" flipV="false" rot="0">
              <a:off x="0" y="0"/>
              <a:ext cx="21488400" cy="2414016"/>
            </a:xfrm>
            <a:custGeom>
              <a:avLst/>
              <a:gdLst/>
              <a:ahLst/>
              <a:cxnLst/>
              <a:rect r="r" b="b" t="t" l="l"/>
              <a:pathLst>
                <a:path h="2414016" w="21488400">
                  <a:moveTo>
                    <a:pt x="0" y="0"/>
                  </a:moveTo>
                  <a:lnTo>
                    <a:pt x="21488400" y="0"/>
                  </a:lnTo>
                  <a:lnTo>
                    <a:pt x="21488400" y="2414016"/>
                  </a:lnTo>
                  <a:lnTo>
                    <a:pt x="0" y="2414016"/>
                  </a:lnTo>
                  <a:close/>
                </a:path>
              </a:pathLst>
            </a:custGeom>
            <a:blipFill>
              <a:blip r:embed="rId2">
                <a:alphaModFix amt="0"/>
              </a:blip>
              <a:stretch>
                <a:fillRect l="0" t="-123446" r="0" b="-123446"/>
              </a:stretch>
            </a:blipFill>
          </p:spPr>
        </p:sp>
        <p:sp>
          <p:nvSpPr>
            <p:cNvPr name="TextBox 46" id="46"/>
            <p:cNvSpPr txBox="true"/>
            <p:nvPr/>
          </p:nvSpPr>
          <p:spPr>
            <a:xfrm>
              <a:off x="0" y="-19050"/>
              <a:ext cx="21488400" cy="2433066"/>
            </a:xfrm>
            <a:prstGeom prst="rect">
              <a:avLst/>
            </a:prstGeom>
          </p:spPr>
          <p:txBody>
            <a:bodyPr anchor="ctr" rtlCol="false" tIns="0" lIns="0" bIns="0" rIns="0"/>
            <a:lstStyle/>
            <a:p>
              <a:pPr algn="l">
                <a:lnSpc>
                  <a:spcPts val="2520"/>
                </a:lnSpc>
              </a:pPr>
              <a:r>
                <a:rPr lang="en-US" sz="2100" b="true">
                  <a:solidFill>
                    <a:srgbClr val="F59E0B"/>
                  </a:solidFill>
                  <a:latin typeface="DejaVu Sans Bold"/>
                  <a:ea typeface="DejaVu Sans Bold"/>
                  <a:cs typeface="DejaVu Sans Bold"/>
                  <a:sym typeface="DejaVu Sans Bold"/>
                </a:rPr>
                <a:t>KẾT LUẬN TRỰC DIỆN ĐỀ BÀI CQ7:</a:t>
              </a:r>
            </a:p>
            <a:p>
              <a:pPr algn="l">
                <a:lnSpc>
                  <a:spcPts val="3175"/>
                </a:lnSpc>
              </a:pPr>
              <a:r>
                <a:rPr lang="en-US" sz="2100" b="true">
                  <a:solidFill>
                    <a:srgbClr val="FFFFFF"/>
                  </a:solidFill>
                  <a:latin typeface="DejaVu Sans Bold"/>
                  <a:ea typeface="DejaVu Sans Bold"/>
                  <a:cs typeface="DejaVu Sans Bold"/>
                  <a:sym typeface="DejaVu Sans Bold"/>
                </a:rPr>
                <a:t>"Quyền tự do kinh doanh phải được tôn trọng, nhưng không đồng nghĩa doanh nghiệp không có nghĩa vụ theo pháp luật. Nhà nước cần can thiệp bằng thể chế minh bạch và các công cụ khuyến khích kinh tế, vừa bảo đảm quyền lợi hợp pháp của doanh nghiệp, vừa thực hiện mục tiêu an sinh xã hội."</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137160"/>
            <a:chOff x="0" y="0"/>
            <a:chExt cx="24383390" cy="182880"/>
          </a:xfrm>
        </p:grpSpPr>
        <p:sp>
          <p:nvSpPr>
            <p:cNvPr name="Freeform 3" id="3"/>
            <p:cNvSpPr/>
            <p:nvPr/>
          </p:nvSpPr>
          <p:spPr>
            <a:xfrm flipH="false" flipV="false" rot="0">
              <a:off x="0" y="0"/>
              <a:ext cx="24383364" cy="182880"/>
            </a:xfrm>
            <a:custGeom>
              <a:avLst/>
              <a:gdLst/>
              <a:ahLst/>
              <a:cxnLst/>
              <a:rect r="r" b="b" t="t" l="l"/>
              <a:pathLst>
                <a:path h="182880" w="24383364">
                  <a:moveTo>
                    <a:pt x="0" y="0"/>
                  </a:moveTo>
                  <a:lnTo>
                    <a:pt x="24383364" y="0"/>
                  </a:lnTo>
                  <a:lnTo>
                    <a:pt x="24383364" y="182880"/>
                  </a:lnTo>
                  <a:lnTo>
                    <a:pt x="0" y="182880"/>
                  </a:lnTo>
                  <a:close/>
                </a:path>
              </a:pathLst>
            </a:custGeom>
            <a:solidFill>
              <a:srgbClr val="122645"/>
            </a:solidFill>
          </p:spPr>
        </p:sp>
      </p:grpSp>
      <p:grpSp>
        <p:nvGrpSpPr>
          <p:cNvPr name="Group 4" id="4"/>
          <p:cNvGrpSpPr/>
          <p:nvPr/>
        </p:nvGrpSpPr>
        <p:grpSpPr>
          <a:xfrm rot="0">
            <a:off x="0" y="0"/>
            <a:ext cx="17068371" cy="137160"/>
            <a:chOff x="0" y="0"/>
            <a:chExt cx="22757828" cy="182880"/>
          </a:xfrm>
        </p:grpSpPr>
        <p:sp>
          <p:nvSpPr>
            <p:cNvPr name="Freeform 5" id="5"/>
            <p:cNvSpPr/>
            <p:nvPr/>
          </p:nvSpPr>
          <p:spPr>
            <a:xfrm flipH="false" flipV="false" rot="0">
              <a:off x="0" y="0"/>
              <a:ext cx="22757892" cy="182880"/>
            </a:xfrm>
            <a:custGeom>
              <a:avLst/>
              <a:gdLst/>
              <a:ahLst/>
              <a:cxnLst/>
              <a:rect r="r" b="b" t="t" l="l"/>
              <a:pathLst>
                <a:path h="182880" w="22757892">
                  <a:moveTo>
                    <a:pt x="0" y="0"/>
                  </a:moveTo>
                  <a:lnTo>
                    <a:pt x="22757892" y="0"/>
                  </a:lnTo>
                  <a:lnTo>
                    <a:pt x="22757892" y="182880"/>
                  </a:lnTo>
                  <a:lnTo>
                    <a:pt x="0" y="182880"/>
                  </a:lnTo>
                  <a:close/>
                </a:path>
              </a:pathLst>
            </a:custGeom>
            <a:solidFill>
              <a:srgbClr val="C25915"/>
            </a:solidFill>
          </p:spPr>
        </p:sp>
      </p:grpSp>
      <p:grpSp>
        <p:nvGrpSpPr>
          <p:cNvPr name="Group 6" id="6"/>
          <p:cNvGrpSpPr/>
          <p:nvPr/>
        </p:nvGrpSpPr>
        <p:grpSpPr>
          <a:xfrm rot="0">
            <a:off x="744855" y="292227"/>
            <a:ext cx="7151370" cy="485394"/>
            <a:chOff x="0" y="0"/>
            <a:chExt cx="9535160" cy="647192"/>
          </a:xfrm>
        </p:grpSpPr>
        <p:sp>
          <p:nvSpPr>
            <p:cNvPr name="Freeform 7" id="7"/>
            <p:cNvSpPr/>
            <p:nvPr/>
          </p:nvSpPr>
          <p:spPr>
            <a:xfrm flipH="false" flipV="false" rot="0">
              <a:off x="0" y="0"/>
              <a:ext cx="9535160" cy="647192"/>
            </a:xfrm>
            <a:custGeom>
              <a:avLst/>
              <a:gdLst/>
              <a:ahLst/>
              <a:cxnLst/>
              <a:rect r="r" b="b" t="t" l="l"/>
              <a:pathLst>
                <a:path h="647192" w="9535160">
                  <a:moveTo>
                    <a:pt x="0" y="25908"/>
                  </a:moveTo>
                  <a:cubicBezTo>
                    <a:pt x="0" y="11557"/>
                    <a:pt x="11557" y="0"/>
                    <a:pt x="25908" y="0"/>
                  </a:cubicBezTo>
                  <a:lnTo>
                    <a:pt x="9509252" y="0"/>
                  </a:lnTo>
                  <a:cubicBezTo>
                    <a:pt x="9523603" y="0"/>
                    <a:pt x="9535160" y="11557"/>
                    <a:pt x="9535160" y="25908"/>
                  </a:cubicBezTo>
                  <a:lnTo>
                    <a:pt x="9535160" y="621284"/>
                  </a:lnTo>
                  <a:cubicBezTo>
                    <a:pt x="9535160" y="635635"/>
                    <a:pt x="9523603" y="647192"/>
                    <a:pt x="9509252" y="647192"/>
                  </a:cubicBezTo>
                  <a:lnTo>
                    <a:pt x="25908" y="647192"/>
                  </a:lnTo>
                  <a:cubicBezTo>
                    <a:pt x="11557" y="647192"/>
                    <a:pt x="0" y="635635"/>
                    <a:pt x="0" y="621284"/>
                  </a:cubicBezTo>
                  <a:close/>
                </a:path>
              </a:pathLst>
            </a:custGeom>
            <a:solidFill>
              <a:srgbClr val="EEF6FC"/>
            </a:solidFill>
            <a:ln w="19050" cap="sq">
              <a:solidFill>
                <a:srgbClr val="C25915"/>
              </a:solidFill>
              <a:prstDash val="solid"/>
              <a:miter/>
            </a:ln>
          </p:spPr>
        </p:sp>
      </p:grpSp>
      <p:grpSp>
        <p:nvGrpSpPr>
          <p:cNvPr name="Group 8" id="8"/>
          <p:cNvGrpSpPr/>
          <p:nvPr/>
        </p:nvGrpSpPr>
        <p:grpSpPr>
          <a:xfrm rot="0">
            <a:off x="850392" y="301752"/>
            <a:ext cx="6926580" cy="466344"/>
            <a:chOff x="0" y="0"/>
            <a:chExt cx="9235440" cy="621792"/>
          </a:xfrm>
        </p:grpSpPr>
        <p:sp>
          <p:nvSpPr>
            <p:cNvPr name="Freeform 9" id="9"/>
            <p:cNvSpPr/>
            <p:nvPr/>
          </p:nvSpPr>
          <p:spPr>
            <a:xfrm flipH="false" flipV="false" rot="0">
              <a:off x="0" y="0"/>
              <a:ext cx="9235440" cy="621792"/>
            </a:xfrm>
            <a:custGeom>
              <a:avLst/>
              <a:gdLst/>
              <a:ahLst/>
              <a:cxnLst/>
              <a:rect r="r" b="b" t="t" l="l"/>
              <a:pathLst>
                <a:path h="621792" w="9235440">
                  <a:moveTo>
                    <a:pt x="0" y="0"/>
                  </a:moveTo>
                  <a:lnTo>
                    <a:pt x="9235440" y="0"/>
                  </a:lnTo>
                  <a:lnTo>
                    <a:pt x="9235440" y="621792"/>
                  </a:lnTo>
                  <a:lnTo>
                    <a:pt x="0" y="621792"/>
                  </a:lnTo>
                  <a:close/>
                </a:path>
              </a:pathLst>
            </a:custGeom>
            <a:blipFill>
              <a:blip r:embed="rId2">
                <a:alphaModFix amt="0"/>
              </a:blip>
              <a:stretch>
                <a:fillRect l="0" t="-239410" r="0" b="-239410"/>
              </a:stretch>
            </a:blipFill>
          </p:spPr>
        </p:sp>
        <p:sp>
          <p:nvSpPr>
            <p:cNvPr name="TextBox 10" id="10"/>
            <p:cNvSpPr txBox="true"/>
            <p:nvPr/>
          </p:nvSpPr>
          <p:spPr>
            <a:xfrm>
              <a:off x="0" y="-19050"/>
              <a:ext cx="9235440" cy="640842"/>
            </a:xfrm>
            <a:prstGeom prst="rect">
              <a:avLst/>
            </a:prstGeom>
          </p:spPr>
          <p:txBody>
            <a:bodyPr anchor="ctr" rtlCol="false" tIns="0" lIns="0" bIns="0" rIns="0"/>
            <a:lstStyle/>
            <a:p>
              <a:pPr algn="l">
                <a:lnSpc>
                  <a:spcPts val="2700"/>
                </a:lnSpc>
              </a:pPr>
              <a:r>
                <a:rPr lang="en-US" sz="2250" b="true">
                  <a:solidFill>
                    <a:srgbClr val="C25915"/>
                  </a:solidFill>
                  <a:latin typeface="DejaVu Sans Bold"/>
                  <a:ea typeface="DejaVu Sans Bold"/>
                  <a:cs typeface="DejaVu Sans Bold"/>
                  <a:sym typeface="DejaVu Sans Bold"/>
                </a:rPr>
                <a:t>KẾT LUẬN  •  HÀI HÒA LỢI ÍCH</a:t>
              </a:r>
            </a:p>
          </p:txBody>
        </p:sp>
      </p:grpSp>
      <p:grpSp>
        <p:nvGrpSpPr>
          <p:cNvPr name="Group 11" id="11"/>
          <p:cNvGrpSpPr/>
          <p:nvPr/>
        </p:nvGrpSpPr>
        <p:grpSpPr>
          <a:xfrm rot="0">
            <a:off x="15704820" y="301752"/>
            <a:ext cx="1824228" cy="466344"/>
            <a:chOff x="0" y="0"/>
            <a:chExt cx="2432304" cy="621792"/>
          </a:xfrm>
        </p:grpSpPr>
        <p:sp>
          <p:nvSpPr>
            <p:cNvPr name="Freeform 12" id="12"/>
            <p:cNvSpPr/>
            <p:nvPr/>
          </p:nvSpPr>
          <p:spPr>
            <a:xfrm flipH="false" flipV="false" rot="0">
              <a:off x="0" y="0"/>
              <a:ext cx="2432304" cy="621792"/>
            </a:xfrm>
            <a:custGeom>
              <a:avLst/>
              <a:gdLst/>
              <a:ahLst/>
              <a:cxnLst/>
              <a:rect r="r" b="b" t="t" l="l"/>
              <a:pathLst>
                <a:path h="621792" w="2432304">
                  <a:moveTo>
                    <a:pt x="0" y="24892"/>
                  </a:moveTo>
                  <a:cubicBezTo>
                    <a:pt x="0" y="11176"/>
                    <a:pt x="11176" y="0"/>
                    <a:pt x="24892" y="0"/>
                  </a:cubicBezTo>
                  <a:lnTo>
                    <a:pt x="2407412" y="0"/>
                  </a:lnTo>
                  <a:cubicBezTo>
                    <a:pt x="2421128" y="0"/>
                    <a:pt x="2432304" y="11176"/>
                    <a:pt x="2432304" y="24892"/>
                  </a:cubicBezTo>
                  <a:lnTo>
                    <a:pt x="2432304" y="596900"/>
                  </a:lnTo>
                  <a:cubicBezTo>
                    <a:pt x="2432304" y="610616"/>
                    <a:pt x="2421128" y="621792"/>
                    <a:pt x="2407412" y="621792"/>
                  </a:cubicBezTo>
                  <a:lnTo>
                    <a:pt x="24892" y="621792"/>
                  </a:lnTo>
                  <a:cubicBezTo>
                    <a:pt x="11176" y="621792"/>
                    <a:pt x="0" y="610616"/>
                    <a:pt x="0" y="596900"/>
                  </a:cubicBezTo>
                  <a:close/>
                </a:path>
              </a:pathLst>
            </a:custGeom>
            <a:solidFill>
              <a:srgbClr val="122645"/>
            </a:solidFill>
          </p:spPr>
        </p:sp>
      </p:grpSp>
      <p:grpSp>
        <p:nvGrpSpPr>
          <p:cNvPr name="Group 13" id="13"/>
          <p:cNvGrpSpPr/>
          <p:nvPr/>
        </p:nvGrpSpPr>
        <p:grpSpPr>
          <a:xfrm rot="0">
            <a:off x="15704820" y="301752"/>
            <a:ext cx="1824228" cy="466344"/>
            <a:chOff x="0" y="0"/>
            <a:chExt cx="2432304" cy="621792"/>
          </a:xfrm>
        </p:grpSpPr>
        <p:sp>
          <p:nvSpPr>
            <p:cNvPr name="Freeform 14" id="14"/>
            <p:cNvSpPr/>
            <p:nvPr/>
          </p:nvSpPr>
          <p:spPr>
            <a:xfrm flipH="false" flipV="false" rot="0">
              <a:off x="0" y="0"/>
              <a:ext cx="2432304" cy="621792"/>
            </a:xfrm>
            <a:custGeom>
              <a:avLst/>
              <a:gdLst/>
              <a:ahLst/>
              <a:cxnLst/>
              <a:rect r="r" b="b" t="t" l="l"/>
              <a:pathLst>
                <a:path h="621792" w="2432304">
                  <a:moveTo>
                    <a:pt x="0" y="0"/>
                  </a:moveTo>
                  <a:lnTo>
                    <a:pt x="2432304" y="0"/>
                  </a:lnTo>
                  <a:lnTo>
                    <a:pt x="2432304" y="621792"/>
                  </a:lnTo>
                  <a:lnTo>
                    <a:pt x="0" y="621792"/>
                  </a:lnTo>
                  <a:close/>
                </a:path>
              </a:pathLst>
            </a:custGeom>
            <a:blipFill>
              <a:blip r:embed="rId2">
                <a:alphaModFix amt="0"/>
              </a:blip>
              <a:stretch>
                <a:fillRect l="0" t="-26220" r="0" b="-26220"/>
              </a:stretch>
            </a:blipFill>
          </p:spPr>
        </p:sp>
        <p:sp>
          <p:nvSpPr>
            <p:cNvPr name="TextBox 15" id="15"/>
            <p:cNvSpPr txBox="true"/>
            <p:nvPr/>
          </p:nvSpPr>
          <p:spPr>
            <a:xfrm>
              <a:off x="0" y="-19050"/>
              <a:ext cx="2432304" cy="640842"/>
            </a:xfrm>
            <a:prstGeom prst="rect">
              <a:avLst/>
            </a:prstGeom>
          </p:spPr>
          <p:txBody>
            <a:bodyPr anchor="ctr" rtlCol="false" tIns="0" lIns="0" bIns="0" rIns="0"/>
            <a:lstStyle/>
            <a:p>
              <a:pPr algn="ctr">
                <a:lnSpc>
                  <a:spcPts val="2700"/>
                </a:lnSpc>
              </a:pPr>
              <a:r>
                <a:rPr lang="en-US" sz="2250" b="true">
                  <a:solidFill>
                    <a:srgbClr val="FFFFFF"/>
                  </a:solidFill>
                  <a:latin typeface="DejaVu Sans Bold"/>
                  <a:ea typeface="DejaVu Sans Bold"/>
                  <a:cs typeface="DejaVu Sans Bold"/>
                  <a:sym typeface="DejaVu Sans Bold"/>
                </a:rPr>
                <a:t>14 / 15</a:t>
              </a:r>
            </a:p>
          </p:txBody>
        </p:sp>
      </p:grpSp>
      <p:grpSp>
        <p:nvGrpSpPr>
          <p:cNvPr name="Group 16" id="16"/>
          <p:cNvGrpSpPr/>
          <p:nvPr/>
        </p:nvGrpSpPr>
        <p:grpSpPr>
          <a:xfrm rot="0">
            <a:off x="754380" y="850392"/>
            <a:ext cx="16774668" cy="740664"/>
            <a:chOff x="0" y="0"/>
            <a:chExt cx="22366224" cy="987552"/>
          </a:xfrm>
        </p:grpSpPr>
        <p:sp>
          <p:nvSpPr>
            <p:cNvPr name="Freeform 17" id="17"/>
            <p:cNvSpPr/>
            <p:nvPr/>
          </p:nvSpPr>
          <p:spPr>
            <a:xfrm flipH="false" flipV="false" rot="0">
              <a:off x="0" y="0"/>
              <a:ext cx="22366224" cy="987552"/>
            </a:xfrm>
            <a:custGeom>
              <a:avLst/>
              <a:gdLst/>
              <a:ahLst/>
              <a:cxnLst/>
              <a:rect r="r" b="b" t="t" l="l"/>
              <a:pathLst>
                <a:path h="987552" w="22366224">
                  <a:moveTo>
                    <a:pt x="0" y="0"/>
                  </a:moveTo>
                  <a:lnTo>
                    <a:pt x="22366224" y="0"/>
                  </a:lnTo>
                  <a:lnTo>
                    <a:pt x="22366224" y="987552"/>
                  </a:lnTo>
                  <a:lnTo>
                    <a:pt x="0" y="987552"/>
                  </a:lnTo>
                  <a:close/>
                </a:path>
              </a:pathLst>
            </a:custGeom>
            <a:blipFill>
              <a:blip r:embed="rId2">
                <a:alphaModFix amt="0"/>
              </a:blip>
              <a:stretch>
                <a:fillRect l="0" t="-391300" r="0" b="-391300"/>
              </a:stretch>
            </a:blipFill>
          </p:spPr>
        </p:sp>
        <p:sp>
          <p:nvSpPr>
            <p:cNvPr name="TextBox 18" id="18"/>
            <p:cNvSpPr txBox="true"/>
            <p:nvPr/>
          </p:nvSpPr>
          <p:spPr>
            <a:xfrm>
              <a:off x="0" y="-9525"/>
              <a:ext cx="22366224" cy="997077"/>
            </a:xfrm>
            <a:prstGeom prst="rect">
              <a:avLst/>
            </a:prstGeom>
          </p:spPr>
          <p:txBody>
            <a:bodyPr anchor="ctr" rtlCol="false" tIns="0" lIns="0" bIns="0" rIns="0"/>
            <a:lstStyle/>
            <a:p>
              <a:pPr algn="l">
                <a:lnSpc>
                  <a:spcPts val="3869"/>
                </a:lnSpc>
              </a:pPr>
              <a:r>
                <a:rPr lang="en-US" sz="3225" b="true">
                  <a:solidFill>
                    <a:srgbClr val="122645"/>
                  </a:solidFill>
                  <a:latin typeface="DejaVu Sans Bold"/>
                  <a:ea typeface="DejaVu Sans Bold"/>
                  <a:cs typeface="DejaVu Sans Bold"/>
                  <a:sym typeface="DejaVu Sans Bold"/>
                </a:rPr>
                <a:t>Kết luận: tam giác hài hòa lợi ích trong bài toán nhà ở</a:t>
              </a:r>
            </a:p>
          </p:txBody>
        </p:sp>
      </p:grpSp>
      <p:grpSp>
        <p:nvGrpSpPr>
          <p:cNvPr name="Group 19" id="19"/>
          <p:cNvGrpSpPr/>
          <p:nvPr/>
        </p:nvGrpSpPr>
        <p:grpSpPr>
          <a:xfrm rot="0">
            <a:off x="754380" y="1645920"/>
            <a:ext cx="16774668" cy="41148"/>
            <a:chOff x="0" y="0"/>
            <a:chExt cx="22366224" cy="54864"/>
          </a:xfrm>
        </p:grpSpPr>
        <p:sp>
          <p:nvSpPr>
            <p:cNvPr name="Freeform 20" id="20"/>
            <p:cNvSpPr/>
            <p:nvPr/>
          </p:nvSpPr>
          <p:spPr>
            <a:xfrm flipH="false" flipV="false" rot="0">
              <a:off x="0" y="0"/>
              <a:ext cx="22366224" cy="54864"/>
            </a:xfrm>
            <a:custGeom>
              <a:avLst/>
              <a:gdLst/>
              <a:ahLst/>
              <a:cxnLst/>
              <a:rect r="r" b="b" t="t" l="l"/>
              <a:pathLst>
                <a:path h="54864" w="22366224">
                  <a:moveTo>
                    <a:pt x="0" y="0"/>
                  </a:moveTo>
                  <a:lnTo>
                    <a:pt x="22366224" y="0"/>
                  </a:lnTo>
                  <a:lnTo>
                    <a:pt x="22366224" y="54864"/>
                  </a:lnTo>
                  <a:lnTo>
                    <a:pt x="0" y="54864"/>
                  </a:lnTo>
                  <a:close/>
                </a:path>
              </a:pathLst>
            </a:custGeom>
            <a:solidFill>
              <a:srgbClr val="CBD5E1"/>
            </a:solidFill>
          </p:spPr>
        </p:sp>
      </p:grpSp>
      <p:grpSp>
        <p:nvGrpSpPr>
          <p:cNvPr name="Group 21" id="21"/>
          <p:cNvGrpSpPr/>
          <p:nvPr/>
        </p:nvGrpSpPr>
        <p:grpSpPr>
          <a:xfrm rot="0">
            <a:off x="-7144" y="9662636"/>
            <a:ext cx="18301830" cy="631507"/>
            <a:chOff x="0" y="0"/>
            <a:chExt cx="24402440" cy="842010"/>
          </a:xfrm>
        </p:grpSpPr>
        <p:sp>
          <p:nvSpPr>
            <p:cNvPr name="Freeform 22" id="22"/>
            <p:cNvSpPr/>
            <p:nvPr/>
          </p:nvSpPr>
          <p:spPr>
            <a:xfrm flipH="false" flipV="false" rot="0">
              <a:off x="0" y="0"/>
              <a:ext cx="24402414" cy="842010"/>
            </a:xfrm>
            <a:custGeom>
              <a:avLst/>
              <a:gdLst/>
              <a:ahLst/>
              <a:cxnLst/>
              <a:rect r="r" b="b" t="t" l="l"/>
              <a:pathLst>
                <a:path h="842010" w="24402414">
                  <a:moveTo>
                    <a:pt x="0" y="0"/>
                  </a:moveTo>
                  <a:lnTo>
                    <a:pt x="24402414" y="0"/>
                  </a:lnTo>
                  <a:lnTo>
                    <a:pt x="24402414" y="842010"/>
                  </a:lnTo>
                  <a:lnTo>
                    <a:pt x="0" y="842010"/>
                  </a:lnTo>
                  <a:close/>
                </a:path>
              </a:pathLst>
            </a:custGeom>
            <a:solidFill>
              <a:srgbClr val="FFFFFF"/>
            </a:solidFill>
            <a:ln w="14288" cap="sq">
              <a:solidFill>
                <a:srgbClr val="CBD5E1"/>
              </a:solidFill>
              <a:prstDash val="solid"/>
              <a:miter/>
            </a:ln>
          </p:spPr>
        </p:sp>
      </p:grpSp>
      <p:grpSp>
        <p:nvGrpSpPr>
          <p:cNvPr name="Group 23" id="23"/>
          <p:cNvGrpSpPr/>
          <p:nvPr/>
        </p:nvGrpSpPr>
        <p:grpSpPr>
          <a:xfrm rot="0">
            <a:off x="754380" y="9710928"/>
            <a:ext cx="16774668" cy="493776"/>
            <a:chOff x="0" y="0"/>
            <a:chExt cx="22366224" cy="658368"/>
          </a:xfrm>
        </p:grpSpPr>
        <p:sp>
          <p:nvSpPr>
            <p:cNvPr name="Freeform 24" id="24"/>
            <p:cNvSpPr/>
            <p:nvPr/>
          </p:nvSpPr>
          <p:spPr>
            <a:xfrm flipH="false" flipV="false" rot="0">
              <a:off x="0" y="0"/>
              <a:ext cx="22366224" cy="658368"/>
            </a:xfrm>
            <a:custGeom>
              <a:avLst/>
              <a:gdLst/>
              <a:ahLst/>
              <a:cxnLst/>
              <a:rect r="r" b="b" t="t" l="l"/>
              <a:pathLst>
                <a:path h="658368" w="22366224">
                  <a:moveTo>
                    <a:pt x="0" y="0"/>
                  </a:moveTo>
                  <a:lnTo>
                    <a:pt x="22366224" y="0"/>
                  </a:lnTo>
                  <a:lnTo>
                    <a:pt x="22366224" y="658368"/>
                  </a:lnTo>
                  <a:lnTo>
                    <a:pt x="0" y="658368"/>
                  </a:lnTo>
                  <a:close/>
                </a:path>
              </a:pathLst>
            </a:custGeom>
            <a:blipFill>
              <a:blip r:embed="rId2">
                <a:alphaModFix amt="0"/>
              </a:blip>
              <a:stretch>
                <a:fillRect l="0" t="-611950" r="0" b="-611950"/>
              </a:stretch>
            </a:blipFill>
          </p:spPr>
        </p:sp>
        <p:sp>
          <p:nvSpPr>
            <p:cNvPr name="TextBox 25" id="25"/>
            <p:cNvSpPr txBox="true"/>
            <p:nvPr/>
          </p:nvSpPr>
          <p:spPr>
            <a:xfrm>
              <a:off x="0" y="-19050"/>
              <a:ext cx="22366224" cy="677418"/>
            </a:xfrm>
            <a:prstGeom prst="rect">
              <a:avLst/>
            </a:prstGeom>
          </p:spPr>
          <p:txBody>
            <a:bodyPr anchor="ctr" rtlCol="false" tIns="0" lIns="0" bIns="0" rIns="0"/>
            <a:lstStyle/>
            <a:p>
              <a:pPr algn="l">
                <a:lnSpc>
                  <a:spcPts val="2700"/>
                </a:lnSpc>
              </a:pPr>
              <a:r>
                <a:rPr lang="en-US" sz="2250" i="true">
                  <a:solidFill>
                    <a:srgbClr val="475569"/>
                  </a:solidFill>
                  <a:latin typeface="DejaVu Sans Bold Italics"/>
                  <a:ea typeface="DejaVu Sans Bold Italics"/>
                  <a:cs typeface="DejaVu Sans Bold Italics"/>
                  <a:sym typeface="DejaVu Sans Bold Italics"/>
                </a:rPr>
                <a:t>Nguồn: Tài liệu ôn tập và phản biện mới nhất trong repo, bảng “Tam giác hài hòa lợi ích 3 bên”.</a:t>
              </a:r>
            </a:p>
          </p:txBody>
        </p:sp>
      </p:grpSp>
      <p:grpSp>
        <p:nvGrpSpPr>
          <p:cNvPr name="Group 26" id="26"/>
          <p:cNvGrpSpPr/>
          <p:nvPr/>
        </p:nvGrpSpPr>
        <p:grpSpPr>
          <a:xfrm rot="0">
            <a:off x="754380" y="1920240"/>
            <a:ext cx="3086100" cy="1481328"/>
            <a:chOff x="0" y="0"/>
            <a:chExt cx="4114800" cy="1975104"/>
          </a:xfrm>
        </p:grpSpPr>
        <p:sp>
          <p:nvSpPr>
            <p:cNvPr name="Freeform 27" id="27"/>
            <p:cNvSpPr/>
            <p:nvPr/>
          </p:nvSpPr>
          <p:spPr>
            <a:xfrm flipH="false" flipV="false" rot="0">
              <a:off x="0" y="0"/>
              <a:ext cx="4114800" cy="1975104"/>
            </a:xfrm>
            <a:custGeom>
              <a:avLst/>
              <a:gdLst/>
              <a:ahLst/>
              <a:cxnLst/>
              <a:rect r="r" b="b" t="t" l="l"/>
              <a:pathLst>
                <a:path h="1975104" w="4114800">
                  <a:moveTo>
                    <a:pt x="0" y="78994"/>
                  </a:moveTo>
                  <a:cubicBezTo>
                    <a:pt x="0" y="35433"/>
                    <a:pt x="35433" y="0"/>
                    <a:pt x="78994" y="0"/>
                  </a:cubicBezTo>
                  <a:lnTo>
                    <a:pt x="4035806" y="0"/>
                  </a:lnTo>
                  <a:cubicBezTo>
                    <a:pt x="4079367" y="0"/>
                    <a:pt x="4114800" y="35433"/>
                    <a:pt x="4114800" y="78994"/>
                  </a:cubicBezTo>
                  <a:lnTo>
                    <a:pt x="4114800" y="1896110"/>
                  </a:lnTo>
                  <a:cubicBezTo>
                    <a:pt x="4114800" y="1939798"/>
                    <a:pt x="4079367" y="1975104"/>
                    <a:pt x="4035806" y="1975104"/>
                  </a:cubicBezTo>
                  <a:lnTo>
                    <a:pt x="78994" y="1975104"/>
                  </a:lnTo>
                  <a:cubicBezTo>
                    <a:pt x="35306" y="1975104"/>
                    <a:pt x="0" y="1939671"/>
                    <a:pt x="0" y="1896110"/>
                  </a:cubicBezTo>
                  <a:close/>
                </a:path>
              </a:pathLst>
            </a:custGeom>
            <a:solidFill>
              <a:srgbClr val="0369A1"/>
            </a:solidFill>
          </p:spPr>
        </p:sp>
      </p:grpSp>
      <p:grpSp>
        <p:nvGrpSpPr>
          <p:cNvPr name="Group 28" id="28"/>
          <p:cNvGrpSpPr/>
          <p:nvPr/>
        </p:nvGrpSpPr>
        <p:grpSpPr>
          <a:xfrm rot="0">
            <a:off x="754380" y="1920240"/>
            <a:ext cx="3086100" cy="1481328"/>
            <a:chOff x="0" y="0"/>
            <a:chExt cx="4114800" cy="1975104"/>
          </a:xfrm>
        </p:grpSpPr>
        <p:sp>
          <p:nvSpPr>
            <p:cNvPr name="Freeform 29" id="29"/>
            <p:cNvSpPr/>
            <p:nvPr/>
          </p:nvSpPr>
          <p:spPr>
            <a:xfrm flipH="false" flipV="false" rot="0">
              <a:off x="0" y="0"/>
              <a:ext cx="4114800" cy="1975104"/>
            </a:xfrm>
            <a:custGeom>
              <a:avLst/>
              <a:gdLst/>
              <a:ahLst/>
              <a:cxnLst/>
              <a:rect r="r" b="b" t="t" l="l"/>
              <a:pathLst>
                <a:path h="1975104" w="4114800">
                  <a:moveTo>
                    <a:pt x="0" y="0"/>
                  </a:moveTo>
                  <a:lnTo>
                    <a:pt x="4114800" y="0"/>
                  </a:lnTo>
                  <a:lnTo>
                    <a:pt x="4114800" y="1975104"/>
                  </a:lnTo>
                  <a:lnTo>
                    <a:pt x="0" y="1975104"/>
                  </a:lnTo>
                  <a:close/>
                </a:path>
              </a:pathLst>
            </a:custGeom>
            <a:blipFill>
              <a:blip r:embed="rId2">
                <a:alphaModFix amt="0"/>
              </a:blip>
              <a:stretch>
                <a:fillRect l="-11585" t="0" r="-11585" b="0"/>
              </a:stretch>
            </a:blipFill>
          </p:spPr>
        </p:sp>
        <p:sp>
          <p:nvSpPr>
            <p:cNvPr name="TextBox 30" id="30"/>
            <p:cNvSpPr txBox="true"/>
            <p:nvPr/>
          </p:nvSpPr>
          <p:spPr>
            <a:xfrm>
              <a:off x="0" y="-19050"/>
              <a:ext cx="4114800" cy="1994154"/>
            </a:xfrm>
            <a:prstGeom prst="rect">
              <a:avLst/>
            </a:prstGeom>
          </p:spPr>
          <p:txBody>
            <a:bodyPr anchor="ctr" rtlCol="false" tIns="0" lIns="0" bIns="0" rIns="0"/>
            <a:lstStyle/>
            <a:p>
              <a:pPr algn="ctr">
                <a:lnSpc>
                  <a:spcPts val="2700"/>
                </a:lnSpc>
              </a:pPr>
              <a:r>
                <a:rPr lang="en-US" sz="2250" b="true">
                  <a:solidFill>
                    <a:srgbClr val="FFFFFF"/>
                  </a:solidFill>
                  <a:latin typeface="DejaVu Sans Bold"/>
                  <a:ea typeface="DejaVu Sans Bold"/>
                  <a:cs typeface="DejaVu Sans Bold"/>
                  <a:sym typeface="DejaVu Sans Bold"/>
                </a:rPr>
                <a:t>DOANH NGHIỆP  •  LỢI NHUẬN HỢP LÝ</a:t>
              </a:r>
            </a:p>
          </p:txBody>
        </p:sp>
      </p:grpSp>
      <p:grpSp>
        <p:nvGrpSpPr>
          <p:cNvPr name="Group 31" id="31"/>
          <p:cNvGrpSpPr/>
          <p:nvPr/>
        </p:nvGrpSpPr>
        <p:grpSpPr>
          <a:xfrm rot="0">
            <a:off x="3965258" y="1907858"/>
            <a:ext cx="6773037" cy="1506093"/>
            <a:chOff x="0" y="0"/>
            <a:chExt cx="9030716" cy="2008124"/>
          </a:xfrm>
        </p:grpSpPr>
        <p:sp>
          <p:nvSpPr>
            <p:cNvPr name="Freeform 32" id="32"/>
            <p:cNvSpPr/>
            <p:nvPr/>
          </p:nvSpPr>
          <p:spPr>
            <a:xfrm flipH="false" flipV="false" rot="0">
              <a:off x="0" y="0"/>
              <a:ext cx="9030716" cy="2008124"/>
            </a:xfrm>
            <a:custGeom>
              <a:avLst/>
              <a:gdLst/>
              <a:ahLst/>
              <a:cxnLst/>
              <a:rect r="r" b="b" t="t" l="l"/>
              <a:pathLst>
                <a:path h="2008124" w="9030716">
                  <a:moveTo>
                    <a:pt x="0" y="80264"/>
                  </a:moveTo>
                  <a:cubicBezTo>
                    <a:pt x="0" y="35941"/>
                    <a:pt x="35941" y="0"/>
                    <a:pt x="80264" y="0"/>
                  </a:cubicBezTo>
                  <a:lnTo>
                    <a:pt x="8950452" y="0"/>
                  </a:lnTo>
                  <a:cubicBezTo>
                    <a:pt x="8994775" y="0"/>
                    <a:pt x="9030716" y="35941"/>
                    <a:pt x="9030716" y="80264"/>
                  </a:cubicBezTo>
                  <a:lnTo>
                    <a:pt x="9030716" y="1927860"/>
                  </a:lnTo>
                  <a:cubicBezTo>
                    <a:pt x="9030716" y="1972183"/>
                    <a:pt x="8994775" y="2008124"/>
                    <a:pt x="8950452" y="2008124"/>
                  </a:cubicBezTo>
                  <a:lnTo>
                    <a:pt x="80264" y="2008124"/>
                  </a:lnTo>
                  <a:cubicBezTo>
                    <a:pt x="35941" y="2008124"/>
                    <a:pt x="0" y="1972183"/>
                    <a:pt x="0" y="1927860"/>
                  </a:cubicBezTo>
                  <a:close/>
                </a:path>
              </a:pathLst>
            </a:custGeom>
            <a:solidFill>
              <a:srgbClr val="FFFFFF"/>
            </a:solidFill>
            <a:ln w="24765" cap="sq">
              <a:solidFill>
                <a:srgbClr val="0369A1"/>
              </a:solidFill>
              <a:prstDash val="solid"/>
              <a:miter/>
            </a:ln>
          </p:spPr>
        </p:sp>
      </p:grpSp>
      <p:grpSp>
        <p:nvGrpSpPr>
          <p:cNvPr name="Group 33" id="33"/>
          <p:cNvGrpSpPr/>
          <p:nvPr/>
        </p:nvGrpSpPr>
        <p:grpSpPr>
          <a:xfrm rot="0">
            <a:off x="4169664" y="1975104"/>
            <a:ext cx="6391656" cy="1371600"/>
            <a:chOff x="0" y="0"/>
            <a:chExt cx="8522208" cy="1828800"/>
          </a:xfrm>
        </p:grpSpPr>
        <p:sp>
          <p:nvSpPr>
            <p:cNvPr name="Freeform 34" id="34"/>
            <p:cNvSpPr/>
            <p:nvPr/>
          </p:nvSpPr>
          <p:spPr>
            <a:xfrm flipH="false" flipV="false" rot="0">
              <a:off x="0" y="0"/>
              <a:ext cx="8522208" cy="1828800"/>
            </a:xfrm>
            <a:custGeom>
              <a:avLst/>
              <a:gdLst/>
              <a:ahLst/>
              <a:cxnLst/>
              <a:rect r="r" b="b" t="t" l="l"/>
              <a:pathLst>
                <a:path h="1828800" w="8522208">
                  <a:moveTo>
                    <a:pt x="0" y="0"/>
                  </a:moveTo>
                  <a:lnTo>
                    <a:pt x="8522208" y="0"/>
                  </a:lnTo>
                  <a:lnTo>
                    <a:pt x="8522208" y="1828800"/>
                  </a:lnTo>
                  <a:lnTo>
                    <a:pt x="0" y="1828800"/>
                  </a:lnTo>
                  <a:close/>
                </a:path>
              </a:pathLst>
            </a:custGeom>
            <a:blipFill>
              <a:blip r:embed="rId2">
                <a:alphaModFix amt="0"/>
              </a:blip>
              <a:stretch>
                <a:fillRect l="0" t="-40800" r="0" b="-40800"/>
              </a:stretch>
            </a:blipFill>
          </p:spPr>
        </p:sp>
        <p:sp>
          <p:nvSpPr>
            <p:cNvPr name="TextBox 35" id="35"/>
            <p:cNvSpPr txBox="true"/>
            <p:nvPr/>
          </p:nvSpPr>
          <p:spPr>
            <a:xfrm>
              <a:off x="0" y="-66675"/>
              <a:ext cx="8522208" cy="1895475"/>
            </a:xfrm>
            <a:prstGeom prst="rect">
              <a:avLst/>
            </a:prstGeom>
          </p:spPr>
          <p:txBody>
            <a:bodyPr anchor="ctr" rtlCol="false" tIns="0" lIns="0" bIns="0" rIns="0"/>
            <a:lstStyle/>
            <a:p>
              <a:pPr algn="l">
                <a:lnSpc>
                  <a:spcPts val="3240"/>
                </a:lnSpc>
              </a:pPr>
              <a:r>
                <a:rPr lang="en-US" sz="2250">
                  <a:solidFill>
                    <a:srgbClr val="1E293B"/>
                  </a:solidFill>
                  <a:latin typeface="DejaVu Sans Light"/>
                  <a:ea typeface="DejaVu Sans Light"/>
                  <a:cs typeface="DejaVu Sans Light"/>
                  <a:sym typeface="DejaVu Sans Light"/>
                </a:rPr>
                <a:t>Có dòng tiền, đầu ra và rủi ro pháp lý dễ dự báo; tài liệu đặt mục tiêu lợi nhuận hợp nhất khoảng 15–18%.</a:t>
              </a:r>
            </a:p>
          </p:txBody>
        </p:sp>
      </p:grpSp>
      <p:grpSp>
        <p:nvGrpSpPr>
          <p:cNvPr name="Group 36" id="36"/>
          <p:cNvGrpSpPr/>
          <p:nvPr/>
        </p:nvGrpSpPr>
        <p:grpSpPr>
          <a:xfrm rot="0">
            <a:off x="754380" y="3621024"/>
            <a:ext cx="3086100" cy="1481328"/>
            <a:chOff x="0" y="0"/>
            <a:chExt cx="4114800" cy="1975104"/>
          </a:xfrm>
        </p:grpSpPr>
        <p:sp>
          <p:nvSpPr>
            <p:cNvPr name="Freeform 37" id="37"/>
            <p:cNvSpPr/>
            <p:nvPr/>
          </p:nvSpPr>
          <p:spPr>
            <a:xfrm flipH="false" flipV="false" rot="0">
              <a:off x="0" y="0"/>
              <a:ext cx="4114800" cy="1975104"/>
            </a:xfrm>
            <a:custGeom>
              <a:avLst/>
              <a:gdLst/>
              <a:ahLst/>
              <a:cxnLst/>
              <a:rect r="r" b="b" t="t" l="l"/>
              <a:pathLst>
                <a:path h="1975104" w="4114800">
                  <a:moveTo>
                    <a:pt x="0" y="78994"/>
                  </a:moveTo>
                  <a:cubicBezTo>
                    <a:pt x="0" y="35433"/>
                    <a:pt x="35433" y="0"/>
                    <a:pt x="78994" y="0"/>
                  </a:cubicBezTo>
                  <a:lnTo>
                    <a:pt x="4035806" y="0"/>
                  </a:lnTo>
                  <a:cubicBezTo>
                    <a:pt x="4079367" y="0"/>
                    <a:pt x="4114800" y="35433"/>
                    <a:pt x="4114800" y="78994"/>
                  </a:cubicBezTo>
                  <a:lnTo>
                    <a:pt x="4114800" y="1896110"/>
                  </a:lnTo>
                  <a:cubicBezTo>
                    <a:pt x="4114800" y="1939798"/>
                    <a:pt x="4079367" y="1975104"/>
                    <a:pt x="4035806" y="1975104"/>
                  </a:cubicBezTo>
                  <a:lnTo>
                    <a:pt x="78994" y="1975104"/>
                  </a:lnTo>
                  <a:cubicBezTo>
                    <a:pt x="35306" y="1975104"/>
                    <a:pt x="0" y="1939671"/>
                    <a:pt x="0" y="1896110"/>
                  </a:cubicBezTo>
                  <a:close/>
                </a:path>
              </a:pathLst>
            </a:custGeom>
            <a:solidFill>
              <a:srgbClr val="0F766E"/>
            </a:solidFill>
          </p:spPr>
        </p:sp>
      </p:grpSp>
      <p:grpSp>
        <p:nvGrpSpPr>
          <p:cNvPr name="Group 38" id="38"/>
          <p:cNvGrpSpPr/>
          <p:nvPr/>
        </p:nvGrpSpPr>
        <p:grpSpPr>
          <a:xfrm rot="0">
            <a:off x="754380" y="3621024"/>
            <a:ext cx="3086100" cy="1481328"/>
            <a:chOff x="0" y="0"/>
            <a:chExt cx="4114800" cy="1975104"/>
          </a:xfrm>
        </p:grpSpPr>
        <p:sp>
          <p:nvSpPr>
            <p:cNvPr name="Freeform 39" id="39"/>
            <p:cNvSpPr/>
            <p:nvPr/>
          </p:nvSpPr>
          <p:spPr>
            <a:xfrm flipH="false" flipV="false" rot="0">
              <a:off x="0" y="0"/>
              <a:ext cx="4114800" cy="1975104"/>
            </a:xfrm>
            <a:custGeom>
              <a:avLst/>
              <a:gdLst/>
              <a:ahLst/>
              <a:cxnLst/>
              <a:rect r="r" b="b" t="t" l="l"/>
              <a:pathLst>
                <a:path h="1975104" w="4114800">
                  <a:moveTo>
                    <a:pt x="0" y="0"/>
                  </a:moveTo>
                  <a:lnTo>
                    <a:pt x="4114800" y="0"/>
                  </a:lnTo>
                  <a:lnTo>
                    <a:pt x="4114800" y="1975104"/>
                  </a:lnTo>
                  <a:lnTo>
                    <a:pt x="0" y="1975104"/>
                  </a:lnTo>
                  <a:close/>
                </a:path>
              </a:pathLst>
            </a:custGeom>
            <a:blipFill>
              <a:blip r:embed="rId2">
                <a:alphaModFix amt="0"/>
              </a:blip>
              <a:stretch>
                <a:fillRect l="-11585" t="0" r="-11585" b="0"/>
              </a:stretch>
            </a:blipFill>
          </p:spPr>
        </p:sp>
        <p:sp>
          <p:nvSpPr>
            <p:cNvPr name="TextBox 40" id="40"/>
            <p:cNvSpPr txBox="true"/>
            <p:nvPr/>
          </p:nvSpPr>
          <p:spPr>
            <a:xfrm>
              <a:off x="0" y="-19050"/>
              <a:ext cx="4114800" cy="1994154"/>
            </a:xfrm>
            <a:prstGeom prst="rect">
              <a:avLst/>
            </a:prstGeom>
          </p:spPr>
          <p:txBody>
            <a:bodyPr anchor="ctr" rtlCol="false" tIns="0" lIns="0" bIns="0" rIns="0"/>
            <a:lstStyle/>
            <a:p>
              <a:pPr algn="ctr">
                <a:lnSpc>
                  <a:spcPts val="2700"/>
                </a:lnSpc>
              </a:pPr>
              <a:r>
                <a:rPr lang="en-US" sz="2250" b="true">
                  <a:solidFill>
                    <a:srgbClr val="FFFFFF"/>
                  </a:solidFill>
                  <a:latin typeface="DejaVu Sans Bold"/>
                  <a:ea typeface="DejaVu Sans Bold"/>
                  <a:cs typeface="DejaVu Sans Bold"/>
                  <a:sym typeface="DejaVu Sans Bold"/>
                </a:rPr>
                <a:t>NGƯỜI LAO ĐỘNG  •  AN CƯ VỪA SỨC</a:t>
              </a:r>
            </a:p>
          </p:txBody>
        </p:sp>
      </p:grpSp>
      <p:grpSp>
        <p:nvGrpSpPr>
          <p:cNvPr name="Group 41" id="41"/>
          <p:cNvGrpSpPr/>
          <p:nvPr/>
        </p:nvGrpSpPr>
        <p:grpSpPr>
          <a:xfrm rot="0">
            <a:off x="3965258" y="3608642"/>
            <a:ext cx="6773037" cy="1506093"/>
            <a:chOff x="0" y="0"/>
            <a:chExt cx="9030716" cy="2008124"/>
          </a:xfrm>
        </p:grpSpPr>
        <p:sp>
          <p:nvSpPr>
            <p:cNvPr name="Freeform 42" id="42"/>
            <p:cNvSpPr/>
            <p:nvPr/>
          </p:nvSpPr>
          <p:spPr>
            <a:xfrm flipH="false" flipV="false" rot="0">
              <a:off x="0" y="0"/>
              <a:ext cx="9030716" cy="2008124"/>
            </a:xfrm>
            <a:custGeom>
              <a:avLst/>
              <a:gdLst/>
              <a:ahLst/>
              <a:cxnLst/>
              <a:rect r="r" b="b" t="t" l="l"/>
              <a:pathLst>
                <a:path h="2008124" w="9030716">
                  <a:moveTo>
                    <a:pt x="0" y="80264"/>
                  </a:moveTo>
                  <a:cubicBezTo>
                    <a:pt x="0" y="35941"/>
                    <a:pt x="35941" y="0"/>
                    <a:pt x="80264" y="0"/>
                  </a:cubicBezTo>
                  <a:lnTo>
                    <a:pt x="8950452" y="0"/>
                  </a:lnTo>
                  <a:cubicBezTo>
                    <a:pt x="8994775" y="0"/>
                    <a:pt x="9030716" y="35941"/>
                    <a:pt x="9030716" y="80264"/>
                  </a:cubicBezTo>
                  <a:lnTo>
                    <a:pt x="9030716" y="1927860"/>
                  </a:lnTo>
                  <a:cubicBezTo>
                    <a:pt x="9030716" y="1972183"/>
                    <a:pt x="8994775" y="2008124"/>
                    <a:pt x="8950452" y="2008124"/>
                  </a:cubicBezTo>
                  <a:lnTo>
                    <a:pt x="80264" y="2008124"/>
                  </a:lnTo>
                  <a:cubicBezTo>
                    <a:pt x="35941" y="2008124"/>
                    <a:pt x="0" y="1972183"/>
                    <a:pt x="0" y="1927860"/>
                  </a:cubicBezTo>
                  <a:close/>
                </a:path>
              </a:pathLst>
            </a:custGeom>
            <a:solidFill>
              <a:srgbClr val="FFFFFF"/>
            </a:solidFill>
            <a:ln w="24765" cap="sq">
              <a:solidFill>
                <a:srgbClr val="0F766E"/>
              </a:solidFill>
              <a:prstDash val="solid"/>
              <a:miter/>
            </a:ln>
          </p:spPr>
        </p:sp>
      </p:grpSp>
      <p:grpSp>
        <p:nvGrpSpPr>
          <p:cNvPr name="Group 43" id="43"/>
          <p:cNvGrpSpPr/>
          <p:nvPr/>
        </p:nvGrpSpPr>
        <p:grpSpPr>
          <a:xfrm rot="0">
            <a:off x="4169664" y="3675888"/>
            <a:ext cx="6391656" cy="1371600"/>
            <a:chOff x="0" y="0"/>
            <a:chExt cx="8522208" cy="1828800"/>
          </a:xfrm>
        </p:grpSpPr>
        <p:sp>
          <p:nvSpPr>
            <p:cNvPr name="Freeform 44" id="44"/>
            <p:cNvSpPr/>
            <p:nvPr/>
          </p:nvSpPr>
          <p:spPr>
            <a:xfrm flipH="false" flipV="false" rot="0">
              <a:off x="0" y="0"/>
              <a:ext cx="8522208" cy="1828800"/>
            </a:xfrm>
            <a:custGeom>
              <a:avLst/>
              <a:gdLst/>
              <a:ahLst/>
              <a:cxnLst/>
              <a:rect r="r" b="b" t="t" l="l"/>
              <a:pathLst>
                <a:path h="1828800" w="8522208">
                  <a:moveTo>
                    <a:pt x="0" y="0"/>
                  </a:moveTo>
                  <a:lnTo>
                    <a:pt x="8522208" y="0"/>
                  </a:lnTo>
                  <a:lnTo>
                    <a:pt x="8522208" y="1828800"/>
                  </a:lnTo>
                  <a:lnTo>
                    <a:pt x="0" y="1828800"/>
                  </a:lnTo>
                  <a:close/>
                </a:path>
              </a:pathLst>
            </a:custGeom>
            <a:blipFill>
              <a:blip r:embed="rId2">
                <a:alphaModFix amt="0"/>
              </a:blip>
              <a:stretch>
                <a:fillRect l="0" t="-40800" r="0" b="-40800"/>
              </a:stretch>
            </a:blipFill>
          </p:spPr>
        </p:sp>
        <p:sp>
          <p:nvSpPr>
            <p:cNvPr name="TextBox 45" id="45"/>
            <p:cNvSpPr txBox="true"/>
            <p:nvPr/>
          </p:nvSpPr>
          <p:spPr>
            <a:xfrm>
              <a:off x="0" y="-66675"/>
              <a:ext cx="8522208" cy="1895475"/>
            </a:xfrm>
            <a:prstGeom prst="rect">
              <a:avLst/>
            </a:prstGeom>
          </p:spPr>
          <p:txBody>
            <a:bodyPr anchor="ctr" rtlCol="false" tIns="0" lIns="0" bIns="0" rIns="0"/>
            <a:lstStyle/>
            <a:p>
              <a:pPr algn="l">
                <a:lnSpc>
                  <a:spcPts val="3240"/>
                </a:lnSpc>
              </a:pPr>
              <a:r>
                <a:rPr lang="en-US" sz="2250">
                  <a:solidFill>
                    <a:srgbClr val="1E293B"/>
                  </a:solidFill>
                  <a:latin typeface="DejaVu Sans Light"/>
                  <a:ea typeface="DejaVu Sans Light"/>
                  <a:cs typeface="DejaVu Sans Light"/>
                  <a:sym typeface="DejaVu Sans Light"/>
                </a:rPr>
                <a:t>Tiếp cận căn 600–800 triệu; tài liệu ước tính trả góp 3,5–5 triệu/tháng với thu nhập 10–15 triệu.</a:t>
              </a:r>
            </a:p>
          </p:txBody>
        </p:sp>
      </p:grpSp>
      <p:grpSp>
        <p:nvGrpSpPr>
          <p:cNvPr name="Group 46" id="46"/>
          <p:cNvGrpSpPr/>
          <p:nvPr/>
        </p:nvGrpSpPr>
        <p:grpSpPr>
          <a:xfrm rot="0">
            <a:off x="754380" y="5321808"/>
            <a:ext cx="3086100" cy="1481328"/>
            <a:chOff x="0" y="0"/>
            <a:chExt cx="4114800" cy="1975104"/>
          </a:xfrm>
        </p:grpSpPr>
        <p:sp>
          <p:nvSpPr>
            <p:cNvPr name="Freeform 47" id="47"/>
            <p:cNvSpPr/>
            <p:nvPr/>
          </p:nvSpPr>
          <p:spPr>
            <a:xfrm flipH="false" flipV="false" rot="0">
              <a:off x="0" y="0"/>
              <a:ext cx="4114800" cy="1975104"/>
            </a:xfrm>
            <a:custGeom>
              <a:avLst/>
              <a:gdLst/>
              <a:ahLst/>
              <a:cxnLst/>
              <a:rect r="r" b="b" t="t" l="l"/>
              <a:pathLst>
                <a:path h="1975104" w="4114800">
                  <a:moveTo>
                    <a:pt x="0" y="78994"/>
                  </a:moveTo>
                  <a:cubicBezTo>
                    <a:pt x="0" y="35433"/>
                    <a:pt x="35433" y="0"/>
                    <a:pt x="78994" y="0"/>
                  </a:cubicBezTo>
                  <a:lnTo>
                    <a:pt x="4035806" y="0"/>
                  </a:lnTo>
                  <a:cubicBezTo>
                    <a:pt x="4079367" y="0"/>
                    <a:pt x="4114800" y="35433"/>
                    <a:pt x="4114800" y="78994"/>
                  </a:cubicBezTo>
                  <a:lnTo>
                    <a:pt x="4114800" y="1896110"/>
                  </a:lnTo>
                  <a:cubicBezTo>
                    <a:pt x="4114800" y="1939798"/>
                    <a:pt x="4079367" y="1975104"/>
                    <a:pt x="4035806" y="1975104"/>
                  </a:cubicBezTo>
                  <a:lnTo>
                    <a:pt x="78994" y="1975104"/>
                  </a:lnTo>
                  <a:cubicBezTo>
                    <a:pt x="35306" y="1975104"/>
                    <a:pt x="0" y="1939671"/>
                    <a:pt x="0" y="1896110"/>
                  </a:cubicBezTo>
                  <a:close/>
                </a:path>
              </a:pathLst>
            </a:custGeom>
            <a:solidFill>
              <a:srgbClr val="C25915"/>
            </a:solidFill>
          </p:spPr>
        </p:sp>
      </p:grpSp>
      <p:grpSp>
        <p:nvGrpSpPr>
          <p:cNvPr name="Group 48" id="48"/>
          <p:cNvGrpSpPr/>
          <p:nvPr/>
        </p:nvGrpSpPr>
        <p:grpSpPr>
          <a:xfrm rot="0">
            <a:off x="754380" y="5321808"/>
            <a:ext cx="3086100" cy="1481328"/>
            <a:chOff x="0" y="0"/>
            <a:chExt cx="4114800" cy="1975104"/>
          </a:xfrm>
        </p:grpSpPr>
        <p:sp>
          <p:nvSpPr>
            <p:cNvPr name="Freeform 49" id="49"/>
            <p:cNvSpPr/>
            <p:nvPr/>
          </p:nvSpPr>
          <p:spPr>
            <a:xfrm flipH="false" flipV="false" rot="0">
              <a:off x="0" y="0"/>
              <a:ext cx="4114800" cy="1975104"/>
            </a:xfrm>
            <a:custGeom>
              <a:avLst/>
              <a:gdLst/>
              <a:ahLst/>
              <a:cxnLst/>
              <a:rect r="r" b="b" t="t" l="l"/>
              <a:pathLst>
                <a:path h="1975104" w="4114800">
                  <a:moveTo>
                    <a:pt x="0" y="0"/>
                  </a:moveTo>
                  <a:lnTo>
                    <a:pt x="4114800" y="0"/>
                  </a:lnTo>
                  <a:lnTo>
                    <a:pt x="4114800" y="1975104"/>
                  </a:lnTo>
                  <a:lnTo>
                    <a:pt x="0" y="1975104"/>
                  </a:lnTo>
                  <a:close/>
                </a:path>
              </a:pathLst>
            </a:custGeom>
            <a:blipFill>
              <a:blip r:embed="rId2">
                <a:alphaModFix amt="0"/>
              </a:blip>
              <a:stretch>
                <a:fillRect l="-11585" t="0" r="-11585" b="0"/>
              </a:stretch>
            </a:blipFill>
          </p:spPr>
        </p:sp>
        <p:sp>
          <p:nvSpPr>
            <p:cNvPr name="TextBox 50" id="50"/>
            <p:cNvSpPr txBox="true"/>
            <p:nvPr/>
          </p:nvSpPr>
          <p:spPr>
            <a:xfrm>
              <a:off x="0" y="-19050"/>
              <a:ext cx="4114800" cy="1994154"/>
            </a:xfrm>
            <a:prstGeom prst="rect">
              <a:avLst/>
            </a:prstGeom>
          </p:spPr>
          <p:txBody>
            <a:bodyPr anchor="ctr" rtlCol="false" tIns="0" lIns="0" bIns="0" rIns="0"/>
            <a:lstStyle/>
            <a:p>
              <a:pPr algn="ctr">
                <a:lnSpc>
                  <a:spcPts val="2700"/>
                </a:lnSpc>
              </a:pPr>
              <a:r>
                <a:rPr lang="en-US" sz="2250" b="true">
                  <a:solidFill>
                    <a:srgbClr val="FFFFFF"/>
                  </a:solidFill>
                  <a:latin typeface="DejaVu Sans Bold"/>
                  <a:ea typeface="DejaVu Sans Bold"/>
                  <a:cs typeface="DejaVu Sans Bold"/>
                  <a:sym typeface="DejaVu Sans Bold"/>
                </a:rPr>
                <a:t>NHÀ NƯỚC &amp; XÃ HỘI  •  LỢI ÍCH DÀI HẠN</a:t>
              </a:r>
            </a:p>
          </p:txBody>
        </p:sp>
      </p:grpSp>
      <p:grpSp>
        <p:nvGrpSpPr>
          <p:cNvPr name="Group 51" id="51"/>
          <p:cNvGrpSpPr/>
          <p:nvPr/>
        </p:nvGrpSpPr>
        <p:grpSpPr>
          <a:xfrm rot="0">
            <a:off x="3965258" y="5309425"/>
            <a:ext cx="6773037" cy="1506093"/>
            <a:chOff x="0" y="0"/>
            <a:chExt cx="9030716" cy="2008124"/>
          </a:xfrm>
        </p:grpSpPr>
        <p:sp>
          <p:nvSpPr>
            <p:cNvPr name="Freeform 52" id="52"/>
            <p:cNvSpPr/>
            <p:nvPr/>
          </p:nvSpPr>
          <p:spPr>
            <a:xfrm flipH="false" flipV="false" rot="0">
              <a:off x="0" y="0"/>
              <a:ext cx="9030716" cy="2008124"/>
            </a:xfrm>
            <a:custGeom>
              <a:avLst/>
              <a:gdLst/>
              <a:ahLst/>
              <a:cxnLst/>
              <a:rect r="r" b="b" t="t" l="l"/>
              <a:pathLst>
                <a:path h="2008124" w="9030716">
                  <a:moveTo>
                    <a:pt x="0" y="80264"/>
                  </a:moveTo>
                  <a:cubicBezTo>
                    <a:pt x="0" y="35941"/>
                    <a:pt x="35941" y="0"/>
                    <a:pt x="80264" y="0"/>
                  </a:cubicBezTo>
                  <a:lnTo>
                    <a:pt x="8950452" y="0"/>
                  </a:lnTo>
                  <a:cubicBezTo>
                    <a:pt x="8994775" y="0"/>
                    <a:pt x="9030716" y="35941"/>
                    <a:pt x="9030716" y="80264"/>
                  </a:cubicBezTo>
                  <a:lnTo>
                    <a:pt x="9030716" y="1927860"/>
                  </a:lnTo>
                  <a:cubicBezTo>
                    <a:pt x="9030716" y="1972183"/>
                    <a:pt x="8994775" y="2008124"/>
                    <a:pt x="8950452" y="2008124"/>
                  </a:cubicBezTo>
                  <a:lnTo>
                    <a:pt x="80264" y="2008124"/>
                  </a:lnTo>
                  <a:cubicBezTo>
                    <a:pt x="35941" y="2008124"/>
                    <a:pt x="0" y="1972183"/>
                    <a:pt x="0" y="1927860"/>
                  </a:cubicBezTo>
                  <a:close/>
                </a:path>
              </a:pathLst>
            </a:custGeom>
            <a:solidFill>
              <a:srgbClr val="FFFFFF"/>
            </a:solidFill>
            <a:ln w="24765" cap="sq">
              <a:solidFill>
                <a:srgbClr val="C25915"/>
              </a:solidFill>
              <a:prstDash val="solid"/>
              <a:miter/>
            </a:ln>
          </p:spPr>
        </p:sp>
      </p:grpSp>
      <p:grpSp>
        <p:nvGrpSpPr>
          <p:cNvPr name="Group 53" id="53"/>
          <p:cNvGrpSpPr/>
          <p:nvPr/>
        </p:nvGrpSpPr>
        <p:grpSpPr>
          <a:xfrm rot="0">
            <a:off x="4169664" y="5376672"/>
            <a:ext cx="6391656" cy="1371600"/>
            <a:chOff x="0" y="0"/>
            <a:chExt cx="8522208" cy="1828800"/>
          </a:xfrm>
        </p:grpSpPr>
        <p:sp>
          <p:nvSpPr>
            <p:cNvPr name="Freeform 54" id="54"/>
            <p:cNvSpPr/>
            <p:nvPr/>
          </p:nvSpPr>
          <p:spPr>
            <a:xfrm flipH="false" flipV="false" rot="0">
              <a:off x="0" y="0"/>
              <a:ext cx="8522208" cy="1828800"/>
            </a:xfrm>
            <a:custGeom>
              <a:avLst/>
              <a:gdLst/>
              <a:ahLst/>
              <a:cxnLst/>
              <a:rect r="r" b="b" t="t" l="l"/>
              <a:pathLst>
                <a:path h="1828800" w="8522208">
                  <a:moveTo>
                    <a:pt x="0" y="0"/>
                  </a:moveTo>
                  <a:lnTo>
                    <a:pt x="8522208" y="0"/>
                  </a:lnTo>
                  <a:lnTo>
                    <a:pt x="8522208" y="1828800"/>
                  </a:lnTo>
                  <a:lnTo>
                    <a:pt x="0" y="1828800"/>
                  </a:lnTo>
                  <a:close/>
                </a:path>
              </a:pathLst>
            </a:custGeom>
            <a:blipFill>
              <a:blip r:embed="rId2">
                <a:alphaModFix amt="0"/>
              </a:blip>
              <a:stretch>
                <a:fillRect l="0" t="-40800" r="0" b="-40800"/>
              </a:stretch>
            </a:blipFill>
          </p:spPr>
        </p:sp>
        <p:sp>
          <p:nvSpPr>
            <p:cNvPr name="TextBox 55" id="55"/>
            <p:cNvSpPr txBox="true"/>
            <p:nvPr/>
          </p:nvSpPr>
          <p:spPr>
            <a:xfrm>
              <a:off x="0" y="-66675"/>
              <a:ext cx="8522208" cy="1895475"/>
            </a:xfrm>
            <a:prstGeom prst="rect">
              <a:avLst/>
            </a:prstGeom>
          </p:spPr>
          <p:txBody>
            <a:bodyPr anchor="ctr" rtlCol="false" tIns="0" lIns="0" bIns="0" rIns="0"/>
            <a:lstStyle/>
            <a:p>
              <a:pPr algn="l">
                <a:lnSpc>
                  <a:spcPts val="3240"/>
                </a:lnSpc>
              </a:pPr>
              <a:r>
                <a:rPr lang="en-US" sz="2250">
                  <a:solidFill>
                    <a:srgbClr val="1E293B"/>
                  </a:solidFill>
                  <a:latin typeface="DejaVu Sans Light"/>
                  <a:ea typeface="DejaVu Sans Light"/>
                  <a:cs typeface="DejaVu Sans Light"/>
                  <a:sym typeface="DejaVu Sans Light"/>
                </a:rPr>
                <a:t>An sinh, việc làm, ổn định xã hội và phát triển bền vững nguồn nhân lực trẻ.</a:t>
              </a:r>
            </a:p>
          </p:txBody>
        </p:sp>
      </p:grpSp>
      <p:grpSp>
        <p:nvGrpSpPr>
          <p:cNvPr name="Group 56" id="56"/>
          <p:cNvGrpSpPr/>
          <p:nvPr/>
        </p:nvGrpSpPr>
        <p:grpSpPr>
          <a:xfrm rot="0">
            <a:off x="739140" y="7089648"/>
            <a:ext cx="10002012" cy="2334768"/>
            <a:chOff x="0" y="0"/>
            <a:chExt cx="13336016" cy="3113024"/>
          </a:xfrm>
        </p:grpSpPr>
        <p:sp>
          <p:nvSpPr>
            <p:cNvPr name="Freeform 57" id="57"/>
            <p:cNvSpPr/>
            <p:nvPr/>
          </p:nvSpPr>
          <p:spPr>
            <a:xfrm flipH="false" flipV="false" rot="0">
              <a:off x="0" y="0"/>
              <a:ext cx="13336017" cy="3113024"/>
            </a:xfrm>
            <a:custGeom>
              <a:avLst/>
              <a:gdLst/>
              <a:ahLst/>
              <a:cxnLst/>
              <a:rect r="r" b="b" t="t" l="l"/>
              <a:pathLst>
                <a:path h="3113024" w="13336017">
                  <a:moveTo>
                    <a:pt x="0" y="124460"/>
                  </a:moveTo>
                  <a:cubicBezTo>
                    <a:pt x="0" y="55753"/>
                    <a:pt x="55753" y="0"/>
                    <a:pt x="124460" y="0"/>
                  </a:cubicBezTo>
                  <a:lnTo>
                    <a:pt x="13211556" y="0"/>
                  </a:lnTo>
                  <a:cubicBezTo>
                    <a:pt x="13280391" y="0"/>
                    <a:pt x="13336017" y="55753"/>
                    <a:pt x="13336017" y="124460"/>
                  </a:cubicBezTo>
                  <a:lnTo>
                    <a:pt x="13336017" y="2988564"/>
                  </a:lnTo>
                  <a:cubicBezTo>
                    <a:pt x="13336017" y="3057398"/>
                    <a:pt x="13280264" y="3113024"/>
                    <a:pt x="13211556" y="3113024"/>
                  </a:cubicBezTo>
                  <a:lnTo>
                    <a:pt x="124460" y="3113024"/>
                  </a:lnTo>
                  <a:cubicBezTo>
                    <a:pt x="55626" y="3113024"/>
                    <a:pt x="0" y="3057271"/>
                    <a:pt x="0" y="2988564"/>
                  </a:cubicBezTo>
                  <a:close/>
                </a:path>
              </a:pathLst>
            </a:custGeom>
            <a:solidFill>
              <a:srgbClr val="FFF7ED"/>
            </a:solidFill>
            <a:ln w="30480" cap="sq">
              <a:solidFill>
                <a:srgbClr val="C25915"/>
              </a:solidFill>
              <a:prstDash val="solid"/>
              <a:miter/>
            </a:ln>
          </p:spPr>
        </p:sp>
      </p:grpSp>
      <p:grpSp>
        <p:nvGrpSpPr>
          <p:cNvPr name="Group 58" id="58"/>
          <p:cNvGrpSpPr/>
          <p:nvPr/>
        </p:nvGrpSpPr>
        <p:grpSpPr>
          <a:xfrm rot="0">
            <a:off x="987552" y="7187184"/>
            <a:ext cx="9532620" cy="2139696"/>
            <a:chOff x="0" y="0"/>
            <a:chExt cx="12710160" cy="2852928"/>
          </a:xfrm>
        </p:grpSpPr>
        <p:sp>
          <p:nvSpPr>
            <p:cNvPr name="Freeform 59" id="59"/>
            <p:cNvSpPr/>
            <p:nvPr/>
          </p:nvSpPr>
          <p:spPr>
            <a:xfrm flipH="false" flipV="false" rot="0">
              <a:off x="0" y="0"/>
              <a:ext cx="12710160" cy="2852928"/>
            </a:xfrm>
            <a:custGeom>
              <a:avLst/>
              <a:gdLst/>
              <a:ahLst/>
              <a:cxnLst/>
              <a:rect r="r" b="b" t="t" l="l"/>
              <a:pathLst>
                <a:path h="2852928" w="12710160">
                  <a:moveTo>
                    <a:pt x="0" y="0"/>
                  </a:moveTo>
                  <a:lnTo>
                    <a:pt x="12710160" y="0"/>
                  </a:lnTo>
                  <a:lnTo>
                    <a:pt x="12710160" y="2852928"/>
                  </a:lnTo>
                  <a:lnTo>
                    <a:pt x="0" y="2852928"/>
                  </a:lnTo>
                  <a:close/>
                </a:path>
              </a:pathLst>
            </a:custGeom>
            <a:blipFill>
              <a:blip r:embed="rId2">
                <a:alphaModFix amt="0"/>
              </a:blip>
              <a:stretch>
                <a:fillRect l="0" t="-36808" r="0" b="-36808"/>
              </a:stretch>
            </a:blipFill>
          </p:spPr>
        </p:sp>
        <p:sp>
          <p:nvSpPr>
            <p:cNvPr name="TextBox 60" id="60"/>
            <p:cNvSpPr txBox="true"/>
            <p:nvPr/>
          </p:nvSpPr>
          <p:spPr>
            <a:xfrm>
              <a:off x="0" y="-19050"/>
              <a:ext cx="12710160" cy="2871978"/>
            </a:xfrm>
            <a:prstGeom prst="rect">
              <a:avLst/>
            </a:prstGeom>
          </p:spPr>
          <p:txBody>
            <a:bodyPr anchor="ctr" rtlCol="false" tIns="0" lIns="0" bIns="0" rIns="0"/>
            <a:lstStyle/>
            <a:p>
              <a:pPr algn="l">
                <a:lnSpc>
                  <a:spcPts val="2700"/>
                </a:lnSpc>
              </a:pPr>
              <a:r>
                <a:rPr lang="en-US" sz="2250" b="true">
                  <a:solidFill>
                    <a:srgbClr val="C25915"/>
                  </a:solidFill>
                  <a:latin typeface="DejaVu Sans Bold"/>
                  <a:ea typeface="DejaVu Sans Bold"/>
                  <a:cs typeface="DejaVu Sans Bold"/>
                  <a:sym typeface="DejaVu Sans Bold"/>
                </a:rPr>
                <a:t>KẾT LUẬN:</a:t>
              </a:r>
            </a:p>
            <a:p>
              <a:pPr algn="l">
                <a:lnSpc>
                  <a:spcPts val="3347"/>
                </a:lnSpc>
              </a:pPr>
              <a:r>
                <a:rPr lang="en-US" sz="2250">
                  <a:solidFill>
                    <a:srgbClr val="0B192E"/>
                  </a:solidFill>
                  <a:latin typeface="DejaVu Sans Light"/>
                  <a:ea typeface="DejaVu Sans Light"/>
                  <a:cs typeface="DejaVu Sans Light"/>
                  <a:sym typeface="DejaVu Sans Light"/>
                </a:rPr>
                <a:t>Nhà nước dùng công cụ kinh tế và thể chế minh bạch để hài hòa ba lợi ích — không thay cơ chế thị trường bằng mệnh lệnh.</a:t>
              </a:r>
            </a:p>
          </p:txBody>
        </p:sp>
      </p:grpSp>
      <p:grpSp>
        <p:nvGrpSpPr>
          <p:cNvPr name="Group 61" id="61"/>
          <p:cNvGrpSpPr/>
          <p:nvPr/>
        </p:nvGrpSpPr>
        <p:grpSpPr>
          <a:xfrm rot="0">
            <a:off x="11043666" y="1881378"/>
            <a:ext cx="6496812" cy="7511796"/>
            <a:chOff x="0" y="0"/>
            <a:chExt cx="8662416" cy="10015728"/>
          </a:xfrm>
        </p:grpSpPr>
        <p:sp>
          <p:nvSpPr>
            <p:cNvPr name="Freeform 62" id="62"/>
            <p:cNvSpPr/>
            <p:nvPr/>
          </p:nvSpPr>
          <p:spPr>
            <a:xfrm flipH="false" flipV="false" rot="0">
              <a:off x="0" y="0"/>
              <a:ext cx="8662416" cy="10015728"/>
            </a:xfrm>
            <a:custGeom>
              <a:avLst/>
              <a:gdLst/>
              <a:ahLst/>
              <a:cxnLst/>
              <a:rect r="r" b="b" t="t" l="l"/>
              <a:pathLst>
                <a:path h="10015728" w="8662416">
                  <a:moveTo>
                    <a:pt x="0" y="346456"/>
                  </a:moveTo>
                  <a:cubicBezTo>
                    <a:pt x="0" y="155194"/>
                    <a:pt x="155194" y="0"/>
                    <a:pt x="346456" y="0"/>
                  </a:cubicBezTo>
                  <a:lnTo>
                    <a:pt x="8315960" y="0"/>
                  </a:lnTo>
                  <a:cubicBezTo>
                    <a:pt x="8507349" y="0"/>
                    <a:pt x="8662416" y="155194"/>
                    <a:pt x="8662416" y="346456"/>
                  </a:cubicBezTo>
                  <a:lnTo>
                    <a:pt x="8662416" y="9669272"/>
                  </a:lnTo>
                  <a:cubicBezTo>
                    <a:pt x="8662416" y="9860661"/>
                    <a:pt x="8507222" y="10015728"/>
                    <a:pt x="8315960" y="10015728"/>
                  </a:cubicBezTo>
                  <a:lnTo>
                    <a:pt x="346456" y="10015728"/>
                  </a:lnTo>
                  <a:cubicBezTo>
                    <a:pt x="155194" y="10015728"/>
                    <a:pt x="0" y="9860534"/>
                    <a:pt x="0" y="9669272"/>
                  </a:cubicBezTo>
                  <a:close/>
                </a:path>
              </a:pathLst>
            </a:custGeom>
            <a:solidFill>
              <a:srgbClr val="FFFFFF"/>
            </a:solidFill>
            <a:ln w="22860" cap="sq">
              <a:solidFill>
                <a:srgbClr val="CBD5E1"/>
              </a:solidFill>
              <a:prstDash val="solid"/>
              <a:miter/>
            </a:ln>
          </p:spPr>
        </p:sp>
      </p:grpSp>
      <p:grpSp>
        <p:nvGrpSpPr>
          <p:cNvPr name="Group 63" id="63"/>
          <p:cNvGrpSpPr/>
          <p:nvPr/>
        </p:nvGrpSpPr>
        <p:grpSpPr>
          <a:xfrm rot="0">
            <a:off x="11137392" y="1975104"/>
            <a:ext cx="6309360" cy="6748272"/>
            <a:chOff x="0" y="0"/>
            <a:chExt cx="8412480" cy="8997696"/>
          </a:xfrm>
        </p:grpSpPr>
        <p:sp>
          <p:nvSpPr>
            <p:cNvPr name="Freeform 64" id="64" descr="image12.jpg"/>
            <p:cNvSpPr/>
            <p:nvPr/>
          </p:nvSpPr>
          <p:spPr>
            <a:xfrm flipH="false" flipV="false" rot="0">
              <a:off x="0" y="0"/>
              <a:ext cx="8412480" cy="8997696"/>
            </a:xfrm>
            <a:custGeom>
              <a:avLst/>
              <a:gdLst/>
              <a:ahLst/>
              <a:cxnLst/>
              <a:rect r="r" b="b" t="t" l="l"/>
              <a:pathLst>
                <a:path h="8997696" w="8412480">
                  <a:moveTo>
                    <a:pt x="0" y="0"/>
                  </a:moveTo>
                  <a:lnTo>
                    <a:pt x="8412480" y="0"/>
                  </a:lnTo>
                  <a:lnTo>
                    <a:pt x="8412480" y="8997696"/>
                  </a:lnTo>
                  <a:lnTo>
                    <a:pt x="0" y="8997696"/>
                  </a:lnTo>
                  <a:lnTo>
                    <a:pt x="0" y="0"/>
                  </a:lnTo>
                  <a:close/>
                </a:path>
              </a:pathLst>
            </a:custGeom>
            <a:blipFill>
              <a:blip r:embed="rId3"/>
              <a:stretch>
                <a:fillRect l="-749" t="0" r="-749" b="0"/>
              </a:stretch>
            </a:blipFill>
          </p:spPr>
        </p:sp>
      </p:grpSp>
      <p:grpSp>
        <p:nvGrpSpPr>
          <p:cNvPr name="Group 65" id="65"/>
          <p:cNvGrpSpPr/>
          <p:nvPr/>
        </p:nvGrpSpPr>
        <p:grpSpPr>
          <a:xfrm rot="0">
            <a:off x="11137392" y="8778240"/>
            <a:ext cx="6309360" cy="548640"/>
            <a:chOff x="0" y="0"/>
            <a:chExt cx="8412480" cy="731520"/>
          </a:xfrm>
        </p:grpSpPr>
        <p:sp>
          <p:nvSpPr>
            <p:cNvPr name="Freeform 66" id="66"/>
            <p:cNvSpPr/>
            <p:nvPr/>
          </p:nvSpPr>
          <p:spPr>
            <a:xfrm flipH="false" flipV="false" rot="0">
              <a:off x="0" y="0"/>
              <a:ext cx="8412480" cy="731520"/>
            </a:xfrm>
            <a:custGeom>
              <a:avLst/>
              <a:gdLst/>
              <a:ahLst/>
              <a:cxnLst/>
              <a:rect r="r" b="b" t="t" l="l"/>
              <a:pathLst>
                <a:path h="731520" w="8412480">
                  <a:moveTo>
                    <a:pt x="0" y="0"/>
                  </a:moveTo>
                  <a:lnTo>
                    <a:pt x="8412480" y="0"/>
                  </a:lnTo>
                  <a:lnTo>
                    <a:pt x="8412480" y="731520"/>
                  </a:lnTo>
                  <a:lnTo>
                    <a:pt x="0" y="731520"/>
                  </a:lnTo>
                  <a:close/>
                </a:path>
              </a:pathLst>
            </a:custGeom>
            <a:solidFill>
              <a:srgbClr val="F1F5F9"/>
            </a:solidFill>
          </p:spPr>
        </p:sp>
      </p:grpSp>
      <p:grpSp>
        <p:nvGrpSpPr>
          <p:cNvPr name="Group 67" id="67"/>
          <p:cNvGrpSpPr/>
          <p:nvPr/>
        </p:nvGrpSpPr>
        <p:grpSpPr>
          <a:xfrm rot="0">
            <a:off x="11219688" y="8778240"/>
            <a:ext cx="6144768" cy="548640"/>
            <a:chOff x="0" y="0"/>
            <a:chExt cx="8193024" cy="731520"/>
          </a:xfrm>
        </p:grpSpPr>
        <p:sp>
          <p:nvSpPr>
            <p:cNvPr name="Freeform 68" id="68"/>
            <p:cNvSpPr/>
            <p:nvPr/>
          </p:nvSpPr>
          <p:spPr>
            <a:xfrm flipH="false" flipV="false" rot="0">
              <a:off x="0" y="0"/>
              <a:ext cx="8193022" cy="731520"/>
            </a:xfrm>
            <a:custGeom>
              <a:avLst/>
              <a:gdLst/>
              <a:ahLst/>
              <a:cxnLst/>
              <a:rect r="r" b="b" t="t" l="l"/>
              <a:pathLst>
                <a:path h="731520" w="8193022">
                  <a:moveTo>
                    <a:pt x="0" y="0"/>
                  </a:moveTo>
                  <a:lnTo>
                    <a:pt x="8193022" y="0"/>
                  </a:lnTo>
                  <a:lnTo>
                    <a:pt x="8193022" y="731520"/>
                  </a:lnTo>
                  <a:lnTo>
                    <a:pt x="0" y="731520"/>
                  </a:lnTo>
                  <a:close/>
                </a:path>
              </a:pathLst>
            </a:custGeom>
            <a:blipFill>
              <a:blip r:embed="rId2">
                <a:alphaModFix amt="0"/>
              </a:blip>
              <a:stretch>
                <a:fillRect l="0" t="-168232" r="0" b="-168232"/>
              </a:stretch>
            </a:blipFill>
          </p:spPr>
        </p:sp>
        <p:sp>
          <p:nvSpPr>
            <p:cNvPr name="TextBox 69" id="69"/>
            <p:cNvSpPr txBox="true"/>
            <p:nvPr/>
          </p:nvSpPr>
          <p:spPr>
            <a:xfrm>
              <a:off x="0" y="-9525"/>
              <a:ext cx="8193024" cy="741045"/>
            </a:xfrm>
            <a:prstGeom prst="rect">
              <a:avLst/>
            </a:prstGeom>
          </p:spPr>
          <p:txBody>
            <a:bodyPr anchor="ctr" rtlCol="false" tIns="0" lIns="0" bIns="0" rIns="0"/>
            <a:lstStyle/>
            <a:p>
              <a:pPr algn="l">
                <a:lnSpc>
                  <a:spcPts val="1727"/>
                </a:lnSpc>
              </a:pPr>
              <a:r>
                <a:rPr lang="en-US" sz="1439" b="true">
                  <a:solidFill>
                    <a:srgbClr val="1E293B"/>
                  </a:solidFill>
                  <a:latin typeface="DejaVu Sans Bold"/>
                  <a:ea typeface="DejaVu Sans Bold"/>
                  <a:cs typeface="DejaVu Sans Bold"/>
                  <a:sym typeface="DejaVu Sans Bold"/>
                </a:rPr>
                <a:t>Ảnh tư liệu: Thi công dự án NOXH Viglacera | Nguồn: Thời báo VTV</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7543" cy="137160"/>
            <a:chOff x="0" y="0"/>
            <a:chExt cx="24383390" cy="182880"/>
          </a:xfrm>
        </p:grpSpPr>
        <p:sp>
          <p:nvSpPr>
            <p:cNvPr name="Freeform 3" id="3"/>
            <p:cNvSpPr/>
            <p:nvPr/>
          </p:nvSpPr>
          <p:spPr>
            <a:xfrm flipH="false" flipV="false" rot="0">
              <a:off x="0" y="0"/>
              <a:ext cx="24383364" cy="182880"/>
            </a:xfrm>
            <a:custGeom>
              <a:avLst/>
              <a:gdLst/>
              <a:ahLst/>
              <a:cxnLst/>
              <a:rect r="r" b="b" t="t" l="l"/>
              <a:pathLst>
                <a:path h="182880" w="24383364">
                  <a:moveTo>
                    <a:pt x="0" y="0"/>
                  </a:moveTo>
                  <a:lnTo>
                    <a:pt x="24383364" y="0"/>
                  </a:lnTo>
                  <a:lnTo>
                    <a:pt x="24383364" y="182880"/>
                  </a:lnTo>
                  <a:lnTo>
                    <a:pt x="0" y="182880"/>
                  </a:lnTo>
                  <a:close/>
                </a:path>
              </a:pathLst>
            </a:custGeom>
            <a:solidFill>
              <a:srgbClr val="122645"/>
            </a:solidFill>
          </p:spPr>
        </p:sp>
      </p:grpSp>
      <p:grpSp>
        <p:nvGrpSpPr>
          <p:cNvPr name="Group 4" id="4"/>
          <p:cNvGrpSpPr/>
          <p:nvPr/>
        </p:nvGrpSpPr>
        <p:grpSpPr>
          <a:xfrm rot="0">
            <a:off x="0" y="0"/>
            <a:ext cx="18287543" cy="137160"/>
            <a:chOff x="0" y="0"/>
            <a:chExt cx="24383390" cy="182880"/>
          </a:xfrm>
        </p:grpSpPr>
        <p:sp>
          <p:nvSpPr>
            <p:cNvPr name="Freeform 5" id="5"/>
            <p:cNvSpPr/>
            <p:nvPr/>
          </p:nvSpPr>
          <p:spPr>
            <a:xfrm flipH="false" flipV="false" rot="0">
              <a:off x="0" y="0"/>
              <a:ext cx="24383364" cy="182880"/>
            </a:xfrm>
            <a:custGeom>
              <a:avLst/>
              <a:gdLst/>
              <a:ahLst/>
              <a:cxnLst/>
              <a:rect r="r" b="b" t="t" l="l"/>
              <a:pathLst>
                <a:path h="182880" w="24383364">
                  <a:moveTo>
                    <a:pt x="0" y="0"/>
                  </a:moveTo>
                  <a:lnTo>
                    <a:pt x="24383364" y="0"/>
                  </a:lnTo>
                  <a:lnTo>
                    <a:pt x="24383364" y="182880"/>
                  </a:lnTo>
                  <a:lnTo>
                    <a:pt x="0" y="182880"/>
                  </a:lnTo>
                  <a:close/>
                </a:path>
              </a:pathLst>
            </a:custGeom>
            <a:solidFill>
              <a:srgbClr val="122645"/>
            </a:solidFill>
          </p:spPr>
        </p:sp>
      </p:grpSp>
      <p:grpSp>
        <p:nvGrpSpPr>
          <p:cNvPr name="Group 6" id="6"/>
          <p:cNvGrpSpPr/>
          <p:nvPr/>
        </p:nvGrpSpPr>
        <p:grpSpPr>
          <a:xfrm rot="0">
            <a:off x="744855" y="292227"/>
            <a:ext cx="7151370" cy="485394"/>
            <a:chOff x="0" y="0"/>
            <a:chExt cx="9535160" cy="647192"/>
          </a:xfrm>
        </p:grpSpPr>
        <p:sp>
          <p:nvSpPr>
            <p:cNvPr name="Freeform 7" id="7"/>
            <p:cNvSpPr/>
            <p:nvPr/>
          </p:nvSpPr>
          <p:spPr>
            <a:xfrm flipH="false" flipV="false" rot="0">
              <a:off x="0" y="0"/>
              <a:ext cx="9535160" cy="647192"/>
            </a:xfrm>
            <a:custGeom>
              <a:avLst/>
              <a:gdLst/>
              <a:ahLst/>
              <a:cxnLst/>
              <a:rect r="r" b="b" t="t" l="l"/>
              <a:pathLst>
                <a:path h="647192" w="9535160">
                  <a:moveTo>
                    <a:pt x="0" y="25908"/>
                  </a:moveTo>
                  <a:cubicBezTo>
                    <a:pt x="0" y="11557"/>
                    <a:pt x="11557" y="0"/>
                    <a:pt x="25908" y="0"/>
                  </a:cubicBezTo>
                  <a:lnTo>
                    <a:pt x="9509252" y="0"/>
                  </a:lnTo>
                  <a:cubicBezTo>
                    <a:pt x="9523603" y="0"/>
                    <a:pt x="9535160" y="11557"/>
                    <a:pt x="9535160" y="25908"/>
                  </a:cubicBezTo>
                  <a:lnTo>
                    <a:pt x="9535160" y="621284"/>
                  </a:lnTo>
                  <a:cubicBezTo>
                    <a:pt x="9535160" y="635635"/>
                    <a:pt x="9523603" y="647192"/>
                    <a:pt x="9509252" y="647192"/>
                  </a:cubicBezTo>
                  <a:lnTo>
                    <a:pt x="25908" y="647192"/>
                  </a:lnTo>
                  <a:cubicBezTo>
                    <a:pt x="11557" y="647192"/>
                    <a:pt x="0" y="635635"/>
                    <a:pt x="0" y="621284"/>
                  </a:cubicBezTo>
                  <a:close/>
                </a:path>
              </a:pathLst>
            </a:custGeom>
            <a:solidFill>
              <a:srgbClr val="EEF6FC"/>
            </a:solidFill>
            <a:ln w="19050" cap="sq">
              <a:solidFill>
                <a:srgbClr val="122645"/>
              </a:solidFill>
              <a:prstDash val="solid"/>
              <a:miter/>
            </a:ln>
          </p:spPr>
        </p:sp>
      </p:grpSp>
      <p:grpSp>
        <p:nvGrpSpPr>
          <p:cNvPr name="Group 8" id="8"/>
          <p:cNvGrpSpPr/>
          <p:nvPr/>
        </p:nvGrpSpPr>
        <p:grpSpPr>
          <a:xfrm rot="0">
            <a:off x="850392" y="301752"/>
            <a:ext cx="6926580" cy="466344"/>
            <a:chOff x="0" y="0"/>
            <a:chExt cx="9235440" cy="621792"/>
          </a:xfrm>
        </p:grpSpPr>
        <p:sp>
          <p:nvSpPr>
            <p:cNvPr name="Freeform 9" id="9"/>
            <p:cNvSpPr/>
            <p:nvPr/>
          </p:nvSpPr>
          <p:spPr>
            <a:xfrm flipH="false" flipV="false" rot="0">
              <a:off x="0" y="0"/>
              <a:ext cx="9235440" cy="621792"/>
            </a:xfrm>
            <a:custGeom>
              <a:avLst/>
              <a:gdLst/>
              <a:ahLst/>
              <a:cxnLst/>
              <a:rect r="r" b="b" t="t" l="l"/>
              <a:pathLst>
                <a:path h="621792" w="9235440">
                  <a:moveTo>
                    <a:pt x="0" y="0"/>
                  </a:moveTo>
                  <a:lnTo>
                    <a:pt x="9235440" y="0"/>
                  </a:lnTo>
                  <a:lnTo>
                    <a:pt x="9235440" y="621792"/>
                  </a:lnTo>
                  <a:lnTo>
                    <a:pt x="0" y="621792"/>
                  </a:lnTo>
                  <a:close/>
                </a:path>
              </a:pathLst>
            </a:custGeom>
            <a:blipFill>
              <a:blip r:embed="rId2">
                <a:alphaModFix amt="0"/>
              </a:blip>
              <a:stretch>
                <a:fillRect l="0" t="-239410" r="0" b="-239410"/>
              </a:stretch>
            </a:blipFill>
          </p:spPr>
        </p:sp>
        <p:sp>
          <p:nvSpPr>
            <p:cNvPr name="TextBox 10" id="10"/>
            <p:cNvSpPr txBox="true"/>
            <p:nvPr/>
          </p:nvSpPr>
          <p:spPr>
            <a:xfrm>
              <a:off x="0" y="-19050"/>
              <a:ext cx="9235440" cy="640842"/>
            </a:xfrm>
            <a:prstGeom prst="rect">
              <a:avLst/>
            </a:prstGeom>
          </p:spPr>
          <p:txBody>
            <a:bodyPr anchor="ctr" rtlCol="false" tIns="0" lIns="0" bIns="0" rIns="0"/>
            <a:lstStyle/>
            <a:p>
              <a:pPr algn="l">
                <a:lnSpc>
                  <a:spcPts val="2700"/>
                </a:lnSpc>
              </a:pPr>
              <a:r>
                <a:rPr lang="en-US" sz="2250" b="true">
                  <a:solidFill>
                    <a:srgbClr val="122645"/>
                  </a:solidFill>
                  <a:latin typeface="DejaVu Sans Bold"/>
                  <a:ea typeface="DejaVu Sans Bold"/>
                  <a:cs typeface="DejaVu Sans Bold"/>
                  <a:sym typeface="DejaVu Sans Bold"/>
                </a:rPr>
                <a:t>PHỤ LỤC  •  TÀI LIỆU THAM KHẢO</a:t>
              </a:r>
            </a:p>
          </p:txBody>
        </p:sp>
      </p:grpSp>
      <p:grpSp>
        <p:nvGrpSpPr>
          <p:cNvPr name="Group 11" id="11"/>
          <p:cNvGrpSpPr/>
          <p:nvPr/>
        </p:nvGrpSpPr>
        <p:grpSpPr>
          <a:xfrm rot="0">
            <a:off x="15704820" y="301752"/>
            <a:ext cx="1824228" cy="466344"/>
            <a:chOff x="0" y="0"/>
            <a:chExt cx="2432304" cy="621792"/>
          </a:xfrm>
        </p:grpSpPr>
        <p:sp>
          <p:nvSpPr>
            <p:cNvPr name="Freeform 12" id="12"/>
            <p:cNvSpPr/>
            <p:nvPr/>
          </p:nvSpPr>
          <p:spPr>
            <a:xfrm flipH="false" flipV="false" rot="0">
              <a:off x="0" y="0"/>
              <a:ext cx="2432304" cy="621792"/>
            </a:xfrm>
            <a:custGeom>
              <a:avLst/>
              <a:gdLst/>
              <a:ahLst/>
              <a:cxnLst/>
              <a:rect r="r" b="b" t="t" l="l"/>
              <a:pathLst>
                <a:path h="621792" w="2432304">
                  <a:moveTo>
                    <a:pt x="0" y="24892"/>
                  </a:moveTo>
                  <a:cubicBezTo>
                    <a:pt x="0" y="11176"/>
                    <a:pt x="11176" y="0"/>
                    <a:pt x="24892" y="0"/>
                  </a:cubicBezTo>
                  <a:lnTo>
                    <a:pt x="2407412" y="0"/>
                  </a:lnTo>
                  <a:cubicBezTo>
                    <a:pt x="2421128" y="0"/>
                    <a:pt x="2432304" y="11176"/>
                    <a:pt x="2432304" y="24892"/>
                  </a:cubicBezTo>
                  <a:lnTo>
                    <a:pt x="2432304" y="596900"/>
                  </a:lnTo>
                  <a:cubicBezTo>
                    <a:pt x="2432304" y="610616"/>
                    <a:pt x="2421128" y="621792"/>
                    <a:pt x="2407412" y="621792"/>
                  </a:cubicBezTo>
                  <a:lnTo>
                    <a:pt x="24892" y="621792"/>
                  </a:lnTo>
                  <a:cubicBezTo>
                    <a:pt x="11176" y="621792"/>
                    <a:pt x="0" y="610616"/>
                    <a:pt x="0" y="596900"/>
                  </a:cubicBezTo>
                  <a:close/>
                </a:path>
              </a:pathLst>
            </a:custGeom>
            <a:solidFill>
              <a:srgbClr val="122645"/>
            </a:solidFill>
          </p:spPr>
        </p:sp>
      </p:grpSp>
      <p:grpSp>
        <p:nvGrpSpPr>
          <p:cNvPr name="Group 13" id="13"/>
          <p:cNvGrpSpPr/>
          <p:nvPr/>
        </p:nvGrpSpPr>
        <p:grpSpPr>
          <a:xfrm rot="0">
            <a:off x="15704820" y="301752"/>
            <a:ext cx="1824228" cy="466344"/>
            <a:chOff x="0" y="0"/>
            <a:chExt cx="2432304" cy="621792"/>
          </a:xfrm>
        </p:grpSpPr>
        <p:sp>
          <p:nvSpPr>
            <p:cNvPr name="Freeform 14" id="14"/>
            <p:cNvSpPr/>
            <p:nvPr/>
          </p:nvSpPr>
          <p:spPr>
            <a:xfrm flipH="false" flipV="false" rot="0">
              <a:off x="0" y="0"/>
              <a:ext cx="2432304" cy="621792"/>
            </a:xfrm>
            <a:custGeom>
              <a:avLst/>
              <a:gdLst/>
              <a:ahLst/>
              <a:cxnLst/>
              <a:rect r="r" b="b" t="t" l="l"/>
              <a:pathLst>
                <a:path h="621792" w="2432304">
                  <a:moveTo>
                    <a:pt x="0" y="0"/>
                  </a:moveTo>
                  <a:lnTo>
                    <a:pt x="2432304" y="0"/>
                  </a:lnTo>
                  <a:lnTo>
                    <a:pt x="2432304" y="621792"/>
                  </a:lnTo>
                  <a:lnTo>
                    <a:pt x="0" y="621792"/>
                  </a:lnTo>
                  <a:close/>
                </a:path>
              </a:pathLst>
            </a:custGeom>
            <a:blipFill>
              <a:blip r:embed="rId2">
                <a:alphaModFix amt="0"/>
              </a:blip>
              <a:stretch>
                <a:fillRect l="0" t="-26220" r="0" b="-26220"/>
              </a:stretch>
            </a:blipFill>
          </p:spPr>
        </p:sp>
        <p:sp>
          <p:nvSpPr>
            <p:cNvPr name="TextBox 15" id="15"/>
            <p:cNvSpPr txBox="true"/>
            <p:nvPr/>
          </p:nvSpPr>
          <p:spPr>
            <a:xfrm>
              <a:off x="0" y="-19050"/>
              <a:ext cx="2432304" cy="640842"/>
            </a:xfrm>
            <a:prstGeom prst="rect">
              <a:avLst/>
            </a:prstGeom>
          </p:spPr>
          <p:txBody>
            <a:bodyPr anchor="ctr" rtlCol="false" tIns="0" lIns="0" bIns="0" rIns="0"/>
            <a:lstStyle/>
            <a:p>
              <a:pPr algn="ctr">
                <a:lnSpc>
                  <a:spcPts val="2700"/>
                </a:lnSpc>
              </a:pPr>
              <a:r>
                <a:rPr lang="en-US" sz="2250" b="true">
                  <a:solidFill>
                    <a:srgbClr val="FFFFFF"/>
                  </a:solidFill>
                  <a:latin typeface="DejaVu Sans Bold"/>
                  <a:ea typeface="DejaVu Sans Bold"/>
                  <a:cs typeface="DejaVu Sans Bold"/>
                  <a:sym typeface="DejaVu Sans Bold"/>
                </a:rPr>
                <a:t>15 / 15</a:t>
              </a:r>
            </a:p>
          </p:txBody>
        </p:sp>
      </p:grpSp>
      <p:grpSp>
        <p:nvGrpSpPr>
          <p:cNvPr name="Group 16" id="16"/>
          <p:cNvGrpSpPr/>
          <p:nvPr/>
        </p:nvGrpSpPr>
        <p:grpSpPr>
          <a:xfrm rot="0">
            <a:off x="754380" y="850392"/>
            <a:ext cx="16774668" cy="740664"/>
            <a:chOff x="0" y="0"/>
            <a:chExt cx="22366224" cy="987552"/>
          </a:xfrm>
        </p:grpSpPr>
        <p:sp>
          <p:nvSpPr>
            <p:cNvPr name="Freeform 17" id="17"/>
            <p:cNvSpPr/>
            <p:nvPr/>
          </p:nvSpPr>
          <p:spPr>
            <a:xfrm flipH="false" flipV="false" rot="0">
              <a:off x="0" y="0"/>
              <a:ext cx="22366224" cy="987552"/>
            </a:xfrm>
            <a:custGeom>
              <a:avLst/>
              <a:gdLst/>
              <a:ahLst/>
              <a:cxnLst/>
              <a:rect r="r" b="b" t="t" l="l"/>
              <a:pathLst>
                <a:path h="987552" w="22366224">
                  <a:moveTo>
                    <a:pt x="0" y="0"/>
                  </a:moveTo>
                  <a:lnTo>
                    <a:pt x="22366224" y="0"/>
                  </a:lnTo>
                  <a:lnTo>
                    <a:pt x="22366224" y="987552"/>
                  </a:lnTo>
                  <a:lnTo>
                    <a:pt x="0" y="987552"/>
                  </a:lnTo>
                  <a:close/>
                </a:path>
              </a:pathLst>
            </a:custGeom>
            <a:blipFill>
              <a:blip r:embed="rId2">
                <a:alphaModFix amt="0"/>
              </a:blip>
              <a:stretch>
                <a:fillRect l="0" t="-391300" r="0" b="-391300"/>
              </a:stretch>
            </a:blipFill>
          </p:spPr>
        </p:sp>
        <p:sp>
          <p:nvSpPr>
            <p:cNvPr name="TextBox 18" id="18"/>
            <p:cNvSpPr txBox="true"/>
            <p:nvPr/>
          </p:nvSpPr>
          <p:spPr>
            <a:xfrm>
              <a:off x="0" y="-9525"/>
              <a:ext cx="22366224" cy="997077"/>
            </a:xfrm>
            <a:prstGeom prst="rect">
              <a:avLst/>
            </a:prstGeom>
          </p:spPr>
          <p:txBody>
            <a:bodyPr anchor="ctr" rtlCol="false" tIns="0" lIns="0" bIns="0" rIns="0"/>
            <a:lstStyle/>
            <a:p>
              <a:pPr algn="l">
                <a:lnSpc>
                  <a:spcPts val="3869"/>
                </a:lnSpc>
              </a:pPr>
              <a:r>
                <a:rPr lang="en-US" sz="3225" b="true">
                  <a:solidFill>
                    <a:srgbClr val="122645"/>
                  </a:solidFill>
                  <a:latin typeface="DejaVu Sans Bold"/>
                  <a:ea typeface="DejaVu Sans Bold"/>
                  <a:cs typeface="DejaVu Sans Bold"/>
                  <a:sym typeface="DejaVu Sans Bold"/>
                </a:rPr>
                <a:t>Nguồn dữ liệu, văn bản pháp lý và ảnh tư liệu</a:t>
              </a:r>
            </a:p>
          </p:txBody>
        </p:sp>
      </p:grpSp>
      <p:grpSp>
        <p:nvGrpSpPr>
          <p:cNvPr name="Group 19" id="19"/>
          <p:cNvGrpSpPr/>
          <p:nvPr/>
        </p:nvGrpSpPr>
        <p:grpSpPr>
          <a:xfrm rot="0">
            <a:off x="754380" y="1645920"/>
            <a:ext cx="16774668" cy="41148"/>
            <a:chOff x="0" y="0"/>
            <a:chExt cx="22366224" cy="54864"/>
          </a:xfrm>
        </p:grpSpPr>
        <p:sp>
          <p:nvSpPr>
            <p:cNvPr name="Freeform 20" id="20"/>
            <p:cNvSpPr/>
            <p:nvPr/>
          </p:nvSpPr>
          <p:spPr>
            <a:xfrm flipH="false" flipV="false" rot="0">
              <a:off x="0" y="0"/>
              <a:ext cx="22366224" cy="54864"/>
            </a:xfrm>
            <a:custGeom>
              <a:avLst/>
              <a:gdLst/>
              <a:ahLst/>
              <a:cxnLst/>
              <a:rect r="r" b="b" t="t" l="l"/>
              <a:pathLst>
                <a:path h="54864" w="22366224">
                  <a:moveTo>
                    <a:pt x="0" y="0"/>
                  </a:moveTo>
                  <a:lnTo>
                    <a:pt x="22366224" y="0"/>
                  </a:lnTo>
                  <a:lnTo>
                    <a:pt x="22366224" y="54864"/>
                  </a:lnTo>
                  <a:lnTo>
                    <a:pt x="0" y="54864"/>
                  </a:lnTo>
                  <a:close/>
                </a:path>
              </a:pathLst>
            </a:custGeom>
            <a:solidFill>
              <a:srgbClr val="CBD5E1"/>
            </a:solidFill>
          </p:spPr>
        </p:sp>
      </p:grpSp>
      <p:grpSp>
        <p:nvGrpSpPr>
          <p:cNvPr name="Group 21" id="21"/>
          <p:cNvGrpSpPr/>
          <p:nvPr/>
        </p:nvGrpSpPr>
        <p:grpSpPr>
          <a:xfrm rot="0">
            <a:off x="-7144" y="9662636"/>
            <a:ext cx="18301830" cy="631507"/>
            <a:chOff x="0" y="0"/>
            <a:chExt cx="24402440" cy="842010"/>
          </a:xfrm>
        </p:grpSpPr>
        <p:sp>
          <p:nvSpPr>
            <p:cNvPr name="Freeform 22" id="22"/>
            <p:cNvSpPr/>
            <p:nvPr/>
          </p:nvSpPr>
          <p:spPr>
            <a:xfrm flipH="false" flipV="false" rot="0">
              <a:off x="0" y="0"/>
              <a:ext cx="24402414" cy="842010"/>
            </a:xfrm>
            <a:custGeom>
              <a:avLst/>
              <a:gdLst/>
              <a:ahLst/>
              <a:cxnLst/>
              <a:rect r="r" b="b" t="t" l="l"/>
              <a:pathLst>
                <a:path h="842010" w="24402414">
                  <a:moveTo>
                    <a:pt x="0" y="0"/>
                  </a:moveTo>
                  <a:lnTo>
                    <a:pt x="24402414" y="0"/>
                  </a:lnTo>
                  <a:lnTo>
                    <a:pt x="24402414" y="842010"/>
                  </a:lnTo>
                  <a:lnTo>
                    <a:pt x="0" y="842010"/>
                  </a:lnTo>
                  <a:close/>
                </a:path>
              </a:pathLst>
            </a:custGeom>
            <a:solidFill>
              <a:srgbClr val="FFFFFF"/>
            </a:solidFill>
            <a:ln w="14288" cap="sq">
              <a:solidFill>
                <a:srgbClr val="CBD5E1"/>
              </a:solidFill>
              <a:prstDash val="solid"/>
              <a:miter/>
            </a:ln>
          </p:spPr>
        </p:sp>
      </p:grpSp>
      <p:grpSp>
        <p:nvGrpSpPr>
          <p:cNvPr name="Group 23" id="23"/>
          <p:cNvGrpSpPr/>
          <p:nvPr/>
        </p:nvGrpSpPr>
        <p:grpSpPr>
          <a:xfrm rot="0">
            <a:off x="754380" y="9710928"/>
            <a:ext cx="16774668" cy="493776"/>
            <a:chOff x="0" y="0"/>
            <a:chExt cx="22366224" cy="658368"/>
          </a:xfrm>
        </p:grpSpPr>
        <p:sp>
          <p:nvSpPr>
            <p:cNvPr name="Freeform 24" id="24"/>
            <p:cNvSpPr/>
            <p:nvPr/>
          </p:nvSpPr>
          <p:spPr>
            <a:xfrm flipH="false" flipV="false" rot="0">
              <a:off x="0" y="0"/>
              <a:ext cx="22366224" cy="658368"/>
            </a:xfrm>
            <a:custGeom>
              <a:avLst/>
              <a:gdLst/>
              <a:ahLst/>
              <a:cxnLst/>
              <a:rect r="r" b="b" t="t" l="l"/>
              <a:pathLst>
                <a:path h="658368" w="22366224">
                  <a:moveTo>
                    <a:pt x="0" y="0"/>
                  </a:moveTo>
                  <a:lnTo>
                    <a:pt x="22366224" y="0"/>
                  </a:lnTo>
                  <a:lnTo>
                    <a:pt x="22366224" y="658368"/>
                  </a:lnTo>
                  <a:lnTo>
                    <a:pt x="0" y="658368"/>
                  </a:lnTo>
                  <a:close/>
                </a:path>
              </a:pathLst>
            </a:custGeom>
            <a:blipFill>
              <a:blip r:embed="rId2">
                <a:alphaModFix amt="0"/>
              </a:blip>
              <a:stretch>
                <a:fillRect l="0" t="-611950" r="0" b="-611950"/>
              </a:stretch>
            </a:blipFill>
          </p:spPr>
        </p:sp>
        <p:sp>
          <p:nvSpPr>
            <p:cNvPr name="TextBox 25" id="25"/>
            <p:cNvSpPr txBox="true"/>
            <p:nvPr/>
          </p:nvSpPr>
          <p:spPr>
            <a:xfrm>
              <a:off x="0" y="-9525"/>
              <a:ext cx="22366224" cy="667893"/>
            </a:xfrm>
            <a:prstGeom prst="rect">
              <a:avLst/>
            </a:prstGeom>
          </p:spPr>
          <p:txBody>
            <a:bodyPr anchor="ctr" rtlCol="false" tIns="0" lIns="0" bIns="0" rIns="0"/>
            <a:lstStyle/>
            <a:p>
              <a:pPr algn="l">
                <a:lnSpc>
                  <a:spcPts val="2340"/>
                </a:lnSpc>
              </a:pPr>
              <a:r>
                <a:rPr lang="en-US" sz="1950" i="true">
                  <a:solidFill>
                    <a:srgbClr val="475569"/>
                  </a:solidFill>
                  <a:latin typeface="DejaVu Sans Bold Italics"/>
                  <a:ea typeface="DejaVu Sans Bold Italics"/>
                  <a:cs typeface="DejaVu Sans Bold Italics"/>
                  <a:sym typeface="DejaVu Sans Bold Italics"/>
                </a:rPr>
                <a:t>Số liệu cập nhật theo nguồn ghi trên slide đến 30/10/2026; đối chiếu văn bản hiện hành trước khi sử dụng lại.</a:t>
              </a:r>
            </a:p>
          </p:txBody>
        </p:sp>
      </p:grpSp>
      <p:grpSp>
        <p:nvGrpSpPr>
          <p:cNvPr name="Group 26" id="26"/>
          <p:cNvGrpSpPr/>
          <p:nvPr/>
        </p:nvGrpSpPr>
        <p:grpSpPr>
          <a:xfrm rot="0">
            <a:off x="741045" y="1934337"/>
            <a:ext cx="8187690" cy="7460742"/>
            <a:chOff x="0" y="0"/>
            <a:chExt cx="10916920" cy="9947656"/>
          </a:xfrm>
        </p:grpSpPr>
        <p:sp>
          <p:nvSpPr>
            <p:cNvPr name="Freeform 27" id="27"/>
            <p:cNvSpPr/>
            <p:nvPr/>
          </p:nvSpPr>
          <p:spPr>
            <a:xfrm flipH="false" flipV="false" rot="0">
              <a:off x="0" y="0"/>
              <a:ext cx="10916920" cy="9947656"/>
            </a:xfrm>
            <a:custGeom>
              <a:avLst/>
              <a:gdLst/>
              <a:ahLst/>
              <a:cxnLst/>
              <a:rect r="r" b="b" t="t" l="l"/>
              <a:pathLst>
                <a:path h="9947656" w="10916920">
                  <a:moveTo>
                    <a:pt x="0" y="397891"/>
                  </a:moveTo>
                  <a:cubicBezTo>
                    <a:pt x="0" y="178181"/>
                    <a:pt x="178181" y="0"/>
                    <a:pt x="397891" y="0"/>
                  </a:cubicBezTo>
                  <a:lnTo>
                    <a:pt x="10519029" y="0"/>
                  </a:lnTo>
                  <a:cubicBezTo>
                    <a:pt x="10738739" y="0"/>
                    <a:pt x="10916920" y="178181"/>
                    <a:pt x="10916920" y="397891"/>
                  </a:cubicBezTo>
                  <a:lnTo>
                    <a:pt x="10916920" y="9549765"/>
                  </a:lnTo>
                  <a:cubicBezTo>
                    <a:pt x="10916920" y="9769475"/>
                    <a:pt x="10738739" y="9947656"/>
                    <a:pt x="10519029" y="9947656"/>
                  </a:cubicBezTo>
                  <a:lnTo>
                    <a:pt x="397891" y="9947656"/>
                  </a:lnTo>
                  <a:cubicBezTo>
                    <a:pt x="178181" y="9947656"/>
                    <a:pt x="0" y="9769475"/>
                    <a:pt x="0" y="9549765"/>
                  </a:cubicBezTo>
                  <a:close/>
                </a:path>
              </a:pathLst>
            </a:custGeom>
            <a:solidFill>
              <a:srgbClr val="FFFFFF"/>
            </a:solidFill>
            <a:ln w="26670" cap="sq">
              <a:solidFill>
                <a:srgbClr val="122645"/>
              </a:solidFill>
              <a:prstDash val="solid"/>
              <a:miter/>
            </a:ln>
          </p:spPr>
        </p:sp>
      </p:grpSp>
      <p:sp>
        <p:nvSpPr>
          <p:cNvPr name="TextBox 28" id="28"/>
          <p:cNvSpPr txBox="true"/>
          <p:nvPr/>
        </p:nvSpPr>
        <p:spPr>
          <a:xfrm rot="0">
            <a:off x="1083564" y="2102358"/>
            <a:ext cx="7516368" cy="7105650"/>
          </a:xfrm>
          <a:prstGeom prst="rect">
            <a:avLst/>
          </a:prstGeom>
        </p:spPr>
        <p:txBody>
          <a:bodyPr anchor="t" rtlCol="false" tIns="0" lIns="0" bIns="0" rIns="0">
            <a:spAutoFit/>
          </a:bodyPr>
          <a:lstStyle/>
          <a:p>
            <a:pPr algn="l">
              <a:lnSpc>
                <a:spcPts val="2700"/>
              </a:lnSpc>
            </a:pPr>
            <a:r>
              <a:rPr lang="en-US" sz="2250" b="true">
                <a:solidFill>
                  <a:srgbClr val="122645"/>
                </a:solidFill>
                <a:latin typeface="DejaVu Sans Bold"/>
                <a:ea typeface="DejaVu Sans Bold"/>
                <a:cs typeface="DejaVu Sans Bold"/>
                <a:sym typeface="DejaVu Sans Bold"/>
              </a:rPr>
              <a:t>1. GIÁO TRÌNH, VĂN BẢN PHÁP LUẬT &amp; BÁO CÁO</a:t>
            </a:r>
          </a:p>
          <a:p>
            <a:pPr algn="l">
              <a:lnSpc>
                <a:spcPts val="3294"/>
              </a:lnSpc>
            </a:pPr>
            <a:r>
              <a:rPr lang="en-US" sz="2250">
                <a:solidFill>
                  <a:srgbClr val="1E293B"/>
                </a:solidFill>
                <a:latin typeface="DejaVu Sans Light"/>
                <a:ea typeface="DejaVu Sans Light"/>
                <a:cs typeface="DejaVu Sans Light"/>
                <a:sym typeface="DejaVu Sans Light"/>
              </a:rPr>
              <a:t>• Tài liệu ôn tập và phản biện KTTT trong repo (bản cập nhật mới nhất).</a:t>
            </a:r>
          </a:p>
          <a:p>
            <a:pPr algn="l">
              <a:lnSpc>
                <a:spcPts val="3294"/>
              </a:lnSpc>
            </a:pPr>
            <a:r>
              <a:rPr lang="en-US" sz="2250">
                <a:solidFill>
                  <a:srgbClr val="1E293B"/>
                </a:solidFill>
                <a:latin typeface="DejaVu Sans Light"/>
                <a:ea typeface="DejaVu Sans Light"/>
                <a:cs typeface="DejaVu Sans Light"/>
                <a:sym typeface="DejaVu Sans Light"/>
              </a:rPr>
              <a:t>• Giáo trình KTCT Mác – Lênin (Bộ GD&amp;ĐT, 2021), Chương 5.1–5.2, tr. 169–196.</a:t>
            </a:r>
          </a:p>
          <a:p>
            <a:pPr algn="l">
              <a:lnSpc>
                <a:spcPts val="3294"/>
              </a:lnSpc>
            </a:pPr>
            <a:r>
              <a:rPr lang="en-US" sz="2250">
                <a:solidFill>
                  <a:srgbClr val="1E293B"/>
                </a:solidFill>
                <a:latin typeface="DejaVu Sans Light"/>
                <a:ea typeface="DejaVu Sans Light"/>
                <a:cs typeface="DejaVu Sans Light"/>
                <a:sym typeface="DejaVu Sans Light"/>
              </a:rPr>
              <a:t>• Luật Nhà ở 2023 (Điều 76, 83, 85, 89); Luật Đất đai 2024; Luật Kinh doanh BĐS 2023.</a:t>
            </a:r>
          </a:p>
          <a:p>
            <a:pPr algn="l">
              <a:lnSpc>
                <a:spcPts val="3294"/>
              </a:lnSpc>
            </a:pPr>
            <a:r>
              <a:rPr lang="en-US" sz="2250">
                <a:solidFill>
                  <a:srgbClr val="1E293B"/>
                </a:solidFill>
                <a:latin typeface="DejaVu Sans Light"/>
                <a:ea typeface="DejaVu Sans Light"/>
                <a:cs typeface="DejaVu Sans Light"/>
                <a:sym typeface="DejaVu Sans Light"/>
              </a:rPr>
              <a:t>• NQ 201/2025/QH15; NĐ 192/2025, 261/2025, 302/2025; NĐ 136/2026.</a:t>
            </a:r>
          </a:p>
          <a:p>
            <a:pPr algn="l">
              <a:lnSpc>
                <a:spcPts val="3294"/>
              </a:lnSpc>
            </a:pPr>
            <a:r>
              <a:rPr lang="en-US" sz="2250">
                <a:solidFill>
                  <a:srgbClr val="1E293B"/>
                </a:solidFill>
                <a:latin typeface="DejaVu Sans Light"/>
                <a:ea typeface="DejaVu Sans Light"/>
                <a:cs typeface="DejaVu Sans Light"/>
                <a:sym typeface="DejaVu Sans Light"/>
              </a:rPr>
              <a:t>• NQ 303/NQ-CP (30/09/2026) thay NQ 07/NQ-CP; NHNN CV 5340/NHNN-CSTT (19/06/2026).</a:t>
            </a:r>
          </a:p>
          <a:p>
            <a:pPr algn="l">
              <a:lnSpc>
                <a:spcPts val="3240"/>
              </a:lnSpc>
            </a:pPr>
            <a:r>
              <a:rPr lang="en-US" sz="2700">
                <a:solidFill>
                  <a:srgbClr val="000000"/>
                </a:solidFill>
                <a:latin typeface="Calibri (MS)"/>
                <a:ea typeface="Calibri (MS)"/>
                <a:cs typeface="Calibri (MS)"/>
                <a:sym typeface="Calibri (MS)"/>
              </a:rPr>
              <a:t>• Bộ Xây dựng: báo cáo Q2/2026, họp báo Q3/2026; Cục Thống kê: báo cáo 9T/2026.</a:t>
            </a:r>
          </a:p>
        </p:txBody>
      </p:sp>
      <p:grpSp>
        <p:nvGrpSpPr>
          <p:cNvPr name="Group 29" id="29"/>
          <p:cNvGrpSpPr/>
          <p:nvPr/>
        </p:nvGrpSpPr>
        <p:grpSpPr>
          <a:xfrm rot="0">
            <a:off x="9354693" y="1934337"/>
            <a:ext cx="8187690" cy="7460742"/>
            <a:chOff x="0" y="0"/>
            <a:chExt cx="10916920" cy="9947656"/>
          </a:xfrm>
        </p:grpSpPr>
        <p:sp>
          <p:nvSpPr>
            <p:cNvPr name="Freeform 30" id="30"/>
            <p:cNvSpPr/>
            <p:nvPr/>
          </p:nvSpPr>
          <p:spPr>
            <a:xfrm flipH="false" flipV="false" rot="0">
              <a:off x="0" y="0"/>
              <a:ext cx="10916920" cy="9947656"/>
            </a:xfrm>
            <a:custGeom>
              <a:avLst/>
              <a:gdLst/>
              <a:ahLst/>
              <a:cxnLst/>
              <a:rect r="r" b="b" t="t" l="l"/>
              <a:pathLst>
                <a:path h="9947656" w="10916920">
                  <a:moveTo>
                    <a:pt x="0" y="397891"/>
                  </a:moveTo>
                  <a:cubicBezTo>
                    <a:pt x="0" y="178181"/>
                    <a:pt x="178181" y="0"/>
                    <a:pt x="397891" y="0"/>
                  </a:cubicBezTo>
                  <a:lnTo>
                    <a:pt x="10519029" y="0"/>
                  </a:lnTo>
                  <a:cubicBezTo>
                    <a:pt x="10738739" y="0"/>
                    <a:pt x="10916920" y="178181"/>
                    <a:pt x="10916920" y="397891"/>
                  </a:cubicBezTo>
                  <a:lnTo>
                    <a:pt x="10916920" y="9549765"/>
                  </a:lnTo>
                  <a:cubicBezTo>
                    <a:pt x="10916920" y="9769475"/>
                    <a:pt x="10738739" y="9947656"/>
                    <a:pt x="10519029" y="9947656"/>
                  </a:cubicBezTo>
                  <a:lnTo>
                    <a:pt x="397891" y="9947656"/>
                  </a:lnTo>
                  <a:cubicBezTo>
                    <a:pt x="178181" y="9947656"/>
                    <a:pt x="0" y="9769475"/>
                    <a:pt x="0" y="9549765"/>
                  </a:cubicBezTo>
                  <a:close/>
                </a:path>
              </a:pathLst>
            </a:custGeom>
            <a:solidFill>
              <a:srgbClr val="EAF7F5"/>
            </a:solidFill>
            <a:ln w="26670" cap="sq">
              <a:solidFill>
                <a:srgbClr val="0F766E"/>
              </a:solidFill>
              <a:prstDash val="solid"/>
              <a:miter/>
            </a:ln>
          </p:spPr>
        </p:sp>
      </p:grpSp>
      <p:sp>
        <p:nvSpPr>
          <p:cNvPr name="TextBox 31" id="31"/>
          <p:cNvSpPr txBox="true"/>
          <p:nvPr/>
        </p:nvSpPr>
        <p:spPr>
          <a:xfrm rot="0">
            <a:off x="9697212" y="2102358"/>
            <a:ext cx="7516368" cy="7105650"/>
          </a:xfrm>
          <a:prstGeom prst="rect">
            <a:avLst/>
          </a:prstGeom>
        </p:spPr>
        <p:txBody>
          <a:bodyPr anchor="t" rtlCol="false" tIns="0" lIns="0" bIns="0" rIns="0">
            <a:spAutoFit/>
          </a:bodyPr>
          <a:lstStyle/>
          <a:p>
            <a:pPr algn="l">
              <a:lnSpc>
                <a:spcPts val="2700"/>
              </a:lnSpc>
            </a:pPr>
            <a:r>
              <a:rPr lang="en-US" sz="2250" b="true">
                <a:solidFill>
                  <a:srgbClr val="0F766E"/>
                </a:solidFill>
                <a:latin typeface="DejaVu Sans Bold"/>
                <a:ea typeface="DejaVu Sans Bold"/>
                <a:cs typeface="DejaVu Sans Bold"/>
                <a:sym typeface="DejaVu Sans Bold"/>
              </a:rPr>
              <a:t>2. NGUỒN ẢNH TƯ LIỆU</a:t>
            </a:r>
          </a:p>
          <a:p>
            <a:pPr algn="l">
              <a:lnSpc>
                <a:spcPts val="3347"/>
              </a:lnSpc>
            </a:pPr>
            <a:r>
              <a:rPr lang="en-US" sz="2250">
                <a:solidFill>
                  <a:srgbClr val="0B192E"/>
                </a:solidFill>
                <a:latin typeface="DejaVu Sans Light"/>
                <a:ea typeface="DejaVu Sans Light"/>
                <a:cs typeface="DejaVu Sans Light"/>
                <a:sym typeface="DejaVu Sans Light"/>
              </a:rPr>
              <a:t>• Slide 1, 3, 4: Wikimedia Commons (CC BY-SA); từng ảnh có chú thích nguồn trên slide.</a:t>
            </a:r>
          </a:p>
          <a:p>
            <a:pPr algn="l">
              <a:lnSpc>
                <a:spcPts val="3347"/>
              </a:lnSpc>
            </a:pPr>
            <a:r>
              <a:rPr lang="en-US" sz="2250">
                <a:solidFill>
                  <a:srgbClr val="0B192E"/>
                </a:solidFill>
                <a:latin typeface="DejaVu Sans Light"/>
                <a:ea typeface="DejaVu Sans Light"/>
                <a:cs typeface="DejaVu Sans Light"/>
                <a:sym typeface="DejaVu Sans Light"/>
              </a:rPr>
              <a:t>• Slide 2: Pexels; slide 6: Báo Tuổi Trẻ và Viglacera.</a:t>
            </a:r>
          </a:p>
          <a:p>
            <a:pPr algn="l">
              <a:lnSpc>
                <a:spcPts val="3347"/>
              </a:lnSpc>
            </a:pPr>
            <a:r>
              <a:rPr lang="en-US" sz="2250">
                <a:solidFill>
                  <a:srgbClr val="0B192E"/>
                </a:solidFill>
                <a:latin typeface="DejaVu Sans Light"/>
                <a:ea typeface="DejaVu Sans Light"/>
                <a:cs typeface="DejaVu Sans Light"/>
                <a:sym typeface="DejaVu Sans Light"/>
              </a:rPr>
              <a:t>• Slide 8, 10, 12: Báo Điện tử Chính phủ; slide 11: Báo Xây dựng.</a:t>
            </a:r>
          </a:p>
          <a:p>
            <a:pPr algn="l">
              <a:lnSpc>
                <a:spcPts val="3347"/>
              </a:lnSpc>
            </a:pPr>
            <a:r>
              <a:rPr lang="en-US" sz="2250">
                <a:solidFill>
                  <a:srgbClr val="0B192E"/>
                </a:solidFill>
                <a:latin typeface="DejaVu Sans Light"/>
                <a:ea typeface="DejaVu Sans Light"/>
                <a:cs typeface="DejaVu Sans Light"/>
                <a:sym typeface="DejaVu Sans Light"/>
              </a:rPr>
              <a:t>• Slide 14: Thời báo VTV. Ảnh được giữ dưới dạng đối tượng riêng có thể thay, di chuyển hoặc cắt.</a:t>
            </a:r>
          </a:p>
          <a:p>
            <a:pPr algn="l">
              <a:lnSpc>
                <a:spcPts val="3347"/>
              </a:lnSpc>
            </a:pPr>
            <a:r>
              <a:rPr lang="en-US" sz="2250">
                <a:solidFill>
                  <a:srgbClr val="0B192E"/>
                </a:solidFill>
                <a:latin typeface="DejaVu Sans Light"/>
                <a:ea typeface="DejaVu Sans Light"/>
                <a:cs typeface="DejaVu Sans Light"/>
                <a:sym typeface="DejaVu Sans Light"/>
              </a:rPr>
              <a:t>• Kiểm tra giấy phép/điều kiện tái sử dụng ảnh trước khi phát hành công khai.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DAHZe59FIMM</dc:identifier>
  <dcterms:modified xsi:type="dcterms:W3CDTF">2011-08-01T06:04:30Z</dcterms:modified>
  <cp:revision>1</cp:revision>
  <dc:title>MLN122_Nom4_KTTT_DinhHuong_XHCN.pptx</dc:title>
</cp:coreProperties>
</file>