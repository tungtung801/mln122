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  <p:embeddedFont>
      <p:font typeface="Canva Sans" charset="1" panose="020B05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55.png" Type="http://schemas.openxmlformats.org/officeDocument/2006/relationships/image"/><Relationship Id="rId15" Target="../media/image56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svg" Type="http://schemas.openxmlformats.org/officeDocument/2006/relationships/image"/><Relationship Id="rId12" Target="../media/image85.png" Type="http://schemas.openxmlformats.org/officeDocument/2006/relationships/image"/><Relationship Id="rId13" Target="../media/image86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79.png" Type="http://schemas.openxmlformats.org/officeDocument/2006/relationships/image"/><Relationship Id="rId5" Target="../media/image80.svg" Type="http://schemas.openxmlformats.org/officeDocument/2006/relationships/image"/><Relationship Id="rId6" Target="../media/image81.png" Type="http://schemas.openxmlformats.org/officeDocument/2006/relationships/image"/><Relationship Id="rId7" Target="../media/image82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3035" y="4370580"/>
            <a:ext cx="4195333" cy="3849184"/>
            <a:chOff x="0" y="0"/>
            <a:chExt cx="1104944" cy="1013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944" cy="1013777"/>
            </a:xfrm>
            <a:custGeom>
              <a:avLst/>
              <a:gdLst/>
              <a:ahLst/>
              <a:cxnLst/>
              <a:rect r="r" b="b" t="t" l="l"/>
              <a:pathLst>
                <a:path h="1013777" w="1104944">
                  <a:moveTo>
                    <a:pt x="27680" y="0"/>
                  </a:moveTo>
                  <a:lnTo>
                    <a:pt x="1077263" y="0"/>
                  </a:lnTo>
                  <a:cubicBezTo>
                    <a:pt x="1084605" y="0"/>
                    <a:pt x="1091645" y="2916"/>
                    <a:pt x="1096836" y="8107"/>
                  </a:cubicBezTo>
                  <a:cubicBezTo>
                    <a:pt x="1102027" y="13299"/>
                    <a:pt x="1104944" y="20339"/>
                    <a:pt x="1104944" y="27680"/>
                  </a:cubicBezTo>
                  <a:lnTo>
                    <a:pt x="1104944" y="986096"/>
                  </a:lnTo>
                  <a:cubicBezTo>
                    <a:pt x="1104944" y="993438"/>
                    <a:pt x="1102027" y="1000478"/>
                    <a:pt x="1096836" y="1005669"/>
                  </a:cubicBezTo>
                  <a:cubicBezTo>
                    <a:pt x="1091645" y="1010860"/>
                    <a:pt x="1084605" y="1013777"/>
                    <a:pt x="1077263" y="1013777"/>
                  </a:cubicBezTo>
                  <a:lnTo>
                    <a:pt x="27680" y="1013777"/>
                  </a:lnTo>
                  <a:cubicBezTo>
                    <a:pt x="20339" y="1013777"/>
                    <a:pt x="13299" y="1010860"/>
                    <a:pt x="8107" y="1005669"/>
                  </a:cubicBezTo>
                  <a:cubicBezTo>
                    <a:pt x="2916" y="1000478"/>
                    <a:pt x="0" y="993438"/>
                    <a:pt x="0" y="986096"/>
                  </a:cubicBezTo>
                  <a:lnTo>
                    <a:pt x="0" y="27680"/>
                  </a:lnTo>
                  <a:cubicBezTo>
                    <a:pt x="0" y="20339"/>
                    <a:pt x="2916" y="13299"/>
                    <a:pt x="8107" y="8107"/>
                  </a:cubicBezTo>
                  <a:cubicBezTo>
                    <a:pt x="13299" y="2916"/>
                    <a:pt x="20339" y="0"/>
                    <a:pt x="2768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4944" cy="985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32079" y="3597659"/>
            <a:ext cx="4449164" cy="1545841"/>
          </a:xfrm>
          <a:custGeom>
            <a:avLst/>
            <a:gdLst/>
            <a:ahLst/>
            <a:cxnLst/>
            <a:rect r="r" b="b" t="t" l="l"/>
            <a:pathLst>
              <a:path h="1545841" w="4449164">
                <a:moveTo>
                  <a:pt x="0" y="0"/>
                </a:moveTo>
                <a:lnTo>
                  <a:pt x="4449164" y="0"/>
                </a:lnTo>
                <a:lnTo>
                  <a:pt x="4449164" y="1545841"/>
                </a:lnTo>
                <a:lnTo>
                  <a:pt x="0" y="1545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046333" y="4370580"/>
            <a:ext cx="4195333" cy="3849184"/>
            <a:chOff x="0" y="0"/>
            <a:chExt cx="1104944" cy="1013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4944" cy="1013777"/>
            </a:xfrm>
            <a:custGeom>
              <a:avLst/>
              <a:gdLst/>
              <a:ahLst/>
              <a:cxnLst/>
              <a:rect r="r" b="b" t="t" l="l"/>
              <a:pathLst>
                <a:path h="1013777" w="1104944">
                  <a:moveTo>
                    <a:pt x="27680" y="0"/>
                  </a:moveTo>
                  <a:lnTo>
                    <a:pt x="1077263" y="0"/>
                  </a:lnTo>
                  <a:cubicBezTo>
                    <a:pt x="1084605" y="0"/>
                    <a:pt x="1091645" y="2916"/>
                    <a:pt x="1096836" y="8107"/>
                  </a:cubicBezTo>
                  <a:cubicBezTo>
                    <a:pt x="1102027" y="13299"/>
                    <a:pt x="1104944" y="20339"/>
                    <a:pt x="1104944" y="27680"/>
                  </a:cubicBezTo>
                  <a:lnTo>
                    <a:pt x="1104944" y="986096"/>
                  </a:lnTo>
                  <a:cubicBezTo>
                    <a:pt x="1104944" y="993438"/>
                    <a:pt x="1102027" y="1000478"/>
                    <a:pt x="1096836" y="1005669"/>
                  </a:cubicBezTo>
                  <a:cubicBezTo>
                    <a:pt x="1091645" y="1010860"/>
                    <a:pt x="1084605" y="1013777"/>
                    <a:pt x="1077263" y="1013777"/>
                  </a:cubicBezTo>
                  <a:lnTo>
                    <a:pt x="27680" y="1013777"/>
                  </a:lnTo>
                  <a:cubicBezTo>
                    <a:pt x="20339" y="1013777"/>
                    <a:pt x="13299" y="1010860"/>
                    <a:pt x="8107" y="1005669"/>
                  </a:cubicBezTo>
                  <a:cubicBezTo>
                    <a:pt x="2916" y="1000478"/>
                    <a:pt x="0" y="993438"/>
                    <a:pt x="0" y="986096"/>
                  </a:cubicBezTo>
                  <a:lnTo>
                    <a:pt x="0" y="27680"/>
                  </a:lnTo>
                  <a:cubicBezTo>
                    <a:pt x="0" y="20339"/>
                    <a:pt x="2916" y="13299"/>
                    <a:pt x="8107" y="8107"/>
                  </a:cubicBezTo>
                  <a:cubicBezTo>
                    <a:pt x="13299" y="2916"/>
                    <a:pt x="20339" y="0"/>
                    <a:pt x="2768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104944" cy="985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919418" y="3597659"/>
            <a:ext cx="4449164" cy="1545841"/>
          </a:xfrm>
          <a:custGeom>
            <a:avLst/>
            <a:gdLst/>
            <a:ahLst/>
            <a:cxnLst/>
            <a:rect r="r" b="b" t="t" l="l"/>
            <a:pathLst>
              <a:path h="1545841" w="4449164">
                <a:moveTo>
                  <a:pt x="0" y="0"/>
                </a:moveTo>
                <a:lnTo>
                  <a:pt x="4449164" y="0"/>
                </a:lnTo>
                <a:lnTo>
                  <a:pt x="4449164" y="1545841"/>
                </a:lnTo>
                <a:lnTo>
                  <a:pt x="0" y="1545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130582" y="4370580"/>
            <a:ext cx="4195333" cy="3849184"/>
            <a:chOff x="0" y="0"/>
            <a:chExt cx="1104944" cy="10137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4944" cy="1013777"/>
            </a:xfrm>
            <a:custGeom>
              <a:avLst/>
              <a:gdLst/>
              <a:ahLst/>
              <a:cxnLst/>
              <a:rect r="r" b="b" t="t" l="l"/>
              <a:pathLst>
                <a:path h="1013777" w="1104944">
                  <a:moveTo>
                    <a:pt x="27680" y="0"/>
                  </a:moveTo>
                  <a:lnTo>
                    <a:pt x="1077263" y="0"/>
                  </a:lnTo>
                  <a:cubicBezTo>
                    <a:pt x="1084605" y="0"/>
                    <a:pt x="1091645" y="2916"/>
                    <a:pt x="1096836" y="8107"/>
                  </a:cubicBezTo>
                  <a:cubicBezTo>
                    <a:pt x="1102027" y="13299"/>
                    <a:pt x="1104944" y="20339"/>
                    <a:pt x="1104944" y="27680"/>
                  </a:cubicBezTo>
                  <a:lnTo>
                    <a:pt x="1104944" y="986096"/>
                  </a:lnTo>
                  <a:cubicBezTo>
                    <a:pt x="1104944" y="993438"/>
                    <a:pt x="1102027" y="1000478"/>
                    <a:pt x="1096836" y="1005669"/>
                  </a:cubicBezTo>
                  <a:cubicBezTo>
                    <a:pt x="1091645" y="1010860"/>
                    <a:pt x="1084605" y="1013777"/>
                    <a:pt x="1077263" y="1013777"/>
                  </a:cubicBezTo>
                  <a:lnTo>
                    <a:pt x="27680" y="1013777"/>
                  </a:lnTo>
                  <a:cubicBezTo>
                    <a:pt x="20339" y="1013777"/>
                    <a:pt x="13299" y="1010860"/>
                    <a:pt x="8107" y="1005669"/>
                  </a:cubicBezTo>
                  <a:cubicBezTo>
                    <a:pt x="2916" y="1000478"/>
                    <a:pt x="0" y="993438"/>
                    <a:pt x="0" y="986096"/>
                  </a:cubicBezTo>
                  <a:lnTo>
                    <a:pt x="0" y="27680"/>
                  </a:lnTo>
                  <a:cubicBezTo>
                    <a:pt x="0" y="20339"/>
                    <a:pt x="2916" y="13299"/>
                    <a:pt x="8107" y="8107"/>
                  </a:cubicBezTo>
                  <a:cubicBezTo>
                    <a:pt x="13299" y="2916"/>
                    <a:pt x="20339" y="0"/>
                    <a:pt x="2768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104944" cy="985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006757" y="3597659"/>
            <a:ext cx="4449164" cy="1545841"/>
          </a:xfrm>
          <a:custGeom>
            <a:avLst/>
            <a:gdLst/>
            <a:ahLst/>
            <a:cxnLst/>
            <a:rect r="r" b="b" t="t" l="l"/>
            <a:pathLst>
              <a:path h="1545841" w="4449164">
                <a:moveTo>
                  <a:pt x="0" y="0"/>
                </a:moveTo>
                <a:lnTo>
                  <a:pt x="4449164" y="0"/>
                </a:lnTo>
                <a:lnTo>
                  <a:pt x="4449164" y="1545841"/>
                </a:lnTo>
                <a:lnTo>
                  <a:pt x="0" y="15458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323854" y="4077210"/>
            <a:ext cx="586740" cy="586740"/>
          </a:xfrm>
          <a:custGeom>
            <a:avLst/>
            <a:gdLst/>
            <a:ahLst/>
            <a:cxnLst/>
            <a:rect r="r" b="b" t="t" l="l"/>
            <a:pathLst>
              <a:path h="586740" w="586740">
                <a:moveTo>
                  <a:pt x="0" y="0"/>
                </a:moveTo>
                <a:lnTo>
                  <a:pt x="586740" y="0"/>
                </a:lnTo>
                <a:lnTo>
                  <a:pt x="586740" y="586740"/>
                </a:lnTo>
                <a:lnTo>
                  <a:pt x="0" y="586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48657" y="4143446"/>
            <a:ext cx="417651" cy="454268"/>
          </a:xfrm>
          <a:custGeom>
            <a:avLst/>
            <a:gdLst/>
            <a:ahLst/>
            <a:cxnLst/>
            <a:rect r="r" b="b" t="t" l="l"/>
            <a:pathLst>
              <a:path h="454268" w="417651">
                <a:moveTo>
                  <a:pt x="0" y="0"/>
                </a:moveTo>
                <a:lnTo>
                  <a:pt x="417651" y="0"/>
                </a:lnTo>
                <a:lnTo>
                  <a:pt x="417651" y="454268"/>
                </a:lnTo>
                <a:lnTo>
                  <a:pt x="0" y="454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97" y="0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0" y="0"/>
                </a:moveTo>
                <a:lnTo>
                  <a:pt x="2904997" y="0"/>
                </a:lnTo>
                <a:lnTo>
                  <a:pt x="2904997" y="1728925"/>
                </a:lnTo>
                <a:lnTo>
                  <a:pt x="0" y="17289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41757" y="8543543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0"/>
                </a:moveTo>
                <a:lnTo>
                  <a:pt x="2846243" y="0"/>
                </a:lnTo>
                <a:lnTo>
                  <a:pt x="2846243" y="1733620"/>
                </a:lnTo>
                <a:lnTo>
                  <a:pt x="0" y="17336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535360" y="4110082"/>
            <a:ext cx="520995" cy="520995"/>
          </a:xfrm>
          <a:custGeom>
            <a:avLst/>
            <a:gdLst/>
            <a:ahLst/>
            <a:cxnLst/>
            <a:rect r="r" b="b" t="t" l="l"/>
            <a:pathLst>
              <a:path h="520995" w="520995">
                <a:moveTo>
                  <a:pt x="0" y="0"/>
                </a:moveTo>
                <a:lnTo>
                  <a:pt x="520994" y="0"/>
                </a:lnTo>
                <a:lnTo>
                  <a:pt x="520994" y="520995"/>
                </a:lnTo>
                <a:lnTo>
                  <a:pt x="0" y="520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285603" y="1433961"/>
            <a:ext cx="1171679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Lea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dership and Management Roadmap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95190" y="2254009"/>
            <a:ext cx="68976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Buil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ding FutureReady Leadership for Lasting Impact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93565" y="4105785"/>
            <a:ext cx="2718434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Clear lea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dership goals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71048" y="4105785"/>
            <a:ext cx="2718434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Leadership development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54557" y="4239135"/>
            <a:ext cx="271843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Role mo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deling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95426" y="5398402"/>
            <a:ext cx="3122470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Inspiring and guiding the team with clear objectives involves setting a vision that motivates and energizes them, ensuring everyone understands their roles and responsibilities.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34425" y="5398402"/>
            <a:ext cx="321915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The continuous and dedicated development of leadership skills is essential for personal and professional success.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70573" y="5712727"/>
            <a:ext cx="3602419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Effective leaders set positive examples by demonstrating integrity, commitment, and empathy in all aspects of their roles.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2574" y="2931928"/>
            <a:ext cx="4308478" cy="1082452"/>
          </a:xfrm>
          <a:custGeom>
            <a:avLst/>
            <a:gdLst/>
            <a:ahLst/>
            <a:cxnLst/>
            <a:rect r="r" b="b" t="t" l="l"/>
            <a:pathLst>
              <a:path h="1082452" w="4308478">
                <a:moveTo>
                  <a:pt x="0" y="0"/>
                </a:moveTo>
                <a:lnTo>
                  <a:pt x="4308478" y="0"/>
                </a:lnTo>
                <a:lnTo>
                  <a:pt x="4308478" y="1082452"/>
                </a:lnTo>
                <a:lnTo>
                  <a:pt x="0" y="108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35522" y="5882146"/>
            <a:ext cx="4308478" cy="1082452"/>
          </a:xfrm>
          <a:custGeom>
            <a:avLst/>
            <a:gdLst/>
            <a:ahLst/>
            <a:cxnLst/>
            <a:rect r="r" b="b" t="t" l="l"/>
            <a:pathLst>
              <a:path h="1082452" w="4308478">
                <a:moveTo>
                  <a:pt x="0" y="0"/>
                </a:moveTo>
                <a:lnTo>
                  <a:pt x="4308478" y="0"/>
                </a:lnTo>
                <a:lnTo>
                  <a:pt x="4308478" y="1082451"/>
                </a:lnTo>
                <a:lnTo>
                  <a:pt x="0" y="10824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931928"/>
            <a:ext cx="4308478" cy="1082452"/>
          </a:xfrm>
          <a:custGeom>
            <a:avLst/>
            <a:gdLst/>
            <a:ahLst/>
            <a:cxnLst/>
            <a:rect r="r" b="b" t="t" l="l"/>
            <a:pathLst>
              <a:path h="1082452" w="4308478">
                <a:moveTo>
                  <a:pt x="0" y="0"/>
                </a:moveTo>
                <a:lnTo>
                  <a:pt x="4308478" y="0"/>
                </a:lnTo>
                <a:lnTo>
                  <a:pt x="4308478" y="1082452"/>
                </a:lnTo>
                <a:lnTo>
                  <a:pt x="0" y="1082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96948" y="5882146"/>
            <a:ext cx="4308478" cy="1082452"/>
          </a:xfrm>
          <a:custGeom>
            <a:avLst/>
            <a:gdLst/>
            <a:ahLst/>
            <a:cxnLst/>
            <a:rect r="r" b="b" t="t" l="l"/>
            <a:pathLst>
              <a:path h="1082452" w="4308478">
                <a:moveTo>
                  <a:pt x="0" y="0"/>
                </a:moveTo>
                <a:lnTo>
                  <a:pt x="4308478" y="0"/>
                </a:lnTo>
                <a:lnTo>
                  <a:pt x="4308478" y="1082451"/>
                </a:lnTo>
                <a:lnTo>
                  <a:pt x="0" y="1082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79241" y="3279627"/>
            <a:ext cx="320332" cy="387054"/>
          </a:xfrm>
          <a:custGeom>
            <a:avLst/>
            <a:gdLst/>
            <a:ahLst/>
            <a:cxnLst/>
            <a:rect r="r" b="b" t="t" l="l"/>
            <a:pathLst>
              <a:path h="387054" w="320332">
                <a:moveTo>
                  <a:pt x="0" y="0"/>
                </a:moveTo>
                <a:lnTo>
                  <a:pt x="320332" y="0"/>
                </a:lnTo>
                <a:lnTo>
                  <a:pt x="320332" y="387054"/>
                </a:lnTo>
                <a:lnTo>
                  <a:pt x="0" y="387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73807" y="3279627"/>
            <a:ext cx="427469" cy="387054"/>
          </a:xfrm>
          <a:custGeom>
            <a:avLst/>
            <a:gdLst/>
            <a:ahLst/>
            <a:cxnLst/>
            <a:rect r="r" b="b" t="t" l="l"/>
            <a:pathLst>
              <a:path h="387054" w="427469">
                <a:moveTo>
                  <a:pt x="0" y="0"/>
                </a:moveTo>
                <a:lnTo>
                  <a:pt x="427469" y="0"/>
                </a:lnTo>
                <a:lnTo>
                  <a:pt x="427469" y="387054"/>
                </a:lnTo>
                <a:lnTo>
                  <a:pt x="0" y="3870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95269" y="6246598"/>
            <a:ext cx="371799" cy="353547"/>
          </a:xfrm>
          <a:custGeom>
            <a:avLst/>
            <a:gdLst/>
            <a:ahLst/>
            <a:cxnLst/>
            <a:rect r="r" b="b" t="t" l="l"/>
            <a:pathLst>
              <a:path h="353547" w="371799">
                <a:moveTo>
                  <a:pt x="0" y="0"/>
                </a:moveTo>
                <a:lnTo>
                  <a:pt x="371799" y="0"/>
                </a:lnTo>
                <a:lnTo>
                  <a:pt x="371799" y="353547"/>
                </a:lnTo>
                <a:lnTo>
                  <a:pt x="0" y="3535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83772" y="6246598"/>
            <a:ext cx="480856" cy="387054"/>
          </a:xfrm>
          <a:custGeom>
            <a:avLst/>
            <a:gdLst/>
            <a:ahLst/>
            <a:cxnLst/>
            <a:rect r="r" b="b" t="t" l="l"/>
            <a:pathLst>
              <a:path h="387054" w="480856">
                <a:moveTo>
                  <a:pt x="0" y="0"/>
                </a:moveTo>
                <a:lnTo>
                  <a:pt x="480856" y="0"/>
                </a:lnTo>
                <a:lnTo>
                  <a:pt x="480856" y="387054"/>
                </a:lnTo>
                <a:lnTo>
                  <a:pt x="0" y="3870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277465" y="1433961"/>
            <a:ext cx="773306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Strat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egic Management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87669" y="3341709"/>
            <a:ext cx="271843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Strat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egic planning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87669" y="4118116"/>
            <a:ext cx="3020176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Aligning plans with the overall organizational vision and mission.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06103" y="6177421"/>
            <a:ext cx="2718434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 monitoring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06103" y="7075170"/>
            <a:ext cx="3054689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Tracking progress by utilizing Key Performance Indicators (KPIs) is an essential practice for any organization.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9094" y="3341709"/>
            <a:ext cx="271843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isk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49094" y="4118116"/>
            <a:ext cx="3020176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Effectively managing risks is essential to maintaining stability in any organization or system.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02042" y="6291926"/>
            <a:ext cx="271843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Resourc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allocation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67529" y="7075170"/>
            <a:ext cx="3054689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Effectively optimizing resources requires strategic planning and careful allocation to ensure that all available assets are utilized to their fullest potential.</a:t>
            </a:r>
          </a:p>
        </p:txBody>
      </p:sp>
      <p:sp>
        <p:nvSpPr>
          <p:cNvPr name="Freeform 19" id="19"/>
          <p:cNvSpPr/>
          <p:nvPr/>
        </p:nvSpPr>
        <p:spPr>
          <a:xfrm flipH="false" flipV="true" rot="0">
            <a:off x="5597" y="8558075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0" y="1728925"/>
                </a:moveTo>
                <a:lnTo>
                  <a:pt x="2904997" y="1728925"/>
                </a:lnTo>
                <a:lnTo>
                  <a:pt x="2904997" y="0"/>
                </a:lnTo>
                <a:lnTo>
                  <a:pt x="0" y="0"/>
                </a:lnTo>
                <a:lnTo>
                  <a:pt x="0" y="172892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0">
            <a:off x="15441757" y="0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1733621"/>
                </a:moveTo>
                <a:lnTo>
                  <a:pt x="2846243" y="1733621"/>
                </a:lnTo>
                <a:lnTo>
                  <a:pt x="2846243" y="0"/>
                </a:lnTo>
                <a:lnTo>
                  <a:pt x="0" y="0"/>
                </a:lnTo>
                <a:lnTo>
                  <a:pt x="0" y="1733621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390832" y="1490709"/>
            <a:ext cx="2928379" cy="1287588"/>
          </a:xfrm>
          <a:custGeom>
            <a:avLst/>
            <a:gdLst/>
            <a:ahLst/>
            <a:cxnLst/>
            <a:rect r="r" b="b" t="t" l="l"/>
            <a:pathLst>
              <a:path h="1287588" w="2928379">
                <a:moveTo>
                  <a:pt x="2928379" y="0"/>
                </a:moveTo>
                <a:lnTo>
                  <a:pt x="0" y="0"/>
                </a:lnTo>
                <a:lnTo>
                  <a:pt x="0" y="1287588"/>
                </a:lnTo>
                <a:lnTo>
                  <a:pt x="2928379" y="1287588"/>
                </a:lnTo>
                <a:lnTo>
                  <a:pt x="29283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390832" y="4135596"/>
            <a:ext cx="2928379" cy="1287588"/>
          </a:xfrm>
          <a:custGeom>
            <a:avLst/>
            <a:gdLst/>
            <a:ahLst/>
            <a:cxnLst/>
            <a:rect r="r" b="b" t="t" l="l"/>
            <a:pathLst>
              <a:path h="1287588" w="2928379">
                <a:moveTo>
                  <a:pt x="2928379" y="0"/>
                </a:moveTo>
                <a:lnTo>
                  <a:pt x="0" y="0"/>
                </a:lnTo>
                <a:lnTo>
                  <a:pt x="0" y="1287588"/>
                </a:lnTo>
                <a:lnTo>
                  <a:pt x="2928379" y="1287588"/>
                </a:lnTo>
                <a:lnTo>
                  <a:pt x="29283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8390832" y="6785031"/>
            <a:ext cx="2928379" cy="1287588"/>
          </a:xfrm>
          <a:custGeom>
            <a:avLst/>
            <a:gdLst/>
            <a:ahLst/>
            <a:cxnLst/>
            <a:rect r="r" b="b" t="t" l="l"/>
            <a:pathLst>
              <a:path h="1287588" w="2928379">
                <a:moveTo>
                  <a:pt x="2928379" y="0"/>
                </a:moveTo>
                <a:lnTo>
                  <a:pt x="0" y="0"/>
                </a:lnTo>
                <a:lnTo>
                  <a:pt x="0" y="1287587"/>
                </a:lnTo>
                <a:lnTo>
                  <a:pt x="2928379" y="1287587"/>
                </a:lnTo>
                <a:lnTo>
                  <a:pt x="292837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567311" y="2813153"/>
            <a:ext cx="2928379" cy="1287588"/>
          </a:xfrm>
          <a:custGeom>
            <a:avLst/>
            <a:gdLst/>
            <a:ahLst/>
            <a:cxnLst/>
            <a:rect r="r" b="b" t="t" l="l"/>
            <a:pathLst>
              <a:path h="1287588" w="2928379">
                <a:moveTo>
                  <a:pt x="2928378" y="0"/>
                </a:moveTo>
                <a:lnTo>
                  <a:pt x="0" y="0"/>
                </a:lnTo>
                <a:lnTo>
                  <a:pt x="0" y="1287587"/>
                </a:lnTo>
                <a:lnTo>
                  <a:pt x="2928378" y="1287587"/>
                </a:lnTo>
                <a:lnTo>
                  <a:pt x="292837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567311" y="5458039"/>
            <a:ext cx="2928379" cy="1287588"/>
          </a:xfrm>
          <a:custGeom>
            <a:avLst/>
            <a:gdLst/>
            <a:ahLst/>
            <a:cxnLst/>
            <a:rect r="r" b="b" t="t" l="l"/>
            <a:pathLst>
              <a:path h="1287588" w="2928379">
                <a:moveTo>
                  <a:pt x="2928378" y="0"/>
                </a:moveTo>
                <a:lnTo>
                  <a:pt x="0" y="0"/>
                </a:lnTo>
                <a:lnTo>
                  <a:pt x="0" y="1287588"/>
                </a:lnTo>
                <a:lnTo>
                  <a:pt x="2928378" y="1287588"/>
                </a:lnTo>
                <a:lnTo>
                  <a:pt x="29283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7997766" y="2204462"/>
            <a:ext cx="0" cy="5264837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7927807" y="2064544"/>
            <a:ext cx="139917" cy="1399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27807" y="4709431"/>
            <a:ext cx="139917" cy="13991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927807" y="7329382"/>
            <a:ext cx="139917" cy="13991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4623148" y="4779390"/>
            <a:ext cx="3304659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912779" y="2066819"/>
            <a:ext cx="4828323" cy="5264837"/>
            <a:chOff x="0" y="0"/>
            <a:chExt cx="1271657" cy="13866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71657" cy="1386624"/>
            </a:xfrm>
            <a:custGeom>
              <a:avLst/>
              <a:gdLst/>
              <a:ahLst/>
              <a:cxnLst/>
              <a:rect r="r" b="b" t="t" l="l"/>
              <a:pathLst>
                <a:path h="1386624" w="1271657">
                  <a:moveTo>
                    <a:pt x="81775" y="0"/>
                  </a:moveTo>
                  <a:lnTo>
                    <a:pt x="1189882" y="0"/>
                  </a:lnTo>
                  <a:cubicBezTo>
                    <a:pt x="1211570" y="0"/>
                    <a:pt x="1232370" y="8616"/>
                    <a:pt x="1247706" y="23951"/>
                  </a:cubicBezTo>
                  <a:cubicBezTo>
                    <a:pt x="1263041" y="39287"/>
                    <a:pt x="1271657" y="60087"/>
                    <a:pt x="1271657" y="81775"/>
                  </a:cubicBezTo>
                  <a:lnTo>
                    <a:pt x="1271657" y="1304848"/>
                  </a:lnTo>
                  <a:cubicBezTo>
                    <a:pt x="1271657" y="1350012"/>
                    <a:pt x="1235045" y="1386624"/>
                    <a:pt x="1189882" y="1386624"/>
                  </a:cubicBezTo>
                  <a:lnTo>
                    <a:pt x="81775" y="1386624"/>
                  </a:lnTo>
                  <a:cubicBezTo>
                    <a:pt x="36612" y="1386624"/>
                    <a:pt x="0" y="1350012"/>
                    <a:pt x="0" y="1304848"/>
                  </a:cubicBezTo>
                  <a:lnTo>
                    <a:pt x="0" y="81775"/>
                  </a:lnTo>
                  <a:cubicBezTo>
                    <a:pt x="0" y="36612"/>
                    <a:pt x="36612" y="0"/>
                    <a:pt x="81775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1271657" cy="1358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648145" y="4313872"/>
            <a:ext cx="3336563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Driv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ing Innovation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78333" y="1869708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ster creativity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85071" y="2890464"/>
            <a:ext cx="253414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Encoura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ging new and innovative ideas.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78333" y="4514595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Process improvement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85071" y="5535351"/>
            <a:ext cx="253414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Enhanc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ing operational efficiency.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78333" y="7164030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echnology adoption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85071" y="8184786"/>
            <a:ext cx="253414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Levera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ging technology for productivity.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79171" y="3192151"/>
            <a:ext cx="218895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Encourag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experimentation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61550" y="4212907"/>
            <a:ext cx="253414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Support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ing testing of new ideas.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54811" y="5970388"/>
            <a:ext cx="2037669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Id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 incubation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61550" y="6857794"/>
            <a:ext cx="253414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Develop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ing ideas into solutions.</a:t>
            </a:r>
          </a:p>
        </p:txBody>
      </p:sp>
      <p:sp>
        <p:nvSpPr>
          <p:cNvPr name="AutoShape 32" id="32"/>
          <p:cNvSpPr/>
          <p:nvPr/>
        </p:nvSpPr>
        <p:spPr>
          <a:xfrm flipH="true">
            <a:off x="12252685" y="3531441"/>
            <a:ext cx="49559" cy="2615415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2233611" y="3391536"/>
            <a:ext cx="139917" cy="139917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233611" y="6031874"/>
            <a:ext cx="139917" cy="13991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true" flipV="false" rot="0">
            <a:off x="15383003" y="0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2904997" y="0"/>
                </a:moveTo>
                <a:lnTo>
                  <a:pt x="0" y="0"/>
                </a:lnTo>
                <a:lnTo>
                  <a:pt x="0" y="1728925"/>
                </a:lnTo>
                <a:lnTo>
                  <a:pt x="2904997" y="1728925"/>
                </a:lnTo>
                <a:lnTo>
                  <a:pt x="290499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true" flipV="false" rot="0">
            <a:off x="0" y="8543543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2846243" y="0"/>
                </a:moveTo>
                <a:lnTo>
                  <a:pt x="0" y="0"/>
                </a:lnTo>
                <a:lnTo>
                  <a:pt x="0" y="1733620"/>
                </a:lnTo>
                <a:lnTo>
                  <a:pt x="2846243" y="1733620"/>
                </a:lnTo>
                <a:lnTo>
                  <a:pt x="284624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4316" y="3025573"/>
            <a:ext cx="3766865" cy="937925"/>
            <a:chOff x="0" y="0"/>
            <a:chExt cx="992096" cy="2470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2096" cy="247026"/>
            </a:xfrm>
            <a:custGeom>
              <a:avLst/>
              <a:gdLst/>
              <a:ahLst/>
              <a:cxnLst/>
              <a:rect r="r" b="b" t="t" l="l"/>
              <a:pathLst>
                <a:path h="247026" w="992096">
                  <a:moveTo>
                    <a:pt x="0" y="0"/>
                  </a:moveTo>
                  <a:lnTo>
                    <a:pt x="788896" y="0"/>
                  </a:lnTo>
                  <a:lnTo>
                    <a:pt x="992096" y="123513"/>
                  </a:lnTo>
                  <a:lnTo>
                    <a:pt x="788896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28575"/>
              <a:ext cx="738096" cy="218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06801" y="1433961"/>
            <a:ext cx="807439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Building Stro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ng Teams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72471" y="3229740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Talen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24236" y="4085326"/>
            <a:ext cx="253414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Grow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ing team members’ skills.</a:t>
            </a:r>
          </a:p>
        </p:txBody>
      </p:sp>
      <p:sp>
        <p:nvSpPr>
          <p:cNvPr name="AutoShape 8" id="8"/>
          <p:cNvSpPr/>
          <p:nvPr/>
        </p:nvSpPr>
        <p:spPr>
          <a:xfrm>
            <a:off x="5861181" y="3494535"/>
            <a:ext cx="7337951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260567" y="3025573"/>
            <a:ext cx="3766865" cy="937925"/>
            <a:chOff x="0" y="0"/>
            <a:chExt cx="992096" cy="2470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2096" cy="247026"/>
            </a:xfrm>
            <a:custGeom>
              <a:avLst/>
              <a:gdLst/>
              <a:ahLst/>
              <a:cxnLst/>
              <a:rect r="r" b="b" t="t" l="l"/>
              <a:pathLst>
                <a:path h="247026" w="992096">
                  <a:moveTo>
                    <a:pt x="0" y="0"/>
                  </a:moveTo>
                  <a:lnTo>
                    <a:pt x="788896" y="0"/>
                  </a:lnTo>
                  <a:lnTo>
                    <a:pt x="992096" y="123513"/>
                  </a:lnTo>
                  <a:lnTo>
                    <a:pt x="788896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28575"/>
              <a:ext cx="738096" cy="218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138722" y="3229740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Collaboration culture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90487" y="4085326"/>
            <a:ext cx="253414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Promot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ing teamwork and cooperation.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427608" y="3025573"/>
            <a:ext cx="3766865" cy="937925"/>
            <a:chOff x="0" y="0"/>
            <a:chExt cx="992096" cy="2470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2096" cy="247026"/>
            </a:xfrm>
            <a:custGeom>
              <a:avLst/>
              <a:gdLst/>
              <a:ahLst/>
              <a:cxnLst/>
              <a:rect r="r" b="b" t="t" l="l"/>
              <a:pathLst>
                <a:path h="247026" w="992096">
                  <a:moveTo>
                    <a:pt x="0" y="0"/>
                  </a:moveTo>
                  <a:lnTo>
                    <a:pt x="788896" y="0"/>
                  </a:lnTo>
                  <a:lnTo>
                    <a:pt x="992096" y="123513"/>
                  </a:lnTo>
                  <a:lnTo>
                    <a:pt x="788896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28575"/>
              <a:ext cx="738096" cy="218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305763" y="3229740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Employee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engagement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57527" y="4085326"/>
            <a:ext cx="253414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Boost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ing motivation and involvement.</a:t>
            </a:r>
          </a:p>
        </p:txBody>
      </p:sp>
      <p:sp>
        <p:nvSpPr>
          <p:cNvPr name="AutoShape 19" id="19"/>
          <p:cNvSpPr/>
          <p:nvPr/>
        </p:nvSpPr>
        <p:spPr>
          <a:xfrm>
            <a:off x="5089656" y="6223069"/>
            <a:ext cx="7337951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-10800000">
            <a:off x="2094316" y="5754106"/>
            <a:ext cx="3766865" cy="937925"/>
            <a:chOff x="0" y="0"/>
            <a:chExt cx="992096" cy="2470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2096" cy="247026"/>
            </a:xfrm>
            <a:custGeom>
              <a:avLst/>
              <a:gdLst/>
              <a:ahLst/>
              <a:cxnLst/>
              <a:rect r="r" b="b" t="t" l="l"/>
              <a:pathLst>
                <a:path h="247026" w="992096">
                  <a:moveTo>
                    <a:pt x="0" y="0"/>
                  </a:moveTo>
                  <a:lnTo>
                    <a:pt x="788896" y="0"/>
                  </a:lnTo>
                  <a:lnTo>
                    <a:pt x="992096" y="123513"/>
                  </a:lnTo>
                  <a:lnTo>
                    <a:pt x="788896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77800" y="28575"/>
              <a:ext cx="738096" cy="218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972471" y="5958274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Conflic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 management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24236" y="6813859"/>
            <a:ext cx="253414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Resolv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ing conflicts constructively.</a:t>
            </a:r>
          </a:p>
        </p:txBody>
      </p:sp>
      <p:grpSp>
        <p:nvGrpSpPr>
          <p:cNvPr name="Group 25" id="25"/>
          <p:cNvGrpSpPr/>
          <p:nvPr/>
        </p:nvGrpSpPr>
        <p:grpSpPr>
          <a:xfrm rot="-10800000">
            <a:off x="7260567" y="5754106"/>
            <a:ext cx="3766865" cy="937925"/>
            <a:chOff x="0" y="0"/>
            <a:chExt cx="992096" cy="2470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2096" cy="247026"/>
            </a:xfrm>
            <a:custGeom>
              <a:avLst/>
              <a:gdLst/>
              <a:ahLst/>
              <a:cxnLst/>
              <a:rect r="r" b="b" t="t" l="l"/>
              <a:pathLst>
                <a:path h="247026" w="992096">
                  <a:moveTo>
                    <a:pt x="0" y="0"/>
                  </a:moveTo>
                  <a:lnTo>
                    <a:pt x="788896" y="0"/>
                  </a:lnTo>
                  <a:lnTo>
                    <a:pt x="992096" y="123513"/>
                  </a:lnTo>
                  <a:lnTo>
                    <a:pt x="788896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28575"/>
              <a:ext cx="738096" cy="218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138722" y="5958274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Motivation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programs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90487" y="6813859"/>
            <a:ext cx="2821574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Implement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ing incentives and rewards.</a:t>
            </a:r>
          </a:p>
        </p:txBody>
      </p:sp>
      <p:grpSp>
        <p:nvGrpSpPr>
          <p:cNvPr name="Group 30" id="30"/>
          <p:cNvGrpSpPr/>
          <p:nvPr/>
        </p:nvGrpSpPr>
        <p:grpSpPr>
          <a:xfrm rot="-10800000">
            <a:off x="12427608" y="5754106"/>
            <a:ext cx="3766865" cy="937925"/>
            <a:chOff x="0" y="0"/>
            <a:chExt cx="992096" cy="2470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2096" cy="247026"/>
            </a:xfrm>
            <a:custGeom>
              <a:avLst/>
              <a:gdLst/>
              <a:ahLst/>
              <a:cxnLst/>
              <a:rect r="r" b="b" t="t" l="l"/>
              <a:pathLst>
                <a:path h="247026" w="992096">
                  <a:moveTo>
                    <a:pt x="0" y="0"/>
                  </a:moveTo>
                  <a:lnTo>
                    <a:pt x="788896" y="0"/>
                  </a:lnTo>
                  <a:lnTo>
                    <a:pt x="992096" y="123513"/>
                  </a:lnTo>
                  <a:lnTo>
                    <a:pt x="788896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28575"/>
              <a:ext cx="738096" cy="218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3305763" y="5958274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Diversity and inclusion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57527" y="6813859"/>
            <a:ext cx="253414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aluing diverse perspectives.</a:t>
            </a:r>
          </a:p>
        </p:txBody>
      </p:sp>
      <p:sp>
        <p:nvSpPr>
          <p:cNvPr name="Freeform 35" id="35"/>
          <p:cNvSpPr/>
          <p:nvPr/>
        </p:nvSpPr>
        <p:spPr>
          <a:xfrm flipH="true" flipV="true" rot="0">
            <a:off x="15383003" y="8558075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2904997" y="1728925"/>
                </a:moveTo>
                <a:lnTo>
                  <a:pt x="0" y="1728925"/>
                </a:lnTo>
                <a:lnTo>
                  <a:pt x="0" y="0"/>
                </a:lnTo>
                <a:lnTo>
                  <a:pt x="2904997" y="0"/>
                </a:lnTo>
                <a:lnTo>
                  <a:pt x="2904997" y="17289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true" rot="0">
            <a:off x="0" y="-4695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2846243" y="1733620"/>
                </a:moveTo>
                <a:lnTo>
                  <a:pt x="0" y="1733620"/>
                </a:lnTo>
                <a:lnTo>
                  <a:pt x="0" y="0"/>
                </a:lnTo>
                <a:lnTo>
                  <a:pt x="2846243" y="0"/>
                </a:lnTo>
                <a:lnTo>
                  <a:pt x="2846243" y="17336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6749" y="5756189"/>
            <a:ext cx="3827378" cy="2610701"/>
            <a:chOff x="0" y="0"/>
            <a:chExt cx="1008034" cy="6875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8034" cy="687592"/>
            </a:xfrm>
            <a:custGeom>
              <a:avLst/>
              <a:gdLst/>
              <a:ahLst/>
              <a:cxnLst/>
              <a:rect r="r" b="b" t="t" l="l"/>
              <a:pathLst>
                <a:path h="687592" w="1008034">
                  <a:moveTo>
                    <a:pt x="30342" y="0"/>
                  </a:moveTo>
                  <a:lnTo>
                    <a:pt x="977692" y="0"/>
                  </a:lnTo>
                  <a:cubicBezTo>
                    <a:pt x="994449" y="0"/>
                    <a:pt x="1008034" y="13584"/>
                    <a:pt x="1008034" y="30342"/>
                  </a:cubicBezTo>
                  <a:lnTo>
                    <a:pt x="1008034" y="657250"/>
                  </a:lnTo>
                  <a:cubicBezTo>
                    <a:pt x="1008034" y="674008"/>
                    <a:pt x="994449" y="687592"/>
                    <a:pt x="977692" y="687592"/>
                  </a:cubicBezTo>
                  <a:lnTo>
                    <a:pt x="30342" y="687592"/>
                  </a:lnTo>
                  <a:cubicBezTo>
                    <a:pt x="22295" y="687592"/>
                    <a:pt x="14577" y="684395"/>
                    <a:pt x="8887" y="678705"/>
                  </a:cubicBezTo>
                  <a:cubicBezTo>
                    <a:pt x="3197" y="673015"/>
                    <a:pt x="0" y="665298"/>
                    <a:pt x="0" y="657250"/>
                  </a:cubicBezTo>
                  <a:lnTo>
                    <a:pt x="0" y="30342"/>
                  </a:lnTo>
                  <a:cubicBezTo>
                    <a:pt x="0" y="13584"/>
                    <a:pt x="13584" y="0"/>
                    <a:pt x="30342" y="0"/>
                  </a:cubicBez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008034" cy="65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35594" y="3297888"/>
            <a:ext cx="3509687" cy="4916602"/>
            <a:chOff x="0" y="0"/>
            <a:chExt cx="924362" cy="12949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4362" cy="1294907"/>
            </a:xfrm>
            <a:custGeom>
              <a:avLst/>
              <a:gdLst/>
              <a:ahLst/>
              <a:cxnLst/>
              <a:rect r="r" b="b" t="t" l="l"/>
              <a:pathLst>
                <a:path h="1294907" w="924362">
                  <a:moveTo>
                    <a:pt x="33088" y="0"/>
                  </a:moveTo>
                  <a:lnTo>
                    <a:pt x="891274" y="0"/>
                  </a:lnTo>
                  <a:cubicBezTo>
                    <a:pt x="900050" y="0"/>
                    <a:pt x="908466" y="3486"/>
                    <a:pt x="914671" y="9691"/>
                  </a:cubicBezTo>
                  <a:cubicBezTo>
                    <a:pt x="920876" y="15896"/>
                    <a:pt x="924362" y="24313"/>
                    <a:pt x="924362" y="33088"/>
                  </a:cubicBezTo>
                  <a:lnTo>
                    <a:pt x="924362" y="1261819"/>
                  </a:lnTo>
                  <a:cubicBezTo>
                    <a:pt x="924362" y="1270595"/>
                    <a:pt x="920876" y="1279011"/>
                    <a:pt x="914671" y="1285216"/>
                  </a:cubicBezTo>
                  <a:cubicBezTo>
                    <a:pt x="908466" y="1291421"/>
                    <a:pt x="900050" y="1294907"/>
                    <a:pt x="891274" y="1294907"/>
                  </a:cubicBezTo>
                  <a:lnTo>
                    <a:pt x="33088" y="1294907"/>
                  </a:lnTo>
                  <a:cubicBezTo>
                    <a:pt x="14814" y="1294907"/>
                    <a:pt x="0" y="1280093"/>
                    <a:pt x="0" y="1261819"/>
                  </a:cubicBezTo>
                  <a:lnTo>
                    <a:pt x="0" y="33088"/>
                  </a:lnTo>
                  <a:cubicBezTo>
                    <a:pt x="0" y="24313"/>
                    <a:pt x="3486" y="15896"/>
                    <a:pt x="9691" y="9691"/>
                  </a:cubicBezTo>
                  <a:cubicBezTo>
                    <a:pt x="15896" y="3486"/>
                    <a:pt x="24313" y="0"/>
                    <a:pt x="3308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924362" cy="1266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18912" y="2768404"/>
            <a:ext cx="1543050" cy="15430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30311" y="5756189"/>
            <a:ext cx="3827378" cy="2610701"/>
            <a:chOff x="0" y="0"/>
            <a:chExt cx="1008034" cy="687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8034" cy="687592"/>
            </a:xfrm>
            <a:custGeom>
              <a:avLst/>
              <a:gdLst/>
              <a:ahLst/>
              <a:cxnLst/>
              <a:rect r="r" b="b" t="t" l="l"/>
              <a:pathLst>
                <a:path h="687592" w="1008034">
                  <a:moveTo>
                    <a:pt x="30342" y="0"/>
                  </a:moveTo>
                  <a:lnTo>
                    <a:pt x="977692" y="0"/>
                  </a:lnTo>
                  <a:cubicBezTo>
                    <a:pt x="994449" y="0"/>
                    <a:pt x="1008034" y="13584"/>
                    <a:pt x="1008034" y="30342"/>
                  </a:cubicBezTo>
                  <a:lnTo>
                    <a:pt x="1008034" y="657250"/>
                  </a:lnTo>
                  <a:cubicBezTo>
                    <a:pt x="1008034" y="674008"/>
                    <a:pt x="994449" y="687592"/>
                    <a:pt x="977692" y="687592"/>
                  </a:cubicBezTo>
                  <a:lnTo>
                    <a:pt x="30342" y="687592"/>
                  </a:lnTo>
                  <a:cubicBezTo>
                    <a:pt x="22295" y="687592"/>
                    <a:pt x="14577" y="684395"/>
                    <a:pt x="8887" y="678705"/>
                  </a:cubicBezTo>
                  <a:cubicBezTo>
                    <a:pt x="3197" y="673015"/>
                    <a:pt x="0" y="665298"/>
                    <a:pt x="0" y="657250"/>
                  </a:cubicBezTo>
                  <a:lnTo>
                    <a:pt x="0" y="30342"/>
                  </a:lnTo>
                  <a:cubicBezTo>
                    <a:pt x="0" y="13584"/>
                    <a:pt x="13584" y="0"/>
                    <a:pt x="30342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008034" cy="65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89156" y="3297888"/>
            <a:ext cx="3509687" cy="4916602"/>
            <a:chOff x="0" y="0"/>
            <a:chExt cx="924362" cy="12949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4362" cy="1294907"/>
            </a:xfrm>
            <a:custGeom>
              <a:avLst/>
              <a:gdLst/>
              <a:ahLst/>
              <a:cxnLst/>
              <a:rect r="r" b="b" t="t" l="l"/>
              <a:pathLst>
                <a:path h="1294907" w="924362">
                  <a:moveTo>
                    <a:pt x="33088" y="0"/>
                  </a:moveTo>
                  <a:lnTo>
                    <a:pt x="891274" y="0"/>
                  </a:lnTo>
                  <a:cubicBezTo>
                    <a:pt x="900050" y="0"/>
                    <a:pt x="908466" y="3486"/>
                    <a:pt x="914671" y="9691"/>
                  </a:cubicBezTo>
                  <a:cubicBezTo>
                    <a:pt x="920876" y="15896"/>
                    <a:pt x="924362" y="24313"/>
                    <a:pt x="924362" y="33088"/>
                  </a:cubicBezTo>
                  <a:lnTo>
                    <a:pt x="924362" y="1261819"/>
                  </a:lnTo>
                  <a:cubicBezTo>
                    <a:pt x="924362" y="1270595"/>
                    <a:pt x="920876" y="1279011"/>
                    <a:pt x="914671" y="1285216"/>
                  </a:cubicBezTo>
                  <a:cubicBezTo>
                    <a:pt x="908466" y="1291421"/>
                    <a:pt x="900050" y="1294907"/>
                    <a:pt x="891274" y="1294907"/>
                  </a:cubicBezTo>
                  <a:lnTo>
                    <a:pt x="33088" y="1294907"/>
                  </a:lnTo>
                  <a:cubicBezTo>
                    <a:pt x="14814" y="1294907"/>
                    <a:pt x="0" y="1280093"/>
                    <a:pt x="0" y="1261819"/>
                  </a:cubicBezTo>
                  <a:lnTo>
                    <a:pt x="0" y="33088"/>
                  </a:lnTo>
                  <a:cubicBezTo>
                    <a:pt x="0" y="24313"/>
                    <a:pt x="3486" y="15896"/>
                    <a:pt x="9691" y="9691"/>
                  </a:cubicBezTo>
                  <a:cubicBezTo>
                    <a:pt x="15896" y="3486"/>
                    <a:pt x="24313" y="0"/>
                    <a:pt x="3308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24362" cy="1266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72475" y="2768404"/>
            <a:ext cx="1543050" cy="154305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81589" y="5756189"/>
            <a:ext cx="3827378" cy="2610701"/>
            <a:chOff x="0" y="0"/>
            <a:chExt cx="1008034" cy="687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8034" cy="687592"/>
            </a:xfrm>
            <a:custGeom>
              <a:avLst/>
              <a:gdLst/>
              <a:ahLst/>
              <a:cxnLst/>
              <a:rect r="r" b="b" t="t" l="l"/>
              <a:pathLst>
                <a:path h="687592" w="1008034">
                  <a:moveTo>
                    <a:pt x="30342" y="0"/>
                  </a:moveTo>
                  <a:lnTo>
                    <a:pt x="977692" y="0"/>
                  </a:lnTo>
                  <a:cubicBezTo>
                    <a:pt x="994449" y="0"/>
                    <a:pt x="1008034" y="13584"/>
                    <a:pt x="1008034" y="30342"/>
                  </a:cubicBezTo>
                  <a:lnTo>
                    <a:pt x="1008034" y="657250"/>
                  </a:lnTo>
                  <a:cubicBezTo>
                    <a:pt x="1008034" y="674008"/>
                    <a:pt x="994449" y="687592"/>
                    <a:pt x="977692" y="687592"/>
                  </a:cubicBezTo>
                  <a:lnTo>
                    <a:pt x="30342" y="687592"/>
                  </a:lnTo>
                  <a:cubicBezTo>
                    <a:pt x="22295" y="687592"/>
                    <a:pt x="14577" y="684395"/>
                    <a:pt x="8887" y="678705"/>
                  </a:cubicBezTo>
                  <a:cubicBezTo>
                    <a:pt x="3197" y="673015"/>
                    <a:pt x="0" y="665298"/>
                    <a:pt x="0" y="657250"/>
                  </a:cubicBezTo>
                  <a:lnTo>
                    <a:pt x="0" y="30342"/>
                  </a:lnTo>
                  <a:cubicBezTo>
                    <a:pt x="0" y="13584"/>
                    <a:pt x="13584" y="0"/>
                    <a:pt x="30342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008034" cy="65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40434" y="3297888"/>
            <a:ext cx="3509687" cy="4916602"/>
            <a:chOff x="0" y="0"/>
            <a:chExt cx="924362" cy="12949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4362" cy="1294907"/>
            </a:xfrm>
            <a:custGeom>
              <a:avLst/>
              <a:gdLst/>
              <a:ahLst/>
              <a:cxnLst/>
              <a:rect r="r" b="b" t="t" l="l"/>
              <a:pathLst>
                <a:path h="1294907" w="924362">
                  <a:moveTo>
                    <a:pt x="33088" y="0"/>
                  </a:moveTo>
                  <a:lnTo>
                    <a:pt x="891274" y="0"/>
                  </a:lnTo>
                  <a:cubicBezTo>
                    <a:pt x="900050" y="0"/>
                    <a:pt x="908466" y="3486"/>
                    <a:pt x="914671" y="9691"/>
                  </a:cubicBezTo>
                  <a:cubicBezTo>
                    <a:pt x="920876" y="15896"/>
                    <a:pt x="924362" y="24313"/>
                    <a:pt x="924362" y="33088"/>
                  </a:cubicBezTo>
                  <a:lnTo>
                    <a:pt x="924362" y="1261819"/>
                  </a:lnTo>
                  <a:cubicBezTo>
                    <a:pt x="924362" y="1270595"/>
                    <a:pt x="920876" y="1279011"/>
                    <a:pt x="914671" y="1285216"/>
                  </a:cubicBezTo>
                  <a:cubicBezTo>
                    <a:pt x="908466" y="1291421"/>
                    <a:pt x="900050" y="1294907"/>
                    <a:pt x="891274" y="1294907"/>
                  </a:cubicBezTo>
                  <a:lnTo>
                    <a:pt x="33088" y="1294907"/>
                  </a:lnTo>
                  <a:cubicBezTo>
                    <a:pt x="14814" y="1294907"/>
                    <a:pt x="0" y="1280093"/>
                    <a:pt x="0" y="1261819"/>
                  </a:cubicBezTo>
                  <a:lnTo>
                    <a:pt x="0" y="33088"/>
                  </a:lnTo>
                  <a:cubicBezTo>
                    <a:pt x="0" y="24313"/>
                    <a:pt x="3486" y="15896"/>
                    <a:pt x="9691" y="9691"/>
                  </a:cubicBezTo>
                  <a:cubicBezTo>
                    <a:pt x="15896" y="3486"/>
                    <a:pt x="24313" y="0"/>
                    <a:pt x="3308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924362" cy="1266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23753" y="2768404"/>
            <a:ext cx="1543050" cy="154305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262757" y="3221185"/>
            <a:ext cx="655362" cy="637488"/>
          </a:xfrm>
          <a:custGeom>
            <a:avLst/>
            <a:gdLst/>
            <a:ahLst/>
            <a:cxnLst/>
            <a:rect r="r" b="b" t="t" l="l"/>
            <a:pathLst>
              <a:path h="637488" w="655362">
                <a:moveTo>
                  <a:pt x="0" y="0"/>
                </a:moveTo>
                <a:lnTo>
                  <a:pt x="655361" y="0"/>
                </a:lnTo>
                <a:lnTo>
                  <a:pt x="655361" y="637488"/>
                </a:lnTo>
                <a:lnTo>
                  <a:pt x="0" y="637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824938" y="3221185"/>
            <a:ext cx="638124" cy="637488"/>
          </a:xfrm>
          <a:custGeom>
            <a:avLst/>
            <a:gdLst/>
            <a:ahLst/>
            <a:cxnLst/>
            <a:rect r="r" b="b" t="t" l="l"/>
            <a:pathLst>
              <a:path h="637488" w="638124">
                <a:moveTo>
                  <a:pt x="0" y="0"/>
                </a:moveTo>
                <a:lnTo>
                  <a:pt x="638124" y="0"/>
                </a:lnTo>
                <a:lnTo>
                  <a:pt x="638124" y="637488"/>
                </a:lnTo>
                <a:lnTo>
                  <a:pt x="0" y="63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419999" y="3221185"/>
            <a:ext cx="550558" cy="637488"/>
          </a:xfrm>
          <a:custGeom>
            <a:avLst/>
            <a:gdLst/>
            <a:ahLst/>
            <a:cxnLst/>
            <a:rect r="r" b="b" t="t" l="l"/>
            <a:pathLst>
              <a:path h="637488" w="550558">
                <a:moveTo>
                  <a:pt x="0" y="0"/>
                </a:moveTo>
                <a:lnTo>
                  <a:pt x="550558" y="0"/>
                </a:lnTo>
                <a:lnTo>
                  <a:pt x="550558" y="637488"/>
                </a:lnTo>
                <a:lnTo>
                  <a:pt x="0" y="637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4224982" y="1433961"/>
            <a:ext cx="983803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Communicatio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 Excellence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71603" y="4585335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ansparent communication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23368" y="5241550"/>
            <a:ext cx="253414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Ensuring openness and clarity in communication is vital for building trust and fostering strong relationships.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25165" y="4585335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eedback loops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76930" y="5241550"/>
            <a:ext cx="2534140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Maintaining open and active feedback channels is essential for fostering communication and collaboration within any organization.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76443" y="4585335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nflict resolution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28208" y="5241550"/>
            <a:ext cx="253414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Effectively handling disputes requires a clear understanding of the issues involved, open communication between all parties. 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5597" y="0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0" y="0"/>
                </a:moveTo>
                <a:lnTo>
                  <a:pt x="2904997" y="0"/>
                </a:lnTo>
                <a:lnTo>
                  <a:pt x="2904997" y="1728925"/>
                </a:lnTo>
                <a:lnTo>
                  <a:pt x="0" y="1728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5441757" y="8543543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0"/>
                </a:moveTo>
                <a:lnTo>
                  <a:pt x="2846243" y="0"/>
                </a:lnTo>
                <a:lnTo>
                  <a:pt x="2846243" y="1733620"/>
                </a:lnTo>
                <a:lnTo>
                  <a:pt x="0" y="1733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6391" y="2813794"/>
            <a:ext cx="2934320" cy="5156154"/>
          </a:xfrm>
          <a:custGeom>
            <a:avLst/>
            <a:gdLst/>
            <a:ahLst/>
            <a:cxnLst/>
            <a:rect r="r" b="b" t="t" l="l"/>
            <a:pathLst>
              <a:path h="5156154" w="2934320">
                <a:moveTo>
                  <a:pt x="0" y="0"/>
                </a:moveTo>
                <a:lnTo>
                  <a:pt x="2934320" y="0"/>
                </a:lnTo>
                <a:lnTo>
                  <a:pt x="2934320" y="5156154"/>
                </a:lnTo>
                <a:lnTo>
                  <a:pt x="0" y="5156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41848" y="2813794"/>
            <a:ext cx="2934320" cy="5156154"/>
          </a:xfrm>
          <a:custGeom>
            <a:avLst/>
            <a:gdLst/>
            <a:ahLst/>
            <a:cxnLst/>
            <a:rect r="r" b="b" t="t" l="l"/>
            <a:pathLst>
              <a:path h="5156154" w="2934320">
                <a:moveTo>
                  <a:pt x="0" y="0"/>
                </a:moveTo>
                <a:lnTo>
                  <a:pt x="2934320" y="0"/>
                </a:lnTo>
                <a:lnTo>
                  <a:pt x="2934320" y="5156154"/>
                </a:lnTo>
                <a:lnTo>
                  <a:pt x="0" y="5156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09568" y="2813794"/>
            <a:ext cx="2934320" cy="5156154"/>
          </a:xfrm>
          <a:custGeom>
            <a:avLst/>
            <a:gdLst/>
            <a:ahLst/>
            <a:cxnLst/>
            <a:rect r="r" b="b" t="t" l="l"/>
            <a:pathLst>
              <a:path h="5156154" w="2934320">
                <a:moveTo>
                  <a:pt x="0" y="0"/>
                </a:moveTo>
                <a:lnTo>
                  <a:pt x="2934321" y="0"/>
                </a:lnTo>
                <a:lnTo>
                  <a:pt x="2934321" y="5156154"/>
                </a:lnTo>
                <a:lnTo>
                  <a:pt x="0" y="5156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77289" y="2813794"/>
            <a:ext cx="2934320" cy="5156154"/>
          </a:xfrm>
          <a:custGeom>
            <a:avLst/>
            <a:gdLst/>
            <a:ahLst/>
            <a:cxnLst/>
            <a:rect r="r" b="b" t="t" l="l"/>
            <a:pathLst>
              <a:path h="5156154" w="2934320">
                <a:moveTo>
                  <a:pt x="0" y="0"/>
                </a:moveTo>
                <a:lnTo>
                  <a:pt x="2934320" y="0"/>
                </a:lnTo>
                <a:lnTo>
                  <a:pt x="2934320" y="5156154"/>
                </a:lnTo>
                <a:lnTo>
                  <a:pt x="0" y="5156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03990" y="3559026"/>
            <a:ext cx="479123" cy="466056"/>
          </a:xfrm>
          <a:custGeom>
            <a:avLst/>
            <a:gdLst/>
            <a:ahLst/>
            <a:cxnLst/>
            <a:rect r="r" b="b" t="t" l="l"/>
            <a:pathLst>
              <a:path h="466056" w="479123">
                <a:moveTo>
                  <a:pt x="0" y="0"/>
                </a:moveTo>
                <a:lnTo>
                  <a:pt x="479123" y="0"/>
                </a:lnTo>
                <a:lnTo>
                  <a:pt x="479123" y="466056"/>
                </a:lnTo>
                <a:lnTo>
                  <a:pt x="0" y="4660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51681" y="3559026"/>
            <a:ext cx="316918" cy="466056"/>
          </a:xfrm>
          <a:custGeom>
            <a:avLst/>
            <a:gdLst/>
            <a:ahLst/>
            <a:cxnLst/>
            <a:rect r="r" b="b" t="t" l="l"/>
            <a:pathLst>
              <a:path h="466056" w="316918">
                <a:moveTo>
                  <a:pt x="0" y="0"/>
                </a:moveTo>
                <a:lnTo>
                  <a:pt x="316918" y="0"/>
                </a:lnTo>
                <a:lnTo>
                  <a:pt x="316918" y="466056"/>
                </a:lnTo>
                <a:lnTo>
                  <a:pt x="0" y="4660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14493" y="3629819"/>
            <a:ext cx="395263" cy="395263"/>
          </a:xfrm>
          <a:custGeom>
            <a:avLst/>
            <a:gdLst/>
            <a:ahLst/>
            <a:cxnLst/>
            <a:rect r="r" b="b" t="t" l="l"/>
            <a:pathLst>
              <a:path h="395263" w="395263">
                <a:moveTo>
                  <a:pt x="0" y="0"/>
                </a:moveTo>
                <a:lnTo>
                  <a:pt x="395264" y="0"/>
                </a:lnTo>
                <a:lnTo>
                  <a:pt x="395264" y="395263"/>
                </a:lnTo>
                <a:lnTo>
                  <a:pt x="0" y="3952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27920" y="3629819"/>
            <a:ext cx="433057" cy="395263"/>
          </a:xfrm>
          <a:custGeom>
            <a:avLst/>
            <a:gdLst/>
            <a:ahLst/>
            <a:cxnLst/>
            <a:rect r="r" b="b" t="t" l="l"/>
            <a:pathLst>
              <a:path h="395263" w="433057">
                <a:moveTo>
                  <a:pt x="0" y="0"/>
                </a:moveTo>
                <a:lnTo>
                  <a:pt x="433057" y="0"/>
                </a:lnTo>
                <a:lnTo>
                  <a:pt x="433057" y="395263"/>
                </a:lnTo>
                <a:lnTo>
                  <a:pt x="0" y="3952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82958" y="1433961"/>
            <a:ext cx="115220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Sustainable Practices i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 Management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24716" y="5066178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ansparent communication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6481" y="5740778"/>
            <a:ext cx="253414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Integrating sustainability into management practices is essential for long-term success.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0174" y="5066178"/>
            <a:ext cx="2037669" cy="55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thical standards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41938" y="5740778"/>
            <a:ext cx="253414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Upholding integrity across all operations is essential for maintaining trust and ensuring ethical practices.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57894" y="5199528"/>
            <a:ext cx="2037669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ompliance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9659" y="5740778"/>
            <a:ext cx="253414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Adhering to established laws and industry norms is essential for maintaining compliance.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25614" y="5066178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sponsible leadership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77379" y="5740778"/>
            <a:ext cx="253414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Leading with a strong commitment to social responsibility.</a:t>
            </a:r>
          </a:p>
        </p:txBody>
      </p:sp>
      <p:sp>
        <p:nvSpPr>
          <p:cNvPr name="Freeform 19" id="19"/>
          <p:cNvSpPr/>
          <p:nvPr/>
        </p:nvSpPr>
        <p:spPr>
          <a:xfrm flipH="false" flipV="true" rot="0">
            <a:off x="5597" y="8558075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0" y="1728925"/>
                </a:moveTo>
                <a:lnTo>
                  <a:pt x="2904997" y="1728925"/>
                </a:lnTo>
                <a:lnTo>
                  <a:pt x="2904997" y="0"/>
                </a:lnTo>
                <a:lnTo>
                  <a:pt x="0" y="0"/>
                </a:lnTo>
                <a:lnTo>
                  <a:pt x="0" y="172892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0">
            <a:off x="15441757" y="0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1733621"/>
                </a:moveTo>
                <a:lnTo>
                  <a:pt x="2846243" y="1733621"/>
                </a:lnTo>
                <a:lnTo>
                  <a:pt x="2846243" y="0"/>
                </a:lnTo>
                <a:lnTo>
                  <a:pt x="0" y="0"/>
                </a:lnTo>
                <a:lnTo>
                  <a:pt x="0" y="1733621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519" y="3547484"/>
            <a:ext cx="3766865" cy="4266093"/>
            <a:chOff x="0" y="0"/>
            <a:chExt cx="992096" cy="1123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2096" cy="1123580"/>
            </a:xfrm>
            <a:custGeom>
              <a:avLst/>
              <a:gdLst/>
              <a:ahLst/>
              <a:cxnLst/>
              <a:rect r="r" b="b" t="t" l="l"/>
              <a:pathLst>
                <a:path h="1123580" w="992096">
                  <a:moveTo>
                    <a:pt x="0" y="0"/>
                  </a:moveTo>
                  <a:lnTo>
                    <a:pt x="992096" y="0"/>
                  </a:lnTo>
                  <a:lnTo>
                    <a:pt x="992096" y="1123580"/>
                  </a:lnTo>
                  <a:lnTo>
                    <a:pt x="0" y="112358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992096" cy="1095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72519" y="3101222"/>
            <a:ext cx="3086100" cy="892523"/>
            <a:chOff x="0" y="0"/>
            <a:chExt cx="812800" cy="2350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35068"/>
            </a:xfrm>
            <a:custGeom>
              <a:avLst/>
              <a:gdLst/>
              <a:ahLst/>
              <a:cxnLst/>
              <a:rect r="r" b="b" t="t" l="l"/>
              <a:pathLst>
                <a:path h="23506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35068"/>
                  </a:lnTo>
                  <a:lnTo>
                    <a:pt x="0" y="235068"/>
                  </a:ln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812800" cy="206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60567" y="3547484"/>
            <a:ext cx="3766865" cy="4266093"/>
            <a:chOff x="0" y="0"/>
            <a:chExt cx="992096" cy="11235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2096" cy="1123580"/>
            </a:xfrm>
            <a:custGeom>
              <a:avLst/>
              <a:gdLst/>
              <a:ahLst/>
              <a:cxnLst/>
              <a:rect r="r" b="b" t="t" l="l"/>
              <a:pathLst>
                <a:path h="1123580" w="992096">
                  <a:moveTo>
                    <a:pt x="0" y="0"/>
                  </a:moveTo>
                  <a:lnTo>
                    <a:pt x="992096" y="0"/>
                  </a:lnTo>
                  <a:lnTo>
                    <a:pt x="992096" y="1123580"/>
                  </a:lnTo>
                  <a:lnTo>
                    <a:pt x="0" y="112358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992096" cy="1095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60567" y="3101222"/>
            <a:ext cx="3086100" cy="892523"/>
            <a:chOff x="0" y="0"/>
            <a:chExt cx="812800" cy="2350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235068"/>
            </a:xfrm>
            <a:custGeom>
              <a:avLst/>
              <a:gdLst/>
              <a:ahLst/>
              <a:cxnLst/>
              <a:rect r="r" b="b" t="t" l="l"/>
              <a:pathLst>
                <a:path h="23506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35068"/>
                  </a:lnTo>
                  <a:lnTo>
                    <a:pt x="0" y="235068"/>
                  </a:ln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812800" cy="206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46608" y="3547484"/>
            <a:ext cx="3766865" cy="4266093"/>
            <a:chOff x="0" y="0"/>
            <a:chExt cx="992096" cy="11235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2096" cy="1123580"/>
            </a:xfrm>
            <a:custGeom>
              <a:avLst/>
              <a:gdLst/>
              <a:ahLst/>
              <a:cxnLst/>
              <a:rect r="r" b="b" t="t" l="l"/>
              <a:pathLst>
                <a:path h="1123580" w="992096">
                  <a:moveTo>
                    <a:pt x="0" y="0"/>
                  </a:moveTo>
                  <a:lnTo>
                    <a:pt x="992096" y="0"/>
                  </a:lnTo>
                  <a:lnTo>
                    <a:pt x="992096" y="1123580"/>
                  </a:lnTo>
                  <a:lnTo>
                    <a:pt x="0" y="112358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92096" cy="1095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46608" y="3101222"/>
            <a:ext cx="3086100" cy="892523"/>
            <a:chOff x="0" y="0"/>
            <a:chExt cx="812800" cy="2350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235068"/>
            </a:xfrm>
            <a:custGeom>
              <a:avLst/>
              <a:gdLst/>
              <a:ahLst/>
              <a:cxnLst/>
              <a:rect r="r" b="b" t="t" l="l"/>
              <a:pathLst>
                <a:path h="23506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35068"/>
                  </a:lnTo>
                  <a:lnTo>
                    <a:pt x="0" y="235068"/>
                  </a:ln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812800" cy="206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4495869" y="8509470"/>
            <a:ext cx="9385925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4216034" y="8369553"/>
            <a:ext cx="279835" cy="27983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04083" y="8369553"/>
            <a:ext cx="279835" cy="27983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90123" y="8369553"/>
            <a:ext cx="279835" cy="27983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3965102" y="4293265"/>
            <a:ext cx="781700" cy="850235"/>
          </a:xfrm>
          <a:custGeom>
            <a:avLst/>
            <a:gdLst/>
            <a:ahLst/>
            <a:cxnLst/>
            <a:rect r="r" b="b" t="t" l="l"/>
            <a:pathLst>
              <a:path h="850235" w="781700">
                <a:moveTo>
                  <a:pt x="0" y="0"/>
                </a:moveTo>
                <a:lnTo>
                  <a:pt x="781699" y="0"/>
                </a:lnTo>
                <a:lnTo>
                  <a:pt x="781699" y="850235"/>
                </a:lnTo>
                <a:lnTo>
                  <a:pt x="0" y="850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718882" y="4293265"/>
            <a:ext cx="850235" cy="850235"/>
          </a:xfrm>
          <a:custGeom>
            <a:avLst/>
            <a:gdLst/>
            <a:ahLst/>
            <a:cxnLst/>
            <a:rect r="r" b="b" t="t" l="l"/>
            <a:pathLst>
              <a:path h="850235" w="850235">
                <a:moveTo>
                  <a:pt x="0" y="0"/>
                </a:moveTo>
                <a:lnTo>
                  <a:pt x="850236" y="0"/>
                </a:lnTo>
                <a:lnTo>
                  <a:pt x="850236" y="850235"/>
                </a:lnTo>
                <a:lnTo>
                  <a:pt x="0" y="850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529233" y="4293265"/>
            <a:ext cx="801614" cy="797241"/>
          </a:xfrm>
          <a:custGeom>
            <a:avLst/>
            <a:gdLst/>
            <a:ahLst/>
            <a:cxnLst/>
            <a:rect r="r" b="b" t="t" l="l"/>
            <a:pathLst>
              <a:path h="797241" w="801614">
                <a:moveTo>
                  <a:pt x="0" y="0"/>
                </a:moveTo>
                <a:lnTo>
                  <a:pt x="801614" y="0"/>
                </a:lnTo>
                <a:lnTo>
                  <a:pt x="801614" y="797241"/>
                </a:lnTo>
                <a:lnTo>
                  <a:pt x="0" y="797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405850" y="1433961"/>
            <a:ext cx="947630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Measuring Leadership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Impact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96734" y="3282689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adership KPIs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84783" y="3282689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Employee satisfaction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70823" y="3282689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Continuou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 improvement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88882" y="5485546"/>
            <a:ext cx="253414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Exploring various methods for tracking leadership effectiveness in organizations.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76930" y="5485546"/>
            <a:ext cx="253414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Measuring staff happiness and retention is crucial for understanding the overall health of an organization.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62970" y="5485546"/>
            <a:ext cx="253414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Utilizing data to monitor and enhance ongoing progress consistently.</a:t>
            </a:r>
          </a:p>
        </p:txBody>
      </p:sp>
      <p:sp>
        <p:nvSpPr>
          <p:cNvPr name="Freeform 40" id="40"/>
          <p:cNvSpPr/>
          <p:nvPr/>
        </p:nvSpPr>
        <p:spPr>
          <a:xfrm flipH="true" flipV="false" rot="0">
            <a:off x="15383003" y="0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2904997" y="0"/>
                </a:moveTo>
                <a:lnTo>
                  <a:pt x="0" y="0"/>
                </a:lnTo>
                <a:lnTo>
                  <a:pt x="0" y="1728925"/>
                </a:lnTo>
                <a:lnTo>
                  <a:pt x="2904997" y="1728925"/>
                </a:lnTo>
                <a:lnTo>
                  <a:pt x="290499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true" flipV="false" rot="0">
            <a:off x="0" y="8543543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2846243" y="0"/>
                </a:moveTo>
                <a:lnTo>
                  <a:pt x="0" y="0"/>
                </a:lnTo>
                <a:lnTo>
                  <a:pt x="0" y="1733620"/>
                </a:lnTo>
                <a:lnTo>
                  <a:pt x="2846243" y="1733620"/>
                </a:lnTo>
                <a:lnTo>
                  <a:pt x="284624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5856" y="3222247"/>
            <a:ext cx="3615584" cy="4084556"/>
            <a:chOff x="0" y="0"/>
            <a:chExt cx="952253" cy="10757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2253" cy="1075768"/>
            </a:xfrm>
            <a:custGeom>
              <a:avLst/>
              <a:gdLst/>
              <a:ahLst/>
              <a:cxnLst/>
              <a:rect r="r" b="b" t="t" l="l"/>
              <a:pathLst>
                <a:path h="1075768" w="952253">
                  <a:moveTo>
                    <a:pt x="32119" y="0"/>
                  </a:moveTo>
                  <a:lnTo>
                    <a:pt x="920134" y="0"/>
                  </a:lnTo>
                  <a:cubicBezTo>
                    <a:pt x="928652" y="0"/>
                    <a:pt x="936822" y="3384"/>
                    <a:pt x="942845" y="9407"/>
                  </a:cubicBezTo>
                  <a:cubicBezTo>
                    <a:pt x="948869" y="15431"/>
                    <a:pt x="952253" y="23600"/>
                    <a:pt x="952253" y="32119"/>
                  </a:cubicBezTo>
                  <a:lnTo>
                    <a:pt x="952253" y="1043649"/>
                  </a:lnTo>
                  <a:cubicBezTo>
                    <a:pt x="952253" y="1061388"/>
                    <a:pt x="937873" y="1075768"/>
                    <a:pt x="920134" y="1075768"/>
                  </a:cubicBezTo>
                  <a:lnTo>
                    <a:pt x="32119" y="1075768"/>
                  </a:lnTo>
                  <a:cubicBezTo>
                    <a:pt x="14380" y="1075768"/>
                    <a:pt x="0" y="1061388"/>
                    <a:pt x="0" y="1043649"/>
                  </a:cubicBezTo>
                  <a:lnTo>
                    <a:pt x="0" y="32119"/>
                  </a:lnTo>
                  <a:cubicBezTo>
                    <a:pt x="0" y="14380"/>
                    <a:pt x="14380" y="0"/>
                    <a:pt x="32119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952253" cy="104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44898" y="3600450"/>
            <a:ext cx="899344" cy="1046510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9933"/>
              <a:ext cx="698500" cy="752935"/>
            </a:xfrm>
            <a:custGeom>
              <a:avLst/>
              <a:gdLst/>
              <a:ahLst/>
              <a:cxnLst/>
              <a:rect r="r" b="b" t="t" l="l"/>
              <a:pathLst>
                <a:path h="752935" w="698500">
                  <a:moveTo>
                    <a:pt x="445165" y="25872"/>
                  </a:moveTo>
                  <a:lnTo>
                    <a:pt x="602585" y="117462"/>
                  </a:lnTo>
                  <a:cubicBezTo>
                    <a:pt x="661968" y="152012"/>
                    <a:pt x="698500" y="215532"/>
                    <a:pt x="698500" y="284235"/>
                  </a:cubicBezTo>
                  <a:lnTo>
                    <a:pt x="698500" y="468699"/>
                  </a:lnTo>
                  <a:cubicBezTo>
                    <a:pt x="698500" y="537402"/>
                    <a:pt x="661968" y="600922"/>
                    <a:pt x="602585" y="635472"/>
                  </a:cubicBezTo>
                  <a:lnTo>
                    <a:pt x="445165" y="727062"/>
                  </a:lnTo>
                  <a:cubicBezTo>
                    <a:pt x="385874" y="761558"/>
                    <a:pt x="312626" y="761558"/>
                    <a:pt x="253335" y="727062"/>
                  </a:cubicBezTo>
                  <a:lnTo>
                    <a:pt x="95915" y="635472"/>
                  </a:lnTo>
                  <a:cubicBezTo>
                    <a:pt x="36532" y="600922"/>
                    <a:pt x="0" y="537402"/>
                    <a:pt x="0" y="468699"/>
                  </a:cubicBezTo>
                  <a:lnTo>
                    <a:pt x="0" y="284235"/>
                  </a:lnTo>
                  <a:cubicBezTo>
                    <a:pt x="0" y="215532"/>
                    <a:pt x="36532" y="152012"/>
                    <a:pt x="95915" y="117462"/>
                  </a:cubicBezTo>
                  <a:lnTo>
                    <a:pt x="253335" y="25872"/>
                  </a:lnTo>
                  <a:cubicBezTo>
                    <a:pt x="312626" y="-8624"/>
                    <a:pt x="385874" y="-8624"/>
                    <a:pt x="445165" y="25872"/>
                  </a:cubicBez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68275"/>
              <a:ext cx="698500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0541" y="3222247"/>
            <a:ext cx="3615584" cy="4084556"/>
            <a:chOff x="0" y="0"/>
            <a:chExt cx="952253" cy="1075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253" cy="1075768"/>
            </a:xfrm>
            <a:custGeom>
              <a:avLst/>
              <a:gdLst/>
              <a:ahLst/>
              <a:cxnLst/>
              <a:rect r="r" b="b" t="t" l="l"/>
              <a:pathLst>
                <a:path h="1075768" w="952253">
                  <a:moveTo>
                    <a:pt x="32119" y="0"/>
                  </a:moveTo>
                  <a:lnTo>
                    <a:pt x="920134" y="0"/>
                  </a:lnTo>
                  <a:cubicBezTo>
                    <a:pt x="928652" y="0"/>
                    <a:pt x="936822" y="3384"/>
                    <a:pt x="942845" y="9407"/>
                  </a:cubicBezTo>
                  <a:cubicBezTo>
                    <a:pt x="948869" y="15431"/>
                    <a:pt x="952253" y="23600"/>
                    <a:pt x="952253" y="32119"/>
                  </a:cubicBezTo>
                  <a:lnTo>
                    <a:pt x="952253" y="1043649"/>
                  </a:lnTo>
                  <a:cubicBezTo>
                    <a:pt x="952253" y="1061388"/>
                    <a:pt x="937873" y="1075768"/>
                    <a:pt x="920134" y="1075768"/>
                  </a:cubicBezTo>
                  <a:lnTo>
                    <a:pt x="32119" y="1075768"/>
                  </a:lnTo>
                  <a:cubicBezTo>
                    <a:pt x="14380" y="1075768"/>
                    <a:pt x="0" y="1061388"/>
                    <a:pt x="0" y="1043649"/>
                  </a:cubicBezTo>
                  <a:lnTo>
                    <a:pt x="0" y="32119"/>
                  </a:lnTo>
                  <a:cubicBezTo>
                    <a:pt x="0" y="14380"/>
                    <a:pt x="14380" y="0"/>
                    <a:pt x="32119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952253" cy="104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809583" y="3600450"/>
            <a:ext cx="899344" cy="1046510"/>
            <a:chOff x="0" y="0"/>
            <a:chExt cx="6985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9933"/>
              <a:ext cx="698500" cy="752935"/>
            </a:xfrm>
            <a:custGeom>
              <a:avLst/>
              <a:gdLst/>
              <a:ahLst/>
              <a:cxnLst/>
              <a:rect r="r" b="b" t="t" l="l"/>
              <a:pathLst>
                <a:path h="752935" w="698500">
                  <a:moveTo>
                    <a:pt x="445165" y="25872"/>
                  </a:moveTo>
                  <a:lnTo>
                    <a:pt x="602585" y="117462"/>
                  </a:lnTo>
                  <a:cubicBezTo>
                    <a:pt x="661968" y="152012"/>
                    <a:pt x="698500" y="215532"/>
                    <a:pt x="698500" y="284235"/>
                  </a:cubicBezTo>
                  <a:lnTo>
                    <a:pt x="698500" y="468699"/>
                  </a:lnTo>
                  <a:cubicBezTo>
                    <a:pt x="698500" y="537402"/>
                    <a:pt x="661968" y="600922"/>
                    <a:pt x="602585" y="635472"/>
                  </a:cubicBezTo>
                  <a:lnTo>
                    <a:pt x="445165" y="727062"/>
                  </a:lnTo>
                  <a:cubicBezTo>
                    <a:pt x="385874" y="761558"/>
                    <a:pt x="312626" y="761558"/>
                    <a:pt x="253335" y="727062"/>
                  </a:cubicBezTo>
                  <a:lnTo>
                    <a:pt x="95915" y="635472"/>
                  </a:lnTo>
                  <a:cubicBezTo>
                    <a:pt x="36532" y="600922"/>
                    <a:pt x="0" y="537402"/>
                    <a:pt x="0" y="468699"/>
                  </a:cubicBezTo>
                  <a:lnTo>
                    <a:pt x="0" y="284235"/>
                  </a:lnTo>
                  <a:cubicBezTo>
                    <a:pt x="0" y="215532"/>
                    <a:pt x="36532" y="152012"/>
                    <a:pt x="95915" y="117462"/>
                  </a:cubicBezTo>
                  <a:lnTo>
                    <a:pt x="253335" y="25872"/>
                  </a:lnTo>
                  <a:cubicBezTo>
                    <a:pt x="312626" y="-8624"/>
                    <a:pt x="385874" y="-8624"/>
                    <a:pt x="445165" y="25872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68275"/>
              <a:ext cx="698500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18550" y="3222247"/>
            <a:ext cx="3615584" cy="4084556"/>
            <a:chOff x="0" y="0"/>
            <a:chExt cx="952253" cy="10757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2253" cy="1075768"/>
            </a:xfrm>
            <a:custGeom>
              <a:avLst/>
              <a:gdLst/>
              <a:ahLst/>
              <a:cxnLst/>
              <a:rect r="r" b="b" t="t" l="l"/>
              <a:pathLst>
                <a:path h="1075768" w="952253">
                  <a:moveTo>
                    <a:pt x="32119" y="0"/>
                  </a:moveTo>
                  <a:lnTo>
                    <a:pt x="920134" y="0"/>
                  </a:lnTo>
                  <a:cubicBezTo>
                    <a:pt x="928652" y="0"/>
                    <a:pt x="936822" y="3384"/>
                    <a:pt x="942845" y="9407"/>
                  </a:cubicBezTo>
                  <a:cubicBezTo>
                    <a:pt x="948869" y="15431"/>
                    <a:pt x="952253" y="23600"/>
                    <a:pt x="952253" y="32119"/>
                  </a:cubicBezTo>
                  <a:lnTo>
                    <a:pt x="952253" y="1043649"/>
                  </a:lnTo>
                  <a:cubicBezTo>
                    <a:pt x="952253" y="1061388"/>
                    <a:pt x="937873" y="1075768"/>
                    <a:pt x="920134" y="1075768"/>
                  </a:cubicBezTo>
                  <a:lnTo>
                    <a:pt x="32119" y="1075768"/>
                  </a:lnTo>
                  <a:cubicBezTo>
                    <a:pt x="14380" y="1075768"/>
                    <a:pt x="0" y="1061388"/>
                    <a:pt x="0" y="1043649"/>
                  </a:cubicBezTo>
                  <a:lnTo>
                    <a:pt x="0" y="32119"/>
                  </a:lnTo>
                  <a:cubicBezTo>
                    <a:pt x="0" y="14380"/>
                    <a:pt x="14380" y="0"/>
                    <a:pt x="32119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52253" cy="104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7592" y="3600450"/>
            <a:ext cx="899344" cy="1046510"/>
            <a:chOff x="0" y="0"/>
            <a:chExt cx="6985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29933"/>
              <a:ext cx="698500" cy="752935"/>
            </a:xfrm>
            <a:custGeom>
              <a:avLst/>
              <a:gdLst/>
              <a:ahLst/>
              <a:cxnLst/>
              <a:rect r="r" b="b" t="t" l="l"/>
              <a:pathLst>
                <a:path h="752935" w="698500">
                  <a:moveTo>
                    <a:pt x="445165" y="25872"/>
                  </a:moveTo>
                  <a:lnTo>
                    <a:pt x="602585" y="117462"/>
                  </a:lnTo>
                  <a:cubicBezTo>
                    <a:pt x="661968" y="152012"/>
                    <a:pt x="698500" y="215532"/>
                    <a:pt x="698500" y="284235"/>
                  </a:cubicBezTo>
                  <a:lnTo>
                    <a:pt x="698500" y="468699"/>
                  </a:lnTo>
                  <a:cubicBezTo>
                    <a:pt x="698500" y="537402"/>
                    <a:pt x="661968" y="600922"/>
                    <a:pt x="602585" y="635472"/>
                  </a:cubicBezTo>
                  <a:lnTo>
                    <a:pt x="445165" y="727062"/>
                  </a:lnTo>
                  <a:cubicBezTo>
                    <a:pt x="385874" y="761558"/>
                    <a:pt x="312626" y="761558"/>
                    <a:pt x="253335" y="727062"/>
                  </a:cubicBezTo>
                  <a:lnTo>
                    <a:pt x="95915" y="635472"/>
                  </a:lnTo>
                  <a:cubicBezTo>
                    <a:pt x="36532" y="600922"/>
                    <a:pt x="0" y="537402"/>
                    <a:pt x="0" y="468699"/>
                  </a:cubicBezTo>
                  <a:lnTo>
                    <a:pt x="0" y="284235"/>
                  </a:lnTo>
                  <a:cubicBezTo>
                    <a:pt x="0" y="215532"/>
                    <a:pt x="36532" y="152012"/>
                    <a:pt x="95915" y="117462"/>
                  </a:cubicBezTo>
                  <a:lnTo>
                    <a:pt x="253335" y="25872"/>
                  </a:lnTo>
                  <a:cubicBezTo>
                    <a:pt x="312626" y="-8624"/>
                    <a:pt x="385874" y="-8624"/>
                    <a:pt x="445165" y="25872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68275"/>
              <a:ext cx="698500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286560" y="3222247"/>
            <a:ext cx="3615584" cy="4084556"/>
            <a:chOff x="0" y="0"/>
            <a:chExt cx="952253" cy="10757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2253" cy="1075768"/>
            </a:xfrm>
            <a:custGeom>
              <a:avLst/>
              <a:gdLst/>
              <a:ahLst/>
              <a:cxnLst/>
              <a:rect r="r" b="b" t="t" l="l"/>
              <a:pathLst>
                <a:path h="1075768" w="952253">
                  <a:moveTo>
                    <a:pt x="32119" y="0"/>
                  </a:moveTo>
                  <a:lnTo>
                    <a:pt x="920134" y="0"/>
                  </a:lnTo>
                  <a:cubicBezTo>
                    <a:pt x="928652" y="0"/>
                    <a:pt x="936822" y="3384"/>
                    <a:pt x="942845" y="9407"/>
                  </a:cubicBezTo>
                  <a:cubicBezTo>
                    <a:pt x="948869" y="15431"/>
                    <a:pt x="952253" y="23600"/>
                    <a:pt x="952253" y="32119"/>
                  </a:cubicBezTo>
                  <a:lnTo>
                    <a:pt x="952253" y="1043649"/>
                  </a:lnTo>
                  <a:cubicBezTo>
                    <a:pt x="952253" y="1061388"/>
                    <a:pt x="937873" y="1075768"/>
                    <a:pt x="920134" y="1075768"/>
                  </a:cubicBezTo>
                  <a:lnTo>
                    <a:pt x="32119" y="1075768"/>
                  </a:lnTo>
                  <a:cubicBezTo>
                    <a:pt x="14380" y="1075768"/>
                    <a:pt x="0" y="1061388"/>
                    <a:pt x="0" y="1043649"/>
                  </a:cubicBezTo>
                  <a:lnTo>
                    <a:pt x="0" y="32119"/>
                  </a:lnTo>
                  <a:cubicBezTo>
                    <a:pt x="0" y="14380"/>
                    <a:pt x="14380" y="0"/>
                    <a:pt x="32119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952253" cy="1047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45601" y="3600450"/>
            <a:ext cx="899344" cy="1046510"/>
            <a:chOff x="0" y="0"/>
            <a:chExt cx="6985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29933"/>
              <a:ext cx="698500" cy="752935"/>
            </a:xfrm>
            <a:custGeom>
              <a:avLst/>
              <a:gdLst/>
              <a:ahLst/>
              <a:cxnLst/>
              <a:rect r="r" b="b" t="t" l="l"/>
              <a:pathLst>
                <a:path h="752935" w="698500">
                  <a:moveTo>
                    <a:pt x="445165" y="25872"/>
                  </a:moveTo>
                  <a:lnTo>
                    <a:pt x="602585" y="117462"/>
                  </a:lnTo>
                  <a:cubicBezTo>
                    <a:pt x="661968" y="152012"/>
                    <a:pt x="698500" y="215532"/>
                    <a:pt x="698500" y="284235"/>
                  </a:cubicBezTo>
                  <a:lnTo>
                    <a:pt x="698500" y="468699"/>
                  </a:lnTo>
                  <a:cubicBezTo>
                    <a:pt x="698500" y="537402"/>
                    <a:pt x="661968" y="600922"/>
                    <a:pt x="602585" y="635472"/>
                  </a:cubicBezTo>
                  <a:lnTo>
                    <a:pt x="445165" y="727062"/>
                  </a:lnTo>
                  <a:cubicBezTo>
                    <a:pt x="385874" y="761558"/>
                    <a:pt x="312626" y="761558"/>
                    <a:pt x="253335" y="727062"/>
                  </a:cubicBezTo>
                  <a:lnTo>
                    <a:pt x="95915" y="635472"/>
                  </a:lnTo>
                  <a:cubicBezTo>
                    <a:pt x="36532" y="600922"/>
                    <a:pt x="0" y="537402"/>
                    <a:pt x="0" y="468699"/>
                  </a:cubicBezTo>
                  <a:lnTo>
                    <a:pt x="0" y="284235"/>
                  </a:lnTo>
                  <a:cubicBezTo>
                    <a:pt x="0" y="215532"/>
                    <a:pt x="36532" y="152012"/>
                    <a:pt x="95915" y="117462"/>
                  </a:cubicBezTo>
                  <a:lnTo>
                    <a:pt x="253335" y="25872"/>
                  </a:lnTo>
                  <a:cubicBezTo>
                    <a:pt x="312626" y="-8624"/>
                    <a:pt x="385874" y="-8624"/>
                    <a:pt x="445165" y="25872"/>
                  </a:cubicBez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68275"/>
              <a:ext cx="698500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083798" y="3866530"/>
            <a:ext cx="421544" cy="514350"/>
          </a:xfrm>
          <a:custGeom>
            <a:avLst/>
            <a:gdLst/>
            <a:ahLst/>
            <a:cxnLst/>
            <a:rect r="r" b="b" t="t" l="l"/>
            <a:pathLst>
              <a:path h="514350" w="421544">
                <a:moveTo>
                  <a:pt x="0" y="0"/>
                </a:moveTo>
                <a:lnTo>
                  <a:pt x="421544" y="0"/>
                </a:lnTo>
                <a:lnTo>
                  <a:pt x="421544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972513" y="3848432"/>
            <a:ext cx="573484" cy="550545"/>
          </a:xfrm>
          <a:custGeom>
            <a:avLst/>
            <a:gdLst/>
            <a:ahLst/>
            <a:cxnLst/>
            <a:rect r="r" b="b" t="t" l="l"/>
            <a:pathLst>
              <a:path h="550545" w="573484">
                <a:moveTo>
                  <a:pt x="0" y="0"/>
                </a:moveTo>
                <a:lnTo>
                  <a:pt x="573484" y="0"/>
                </a:lnTo>
                <a:lnTo>
                  <a:pt x="573484" y="550545"/>
                </a:lnTo>
                <a:lnTo>
                  <a:pt x="0" y="5505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937675" y="3866530"/>
            <a:ext cx="579893" cy="532448"/>
          </a:xfrm>
          <a:custGeom>
            <a:avLst/>
            <a:gdLst/>
            <a:ahLst/>
            <a:cxnLst/>
            <a:rect r="r" b="b" t="t" l="l"/>
            <a:pathLst>
              <a:path h="532448" w="579893">
                <a:moveTo>
                  <a:pt x="0" y="0"/>
                </a:moveTo>
                <a:lnTo>
                  <a:pt x="579894" y="0"/>
                </a:lnTo>
                <a:lnTo>
                  <a:pt x="579894" y="532447"/>
                </a:lnTo>
                <a:lnTo>
                  <a:pt x="0" y="5324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910890" y="3880170"/>
            <a:ext cx="568766" cy="487070"/>
          </a:xfrm>
          <a:custGeom>
            <a:avLst/>
            <a:gdLst/>
            <a:ahLst/>
            <a:cxnLst/>
            <a:rect r="r" b="b" t="t" l="l"/>
            <a:pathLst>
              <a:path h="487070" w="568766">
                <a:moveTo>
                  <a:pt x="0" y="0"/>
                </a:moveTo>
                <a:lnTo>
                  <a:pt x="568766" y="0"/>
                </a:lnTo>
                <a:lnTo>
                  <a:pt x="568766" y="487070"/>
                </a:lnTo>
                <a:lnTo>
                  <a:pt x="0" y="487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586322" y="1433961"/>
            <a:ext cx="1111535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Leadership Training and Develop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63771" y="3858910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Skill enh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ancement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26579" y="5062994"/>
            <a:ext cx="253414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Offering comprehensive leadership training programs.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28456" y="3858910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Mentorship progr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ams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91264" y="5062994"/>
            <a:ext cx="253414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Guiding the leaders of tomorrow towards a brighter future.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96465" y="3858910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adership pipeline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59273" y="5062994"/>
            <a:ext cx="253414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Preparing future successors for their roles.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64474" y="3858910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Coaching 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culture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827282" y="5062994"/>
            <a:ext cx="253414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Encouraging and fostering a culture of coaching across various teams within the organization.</a:t>
            </a:r>
          </a:p>
        </p:txBody>
      </p:sp>
      <p:sp>
        <p:nvSpPr>
          <p:cNvPr name="Freeform 39" id="39"/>
          <p:cNvSpPr/>
          <p:nvPr/>
        </p:nvSpPr>
        <p:spPr>
          <a:xfrm flipH="true" flipV="true" rot="0">
            <a:off x="15383003" y="8558075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2904997" y="1728925"/>
                </a:moveTo>
                <a:lnTo>
                  <a:pt x="0" y="1728925"/>
                </a:lnTo>
                <a:lnTo>
                  <a:pt x="0" y="0"/>
                </a:lnTo>
                <a:lnTo>
                  <a:pt x="2904997" y="0"/>
                </a:lnTo>
                <a:lnTo>
                  <a:pt x="2904997" y="172892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true" flipV="true" rot="0">
            <a:off x="0" y="-4695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2846243" y="1733620"/>
                </a:moveTo>
                <a:lnTo>
                  <a:pt x="0" y="1733620"/>
                </a:lnTo>
                <a:lnTo>
                  <a:pt x="0" y="0"/>
                </a:lnTo>
                <a:lnTo>
                  <a:pt x="2846243" y="0"/>
                </a:lnTo>
                <a:lnTo>
                  <a:pt x="2846243" y="173362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16497" y="3496986"/>
            <a:ext cx="3086100" cy="3766865"/>
            <a:chOff x="0" y="0"/>
            <a:chExt cx="812800" cy="992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992096"/>
            </a:xfrm>
            <a:custGeom>
              <a:avLst/>
              <a:gdLst/>
              <a:ahLst/>
              <a:cxnLst/>
              <a:rect r="r" b="b" t="t" l="l"/>
              <a:pathLst>
                <a:path h="99209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92096"/>
                  </a:lnTo>
                  <a:lnTo>
                    <a:pt x="0" y="992096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812800" cy="963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3279226" y="7263852"/>
            <a:ext cx="560642" cy="490562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358775"/>
              <a:ext cx="558800" cy="30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58222" y="2895662"/>
            <a:ext cx="1202650" cy="12026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36853" y="3496986"/>
            <a:ext cx="3086100" cy="3766865"/>
            <a:chOff x="0" y="0"/>
            <a:chExt cx="812800" cy="992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992096"/>
            </a:xfrm>
            <a:custGeom>
              <a:avLst/>
              <a:gdLst/>
              <a:ahLst/>
              <a:cxnLst/>
              <a:rect r="r" b="b" t="t" l="l"/>
              <a:pathLst>
                <a:path h="99209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92096"/>
                  </a:lnTo>
                  <a:lnTo>
                    <a:pt x="0" y="992096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812800" cy="963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6999582" y="7263852"/>
            <a:ext cx="560642" cy="490562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358775"/>
              <a:ext cx="558800" cy="30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78579" y="2895662"/>
            <a:ext cx="1202650" cy="120265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61128" y="3496986"/>
            <a:ext cx="3086100" cy="3766865"/>
            <a:chOff x="0" y="0"/>
            <a:chExt cx="812800" cy="9920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992096"/>
            </a:xfrm>
            <a:custGeom>
              <a:avLst/>
              <a:gdLst/>
              <a:ahLst/>
              <a:cxnLst/>
              <a:rect r="r" b="b" t="t" l="l"/>
              <a:pathLst>
                <a:path h="99209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92096"/>
                  </a:lnTo>
                  <a:lnTo>
                    <a:pt x="0" y="992096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812800" cy="963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0723857" y="7263852"/>
            <a:ext cx="560642" cy="490562"/>
            <a:chOff x="0" y="0"/>
            <a:chExt cx="8128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358775"/>
              <a:ext cx="558800" cy="30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02854" y="2895662"/>
            <a:ext cx="1202650" cy="120265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185403" y="3496986"/>
            <a:ext cx="3086100" cy="3766865"/>
            <a:chOff x="0" y="0"/>
            <a:chExt cx="812800" cy="992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992096"/>
            </a:xfrm>
            <a:custGeom>
              <a:avLst/>
              <a:gdLst/>
              <a:ahLst/>
              <a:cxnLst/>
              <a:rect r="r" b="b" t="t" l="l"/>
              <a:pathLst>
                <a:path h="99209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92096"/>
                  </a:lnTo>
                  <a:lnTo>
                    <a:pt x="0" y="992096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812800" cy="963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0800000">
            <a:off x="14448132" y="7263852"/>
            <a:ext cx="560642" cy="490562"/>
            <a:chOff x="0" y="0"/>
            <a:chExt cx="8128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358775"/>
              <a:ext cx="558800" cy="30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127129" y="2895662"/>
            <a:ext cx="1202650" cy="120265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 flipV="true">
            <a:off x="3559547" y="8229635"/>
            <a:ext cx="11168907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3419629" y="8089718"/>
            <a:ext cx="279835" cy="279835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139986" y="8089718"/>
            <a:ext cx="279835" cy="279835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864261" y="8089718"/>
            <a:ext cx="279835" cy="279835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BA64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592146" y="8089718"/>
            <a:ext cx="279835" cy="279835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3241011" y="3255478"/>
            <a:ext cx="637072" cy="483016"/>
          </a:xfrm>
          <a:custGeom>
            <a:avLst/>
            <a:gdLst/>
            <a:ahLst/>
            <a:cxnLst/>
            <a:rect r="r" b="b" t="t" l="l"/>
            <a:pathLst>
              <a:path h="483016" w="637072">
                <a:moveTo>
                  <a:pt x="0" y="0"/>
                </a:moveTo>
                <a:lnTo>
                  <a:pt x="637071" y="0"/>
                </a:lnTo>
                <a:lnTo>
                  <a:pt x="637071" y="483016"/>
                </a:lnTo>
                <a:lnTo>
                  <a:pt x="0" y="483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7040342" y="3272439"/>
            <a:ext cx="479123" cy="466056"/>
          </a:xfrm>
          <a:custGeom>
            <a:avLst/>
            <a:gdLst/>
            <a:ahLst/>
            <a:cxnLst/>
            <a:rect r="r" b="b" t="t" l="l"/>
            <a:pathLst>
              <a:path h="466056" w="479123">
                <a:moveTo>
                  <a:pt x="0" y="0"/>
                </a:moveTo>
                <a:lnTo>
                  <a:pt x="479123" y="0"/>
                </a:lnTo>
                <a:lnTo>
                  <a:pt x="479123" y="466055"/>
                </a:lnTo>
                <a:lnTo>
                  <a:pt x="0" y="466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0680328" y="3272439"/>
            <a:ext cx="569661" cy="466056"/>
          </a:xfrm>
          <a:custGeom>
            <a:avLst/>
            <a:gdLst/>
            <a:ahLst/>
            <a:cxnLst/>
            <a:rect r="r" b="b" t="t" l="l"/>
            <a:pathLst>
              <a:path h="466056" w="569661">
                <a:moveTo>
                  <a:pt x="0" y="0"/>
                </a:moveTo>
                <a:lnTo>
                  <a:pt x="569662" y="0"/>
                </a:lnTo>
                <a:lnTo>
                  <a:pt x="569662" y="466055"/>
                </a:lnTo>
                <a:lnTo>
                  <a:pt x="0" y="4660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4496703" y="3272439"/>
            <a:ext cx="470721" cy="483016"/>
          </a:xfrm>
          <a:custGeom>
            <a:avLst/>
            <a:gdLst/>
            <a:ahLst/>
            <a:cxnLst/>
            <a:rect r="r" b="b" t="t" l="l"/>
            <a:pathLst>
              <a:path h="483016" w="470721">
                <a:moveTo>
                  <a:pt x="0" y="0"/>
                </a:moveTo>
                <a:lnTo>
                  <a:pt x="470721" y="0"/>
                </a:lnTo>
                <a:lnTo>
                  <a:pt x="470721" y="483016"/>
                </a:lnTo>
                <a:lnTo>
                  <a:pt x="0" y="4830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5701936" y="1433961"/>
            <a:ext cx="688412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Change Manage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ment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540712" y="4464034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ange readiness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292477" y="5114925"/>
            <a:ext cx="253414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Preparing teams effectively for change involves clear communication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138910" y="4464034"/>
            <a:ext cx="2285904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Communication during ch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014793" y="5114925"/>
            <a:ext cx="253414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Providing updates in a transparent and open manner.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85344" y="4464034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Support syst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ems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737109" y="5114925"/>
            <a:ext cx="253414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Offering all the necessary resources and support.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709619" y="4571050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Resist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ance management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461384" y="5221941"/>
            <a:ext cx="253414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Addressing resistance effectively involves understanding the underlying causes of pushback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5597" y="0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0" y="0"/>
                </a:moveTo>
                <a:lnTo>
                  <a:pt x="2904997" y="0"/>
                </a:lnTo>
                <a:lnTo>
                  <a:pt x="2904997" y="1728925"/>
                </a:lnTo>
                <a:lnTo>
                  <a:pt x="0" y="17289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5441757" y="8543543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0"/>
                </a:moveTo>
                <a:lnTo>
                  <a:pt x="2846243" y="0"/>
                </a:lnTo>
                <a:lnTo>
                  <a:pt x="2846243" y="1733620"/>
                </a:lnTo>
                <a:lnTo>
                  <a:pt x="0" y="1733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37699" y="2904563"/>
            <a:ext cx="4499282" cy="5405671"/>
          </a:xfrm>
          <a:custGeom>
            <a:avLst/>
            <a:gdLst/>
            <a:ahLst/>
            <a:cxnLst/>
            <a:rect r="r" b="b" t="t" l="l"/>
            <a:pathLst>
              <a:path h="5405671" w="4499282">
                <a:moveTo>
                  <a:pt x="0" y="0"/>
                </a:moveTo>
                <a:lnTo>
                  <a:pt x="4499282" y="0"/>
                </a:lnTo>
                <a:lnTo>
                  <a:pt x="4499282" y="5405671"/>
                </a:lnTo>
                <a:lnTo>
                  <a:pt x="0" y="5405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4359" y="2904563"/>
            <a:ext cx="4499282" cy="5405671"/>
          </a:xfrm>
          <a:custGeom>
            <a:avLst/>
            <a:gdLst/>
            <a:ahLst/>
            <a:cxnLst/>
            <a:rect r="r" b="b" t="t" l="l"/>
            <a:pathLst>
              <a:path h="5405671" w="4499282">
                <a:moveTo>
                  <a:pt x="0" y="0"/>
                </a:moveTo>
                <a:lnTo>
                  <a:pt x="4499282" y="0"/>
                </a:lnTo>
                <a:lnTo>
                  <a:pt x="4499282" y="5405671"/>
                </a:lnTo>
                <a:lnTo>
                  <a:pt x="0" y="54056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50841" y="2904563"/>
            <a:ext cx="4499282" cy="5405671"/>
          </a:xfrm>
          <a:custGeom>
            <a:avLst/>
            <a:gdLst/>
            <a:ahLst/>
            <a:cxnLst/>
            <a:rect r="r" b="b" t="t" l="l"/>
            <a:pathLst>
              <a:path h="5405671" w="4499282">
                <a:moveTo>
                  <a:pt x="0" y="0"/>
                </a:moveTo>
                <a:lnTo>
                  <a:pt x="4499282" y="0"/>
                </a:lnTo>
                <a:lnTo>
                  <a:pt x="4499282" y="5405671"/>
                </a:lnTo>
                <a:lnTo>
                  <a:pt x="0" y="54056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98764" y="3306790"/>
            <a:ext cx="664810" cy="610417"/>
          </a:xfrm>
          <a:custGeom>
            <a:avLst/>
            <a:gdLst/>
            <a:ahLst/>
            <a:cxnLst/>
            <a:rect r="r" b="b" t="t" l="l"/>
            <a:pathLst>
              <a:path h="610417" w="664810">
                <a:moveTo>
                  <a:pt x="0" y="0"/>
                </a:moveTo>
                <a:lnTo>
                  <a:pt x="664810" y="0"/>
                </a:lnTo>
                <a:lnTo>
                  <a:pt x="664810" y="610416"/>
                </a:lnTo>
                <a:lnTo>
                  <a:pt x="0" y="610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26660" y="3395350"/>
            <a:ext cx="722159" cy="433295"/>
          </a:xfrm>
          <a:custGeom>
            <a:avLst/>
            <a:gdLst/>
            <a:ahLst/>
            <a:cxnLst/>
            <a:rect r="r" b="b" t="t" l="l"/>
            <a:pathLst>
              <a:path h="433295" w="722159">
                <a:moveTo>
                  <a:pt x="0" y="0"/>
                </a:moveTo>
                <a:lnTo>
                  <a:pt x="722159" y="0"/>
                </a:lnTo>
                <a:lnTo>
                  <a:pt x="722159" y="433296"/>
                </a:lnTo>
                <a:lnTo>
                  <a:pt x="0" y="4332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12565" y="3395350"/>
            <a:ext cx="569966" cy="651728"/>
          </a:xfrm>
          <a:custGeom>
            <a:avLst/>
            <a:gdLst/>
            <a:ahLst/>
            <a:cxnLst/>
            <a:rect r="r" b="b" t="t" l="l"/>
            <a:pathLst>
              <a:path h="651728" w="569966">
                <a:moveTo>
                  <a:pt x="0" y="0"/>
                </a:moveTo>
                <a:lnTo>
                  <a:pt x="569966" y="0"/>
                </a:lnTo>
                <a:lnTo>
                  <a:pt x="569966" y="651729"/>
                </a:lnTo>
                <a:lnTo>
                  <a:pt x="0" y="6517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62471" y="1433961"/>
            <a:ext cx="816305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Leadership Visio</a:t>
            </a:r>
            <a:r>
              <a:rPr lang="en-US" sz="4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8379" y="4131216"/>
            <a:ext cx="2657922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Innov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ative leadership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1169" y="4995893"/>
            <a:ext cx="2912343" cy="249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Exploring and adopting new leadership approaches can significantly enhance organizational effectiveness and foster a more dynamic work environment.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14950" y="4264566"/>
            <a:ext cx="265792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Glob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 trends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87740" y="4995893"/>
            <a:ext cx="2912343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Incorporating a broad range of worldwide best practices is essential to ensure both efficiency and effectiveness in any operation. By examining and adapting strategies.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97548" y="4131216"/>
            <a:ext cx="30058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Sustained organiz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ational growth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44311" y="4995893"/>
            <a:ext cx="2912343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Ensuring long-term growth and adaptability requires not only strategic planning but also a commitment to continuous innovation. </a:t>
            </a:r>
          </a:p>
        </p:txBody>
      </p:sp>
      <p:sp>
        <p:nvSpPr>
          <p:cNvPr name="Freeform 15" id="15"/>
          <p:cNvSpPr/>
          <p:nvPr/>
        </p:nvSpPr>
        <p:spPr>
          <a:xfrm flipH="false" flipV="true" rot="0">
            <a:off x="5597" y="8558075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0" y="1728925"/>
                </a:moveTo>
                <a:lnTo>
                  <a:pt x="2904997" y="1728925"/>
                </a:lnTo>
                <a:lnTo>
                  <a:pt x="2904997" y="0"/>
                </a:lnTo>
                <a:lnTo>
                  <a:pt x="0" y="0"/>
                </a:lnTo>
                <a:lnTo>
                  <a:pt x="0" y="1728925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5441757" y="0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1733621"/>
                </a:moveTo>
                <a:lnTo>
                  <a:pt x="2846243" y="1733621"/>
                </a:lnTo>
                <a:lnTo>
                  <a:pt x="2846243" y="0"/>
                </a:lnTo>
                <a:lnTo>
                  <a:pt x="0" y="0"/>
                </a:lnTo>
                <a:lnTo>
                  <a:pt x="0" y="1733621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DAHZc2ulj9M</dc:identifier>
  <dcterms:modified xsi:type="dcterms:W3CDTF">2011-08-01T06:04:30Z</dcterms:modified>
  <cp:revision>1</cp:revision>
  <dc:title>Leadership and Management Roadmap Presentation</dc:title>
</cp:coreProperties>
</file>