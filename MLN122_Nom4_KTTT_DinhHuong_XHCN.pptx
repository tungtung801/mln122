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71" r:id="rId26"/>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DejaVu Sans Bold" charset="1" panose="020B0803030604020204"/>
      <p:regular r:id="rId21"/>
    </p:embeddedFont>
    <p:embeddedFont>
      <p:font typeface="DejaVu Sans Light" charset="1" panose="020B0603030804020204"/>
      <p:regular r:id="rId22"/>
    </p:embeddedFont>
    <p:embeddedFont>
      <p:font typeface="DejaVu Sans Bold Italics" charset="1" panose="020B08030303040B0204"/>
      <p:regular r:id="rId23"/>
    </p:embeddedFont>
    <p:embeddedFont>
      <p:font typeface="Calibri (MS) Bold" charset="1" panose="020F0702030404030204"/>
      <p:regular r:id="rId24"/>
    </p:embeddedFont>
    <p:embeddedFont>
      <p:font typeface="Calibri (MS)" charset="1" panose="020F0502020204030204"/>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font" Target="fonts/font25.fntdata"/><Relationship Id="rId26"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3.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5.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6.jpeg"/><Relationship Id="rId4" Type="http://schemas.openxmlformats.org/officeDocument/2006/relationships/image" Target="../media/image7.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8.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10.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1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12.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13.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B192E"/>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64592"/>
            <a:chOff x="0" y="0"/>
            <a:chExt cx="24383390" cy="219456"/>
          </a:xfrm>
        </p:grpSpPr>
        <p:sp>
          <p:nvSpPr>
            <p:cNvPr name="Freeform 3" id="3"/>
            <p:cNvSpPr/>
            <p:nvPr/>
          </p:nvSpPr>
          <p:spPr>
            <a:xfrm flipH="false" flipV="false" rot="0">
              <a:off x="0" y="0"/>
              <a:ext cx="24383364" cy="219456"/>
            </a:xfrm>
            <a:custGeom>
              <a:avLst/>
              <a:gdLst/>
              <a:ahLst/>
              <a:cxnLst/>
              <a:rect r="r" b="b" t="t" l="l"/>
              <a:pathLst>
                <a:path h="219456" w="24383364">
                  <a:moveTo>
                    <a:pt x="0" y="0"/>
                  </a:moveTo>
                  <a:lnTo>
                    <a:pt x="24383364" y="0"/>
                  </a:lnTo>
                  <a:lnTo>
                    <a:pt x="24383364" y="219456"/>
                  </a:lnTo>
                  <a:lnTo>
                    <a:pt x="0" y="219456"/>
                  </a:lnTo>
                  <a:close/>
                </a:path>
              </a:pathLst>
            </a:custGeom>
            <a:solidFill>
              <a:srgbClr val="F59E0B"/>
            </a:solidFill>
          </p:spPr>
          <p:txBody>
            <a:bodyPr/>
            <a:p/>
          </p:txBody>
        </p:sp>
      </p:grpSp>
      <p:grpSp>
        <p:nvGrpSpPr>
          <p:cNvPr name="Group 4" id="4"/>
          <p:cNvGrpSpPr/>
          <p:nvPr/>
        </p:nvGrpSpPr>
        <p:grpSpPr>
          <a:xfrm rot="0">
            <a:off x="754380" y="795528"/>
            <a:ext cx="8023860" cy="548640"/>
            <a:chOff x="0" y="0"/>
            <a:chExt cx="10698480" cy="731520"/>
          </a:xfrm>
        </p:grpSpPr>
        <p:sp>
          <p:nvSpPr>
            <p:cNvPr name="Freeform 5" id="5"/>
            <p:cNvSpPr/>
            <p:nvPr/>
          </p:nvSpPr>
          <p:spPr>
            <a:xfrm flipH="false" flipV="false" rot="0">
              <a:off x="0" y="0"/>
              <a:ext cx="10698480" cy="731520"/>
            </a:xfrm>
            <a:custGeom>
              <a:avLst/>
              <a:gdLst/>
              <a:ahLst/>
              <a:cxnLst/>
              <a:rect r="r" b="b" t="t" l="l"/>
              <a:pathLst>
                <a:path h="731520" w="10698480">
                  <a:moveTo>
                    <a:pt x="0" y="29210"/>
                  </a:moveTo>
                  <a:cubicBezTo>
                    <a:pt x="0" y="13081"/>
                    <a:pt x="13081" y="0"/>
                    <a:pt x="29210" y="0"/>
                  </a:cubicBezTo>
                  <a:lnTo>
                    <a:pt x="10669270" y="0"/>
                  </a:lnTo>
                  <a:cubicBezTo>
                    <a:pt x="10685399" y="0"/>
                    <a:pt x="10698480" y="13081"/>
                    <a:pt x="10698480" y="29210"/>
                  </a:cubicBezTo>
                  <a:lnTo>
                    <a:pt x="10698480" y="702310"/>
                  </a:lnTo>
                  <a:cubicBezTo>
                    <a:pt x="10698480" y="718439"/>
                    <a:pt x="10685399" y="731520"/>
                    <a:pt x="10669270" y="731520"/>
                  </a:cubicBezTo>
                  <a:lnTo>
                    <a:pt x="29210" y="731520"/>
                  </a:lnTo>
                  <a:cubicBezTo>
                    <a:pt x="13081" y="731520"/>
                    <a:pt x="0" y="718439"/>
                    <a:pt x="0" y="702310"/>
                  </a:cubicBezTo>
                  <a:close/>
                </a:path>
              </a:pathLst>
            </a:custGeom>
            <a:solidFill>
              <a:srgbClr val="0F766E"/>
            </a:solidFill>
          </p:spPr>
          <p:txBody>
            <a:bodyPr/>
            <a:p/>
          </p:txBody>
        </p:sp>
      </p:grpSp>
      <p:grpSp>
        <p:nvGrpSpPr>
          <p:cNvPr name="Group 6" id="6"/>
          <p:cNvGrpSpPr/>
          <p:nvPr/>
        </p:nvGrpSpPr>
        <p:grpSpPr>
          <a:xfrm rot="0">
            <a:off x="891540" y="795528"/>
            <a:ext cx="7749540" cy="548640"/>
            <a:chOff x="0" y="0"/>
            <a:chExt cx="10332720" cy="731520"/>
          </a:xfrm>
        </p:grpSpPr>
        <p:sp>
          <p:nvSpPr>
            <p:cNvPr name="Freeform 7" id="7"/>
            <p:cNvSpPr/>
            <p:nvPr/>
          </p:nvSpPr>
          <p:spPr>
            <a:xfrm flipH="false" flipV="false" rot="0">
              <a:off x="0" y="0"/>
              <a:ext cx="10332720" cy="731520"/>
            </a:xfrm>
            <a:custGeom>
              <a:avLst/>
              <a:gdLst/>
              <a:ahLst/>
              <a:cxnLst/>
              <a:rect r="r" b="b" t="t" l="l"/>
              <a:pathLst>
                <a:path h="731520" w="10332720">
                  <a:moveTo>
                    <a:pt x="0" y="0"/>
                  </a:moveTo>
                  <a:lnTo>
                    <a:pt x="10332720" y="0"/>
                  </a:lnTo>
                  <a:lnTo>
                    <a:pt x="10332720" y="731520"/>
                  </a:lnTo>
                  <a:lnTo>
                    <a:pt x="0" y="731520"/>
                  </a:lnTo>
                  <a:close/>
                </a:path>
              </a:pathLst>
            </a:custGeom>
            <a:blipFill>
              <a:blip r:embed="rId2">
                <a:alphaModFix amt="0"/>
              </a:blip>
              <a:stretch>
                <a:fillRect l="0" t="-225226" r="0" b="-225226"/>
              </a:stretch>
            </a:blipFill>
          </p:spPr>
          <p:txBody>
            <a:bodyPr/>
            <a:p/>
          </p:txBody>
        </p:sp>
        <p:sp>
          <p:nvSpPr>
            <p:cNvPr name="TextBox 8" id="8"/>
            <p:cNvSpPr txBox="true"/>
            <p:nvPr/>
          </p:nvSpPr>
          <p:spPr>
            <a:xfrm>
              <a:off x="0" y="-19050"/>
              <a:ext cx="10332720" cy="750570"/>
            </a:xfrm>
            <a:prstGeom prst="rect">
              <a:avLst/>
            </a:prstGeom>
          </p:spPr>
          <p:txBody>
            <a:bodyPr anchor="ctr" rtlCol="false" tIns="0" lIns="0" bIns="0" rIns="0"/>
            <a:lstStyle/>
            <a:p>
              <a:pPr algn="l">
                <a:lnSpc>
                  <a:spcPts val="2015"/>
                </a:lnSpc>
              </a:pPr>
              <a:r>
                <a:rPr lang="en-US" sz="1679" b="true">
                  <a:solidFill>
                    <a:srgbClr val="FFFFFF"/>
                  </a:solidFill>
                  <a:latin typeface="DejaVu Sans Bold"/>
                  <a:ea typeface="DejaVu Sans Bold"/>
                  <a:cs typeface="DejaVu Sans Bold"/>
                  <a:sym typeface="DejaVu Sans Bold"/>
                </a:rPr>
                <a:t>KINH TẾ CHÍNH TRỊ MÁC – LÊNIN (MLN122)  •  MỤC 5.1 &amp; 5.2</a:t>
              </a:r>
            </a:p>
          </p:txBody>
        </p:sp>
      </p:grpSp>
      <p:sp>
        <p:nvSpPr>
          <p:cNvPr name="TextBox 9" id="9"/>
          <p:cNvSpPr txBox="true"/>
          <p:nvPr/>
        </p:nvSpPr>
        <p:spPr>
          <a:xfrm rot="0">
            <a:off x="809244" y="1690878"/>
            <a:ext cx="9011412" cy="3854958"/>
          </a:xfrm>
          <a:prstGeom prst="rect">
            <a:avLst/>
          </a:prstGeom>
        </p:spPr>
        <p:txBody>
          <a:bodyPr anchor="t" rtlCol="false" tIns="0" lIns="0" bIns="0" rIns="0">
            <a:spAutoFit/>
          </a:bodyPr>
          <a:lstStyle/>
          <a:p>
            <a:pPr algn="l">
              <a:lnSpc>
                <a:spcPts val="5400"/>
              </a:lnSpc>
            </a:pPr>
            <a:r>
              <a:rPr lang="en-US" sz="4500" b="true">
                <a:solidFill>
                  <a:srgbClr val="FFFFFF"/>
                </a:solidFill>
                <a:latin typeface="DejaVu Sans Bold"/>
                <a:ea typeface="DejaVu Sans Bold"/>
                <a:cs typeface="DejaVu Sans Bold"/>
                <a:sym typeface="DejaVu Sans Bold"/>
              </a:rPr>
              <a:t>KINH TẾ THỊ TRƯỜNG</a:t>
            </a:r>
          </a:p>
          <a:p>
            <a:pPr algn="l">
              <a:lnSpc>
                <a:spcPts val="5400"/>
              </a:lnSpc>
            </a:pPr>
            <a:r>
              <a:rPr lang="en-US" sz="4500" b="true">
                <a:solidFill>
                  <a:srgbClr val="F59E0B"/>
                </a:solidFill>
                <a:latin typeface="DejaVu Sans Bold"/>
                <a:ea typeface="DejaVu Sans Bold"/>
                <a:cs typeface="DejaVu Sans Bold"/>
                <a:sym typeface="DejaVu Sans Bold"/>
              </a:rPr>
              <a:t>ĐỊNH HƯỚNG XHCN &amp;</a:t>
            </a:r>
          </a:p>
          <a:p>
            <a:pPr algn="l">
              <a:lnSpc>
                <a:spcPts val="5400"/>
              </a:lnSpc>
            </a:pPr>
            <a:r>
              <a:rPr lang="en-US" sz="4500" b="true">
                <a:solidFill>
                  <a:srgbClr val="FFFFFF"/>
                </a:solidFill>
                <a:latin typeface="DejaVu Sans Bold"/>
                <a:ea typeface="DejaVu Sans Bold"/>
                <a:cs typeface="DejaVu Sans Bold"/>
                <a:sym typeface="DejaVu Sans Bold"/>
              </a:rPr>
              <a:t>BÀI TOÁN NHÀ Ở ĐÔ THỊ</a:t>
            </a:r>
          </a:p>
          <a:p>
            <a:pPr algn="l">
              <a:lnSpc>
                <a:spcPts val="3456"/>
              </a:lnSpc>
            </a:pPr>
            <a:r>
              <a:rPr lang="en-US" sz="2250">
                <a:solidFill>
                  <a:srgbClr val="E2E8F0"/>
                </a:solidFill>
                <a:latin typeface="DejaVu Sans Light"/>
                <a:ea typeface="DejaVu Sans Light"/>
                <a:cs typeface="DejaVu Sans Light"/>
                <a:sym typeface="DejaVu Sans Light"/>
              </a:rPr>
              <a:t>Giải quyết Tình huống CQ7: Bản chất mô hình Việt Nam, ranh giới can thiệp hợp pháp &amp; hệ công cụ kinh tế điều hòa lợi ích</a:t>
            </a:r>
          </a:p>
        </p:txBody>
      </p:sp>
      <p:grpSp>
        <p:nvGrpSpPr>
          <p:cNvPr name="Group 10" id="10"/>
          <p:cNvGrpSpPr/>
          <p:nvPr/>
        </p:nvGrpSpPr>
        <p:grpSpPr>
          <a:xfrm rot="0">
            <a:off x="740093" y="5993320"/>
            <a:ext cx="8875395" cy="2662047"/>
            <a:chOff x="0" y="0"/>
            <a:chExt cx="11833860" cy="3549396"/>
          </a:xfrm>
        </p:grpSpPr>
        <p:sp>
          <p:nvSpPr>
            <p:cNvPr name="Freeform 11" id="11"/>
            <p:cNvSpPr/>
            <p:nvPr/>
          </p:nvSpPr>
          <p:spPr>
            <a:xfrm flipH="false" flipV="false" rot="0">
              <a:off x="0" y="0"/>
              <a:ext cx="11833860" cy="3549396"/>
            </a:xfrm>
            <a:custGeom>
              <a:avLst/>
              <a:gdLst/>
              <a:ahLst/>
              <a:cxnLst/>
              <a:rect r="r" b="b" t="t" l="l"/>
              <a:pathLst>
                <a:path h="3549396" w="11833860">
                  <a:moveTo>
                    <a:pt x="0" y="141986"/>
                  </a:moveTo>
                  <a:cubicBezTo>
                    <a:pt x="0" y="63627"/>
                    <a:pt x="63627" y="0"/>
                    <a:pt x="141986" y="0"/>
                  </a:cubicBezTo>
                  <a:lnTo>
                    <a:pt x="11691874" y="0"/>
                  </a:lnTo>
                  <a:cubicBezTo>
                    <a:pt x="11770233" y="0"/>
                    <a:pt x="11833860" y="63627"/>
                    <a:pt x="11833860" y="141986"/>
                  </a:cubicBezTo>
                  <a:lnTo>
                    <a:pt x="11833860" y="3407410"/>
                  </a:lnTo>
                  <a:cubicBezTo>
                    <a:pt x="11833860" y="3485769"/>
                    <a:pt x="11770233" y="3549396"/>
                    <a:pt x="11691874" y="3549396"/>
                  </a:cubicBezTo>
                  <a:lnTo>
                    <a:pt x="141986" y="3549396"/>
                  </a:lnTo>
                  <a:cubicBezTo>
                    <a:pt x="63627" y="3549396"/>
                    <a:pt x="0" y="3485769"/>
                    <a:pt x="0" y="3407410"/>
                  </a:cubicBezTo>
                  <a:close/>
                </a:path>
              </a:pathLst>
            </a:custGeom>
            <a:solidFill>
              <a:srgbClr val="162E52"/>
            </a:solidFill>
            <a:ln w="28575" cap="sq">
              <a:solidFill>
                <a:srgbClr val="0F766E"/>
              </a:solidFill>
              <a:prstDash val="solid"/>
              <a:miter/>
            </a:ln>
          </p:spPr>
          <p:txBody>
            <a:bodyPr/>
            <a:p/>
          </p:txBody>
        </p:sp>
      </p:grpSp>
      <p:grpSp>
        <p:nvGrpSpPr>
          <p:cNvPr name="Group 12" id="12"/>
          <p:cNvGrpSpPr/>
          <p:nvPr/>
        </p:nvGrpSpPr>
        <p:grpSpPr>
          <a:xfrm rot="0">
            <a:off x="987552" y="6563620"/>
            <a:ext cx="8435340" cy="1548889"/>
            <a:chOff x="0" y="0"/>
            <a:chExt cx="11247120" cy="2065185"/>
          </a:xfrm>
        </p:grpSpPr>
        <p:sp>
          <p:nvSpPr>
            <p:cNvPr name="Freeform 13" id="13"/>
            <p:cNvSpPr/>
            <p:nvPr/>
          </p:nvSpPr>
          <p:spPr>
            <a:xfrm flipH="false" flipV="false" rot="0">
              <a:off x="0" y="0"/>
              <a:ext cx="11247120" cy="2065180"/>
            </a:xfrm>
            <a:custGeom>
              <a:avLst/>
              <a:gdLst/>
              <a:ahLst/>
              <a:cxnLst/>
              <a:rect r="r" b="b" t="t" l="l"/>
              <a:pathLst>
                <a:path h="2065180" w="11247120">
                  <a:moveTo>
                    <a:pt x="0" y="0"/>
                  </a:moveTo>
                  <a:lnTo>
                    <a:pt x="11247120" y="0"/>
                  </a:lnTo>
                  <a:lnTo>
                    <a:pt x="11247120" y="2065180"/>
                  </a:lnTo>
                  <a:lnTo>
                    <a:pt x="0" y="2065180"/>
                  </a:lnTo>
                  <a:close/>
                </a:path>
              </a:pathLst>
            </a:custGeom>
            <a:blipFill>
              <a:blip r:embed="rId2">
                <a:alphaModFix amt="0"/>
              </a:blip>
              <a:stretch>
                <a:fillRect l="0" t="-56116" r="0" b="-56117"/>
              </a:stretch>
            </a:blipFill>
          </p:spPr>
          <p:txBody>
            <a:bodyPr/>
            <a:p/>
          </p:txBody>
        </p:sp>
        <p:sp>
          <p:nvSpPr>
            <p:cNvPr name="TextBox 14" id="14"/>
            <p:cNvSpPr txBox="true"/>
            <p:nvPr/>
          </p:nvSpPr>
          <p:spPr>
            <a:xfrm>
              <a:off x="0" y="-9525"/>
              <a:ext cx="11247120" cy="2074710"/>
            </a:xfrm>
            <a:prstGeom prst="rect">
              <a:avLst/>
            </a:prstGeom>
          </p:spPr>
          <p:txBody>
            <a:bodyPr anchor="ctr" rtlCol="false" tIns="0" lIns="0" bIns="0" rIns="0"/>
            <a:lstStyle/>
            <a:p>
              <a:pPr algn="l">
                <a:lnSpc>
                  <a:spcPts val="2195"/>
                </a:lnSpc>
              </a:pPr>
              <a:r>
                <a:rPr lang="en-US" sz="1829" b="true">
                  <a:solidFill>
                    <a:srgbClr val="FFFFFF"/>
                  </a:solidFill>
                  <a:latin typeface="DejaVu Sans Bold"/>
                  <a:ea typeface="DejaVu Sans Bold"/>
                  <a:cs typeface="DejaVu Sans Bold"/>
                  <a:sym typeface="DejaVu Sans Bold"/>
                </a:rPr>
                <a:t>• Phạm vi lý luận: Mục 5.1 &amp; 5.2 (Giáo trình 2021, tr. 169–196)</a:t>
              </a:r>
            </a:p>
            <a:p>
              <a:pPr algn="l">
                <a:lnSpc>
                  <a:spcPts val="2547"/>
                </a:lnSpc>
              </a:pPr>
              <a:r>
                <a:rPr lang="en-US" sz="1739">
                  <a:solidFill>
                    <a:srgbClr val="CBD5E1"/>
                  </a:solidFill>
                  <a:latin typeface="DejaVu Sans Light"/>
                  <a:ea typeface="DejaVu Sans Light"/>
                  <a:cs typeface="DejaVu Sans Light"/>
                  <a:sym typeface="DejaVu Sans Light"/>
                </a:rPr>
                <a:t>• Cập nhật pháp lý mới nhất: Luật Nhà ở 2023 (Điều 83, 85), Nghị định 136/2026/NĐ-CP (07/4/2026) &amp; CV 5340/NHNN-CSTT (H2/2026)</a:t>
              </a:r>
            </a:p>
            <a:p>
              <a:pPr algn="l">
                <a:lnSpc>
                  <a:spcPts val="2124"/>
                </a:lnSpc>
              </a:pPr>
              <a:r>
                <a:rPr lang="en-US" sz="1770" b="true">
                  <a:solidFill>
                    <a:srgbClr val="F59E0B"/>
                  </a:solidFill>
                  <a:latin typeface="DejaVu Sans Bold"/>
                  <a:ea typeface="DejaVu Sans Bold"/>
                  <a:cs typeface="DejaVu Sans Bold"/>
                  <a:sym typeface="DejaVu Sans Bold"/>
                </a:rPr>
                <a:t>• Nhóm thực hiện: Nhóm 4</a:t>
              </a:r>
            </a:p>
          </p:txBody>
        </p:sp>
      </p:grpSp>
      <p:grpSp>
        <p:nvGrpSpPr>
          <p:cNvPr name="Group 15" id="15"/>
          <p:cNvGrpSpPr/>
          <p:nvPr/>
        </p:nvGrpSpPr>
        <p:grpSpPr>
          <a:xfrm rot="0">
            <a:off x="10162984" y="836105"/>
            <a:ext cx="7352919" cy="8505063"/>
            <a:chOff x="0" y="0"/>
            <a:chExt cx="9803892" cy="11340084"/>
          </a:xfrm>
        </p:grpSpPr>
        <p:sp>
          <p:nvSpPr>
            <p:cNvPr name="Freeform 16" id="16"/>
            <p:cNvSpPr/>
            <p:nvPr/>
          </p:nvSpPr>
          <p:spPr>
            <a:xfrm flipH="false" flipV="false" rot="0">
              <a:off x="0" y="0"/>
              <a:ext cx="9803892" cy="11340084"/>
            </a:xfrm>
            <a:custGeom>
              <a:avLst/>
              <a:gdLst/>
              <a:ahLst/>
              <a:cxnLst/>
              <a:rect r="r" b="b" t="t" l="l"/>
              <a:pathLst>
                <a:path h="11340084" w="9803892">
                  <a:moveTo>
                    <a:pt x="0" y="392176"/>
                  </a:moveTo>
                  <a:cubicBezTo>
                    <a:pt x="0" y="175514"/>
                    <a:pt x="175514" y="0"/>
                    <a:pt x="392176" y="0"/>
                  </a:cubicBezTo>
                  <a:lnTo>
                    <a:pt x="9411716" y="0"/>
                  </a:lnTo>
                  <a:cubicBezTo>
                    <a:pt x="9628251" y="0"/>
                    <a:pt x="9803892" y="175514"/>
                    <a:pt x="9803892" y="392176"/>
                  </a:cubicBezTo>
                  <a:lnTo>
                    <a:pt x="9803892" y="10947908"/>
                  </a:lnTo>
                  <a:cubicBezTo>
                    <a:pt x="9803892" y="11164443"/>
                    <a:pt x="9628378" y="11340084"/>
                    <a:pt x="9411716" y="11340084"/>
                  </a:cubicBezTo>
                  <a:lnTo>
                    <a:pt x="392176" y="11340084"/>
                  </a:lnTo>
                  <a:cubicBezTo>
                    <a:pt x="175514" y="11340084"/>
                    <a:pt x="0" y="11164570"/>
                    <a:pt x="0" y="10947908"/>
                  </a:cubicBezTo>
                  <a:close/>
                </a:path>
              </a:pathLst>
            </a:custGeom>
            <a:solidFill>
              <a:srgbClr val="162E52"/>
            </a:solidFill>
            <a:ln w="28575" cap="sq">
              <a:solidFill>
                <a:srgbClr val="F59E0B"/>
              </a:solidFill>
              <a:prstDash val="solid"/>
              <a:miter/>
            </a:ln>
          </p:spPr>
          <p:txBody>
            <a:bodyPr/>
            <a:p/>
          </p:txBody>
        </p:sp>
      </p:grpSp>
      <p:grpSp>
        <p:nvGrpSpPr>
          <p:cNvPr name="Group 17" id="17"/>
          <p:cNvGrpSpPr/>
          <p:nvPr/>
        </p:nvGrpSpPr>
        <p:grpSpPr>
          <a:xfrm rot="0">
            <a:off x="10314432" y="987552"/>
            <a:ext cx="7050024" cy="7571232"/>
            <a:chOff x="0" y="0"/>
            <a:chExt cx="9400032" cy="10094976"/>
          </a:xfrm>
        </p:grpSpPr>
        <p:sp>
          <p:nvSpPr>
            <p:cNvPr name="Freeform 18" id="18" descr="image1.jpg"/>
            <p:cNvSpPr/>
            <p:nvPr/>
          </p:nvSpPr>
          <p:spPr>
            <a:xfrm flipH="false" flipV="false" rot="0">
              <a:off x="0" y="0"/>
              <a:ext cx="9400032" cy="10094976"/>
            </a:xfrm>
            <a:custGeom>
              <a:avLst/>
              <a:gdLst/>
              <a:ahLst/>
              <a:cxnLst/>
              <a:rect r="r" b="b" t="t" l="l"/>
              <a:pathLst>
                <a:path h="10094976" w="9400032">
                  <a:moveTo>
                    <a:pt x="0" y="0"/>
                  </a:moveTo>
                  <a:lnTo>
                    <a:pt x="9400032" y="0"/>
                  </a:lnTo>
                  <a:lnTo>
                    <a:pt x="9400032" y="10094976"/>
                  </a:lnTo>
                  <a:lnTo>
                    <a:pt x="0" y="10094976"/>
                  </a:lnTo>
                  <a:lnTo>
                    <a:pt x="0" y="0"/>
                  </a:lnTo>
                  <a:close/>
                </a:path>
              </a:pathLst>
            </a:custGeom>
            <a:blipFill>
              <a:blip r:embed="rId3"/>
              <a:stretch>
                <a:fillRect l="0" t="-105" r="0" b="-105"/>
              </a:stretch>
            </a:blipFill>
          </p:spPr>
          <p:txBody>
            <a:bodyPr/>
            <a:p/>
          </p:txBody>
        </p:sp>
      </p:grpSp>
      <p:grpSp>
        <p:nvGrpSpPr>
          <p:cNvPr name="Group 19" id="19"/>
          <p:cNvGrpSpPr/>
          <p:nvPr/>
        </p:nvGrpSpPr>
        <p:grpSpPr>
          <a:xfrm rot="0">
            <a:off x="10314432" y="8613648"/>
            <a:ext cx="7050024" cy="603504"/>
            <a:chOff x="0" y="0"/>
            <a:chExt cx="9400032" cy="804672"/>
          </a:xfrm>
        </p:grpSpPr>
        <p:sp>
          <p:nvSpPr>
            <p:cNvPr name="Freeform 20" id="20"/>
            <p:cNvSpPr/>
            <p:nvPr/>
          </p:nvSpPr>
          <p:spPr>
            <a:xfrm flipH="false" flipV="false" rot="0">
              <a:off x="0" y="0"/>
              <a:ext cx="9400032" cy="804672"/>
            </a:xfrm>
            <a:custGeom>
              <a:avLst/>
              <a:gdLst/>
              <a:ahLst/>
              <a:cxnLst/>
              <a:rect r="r" b="b" t="t" l="l"/>
              <a:pathLst>
                <a:path h="804672" w="9400032">
                  <a:moveTo>
                    <a:pt x="0" y="0"/>
                  </a:moveTo>
                  <a:lnTo>
                    <a:pt x="9400032" y="0"/>
                  </a:lnTo>
                  <a:lnTo>
                    <a:pt x="9400032" y="804672"/>
                  </a:lnTo>
                  <a:lnTo>
                    <a:pt x="0" y="804672"/>
                  </a:lnTo>
                  <a:close/>
                </a:path>
              </a:pathLst>
            </a:custGeom>
            <a:blipFill>
              <a:blip r:embed="rId2">
                <a:alphaModFix amt="0"/>
              </a:blip>
              <a:stretch>
                <a:fillRect l="0" t="-177620" r="0" b="-177620"/>
              </a:stretch>
            </a:blipFill>
          </p:spPr>
          <p:txBody>
            <a:bodyPr/>
            <a:p/>
          </p:txBody>
        </p:sp>
        <p:sp>
          <p:nvSpPr>
            <p:cNvPr name="TextBox 21" id="21"/>
            <p:cNvSpPr txBox="true"/>
            <p:nvPr/>
          </p:nvSpPr>
          <p:spPr>
            <a:xfrm>
              <a:off x="0" y="-9525"/>
              <a:ext cx="9400032" cy="814197"/>
            </a:xfrm>
            <a:prstGeom prst="rect">
              <a:avLst/>
            </a:prstGeom>
          </p:spPr>
          <p:txBody>
            <a:bodyPr anchor="ctr" rtlCol="false" tIns="0" lIns="0" bIns="0" rIns="0"/>
            <a:lstStyle/>
            <a:p>
              <a:pPr algn="ctr">
                <a:lnSpc>
                  <a:spcPts val="1709"/>
                </a:lnSpc>
              </a:pPr>
              <a:r>
                <a:rPr lang="en-US" sz="1425" b="true">
                  <a:solidFill>
                    <a:srgbClr val="E2E8F0"/>
                  </a:solidFill>
                  <a:latin typeface="DejaVu Sans Bold"/>
                  <a:ea typeface="DejaVu Sans Bold"/>
                  <a:cs typeface="DejaVu Sans Bold"/>
                  <a:sym typeface="DejaVu Sans Bold"/>
                </a:rPr>
                <a:t>Ảnh thật: Khu cao ốc ven sông Sài Gòn, TP.HCM | Nguồn: Wikimedia Commons (CC BY-SA 4.0)</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2438343" cy="137160"/>
            <a:chOff x="0" y="0"/>
            <a:chExt cx="3251124" cy="182880"/>
          </a:xfrm>
        </p:grpSpPr>
        <p:sp>
          <p:nvSpPr>
            <p:cNvPr name="Freeform 5" id="5"/>
            <p:cNvSpPr/>
            <p:nvPr/>
          </p:nvSpPr>
          <p:spPr>
            <a:xfrm flipH="false" flipV="false" rot="0">
              <a:off x="0" y="0"/>
              <a:ext cx="3251073" cy="182880"/>
            </a:xfrm>
            <a:custGeom>
              <a:avLst/>
              <a:gdLst/>
              <a:ahLst/>
              <a:cxnLst/>
              <a:rect r="r" b="b" t="t" l="l"/>
              <a:pathLst>
                <a:path h="182880" w="3251073">
                  <a:moveTo>
                    <a:pt x="0" y="0"/>
                  </a:moveTo>
                  <a:lnTo>
                    <a:pt x="3251073" y="0"/>
                  </a:lnTo>
                  <a:lnTo>
                    <a:pt x="3251073" y="182880"/>
                  </a:lnTo>
                  <a:lnTo>
                    <a:pt x="0" y="182880"/>
                  </a:lnTo>
                  <a:close/>
                </a:path>
              </a:pathLst>
            </a:custGeom>
            <a:solidFill>
              <a:srgbClr val="C25915"/>
            </a:solidFill>
          </p:spPr>
          <p:txBody>
            <a:bodyPr/>
            <a:p/>
          </p:txBody>
        </p:sp>
      </p:grpSp>
      <p:grpSp>
        <p:nvGrpSpPr>
          <p:cNvPr name="Group 6" id="6"/>
          <p:cNvGrpSpPr/>
          <p:nvPr/>
        </p:nvGrpSpPr>
        <p:grpSpPr>
          <a:xfrm rot="0">
            <a:off x="15704820" y="301752"/>
            <a:ext cx="1824228" cy="466344"/>
            <a:chOff x="0" y="0"/>
            <a:chExt cx="2432304" cy="621792"/>
          </a:xfrm>
        </p:grpSpPr>
        <p:sp>
          <p:nvSpPr>
            <p:cNvPr name="Freeform 7" id="7"/>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8" id="8"/>
          <p:cNvGrpSpPr/>
          <p:nvPr/>
        </p:nvGrpSpPr>
        <p:grpSpPr>
          <a:xfrm rot="0">
            <a:off x="15704820" y="301752"/>
            <a:ext cx="1824228" cy="466344"/>
            <a:chOff x="0" y="0"/>
            <a:chExt cx="2432304" cy="621792"/>
          </a:xfrm>
        </p:grpSpPr>
        <p:sp>
          <p:nvSpPr>
            <p:cNvPr name="Freeform 9" id="9"/>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0" id="10"/>
            <p:cNvSpPr txBox="true"/>
            <p:nvPr/>
          </p:nvSpPr>
          <p:spPr>
            <a:xfrm>
              <a:off x="0" y="-19050"/>
              <a:ext cx="2432304" cy="64084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Slide 2 / 16</a:t>
              </a:r>
            </a:p>
          </p:txBody>
        </p:sp>
      </p:grpSp>
      <p:grpSp>
        <p:nvGrpSpPr>
          <p:cNvPr name="Group 11" id="11"/>
          <p:cNvGrpSpPr/>
          <p:nvPr/>
        </p:nvGrpSpPr>
        <p:grpSpPr>
          <a:xfrm rot="0">
            <a:off x="754380" y="850392"/>
            <a:ext cx="16774668" cy="740664"/>
            <a:chOff x="0" y="0"/>
            <a:chExt cx="22366224" cy="987552"/>
          </a:xfrm>
        </p:grpSpPr>
        <p:sp>
          <p:nvSpPr>
            <p:cNvPr name="Freeform 12" id="12"/>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3" id="13"/>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Tình huống CQ7: Giấc mơ an cư người trẻ — Phép tính tĩnh 67 năm?</a:t>
              </a:r>
            </a:p>
          </p:txBody>
        </p:sp>
      </p:grpSp>
      <p:grpSp>
        <p:nvGrpSpPr>
          <p:cNvPr name="Group 14" id="14"/>
          <p:cNvGrpSpPr/>
          <p:nvPr/>
        </p:nvGrpSpPr>
        <p:grpSpPr>
          <a:xfrm rot="0">
            <a:off x="754380" y="1645920"/>
            <a:ext cx="16774668" cy="41148"/>
            <a:chOff x="0" y="0"/>
            <a:chExt cx="22366224" cy="54864"/>
          </a:xfrm>
        </p:grpSpPr>
        <p:sp>
          <p:nvSpPr>
            <p:cNvPr name="Freeform 15" id="15"/>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16" id="16"/>
          <p:cNvGrpSpPr/>
          <p:nvPr/>
        </p:nvGrpSpPr>
        <p:grpSpPr>
          <a:xfrm rot="0">
            <a:off x="-7144" y="9662636"/>
            <a:ext cx="18301830" cy="631507"/>
            <a:chOff x="0" y="0"/>
            <a:chExt cx="24402440" cy="842010"/>
          </a:xfrm>
        </p:grpSpPr>
        <p:sp>
          <p:nvSpPr>
            <p:cNvPr name="Freeform 17" id="17"/>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18" id="18"/>
          <p:cNvGrpSpPr/>
          <p:nvPr/>
        </p:nvGrpSpPr>
        <p:grpSpPr>
          <a:xfrm rot="0">
            <a:off x="754380" y="9710928"/>
            <a:ext cx="16774668" cy="493776"/>
            <a:chOff x="0" y="0"/>
            <a:chExt cx="22366224" cy="658368"/>
          </a:xfrm>
        </p:grpSpPr>
        <p:sp>
          <p:nvSpPr>
            <p:cNvPr name="Freeform 19" id="19"/>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0" id="20"/>
            <p:cNvSpPr txBox="true"/>
            <p:nvPr/>
          </p:nvSpPr>
          <p:spPr>
            <a:xfrm>
              <a:off x="0" y="-9525"/>
              <a:ext cx="22366224" cy="667893"/>
            </a:xfrm>
            <a:prstGeom prst="rect">
              <a:avLst/>
            </a:prstGeom>
          </p:spPr>
          <p:txBody>
            <a:bodyPr anchor="ctr" rtlCol="false" tIns="0" lIns="0" bIns="0" rIns="0"/>
            <a:lstStyle/>
            <a:p>
              <a:pPr algn="l">
                <a:lnSpc>
                  <a:spcPts val="2460"/>
                </a:lnSpc>
              </a:pPr>
              <a:r>
                <a:rPr lang="en-US" sz="2050" i="true">
                  <a:solidFill>
                    <a:srgbClr val="475569"/>
                  </a:solidFill>
                  <a:latin typeface="DejaVu Sans Bold Italics"/>
                  <a:ea typeface="DejaVu Sans Bold Italics"/>
                  <a:cs typeface="DejaVu Sans Bold Italics"/>
                  <a:sym typeface="DejaVu Sans Bold Italics"/>
                </a:rPr>
                <a:t>Nguồn: Cục Thống kê – Bộ Tài chính (BC 9T/2026); Bộ Xây dựng (Giá bình quân thị trường thứ cấp, BC Q2/2026).</a:t>
              </a:r>
            </a:p>
          </p:txBody>
        </p:sp>
      </p:grpSp>
      <p:grpSp>
        <p:nvGrpSpPr>
          <p:cNvPr name="Group 21" id="21"/>
          <p:cNvGrpSpPr/>
          <p:nvPr/>
        </p:nvGrpSpPr>
        <p:grpSpPr>
          <a:xfrm rot="0">
            <a:off x="579311" y="1985582"/>
            <a:ext cx="2948940" cy="1618488"/>
            <a:chOff x="0" y="0"/>
            <a:chExt cx="3931920" cy="2157984"/>
          </a:xfrm>
        </p:grpSpPr>
        <p:sp>
          <p:nvSpPr>
            <p:cNvPr name="Freeform 22" id="22"/>
            <p:cNvSpPr/>
            <p:nvPr/>
          </p:nvSpPr>
          <p:spPr>
            <a:xfrm flipH="false" flipV="false" rot="0">
              <a:off x="0" y="0"/>
              <a:ext cx="3931920" cy="2157984"/>
            </a:xfrm>
            <a:custGeom>
              <a:avLst/>
              <a:gdLst/>
              <a:ahLst/>
              <a:cxnLst/>
              <a:rect r="r" b="b" t="t" l="l"/>
              <a:pathLst>
                <a:path h="2157984" w="3931920">
                  <a:moveTo>
                    <a:pt x="0" y="86360"/>
                  </a:moveTo>
                  <a:cubicBezTo>
                    <a:pt x="0" y="38608"/>
                    <a:pt x="38608" y="0"/>
                    <a:pt x="86360" y="0"/>
                  </a:cubicBezTo>
                  <a:lnTo>
                    <a:pt x="3845560" y="0"/>
                  </a:lnTo>
                  <a:cubicBezTo>
                    <a:pt x="3893185" y="0"/>
                    <a:pt x="3931920" y="38608"/>
                    <a:pt x="3931920" y="86360"/>
                  </a:cubicBezTo>
                  <a:lnTo>
                    <a:pt x="3931920" y="2071624"/>
                  </a:lnTo>
                  <a:cubicBezTo>
                    <a:pt x="3931920" y="2119249"/>
                    <a:pt x="3893312" y="2157984"/>
                    <a:pt x="3845560" y="2157984"/>
                  </a:cubicBezTo>
                  <a:lnTo>
                    <a:pt x="86360" y="2157984"/>
                  </a:lnTo>
                  <a:cubicBezTo>
                    <a:pt x="38735" y="2157984"/>
                    <a:pt x="0" y="2119376"/>
                    <a:pt x="0" y="2071624"/>
                  </a:cubicBezTo>
                  <a:close/>
                </a:path>
              </a:pathLst>
            </a:custGeom>
            <a:solidFill>
              <a:srgbClr val="0F766E"/>
            </a:solidFill>
          </p:spPr>
          <p:txBody>
            <a:bodyPr/>
            <a:p/>
          </p:txBody>
        </p:sp>
      </p:grpSp>
      <p:grpSp>
        <p:nvGrpSpPr>
          <p:cNvPr name="Group 23" id="23"/>
          <p:cNvGrpSpPr/>
          <p:nvPr/>
        </p:nvGrpSpPr>
        <p:grpSpPr>
          <a:xfrm rot="0">
            <a:off x="579311" y="1985582"/>
            <a:ext cx="2948940" cy="1618488"/>
            <a:chOff x="0" y="0"/>
            <a:chExt cx="3931920" cy="2157984"/>
          </a:xfrm>
        </p:grpSpPr>
        <p:sp>
          <p:nvSpPr>
            <p:cNvPr name="Freeform 24" id="24"/>
            <p:cNvSpPr/>
            <p:nvPr/>
          </p:nvSpPr>
          <p:spPr>
            <a:xfrm flipH="false" flipV="false" rot="0">
              <a:off x="0" y="0"/>
              <a:ext cx="3931920" cy="2157984"/>
            </a:xfrm>
            <a:custGeom>
              <a:avLst/>
              <a:gdLst/>
              <a:ahLst/>
              <a:cxnLst/>
              <a:rect r="r" b="b" t="t" l="l"/>
              <a:pathLst>
                <a:path h="2157984" w="3931920">
                  <a:moveTo>
                    <a:pt x="0" y="0"/>
                  </a:moveTo>
                  <a:lnTo>
                    <a:pt x="3931920" y="0"/>
                  </a:lnTo>
                  <a:lnTo>
                    <a:pt x="3931920" y="2157984"/>
                  </a:lnTo>
                  <a:lnTo>
                    <a:pt x="0" y="2157984"/>
                  </a:lnTo>
                  <a:close/>
                </a:path>
              </a:pathLst>
            </a:custGeom>
            <a:blipFill>
              <a:blip r:embed="rId2">
                <a:alphaModFix amt="0"/>
              </a:blip>
              <a:stretch>
                <a:fillRect l="-20417" t="0" r="-20417" b="0"/>
              </a:stretch>
            </a:blipFill>
          </p:spPr>
          <p:txBody>
            <a:bodyPr/>
            <a:p/>
          </p:txBody>
        </p:sp>
        <p:sp>
          <p:nvSpPr>
            <p:cNvPr name="TextBox 25" id="25"/>
            <p:cNvSpPr txBox="true"/>
            <p:nvPr/>
          </p:nvSpPr>
          <p:spPr>
            <a:xfrm>
              <a:off x="0" y="-9525"/>
              <a:ext cx="3931920" cy="2167509"/>
            </a:xfrm>
            <a:prstGeom prst="rect">
              <a:avLst/>
            </a:prstGeom>
          </p:spPr>
          <p:txBody>
            <a:bodyPr anchor="ctr" rtlCol="false" tIns="0" lIns="0" bIns="0" rIns="0"/>
            <a:lstStyle/>
            <a:p>
              <a:pPr algn="ctr">
                <a:lnSpc>
                  <a:spcPts val="2790"/>
                </a:lnSpc>
              </a:pPr>
              <a:r>
                <a:rPr lang="en-US" sz="2325" b="true">
                  <a:solidFill>
                    <a:srgbClr val="FFFFFF"/>
                  </a:solidFill>
                  <a:latin typeface="DejaVu Sans Bold"/>
                  <a:ea typeface="DejaVu Sans Bold"/>
                  <a:cs typeface="DejaVu Sans Bold"/>
                  <a:sym typeface="DejaVu Sans Bold"/>
                </a:rPr>
                <a:t>10 – 15 tr</a:t>
              </a:r>
            </a:p>
          </p:txBody>
        </p:sp>
      </p:grpSp>
      <p:grpSp>
        <p:nvGrpSpPr>
          <p:cNvPr name="Group 26" id="26"/>
          <p:cNvGrpSpPr/>
          <p:nvPr/>
        </p:nvGrpSpPr>
        <p:grpSpPr>
          <a:xfrm rot="0">
            <a:off x="3682365" y="1975104"/>
            <a:ext cx="6851523" cy="1639443"/>
            <a:chOff x="0" y="0"/>
            <a:chExt cx="9135364" cy="2185924"/>
          </a:xfrm>
        </p:grpSpPr>
        <p:sp>
          <p:nvSpPr>
            <p:cNvPr name="Freeform 27" id="27"/>
            <p:cNvSpPr/>
            <p:nvPr/>
          </p:nvSpPr>
          <p:spPr>
            <a:xfrm flipH="false" flipV="false" rot="0">
              <a:off x="0" y="0"/>
              <a:ext cx="9135364" cy="2185924"/>
            </a:xfrm>
            <a:custGeom>
              <a:avLst/>
              <a:gdLst/>
              <a:ahLst/>
              <a:cxnLst/>
              <a:rect r="r" b="b" t="t" l="l"/>
              <a:pathLst>
                <a:path h="2185924" w="9135364">
                  <a:moveTo>
                    <a:pt x="0" y="87376"/>
                  </a:moveTo>
                  <a:cubicBezTo>
                    <a:pt x="0" y="39116"/>
                    <a:pt x="39116" y="0"/>
                    <a:pt x="87376" y="0"/>
                  </a:cubicBezTo>
                  <a:lnTo>
                    <a:pt x="9047988" y="0"/>
                  </a:lnTo>
                  <a:cubicBezTo>
                    <a:pt x="9096248" y="0"/>
                    <a:pt x="9135364" y="39116"/>
                    <a:pt x="9135364" y="87376"/>
                  </a:cubicBezTo>
                  <a:lnTo>
                    <a:pt x="9135364" y="2098548"/>
                  </a:lnTo>
                  <a:cubicBezTo>
                    <a:pt x="9135364" y="2146808"/>
                    <a:pt x="9096248" y="2185924"/>
                    <a:pt x="9047988" y="2185924"/>
                  </a:cubicBezTo>
                  <a:lnTo>
                    <a:pt x="87376" y="2185924"/>
                  </a:lnTo>
                  <a:cubicBezTo>
                    <a:pt x="39116" y="2185924"/>
                    <a:pt x="0" y="2146808"/>
                    <a:pt x="0" y="2098548"/>
                  </a:cubicBezTo>
                  <a:close/>
                </a:path>
              </a:pathLst>
            </a:custGeom>
            <a:solidFill>
              <a:srgbClr val="FFFFFF"/>
            </a:solidFill>
            <a:ln w="20955" cap="sq">
              <a:solidFill>
                <a:srgbClr val="CBD5E1"/>
              </a:solidFill>
              <a:prstDash val="solid"/>
              <a:miter/>
            </a:ln>
          </p:spPr>
          <p:txBody>
            <a:bodyPr/>
            <a:p/>
          </p:txBody>
        </p:sp>
      </p:grpSp>
      <p:grpSp>
        <p:nvGrpSpPr>
          <p:cNvPr name="Group 28" id="28"/>
          <p:cNvGrpSpPr/>
          <p:nvPr/>
        </p:nvGrpSpPr>
        <p:grpSpPr>
          <a:xfrm rot="0">
            <a:off x="3884867" y="2067878"/>
            <a:ext cx="6473952" cy="1453896"/>
            <a:chOff x="0" y="0"/>
            <a:chExt cx="8631936" cy="1938528"/>
          </a:xfrm>
        </p:grpSpPr>
        <p:sp>
          <p:nvSpPr>
            <p:cNvPr name="Freeform 29" id="29"/>
            <p:cNvSpPr/>
            <p:nvPr/>
          </p:nvSpPr>
          <p:spPr>
            <a:xfrm flipH="false" flipV="false" rot="0">
              <a:off x="0" y="0"/>
              <a:ext cx="8631936" cy="1938528"/>
            </a:xfrm>
            <a:custGeom>
              <a:avLst/>
              <a:gdLst/>
              <a:ahLst/>
              <a:cxnLst/>
              <a:rect r="r" b="b" t="t" l="l"/>
              <a:pathLst>
                <a:path h="1938528" w="8631936">
                  <a:moveTo>
                    <a:pt x="0" y="0"/>
                  </a:moveTo>
                  <a:lnTo>
                    <a:pt x="8631936" y="0"/>
                  </a:lnTo>
                  <a:lnTo>
                    <a:pt x="8631936" y="1938528"/>
                  </a:lnTo>
                  <a:lnTo>
                    <a:pt x="0" y="1938528"/>
                  </a:lnTo>
                  <a:close/>
                </a:path>
              </a:pathLst>
            </a:custGeom>
            <a:blipFill>
              <a:blip r:embed="rId2">
                <a:alphaModFix amt="0"/>
              </a:blip>
              <a:stretch>
                <a:fillRect l="0" t="-36763" r="0" b="-36763"/>
              </a:stretch>
            </a:blipFill>
          </p:spPr>
          <p:txBody>
            <a:bodyPr/>
            <a:p/>
          </p:txBody>
        </p:sp>
        <p:sp>
          <p:nvSpPr>
            <p:cNvPr name="TextBox 30" id="30"/>
            <p:cNvSpPr txBox="true"/>
            <p:nvPr/>
          </p:nvSpPr>
          <p:spPr>
            <a:xfrm>
              <a:off x="0" y="-19050"/>
              <a:ext cx="8631936" cy="1957578"/>
            </a:xfrm>
            <a:prstGeom prst="rect">
              <a:avLst/>
            </a:prstGeom>
          </p:spPr>
          <p:txBody>
            <a:bodyPr anchor="ctr" rtlCol="false" tIns="0" lIns="0" bIns="0" rIns="0"/>
            <a:lstStyle/>
            <a:p>
              <a:pPr algn="l">
                <a:lnSpc>
                  <a:spcPts val="2520"/>
                </a:lnSpc>
              </a:pPr>
              <a:r>
                <a:rPr lang="en-US" sz="2100" b="true">
                  <a:solidFill>
                    <a:srgbClr val="122645"/>
                  </a:solidFill>
                  <a:latin typeface="DejaVu Sans Bold"/>
                  <a:ea typeface="DejaVu Sans Bold"/>
                  <a:cs typeface="DejaVu Sans Bold"/>
                  <a:sym typeface="DejaVu Sans Bold"/>
                </a:rPr>
                <a:t>Thu nhập SV mới ra trường tại đô thị</a:t>
              </a:r>
            </a:p>
            <a:p>
              <a:pPr algn="l">
                <a:lnSpc>
                  <a:spcPts val="2520"/>
                </a:lnSpc>
              </a:pPr>
              <a:r>
                <a:rPr lang="en-US" sz="2100">
                  <a:solidFill>
                    <a:srgbClr val="1E293B"/>
                  </a:solidFill>
                  <a:latin typeface="DejaVu Sans Light"/>
                  <a:ea typeface="DejaVu Sans Light"/>
                  <a:cs typeface="DejaVu Sans Light"/>
                  <a:sym typeface="DejaVu Sans Light"/>
                </a:rPr>
                <a:t>Thu nhập BQ lao động cả nước 9T/2026 đạt 9,1 triệu/tháng (Cục Thống kê). Trừ tiền thuê trọ &amp; sinh hoạt, tích lũy ban đầu mỏng.</a:t>
              </a:r>
            </a:p>
          </p:txBody>
        </p:sp>
      </p:grpSp>
      <p:grpSp>
        <p:nvGrpSpPr>
          <p:cNvPr name="Group 31" id="31"/>
          <p:cNvGrpSpPr/>
          <p:nvPr/>
        </p:nvGrpSpPr>
        <p:grpSpPr>
          <a:xfrm rot="0">
            <a:off x="579311" y="4800600"/>
            <a:ext cx="2948940" cy="1618488"/>
            <a:chOff x="0" y="0"/>
            <a:chExt cx="3931920" cy="2157984"/>
          </a:xfrm>
        </p:grpSpPr>
        <p:sp>
          <p:nvSpPr>
            <p:cNvPr name="Freeform 32" id="32"/>
            <p:cNvSpPr/>
            <p:nvPr/>
          </p:nvSpPr>
          <p:spPr>
            <a:xfrm flipH="false" flipV="false" rot="0">
              <a:off x="0" y="0"/>
              <a:ext cx="3931920" cy="2157984"/>
            </a:xfrm>
            <a:custGeom>
              <a:avLst/>
              <a:gdLst/>
              <a:ahLst/>
              <a:cxnLst/>
              <a:rect r="r" b="b" t="t" l="l"/>
              <a:pathLst>
                <a:path h="2157984" w="3931920">
                  <a:moveTo>
                    <a:pt x="0" y="86360"/>
                  </a:moveTo>
                  <a:cubicBezTo>
                    <a:pt x="0" y="38608"/>
                    <a:pt x="38608" y="0"/>
                    <a:pt x="86360" y="0"/>
                  </a:cubicBezTo>
                  <a:lnTo>
                    <a:pt x="3845560" y="0"/>
                  </a:lnTo>
                  <a:cubicBezTo>
                    <a:pt x="3893185" y="0"/>
                    <a:pt x="3931920" y="38608"/>
                    <a:pt x="3931920" y="86360"/>
                  </a:cubicBezTo>
                  <a:lnTo>
                    <a:pt x="3931920" y="2071624"/>
                  </a:lnTo>
                  <a:cubicBezTo>
                    <a:pt x="3931920" y="2119249"/>
                    <a:pt x="3893312" y="2157984"/>
                    <a:pt x="3845560" y="2157984"/>
                  </a:cubicBezTo>
                  <a:lnTo>
                    <a:pt x="86360" y="2157984"/>
                  </a:lnTo>
                  <a:cubicBezTo>
                    <a:pt x="38735" y="2157984"/>
                    <a:pt x="0" y="2119376"/>
                    <a:pt x="0" y="2071624"/>
                  </a:cubicBezTo>
                  <a:close/>
                </a:path>
              </a:pathLst>
            </a:custGeom>
            <a:solidFill>
              <a:srgbClr val="B91C1C"/>
            </a:solidFill>
          </p:spPr>
          <p:txBody>
            <a:bodyPr/>
            <a:p/>
          </p:txBody>
        </p:sp>
      </p:grpSp>
      <p:grpSp>
        <p:nvGrpSpPr>
          <p:cNvPr name="Group 33" id="33"/>
          <p:cNvGrpSpPr/>
          <p:nvPr/>
        </p:nvGrpSpPr>
        <p:grpSpPr>
          <a:xfrm rot="0">
            <a:off x="579311" y="4800600"/>
            <a:ext cx="2948940" cy="1618488"/>
            <a:chOff x="0" y="0"/>
            <a:chExt cx="3931920" cy="2157984"/>
          </a:xfrm>
        </p:grpSpPr>
        <p:sp>
          <p:nvSpPr>
            <p:cNvPr name="Freeform 34" id="34"/>
            <p:cNvSpPr/>
            <p:nvPr/>
          </p:nvSpPr>
          <p:spPr>
            <a:xfrm flipH="false" flipV="false" rot="0">
              <a:off x="0" y="0"/>
              <a:ext cx="3931920" cy="2157984"/>
            </a:xfrm>
            <a:custGeom>
              <a:avLst/>
              <a:gdLst/>
              <a:ahLst/>
              <a:cxnLst/>
              <a:rect r="r" b="b" t="t" l="l"/>
              <a:pathLst>
                <a:path h="2157984" w="3931920">
                  <a:moveTo>
                    <a:pt x="0" y="0"/>
                  </a:moveTo>
                  <a:lnTo>
                    <a:pt x="3931920" y="0"/>
                  </a:lnTo>
                  <a:lnTo>
                    <a:pt x="3931920" y="2157984"/>
                  </a:lnTo>
                  <a:lnTo>
                    <a:pt x="0" y="2157984"/>
                  </a:lnTo>
                  <a:close/>
                </a:path>
              </a:pathLst>
            </a:custGeom>
            <a:blipFill>
              <a:blip r:embed="rId2">
                <a:alphaModFix amt="0"/>
              </a:blip>
              <a:stretch>
                <a:fillRect l="-20417" t="0" r="-20417" b="0"/>
              </a:stretch>
            </a:blipFill>
          </p:spPr>
          <p:txBody>
            <a:bodyPr/>
            <a:p/>
          </p:txBody>
        </p:sp>
        <p:sp>
          <p:nvSpPr>
            <p:cNvPr name="TextBox 35" id="35"/>
            <p:cNvSpPr txBox="true"/>
            <p:nvPr/>
          </p:nvSpPr>
          <p:spPr>
            <a:xfrm>
              <a:off x="0" y="-9525"/>
              <a:ext cx="3931920" cy="2167509"/>
            </a:xfrm>
            <a:prstGeom prst="rect">
              <a:avLst/>
            </a:prstGeom>
          </p:spPr>
          <p:txBody>
            <a:bodyPr anchor="ctr" rtlCol="false" tIns="0" lIns="0" bIns="0" rIns="0"/>
            <a:lstStyle/>
            <a:p>
              <a:pPr algn="ctr">
                <a:lnSpc>
                  <a:spcPts val="2790"/>
                </a:lnSpc>
              </a:pPr>
              <a:r>
                <a:rPr lang="en-US" sz="2325" b="true">
                  <a:solidFill>
                    <a:srgbClr val="FFFFFF"/>
                  </a:solidFill>
                  <a:latin typeface="DejaVu Sans Bold"/>
                  <a:ea typeface="DejaVu Sans Bold"/>
                  <a:cs typeface="DejaVu Sans Bold"/>
                  <a:sym typeface="DejaVu Sans Bold"/>
                </a:rPr>
                <a:t>108 – 123</a:t>
              </a:r>
            </a:p>
            <a:p>
              <a:pPr algn="ctr">
                <a:lnSpc>
                  <a:spcPts val="2790"/>
                </a:lnSpc>
              </a:pPr>
              <a:r>
                <a:rPr lang="en-US" sz="2325" b="true">
                  <a:solidFill>
                    <a:srgbClr val="FFFFFF"/>
                  </a:solidFill>
                  <a:latin typeface="DejaVu Sans Bold"/>
                  <a:ea typeface="DejaVu Sans Bold"/>
                  <a:cs typeface="DejaVu Sans Bold"/>
                  <a:sym typeface="DejaVu Sans Bold"/>
                </a:rPr>
                <a:t>tr/m²</a:t>
              </a:r>
            </a:p>
          </p:txBody>
        </p:sp>
      </p:grpSp>
      <p:grpSp>
        <p:nvGrpSpPr>
          <p:cNvPr name="Group 36" id="36"/>
          <p:cNvGrpSpPr/>
          <p:nvPr/>
        </p:nvGrpSpPr>
        <p:grpSpPr>
          <a:xfrm rot="0">
            <a:off x="3682365" y="4790123"/>
            <a:ext cx="6851523" cy="1639443"/>
            <a:chOff x="0" y="0"/>
            <a:chExt cx="9135364" cy="2185924"/>
          </a:xfrm>
        </p:grpSpPr>
        <p:sp>
          <p:nvSpPr>
            <p:cNvPr name="Freeform 37" id="37"/>
            <p:cNvSpPr/>
            <p:nvPr/>
          </p:nvSpPr>
          <p:spPr>
            <a:xfrm flipH="false" flipV="false" rot="0">
              <a:off x="0" y="0"/>
              <a:ext cx="9135364" cy="2185924"/>
            </a:xfrm>
            <a:custGeom>
              <a:avLst/>
              <a:gdLst/>
              <a:ahLst/>
              <a:cxnLst/>
              <a:rect r="r" b="b" t="t" l="l"/>
              <a:pathLst>
                <a:path h="2185924" w="9135364">
                  <a:moveTo>
                    <a:pt x="0" y="87376"/>
                  </a:moveTo>
                  <a:cubicBezTo>
                    <a:pt x="0" y="39116"/>
                    <a:pt x="39116" y="0"/>
                    <a:pt x="87376" y="0"/>
                  </a:cubicBezTo>
                  <a:lnTo>
                    <a:pt x="9047988" y="0"/>
                  </a:lnTo>
                  <a:cubicBezTo>
                    <a:pt x="9096248" y="0"/>
                    <a:pt x="9135364" y="39116"/>
                    <a:pt x="9135364" y="87376"/>
                  </a:cubicBezTo>
                  <a:lnTo>
                    <a:pt x="9135364" y="2098548"/>
                  </a:lnTo>
                  <a:cubicBezTo>
                    <a:pt x="9135364" y="2146808"/>
                    <a:pt x="9096248" y="2185924"/>
                    <a:pt x="9047988" y="2185924"/>
                  </a:cubicBezTo>
                  <a:lnTo>
                    <a:pt x="87376" y="2185924"/>
                  </a:lnTo>
                  <a:cubicBezTo>
                    <a:pt x="39116" y="2185924"/>
                    <a:pt x="0" y="2146808"/>
                    <a:pt x="0" y="2098548"/>
                  </a:cubicBezTo>
                  <a:close/>
                </a:path>
              </a:pathLst>
            </a:custGeom>
            <a:solidFill>
              <a:srgbClr val="FFFFFF"/>
            </a:solidFill>
            <a:ln w="20955" cap="sq">
              <a:solidFill>
                <a:srgbClr val="CBD5E1"/>
              </a:solidFill>
              <a:prstDash val="solid"/>
              <a:miter/>
            </a:ln>
          </p:spPr>
          <p:txBody>
            <a:bodyPr/>
            <a:p/>
          </p:txBody>
        </p:sp>
      </p:grpSp>
      <p:grpSp>
        <p:nvGrpSpPr>
          <p:cNvPr name="Group 38" id="38"/>
          <p:cNvGrpSpPr/>
          <p:nvPr/>
        </p:nvGrpSpPr>
        <p:grpSpPr>
          <a:xfrm rot="0">
            <a:off x="3884867" y="4882896"/>
            <a:ext cx="6473952" cy="1453896"/>
            <a:chOff x="0" y="0"/>
            <a:chExt cx="8631936" cy="1938528"/>
          </a:xfrm>
        </p:grpSpPr>
        <p:sp>
          <p:nvSpPr>
            <p:cNvPr name="Freeform 39" id="39"/>
            <p:cNvSpPr/>
            <p:nvPr/>
          </p:nvSpPr>
          <p:spPr>
            <a:xfrm flipH="false" flipV="false" rot="0">
              <a:off x="0" y="0"/>
              <a:ext cx="8631936" cy="1938528"/>
            </a:xfrm>
            <a:custGeom>
              <a:avLst/>
              <a:gdLst/>
              <a:ahLst/>
              <a:cxnLst/>
              <a:rect r="r" b="b" t="t" l="l"/>
              <a:pathLst>
                <a:path h="1938528" w="8631936">
                  <a:moveTo>
                    <a:pt x="0" y="0"/>
                  </a:moveTo>
                  <a:lnTo>
                    <a:pt x="8631936" y="0"/>
                  </a:lnTo>
                  <a:lnTo>
                    <a:pt x="8631936" y="1938528"/>
                  </a:lnTo>
                  <a:lnTo>
                    <a:pt x="0" y="1938528"/>
                  </a:lnTo>
                  <a:close/>
                </a:path>
              </a:pathLst>
            </a:custGeom>
            <a:blipFill>
              <a:blip r:embed="rId2">
                <a:alphaModFix amt="0"/>
              </a:blip>
              <a:stretch>
                <a:fillRect l="0" t="-36763" r="0" b="-36763"/>
              </a:stretch>
            </a:blipFill>
          </p:spPr>
          <p:txBody>
            <a:bodyPr/>
            <a:p/>
          </p:txBody>
        </p:sp>
        <p:sp>
          <p:nvSpPr>
            <p:cNvPr name="TextBox 40" id="40"/>
            <p:cNvSpPr txBox="true"/>
            <p:nvPr/>
          </p:nvSpPr>
          <p:spPr>
            <a:xfrm>
              <a:off x="0" y="-19050"/>
              <a:ext cx="8631936" cy="1957578"/>
            </a:xfrm>
            <a:prstGeom prst="rect">
              <a:avLst/>
            </a:prstGeom>
          </p:spPr>
          <p:txBody>
            <a:bodyPr anchor="ctr" rtlCol="false" tIns="0" lIns="0" bIns="0" rIns="0"/>
            <a:lstStyle/>
            <a:p>
              <a:pPr algn="l">
                <a:lnSpc>
                  <a:spcPts val="2520"/>
                </a:lnSpc>
              </a:pPr>
              <a:r>
                <a:rPr lang="en-US" sz="2100" b="true">
                  <a:solidFill>
                    <a:srgbClr val="122645"/>
                  </a:solidFill>
                  <a:latin typeface="DejaVu Sans Bold"/>
                  <a:ea typeface="DejaVu Sans Bold"/>
                  <a:cs typeface="DejaVu Sans Bold"/>
                  <a:sym typeface="DejaVu Sans Bold"/>
                </a:rPr>
                <a:t>Giá chung cư thứ cấp neo ở mức rất cao</a:t>
              </a:r>
            </a:p>
            <a:p>
              <a:pPr algn="l">
                <a:lnSpc>
                  <a:spcPts val="2520"/>
                </a:lnSpc>
              </a:pPr>
              <a:r>
                <a:rPr lang="en-US" sz="2100">
                  <a:solidFill>
                    <a:srgbClr val="1E293B"/>
                  </a:solidFill>
                  <a:latin typeface="DejaVu Sans Light"/>
                  <a:ea typeface="DejaVu Sans Light"/>
                  <a:cs typeface="DejaVu Sans Light"/>
                  <a:sym typeface="DejaVu Sans Light"/>
                </a:rPr>
                <a:t>Theo số liệu thị trường thứ cấp Q2/2026 (Bộ Xây dựng): bình quân TP.HCM ~108 tr/m², Hà Nội ~123 tr/m²; vượt xa sức mua người trẻ.</a:t>
              </a:r>
            </a:p>
          </p:txBody>
        </p:sp>
      </p:grpSp>
      <p:grpSp>
        <p:nvGrpSpPr>
          <p:cNvPr name="Group 41" id="41"/>
          <p:cNvGrpSpPr/>
          <p:nvPr/>
        </p:nvGrpSpPr>
        <p:grpSpPr>
          <a:xfrm rot="0">
            <a:off x="754380" y="7708392"/>
            <a:ext cx="2948940" cy="1618488"/>
            <a:chOff x="0" y="0"/>
            <a:chExt cx="3931920" cy="2157984"/>
          </a:xfrm>
        </p:grpSpPr>
        <p:sp>
          <p:nvSpPr>
            <p:cNvPr name="Freeform 42" id="42"/>
            <p:cNvSpPr/>
            <p:nvPr/>
          </p:nvSpPr>
          <p:spPr>
            <a:xfrm flipH="false" flipV="false" rot="0">
              <a:off x="0" y="0"/>
              <a:ext cx="3931920" cy="2157984"/>
            </a:xfrm>
            <a:custGeom>
              <a:avLst/>
              <a:gdLst/>
              <a:ahLst/>
              <a:cxnLst/>
              <a:rect r="r" b="b" t="t" l="l"/>
              <a:pathLst>
                <a:path h="2157984" w="3931920">
                  <a:moveTo>
                    <a:pt x="0" y="86360"/>
                  </a:moveTo>
                  <a:cubicBezTo>
                    <a:pt x="0" y="38608"/>
                    <a:pt x="38608" y="0"/>
                    <a:pt x="86360" y="0"/>
                  </a:cubicBezTo>
                  <a:lnTo>
                    <a:pt x="3845560" y="0"/>
                  </a:lnTo>
                  <a:cubicBezTo>
                    <a:pt x="3893185" y="0"/>
                    <a:pt x="3931920" y="38608"/>
                    <a:pt x="3931920" y="86360"/>
                  </a:cubicBezTo>
                  <a:lnTo>
                    <a:pt x="3931920" y="2071624"/>
                  </a:lnTo>
                  <a:cubicBezTo>
                    <a:pt x="3931920" y="2119249"/>
                    <a:pt x="3893312" y="2157984"/>
                    <a:pt x="3845560" y="2157984"/>
                  </a:cubicBezTo>
                  <a:lnTo>
                    <a:pt x="86360" y="2157984"/>
                  </a:lnTo>
                  <a:cubicBezTo>
                    <a:pt x="38735" y="2157984"/>
                    <a:pt x="0" y="2119376"/>
                    <a:pt x="0" y="2071624"/>
                  </a:cubicBezTo>
                  <a:close/>
                </a:path>
              </a:pathLst>
            </a:custGeom>
            <a:solidFill>
              <a:srgbClr val="122645"/>
            </a:solidFill>
          </p:spPr>
          <p:txBody>
            <a:bodyPr/>
            <a:p/>
          </p:txBody>
        </p:sp>
      </p:grpSp>
      <p:grpSp>
        <p:nvGrpSpPr>
          <p:cNvPr name="Group 43" id="43"/>
          <p:cNvGrpSpPr/>
          <p:nvPr/>
        </p:nvGrpSpPr>
        <p:grpSpPr>
          <a:xfrm rot="0">
            <a:off x="754380" y="7708392"/>
            <a:ext cx="2948940" cy="1618488"/>
            <a:chOff x="0" y="0"/>
            <a:chExt cx="3931920" cy="2157984"/>
          </a:xfrm>
        </p:grpSpPr>
        <p:sp>
          <p:nvSpPr>
            <p:cNvPr name="Freeform 44" id="44"/>
            <p:cNvSpPr/>
            <p:nvPr/>
          </p:nvSpPr>
          <p:spPr>
            <a:xfrm flipH="false" flipV="false" rot="0">
              <a:off x="0" y="0"/>
              <a:ext cx="3931920" cy="2157984"/>
            </a:xfrm>
            <a:custGeom>
              <a:avLst/>
              <a:gdLst/>
              <a:ahLst/>
              <a:cxnLst/>
              <a:rect r="r" b="b" t="t" l="l"/>
              <a:pathLst>
                <a:path h="2157984" w="3931920">
                  <a:moveTo>
                    <a:pt x="0" y="0"/>
                  </a:moveTo>
                  <a:lnTo>
                    <a:pt x="3931920" y="0"/>
                  </a:lnTo>
                  <a:lnTo>
                    <a:pt x="3931920" y="2157984"/>
                  </a:lnTo>
                  <a:lnTo>
                    <a:pt x="0" y="2157984"/>
                  </a:lnTo>
                  <a:close/>
                </a:path>
              </a:pathLst>
            </a:custGeom>
            <a:blipFill>
              <a:blip r:embed="rId2">
                <a:alphaModFix amt="0"/>
              </a:blip>
              <a:stretch>
                <a:fillRect l="-20417" t="0" r="-20417" b="0"/>
              </a:stretch>
            </a:blipFill>
          </p:spPr>
          <p:txBody>
            <a:bodyPr/>
            <a:p/>
          </p:txBody>
        </p:sp>
        <p:sp>
          <p:nvSpPr>
            <p:cNvPr name="TextBox 45" id="45"/>
            <p:cNvSpPr txBox="true"/>
            <p:nvPr/>
          </p:nvSpPr>
          <p:spPr>
            <a:xfrm>
              <a:off x="0" y="-9525"/>
              <a:ext cx="3931920" cy="2167509"/>
            </a:xfrm>
            <a:prstGeom prst="rect">
              <a:avLst/>
            </a:prstGeom>
          </p:spPr>
          <p:txBody>
            <a:bodyPr anchor="ctr" rtlCol="false" tIns="0" lIns="0" bIns="0" rIns="0"/>
            <a:lstStyle/>
            <a:p>
              <a:pPr algn="ctr">
                <a:lnSpc>
                  <a:spcPts val="2790"/>
                </a:lnSpc>
              </a:pPr>
              <a:r>
                <a:rPr lang="en-US" sz="2325" b="true">
                  <a:solidFill>
                    <a:srgbClr val="FFFFFF"/>
                  </a:solidFill>
                  <a:latin typeface="DejaVu Sans Bold"/>
                  <a:ea typeface="DejaVu Sans Bold"/>
                  <a:cs typeface="DejaVu Sans Bold"/>
                  <a:sym typeface="DejaVu Sans Bold"/>
                </a:rPr>
                <a:t>Lưỡng nan</a:t>
              </a:r>
            </a:p>
            <a:p>
              <a:pPr algn="ctr">
                <a:lnSpc>
                  <a:spcPts val="2790"/>
                </a:lnSpc>
              </a:pPr>
              <a:r>
                <a:rPr lang="en-US" sz="2325" b="true">
                  <a:solidFill>
                    <a:srgbClr val="FFFFFF"/>
                  </a:solidFill>
                  <a:latin typeface="DejaVu Sans Bold"/>
                  <a:ea typeface="DejaVu Sans Bold"/>
                  <a:cs typeface="DejaVu Sans Bold"/>
                  <a:sym typeface="DejaVu Sans Bold"/>
                </a:rPr>
                <a:t>Chính sách</a:t>
              </a:r>
            </a:p>
          </p:txBody>
        </p:sp>
      </p:grpSp>
      <p:grpSp>
        <p:nvGrpSpPr>
          <p:cNvPr name="Group 46" id="46"/>
          <p:cNvGrpSpPr/>
          <p:nvPr/>
        </p:nvGrpSpPr>
        <p:grpSpPr>
          <a:xfrm rot="0">
            <a:off x="3857434" y="7697914"/>
            <a:ext cx="6851523" cy="1639443"/>
            <a:chOff x="0" y="0"/>
            <a:chExt cx="9135364" cy="2185924"/>
          </a:xfrm>
        </p:grpSpPr>
        <p:sp>
          <p:nvSpPr>
            <p:cNvPr name="Freeform 47" id="47"/>
            <p:cNvSpPr/>
            <p:nvPr/>
          </p:nvSpPr>
          <p:spPr>
            <a:xfrm flipH="false" flipV="false" rot="0">
              <a:off x="0" y="0"/>
              <a:ext cx="9135364" cy="2185924"/>
            </a:xfrm>
            <a:custGeom>
              <a:avLst/>
              <a:gdLst/>
              <a:ahLst/>
              <a:cxnLst/>
              <a:rect r="r" b="b" t="t" l="l"/>
              <a:pathLst>
                <a:path h="2185924" w="9135364">
                  <a:moveTo>
                    <a:pt x="0" y="87376"/>
                  </a:moveTo>
                  <a:cubicBezTo>
                    <a:pt x="0" y="39116"/>
                    <a:pt x="39116" y="0"/>
                    <a:pt x="87376" y="0"/>
                  </a:cubicBezTo>
                  <a:lnTo>
                    <a:pt x="9047988" y="0"/>
                  </a:lnTo>
                  <a:cubicBezTo>
                    <a:pt x="9096248" y="0"/>
                    <a:pt x="9135364" y="39116"/>
                    <a:pt x="9135364" y="87376"/>
                  </a:cubicBezTo>
                  <a:lnTo>
                    <a:pt x="9135364" y="2098548"/>
                  </a:lnTo>
                  <a:cubicBezTo>
                    <a:pt x="9135364" y="2146808"/>
                    <a:pt x="9096248" y="2185924"/>
                    <a:pt x="9047988" y="2185924"/>
                  </a:cubicBezTo>
                  <a:lnTo>
                    <a:pt x="87376" y="2185924"/>
                  </a:lnTo>
                  <a:cubicBezTo>
                    <a:pt x="39116" y="2185924"/>
                    <a:pt x="0" y="2146808"/>
                    <a:pt x="0" y="2098548"/>
                  </a:cubicBezTo>
                  <a:close/>
                </a:path>
              </a:pathLst>
            </a:custGeom>
            <a:solidFill>
              <a:srgbClr val="FFFFFF"/>
            </a:solidFill>
            <a:ln w="20955" cap="sq">
              <a:solidFill>
                <a:srgbClr val="CBD5E1"/>
              </a:solidFill>
              <a:prstDash val="solid"/>
              <a:miter/>
            </a:ln>
          </p:spPr>
          <p:txBody>
            <a:bodyPr/>
            <a:p/>
          </p:txBody>
        </p:sp>
      </p:grpSp>
      <p:grpSp>
        <p:nvGrpSpPr>
          <p:cNvPr name="Group 48" id="48"/>
          <p:cNvGrpSpPr/>
          <p:nvPr/>
        </p:nvGrpSpPr>
        <p:grpSpPr>
          <a:xfrm rot="0">
            <a:off x="4059936" y="7790688"/>
            <a:ext cx="6473952" cy="1453896"/>
            <a:chOff x="0" y="0"/>
            <a:chExt cx="8631936" cy="1938528"/>
          </a:xfrm>
        </p:grpSpPr>
        <p:sp>
          <p:nvSpPr>
            <p:cNvPr name="Freeform 49" id="49"/>
            <p:cNvSpPr/>
            <p:nvPr/>
          </p:nvSpPr>
          <p:spPr>
            <a:xfrm flipH="false" flipV="false" rot="0">
              <a:off x="0" y="0"/>
              <a:ext cx="8631936" cy="1938528"/>
            </a:xfrm>
            <a:custGeom>
              <a:avLst/>
              <a:gdLst/>
              <a:ahLst/>
              <a:cxnLst/>
              <a:rect r="r" b="b" t="t" l="l"/>
              <a:pathLst>
                <a:path h="1938528" w="8631936">
                  <a:moveTo>
                    <a:pt x="0" y="0"/>
                  </a:moveTo>
                  <a:lnTo>
                    <a:pt x="8631936" y="0"/>
                  </a:lnTo>
                  <a:lnTo>
                    <a:pt x="8631936" y="1938528"/>
                  </a:lnTo>
                  <a:lnTo>
                    <a:pt x="0" y="1938528"/>
                  </a:lnTo>
                  <a:close/>
                </a:path>
              </a:pathLst>
            </a:custGeom>
            <a:blipFill>
              <a:blip r:embed="rId2">
                <a:alphaModFix amt="0"/>
              </a:blip>
              <a:stretch>
                <a:fillRect l="0" t="-36763" r="0" b="-36763"/>
              </a:stretch>
            </a:blipFill>
          </p:spPr>
          <p:txBody>
            <a:bodyPr/>
            <a:p/>
          </p:txBody>
        </p:sp>
        <p:sp>
          <p:nvSpPr>
            <p:cNvPr name="TextBox 50" id="50"/>
            <p:cNvSpPr txBox="true"/>
            <p:nvPr/>
          </p:nvSpPr>
          <p:spPr>
            <a:xfrm>
              <a:off x="0" y="-19050"/>
              <a:ext cx="8631936" cy="1957578"/>
            </a:xfrm>
            <a:prstGeom prst="rect">
              <a:avLst/>
            </a:prstGeom>
          </p:spPr>
          <p:txBody>
            <a:bodyPr anchor="ctr" rtlCol="false" tIns="0" lIns="0" bIns="0" rIns="0"/>
            <a:lstStyle/>
            <a:p>
              <a:pPr algn="l">
                <a:lnSpc>
                  <a:spcPts val="2520"/>
                </a:lnSpc>
              </a:pPr>
              <a:r>
                <a:rPr lang="en-US" sz="2100" b="true">
                  <a:solidFill>
                    <a:srgbClr val="122645"/>
                  </a:solidFill>
                  <a:latin typeface="DejaVu Sans Bold"/>
                  <a:ea typeface="DejaVu Sans Bold"/>
                  <a:cs typeface="DejaVu Sans Bold"/>
                  <a:sym typeface="DejaVu Sans Bold"/>
                </a:rPr>
                <a:t>Bài toán điều tiết của Nhà nước</a:t>
              </a:r>
            </a:p>
            <a:p>
              <a:pPr algn="l">
                <a:lnSpc>
                  <a:spcPts val="2520"/>
                </a:lnSpc>
              </a:pPr>
              <a:r>
                <a:rPr lang="en-US" sz="2100">
                  <a:solidFill>
                    <a:srgbClr val="1E293B"/>
                  </a:solidFill>
                  <a:latin typeface="DejaVu Sans Light"/>
                  <a:ea typeface="DejaVu Sans Light"/>
                  <a:cs typeface="DejaVu Sans Light"/>
                  <a:sym typeface="DejaVu Sans Light"/>
                </a:rPr>
                <a:t>Thiếu điều tiết thì vốn dồn vào phân khúc lãi cao; nhưng tùy tiện ép DN bán dưới chi phí lại vi phạm quy luật thị trường &amp; pháp luật!</a:t>
              </a:r>
            </a:p>
          </p:txBody>
        </p:sp>
      </p:grpSp>
      <p:grpSp>
        <p:nvGrpSpPr>
          <p:cNvPr name="Group 51" id="51"/>
          <p:cNvGrpSpPr/>
          <p:nvPr/>
        </p:nvGrpSpPr>
        <p:grpSpPr>
          <a:xfrm rot="0">
            <a:off x="11043666" y="1881378"/>
            <a:ext cx="6496812" cy="7511796"/>
            <a:chOff x="0" y="0"/>
            <a:chExt cx="8662416" cy="10015728"/>
          </a:xfrm>
        </p:grpSpPr>
        <p:sp>
          <p:nvSpPr>
            <p:cNvPr name="Freeform 52" id="52"/>
            <p:cNvSpPr/>
            <p:nvPr/>
          </p:nvSpPr>
          <p:spPr>
            <a:xfrm flipH="false" flipV="false" rot="0">
              <a:off x="0" y="0"/>
              <a:ext cx="8662416" cy="10015728"/>
            </a:xfrm>
            <a:custGeom>
              <a:avLst/>
              <a:gdLst/>
              <a:ahLst/>
              <a:cxnLst/>
              <a:rect r="r" b="b" t="t" l="l"/>
              <a:pathLst>
                <a:path h="10015728" w="8662416">
                  <a:moveTo>
                    <a:pt x="0" y="346456"/>
                  </a:moveTo>
                  <a:cubicBezTo>
                    <a:pt x="0" y="155194"/>
                    <a:pt x="155194" y="0"/>
                    <a:pt x="346456" y="0"/>
                  </a:cubicBezTo>
                  <a:lnTo>
                    <a:pt x="8315960" y="0"/>
                  </a:lnTo>
                  <a:cubicBezTo>
                    <a:pt x="8507349" y="0"/>
                    <a:pt x="8662416" y="155194"/>
                    <a:pt x="8662416" y="346456"/>
                  </a:cubicBezTo>
                  <a:lnTo>
                    <a:pt x="8662416" y="9669272"/>
                  </a:lnTo>
                  <a:cubicBezTo>
                    <a:pt x="8662416" y="9860661"/>
                    <a:pt x="8507222" y="10015728"/>
                    <a:pt x="8315960" y="10015728"/>
                  </a:cubicBezTo>
                  <a:lnTo>
                    <a:pt x="346456" y="10015728"/>
                  </a:lnTo>
                  <a:cubicBezTo>
                    <a:pt x="155194" y="10015728"/>
                    <a:pt x="0" y="9860534"/>
                    <a:pt x="0" y="9669272"/>
                  </a:cubicBezTo>
                  <a:close/>
                </a:path>
              </a:pathLst>
            </a:custGeom>
            <a:solidFill>
              <a:srgbClr val="FFFFFF"/>
            </a:solidFill>
            <a:ln w="22860" cap="sq">
              <a:solidFill>
                <a:srgbClr val="CBD5E1"/>
              </a:solidFill>
              <a:prstDash val="solid"/>
              <a:miter/>
            </a:ln>
          </p:spPr>
          <p:txBody>
            <a:bodyPr/>
            <a:p/>
          </p:txBody>
        </p:sp>
      </p:grpSp>
      <p:grpSp>
        <p:nvGrpSpPr>
          <p:cNvPr name="Group 53" id="53"/>
          <p:cNvGrpSpPr/>
          <p:nvPr/>
        </p:nvGrpSpPr>
        <p:grpSpPr>
          <a:xfrm rot="0">
            <a:off x="11137392" y="1975104"/>
            <a:ext cx="6309360" cy="6748272"/>
            <a:chOff x="0" y="0"/>
            <a:chExt cx="8412480" cy="8997696"/>
          </a:xfrm>
        </p:grpSpPr>
        <p:sp>
          <p:nvSpPr>
            <p:cNvPr name="Freeform 54" id="54" descr="image2.jpg"/>
            <p:cNvSpPr/>
            <p:nvPr/>
          </p:nvSpPr>
          <p:spPr>
            <a:xfrm flipH="false" flipV="false" rot="0">
              <a:off x="0" y="0"/>
              <a:ext cx="8412480" cy="8997696"/>
            </a:xfrm>
            <a:custGeom>
              <a:avLst/>
              <a:gdLst/>
              <a:ahLst/>
              <a:cxnLst/>
              <a:rect r="r" b="b" t="t" l="l"/>
              <a:pathLst>
                <a:path h="8997696" w="8412480">
                  <a:moveTo>
                    <a:pt x="0" y="0"/>
                  </a:moveTo>
                  <a:lnTo>
                    <a:pt x="8412480" y="0"/>
                  </a:lnTo>
                  <a:lnTo>
                    <a:pt x="8412480" y="8997696"/>
                  </a:lnTo>
                  <a:lnTo>
                    <a:pt x="0" y="8997696"/>
                  </a:lnTo>
                  <a:lnTo>
                    <a:pt x="0" y="0"/>
                  </a:lnTo>
                  <a:close/>
                </a:path>
              </a:pathLst>
            </a:custGeom>
            <a:blipFill>
              <a:blip r:embed="rId3"/>
              <a:stretch>
                <a:fillRect l="0" t="-304" r="0" b="-304"/>
              </a:stretch>
            </a:blipFill>
          </p:spPr>
          <p:txBody>
            <a:bodyPr/>
            <a:p/>
          </p:txBody>
        </p:sp>
      </p:grpSp>
      <p:grpSp>
        <p:nvGrpSpPr>
          <p:cNvPr name="Group 55" id="55"/>
          <p:cNvGrpSpPr/>
          <p:nvPr/>
        </p:nvGrpSpPr>
        <p:grpSpPr>
          <a:xfrm rot="0">
            <a:off x="11137392" y="8778240"/>
            <a:ext cx="6309360" cy="548640"/>
            <a:chOff x="0" y="0"/>
            <a:chExt cx="8412480" cy="731520"/>
          </a:xfrm>
        </p:grpSpPr>
        <p:sp>
          <p:nvSpPr>
            <p:cNvPr name="Freeform 56" id="56"/>
            <p:cNvSpPr/>
            <p:nvPr/>
          </p:nvSpPr>
          <p:spPr>
            <a:xfrm flipH="false" flipV="false" rot="0">
              <a:off x="0" y="0"/>
              <a:ext cx="8412480" cy="731520"/>
            </a:xfrm>
            <a:custGeom>
              <a:avLst/>
              <a:gdLst/>
              <a:ahLst/>
              <a:cxnLst/>
              <a:rect r="r" b="b" t="t" l="l"/>
              <a:pathLst>
                <a:path h="731520" w="8412480">
                  <a:moveTo>
                    <a:pt x="0" y="0"/>
                  </a:moveTo>
                  <a:lnTo>
                    <a:pt x="8412480" y="0"/>
                  </a:lnTo>
                  <a:lnTo>
                    <a:pt x="8412480" y="731520"/>
                  </a:lnTo>
                  <a:lnTo>
                    <a:pt x="0" y="731520"/>
                  </a:lnTo>
                  <a:close/>
                </a:path>
              </a:pathLst>
            </a:custGeom>
            <a:solidFill>
              <a:srgbClr val="F1F5F9"/>
            </a:solidFill>
          </p:spPr>
          <p:txBody>
            <a:bodyPr/>
            <a:p/>
          </p:txBody>
        </p:sp>
      </p:grpSp>
      <p:grpSp>
        <p:nvGrpSpPr>
          <p:cNvPr name="Group 57" id="57"/>
          <p:cNvGrpSpPr/>
          <p:nvPr/>
        </p:nvGrpSpPr>
        <p:grpSpPr>
          <a:xfrm rot="0">
            <a:off x="11219688" y="8778240"/>
            <a:ext cx="6144768" cy="548640"/>
            <a:chOff x="0" y="0"/>
            <a:chExt cx="8193024" cy="731520"/>
          </a:xfrm>
        </p:grpSpPr>
        <p:sp>
          <p:nvSpPr>
            <p:cNvPr name="Freeform 58" id="58"/>
            <p:cNvSpPr/>
            <p:nvPr/>
          </p:nvSpPr>
          <p:spPr>
            <a:xfrm flipH="false" flipV="false" rot="0">
              <a:off x="0" y="0"/>
              <a:ext cx="8193022" cy="731520"/>
            </a:xfrm>
            <a:custGeom>
              <a:avLst/>
              <a:gdLst/>
              <a:ahLst/>
              <a:cxnLst/>
              <a:rect r="r" b="b" t="t" l="l"/>
              <a:pathLst>
                <a:path h="731520" w="8193022">
                  <a:moveTo>
                    <a:pt x="0" y="0"/>
                  </a:moveTo>
                  <a:lnTo>
                    <a:pt x="8193022" y="0"/>
                  </a:lnTo>
                  <a:lnTo>
                    <a:pt x="8193022" y="731520"/>
                  </a:lnTo>
                  <a:lnTo>
                    <a:pt x="0" y="731520"/>
                  </a:lnTo>
                  <a:close/>
                </a:path>
              </a:pathLst>
            </a:custGeom>
            <a:blipFill>
              <a:blip r:embed="rId2">
                <a:alphaModFix amt="0"/>
              </a:blip>
              <a:stretch>
                <a:fillRect l="0" t="-168232" r="0" b="-168232"/>
              </a:stretch>
            </a:blipFill>
          </p:spPr>
          <p:txBody>
            <a:bodyPr/>
            <a:p/>
          </p:txBody>
        </p:sp>
        <p:sp>
          <p:nvSpPr>
            <p:cNvPr name="TextBox 59" id="59"/>
            <p:cNvSpPr txBox="true"/>
            <p:nvPr/>
          </p:nvSpPr>
          <p:spPr>
            <a:xfrm>
              <a:off x="0" y="-9525"/>
              <a:ext cx="8193024" cy="741045"/>
            </a:xfrm>
            <a:prstGeom prst="rect">
              <a:avLst/>
            </a:prstGeom>
          </p:spPr>
          <p:txBody>
            <a:bodyPr anchor="ctr" rtlCol="false" tIns="0" lIns="0" bIns="0" rIns="0"/>
            <a:lstStyle/>
            <a:p>
              <a:pPr algn="l">
                <a:lnSpc>
                  <a:spcPts val="1727"/>
                </a:lnSpc>
              </a:pPr>
              <a:r>
                <a:rPr lang="en-US" sz="1439" b="true">
                  <a:solidFill>
                    <a:srgbClr val="1E293B"/>
                  </a:solidFill>
                  <a:latin typeface="DejaVu Sans Bold"/>
                  <a:ea typeface="DejaVu Sans Bold"/>
                  <a:cs typeface="DejaVu Sans Bold"/>
                  <a:sym typeface="DejaVu Sans Bold"/>
                </a:rPr>
                <a:t>Ảnh thật: Tân cử nhân tốt nghiệp tại ĐH Luật Hà Nội | Nguồn: Pexels Documentary</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3657505" cy="137160"/>
            <a:chOff x="0" y="0"/>
            <a:chExt cx="4876673" cy="182880"/>
          </a:xfrm>
        </p:grpSpPr>
        <p:sp>
          <p:nvSpPr>
            <p:cNvPr name="Freeform 5" id="5"/>
            <p:cNvSpPr/>
            <p:nvPr/>
          </p:nvSpPr>
          <p:spPr>
            <a:xfrm flipH="false" flipV="false" rot="0">
              <a:off x="0" y="0"/>
              <a:ext cx="4876673" cy="182880"/>
            </a:xfrm>
            <a:custGeom>
              <a:avLst/>
              <a:gdLst/>
              <a:ahLst/>
              <a:cxnLst/>
              <a:rect r="r" b="b" t="t" l="l"/>
              <a:pathLst>
                <a:path h="182880" w="4876673">
                  <a:moveTo>
                    <a:pt x="0" y="0"/>
                  </a:moveTo>
                  <a:lnTo>
                    <a:pt x="4876673" y="0"/>
                  </a:lnTo>
                  <a:lnTo>
                    <a:pt x="4876673" y="182880"/>
                  </a:lnTo>
                  <a:lnTo>
                    <a:pt x="0" y="182880"/>
                  </a:lnTo>
                  <a:close/>
                </a:path>
              </a:pathLst>
            </a:custGeom>
            <a:solidFill>
              <a:srgbClr val="0F766E"/>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AF7F5"/>
            </a:solidFill>
            <a:ln w="19050" cap="sq">
              <a:solidFill>
                <a:srgbClr val="0F766E"/>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9525"/>
              <a:ext cx="9235440" cy="631317"/>
            </a:xfrm>
            <a:prstGeom prst="rect">
              <a:avLst/>
            </a:prstGeom>
          </p:spPr>
          <p:txBody>
            <a:bodyPr anchor="ctr" rtlCol="false" tIns="0" lIns="0" bIns="0" rIns="0"/>
            <a:lstStyle/>
            <a:p>
              <a:pPr algn="l">
                <a:lnSpc>
                  <a:spcPts val="1889"/>
                </a:lnSpc>
              </a:pPr>
              <a:r>
                <a:rPr lang="en-US" sz="1575" b="true">
                  <a:solidFill>
                    <a:srgbClr val="0F766E"/>
                  </a:solidFill>
                  <a:latin typeface="DejaVu Sans Bold"/>
                  <a:ea typeface="DejaVu Sans Bold"/>
                  <a:cs typeface="DejaVu Sans Bold"/>
                  <a:sym typeface="DejaVu Sans Bold"/>
                </a:rPr>
                <a:t>LÝ LUẬN NỀN TẢNG • MỤC 5.1.1 (TR. 169–171)</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19050"/>
              <a:ext cx="2432304" cy="64084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Slide 3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Khái niệm Kinh tế thị trường định hướng XHCN ở Việt Nam</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19050"/>
              <a:ext cx="22366224" cy="677418"/>
            </a:xfrm>
            <a:prstGeom prst="rect">
              <a:avLst/>
            </a:prstGeom>
          </p:spPr>
          <p:txBody>
            <a:bodyPr anchor="ctr" rtlCol="false" tIns="0" lIns="0" bIns="0" rIns="0"/>
            <a:lstStyle/>
            <a:p>
              <a:pPr algn="l">
                <a:lnSpc>
                  <a:spcPts val="2700"/>
                </a:lnSpc>
              </a:pPr>
              <a:r>
                <a:rPr lang="en-US" sz="2250" i="true">
                  <a:solidFill>
                    <a:srgbClr val="475569"/>
                  </a:solidFill>
                  <a:latin typeface="DejaVu Sans Bold Italics"/>
                  <a:ea typeface="DejaVu Sans Bold Italics"/>
                  <a:cs typeface="DejaVu Sans Bold Italics"/>
                  <a:sym typeface="DejaVu Sans Bold Italics"/>
                </a:rPr>
                <a:t>Nguồn lý luận: Giáo trình Kinh tế chính trị Mác – Lênin (Bộ GD&amp;ĐT, 2021, Mục 5.1.1, tr. 169–171).</a:t>
              </a:r>
            </a:p>
          </p:txBody>
        </p:sp>
      </p:grpSp>
      <p:grpSp>
        <p:nvGrpSpPr>
          <p:cNvPr name="Group 26" id="26"/>
          <p:cNvGrpSpPr/>
          <p:nvPr/>
        </p:nvGrpSpPr>
        <p:grpSpPr>
          <a:xfrm rot="0">
            <a:off x="740093" y="1960817"/>
            <a:ext cx="9698355" cy="2305431"/>
            <a:chOff x="0" y="0"/>
            <a:chExt cx="12931140" cy="3073908"/>
          </a:xfrm>
        </p:grpSpPr>
        <p:sp>
          <p:nvSpPr>
            <p:cNvPr name="Freeform 27" id="27"/>
            <p:cNvSpPr/>
            <p:nvPr/>
          </p:nvSpPr>
          <p:spPr>
            <a:xfrm flipH="false" flipV="false" rot="0">
              <a:off x="0" y="0"/>
              <a:ext cx="12931140" cy="3073908"/>
            </a:xfrm>
            <a:custGeom>
              <a:avLst/>
              <a:gdLst/>
              <a:ahLst/>
              <a:cxnLst/>
              <a:rect r="r" b="b" t="t" l="l"/>
              <a:pathLst>
                <a:path h="3073908" w="12931140">
                  <a:moveTo>
                    <a:pt x="0" y="122936"/>
                  </a:moveTo>
                  <a:cubicBezTo>
                    <a:pt x="0" y="54991"/>
                    <a:pt x="54991" y="0"/>
                    <a:pt x="122936" y="0"/>
                  </a:cubicBezTo>
                  <a:lnTo>
                    <a:pt x="12808204" y="0"/>
                  </a:lnTo>
                  <a:cubicBezTo>
                    <a:pt x="12876150" y="0"/>
                    <a:pt x="12931140" y="54991"/>
                    <a:pt x="12931140" y="122936"/>
                  </a:cubicBezTo>
                  <a:lnTo>
                    <a:pt x="12931140" y="2950972"/>
                  </a:lnTo>
                  <a:cubicBezTo>
                    <a:pt x="12931140" y="3018917"/>
                    <a:pt x="12876150" y="3073908"/>
                    <a:pt x="12808204" y="3073908"/>
                  </a:cubicBezTo>
                  <a:lnTo>
                    <a:pt x="122936" y="3073908"/>
                  </a:lnTo>
                  <a:cubicBezTo>
                    <a:pt x="54991" y="3073908"/>
                    <a:pt x="0" y="3018917"/>
                    <a:pt x="0" y="2950972"/>
                  </a:cubicBezTo>
                  <a:close/>
                </a:path>
              </a:pathLst>
            </a:custGeom>
            <a:solidFill>
              <a:srgbClr val="FFFFFF"/>
            </a:solidFill>
            <a:ln w="28575" cap="sq">
              <a:solidFill>
                <a:srgbClr val="0369A1"/>
              </a:solidFill>
              <a:prstDash val="solid"/>
              <a:miter/>
            </a:ln>
          </p:spPr>
          <p:txBody>
            <a:bodyPr/>
            <a:p/>
          </p:txBody>
        </p:sp>
      </p:grpSp>
      <p:grpSp>
        <p:nvGrpSpPr>
          <p:cNvPr name="Group 28" id="28"/>
          <p:cNvGrpSpPr/>
          <p:nvPr/>
        </p:nvGrpSpPr>
        <p:grpSpPr>
          <a:xfrm rot="0">
            <a:off x="754380" y="1975104"/>
            <a:ext cx="192024" cy="2276856"/>
            <a:chOff x="0" y="0"/>
            <a:chExt cx="256032" cy="3035808"/>
          </a:xfrm>
        </p:grpSpPr>
        <p:sp>
          <p:nvSpPr>
            <p:cNvPr name="Freeform 29" id="29"/>
            <p:cNvSpPr/>
            <p:nvPr/>
          </p:nvSpPr>
          <p:spPr>
            <a:xfrm flipH="false" flipV="false" rot="0">
              <a:off x="0" y="0"/>
              <a:ext cx="256032" cy="3035808"/>
            </a:xfrm>
            <a:custGeom>
              <a:avLst/>
              <a:gdLst/>
              <a:ahLst/>
              <a:cxnLst/>
              <a:rect r="r" b="b" t="t" l="l"/>
              <a:pathLst>
                <a:path h="3035808" w="256032">
                  <a:moveTo>
                    <a:pt x="0" y="0"/>
                  </a:moveTo>
                  <a:lnTo>
                    <a:pt x="256032" y="0"/>
                  </a:lnTo>
                  <a:lnTo>
                    <a:pt x="256032" y="3035808"/>
                  </a:lnTo>
                  <a:lnTo>
                    <a:pt x="0" y="3035808"/>
                  </a:lnTo>
                  <a:close/>
                </a:path>
              </a:pathLst>
            </a:custGeom>
            <a:solidFill>
              <a:srgbClr val="0369A1"/>
            </a:solidFill>
          </p:spPr>
          <p:txBody>
            <a:bodyPr/>
            <a:p/>
          </p:txBody>
        </p:sp>
      </p:grpSp>
      <p:grpSp>
        <p:nvGrpSpPr>
          <p:cNvPr name="Group 30" id="30"/>
          <p:cNvGrpSpPr/>
          <p:nvPr/>
        </p:nvGrpSpPr>
        <p:grpSpPr>
          <a:xfrm rot="0">
            <a:off x="1124712" y="2195970"/>
            <a:ext cx="9121140" cy="1835115"/>
            <a:chOff x="0" y="0"/>
            <a:chExt cx="12161520" cy="2446820"/>
          </a:xfrm>
        </p:grpSpPr>
        <p:sp>
          <p:nvSpPr>
            <p:cNvPr name="Freeform 31" id="31"/>
            <p:cNvSpPr/>
            <p:nvPr/>
          </p:nvSpPr>
          <p:spPr>
            <a:xfrm flipH="false" flipV="false" rot="0">
              <a:off x="0" y="0"/>
              <a:ext cx="12161520" cy="2446824"/>
            </a:xfrm>
            <a:custGeom>
              <a:avLst/>
              <a:gdLst/>
              <a:ahLst/>
              <a:cxnLst/>
              <a:rect r="r" b="b" t="t" l="l"/>
              <a:pathLst>
                <a:path h="2446824" w="12161520">
                  <a:moveTo>
                    <a:pt x="0" y="0"/>
                  </a:moveTo>
                  <a:lnTo>
                    <a:pt x="12161520" y="0"/>
                  </a:lnTo>
                  <a:lnTo>
                    <a:pt x="12161520" y="2446824"/>
                  </a:lnTo>
                  <a:lnTo>
                    <a:pt x="0" y="2446824"/>
                  </a:lnTo>
                  <a:close/>
                </a:path>
              </a:pathLst>
            </a:custGeom>
            <a:blipFill>
              <a:blip r:embed="rId2">
                <a:alphaModFix amt="0"/>
              </a:blip>
              <a:stretch>
                <a:fillRect l="0" t="-46847" r="0" b="-46846"/>
              </a:stretch>
            </a:blipFill>
          </p:spPr>
          <p:txBody>
            <a:bodyPr/>
            <a:p/>
          </p:txBody>
        </p:sp>
        <p:sp>
          <p:nvSpPr>
            <p:cNvPr name="TextBox 32" id="32"/>
            <p:cNvSpPr txBox="true"/>
            <p:nvPr/>
          </p:nvSpPr>
          <p:spPr>
            <a:xfrm>
              <a:off x="0" y="-19050"/>
              <a:ext cx="12161520" cy="2465870"/>
            </a:xfrm>
            <a:prstGeom prst="rect">
              <a:avLst/>
            </a:prstGeom>
          </p:spPr>
          <p:txBody>
            <a:bodyPr anchor="ctr" rtlCol="false" tIns="0" lIns="0" bIns="0" rIns="0"/>
            <a:lstStyle/>
            <a:p>
              <a:pPr algn="l">
                <a:lnSpc>
                  <a:spcPts val="2412"/>
                </a:lnSpc>
              </a:pPr>
              <a:r>
                <a:rPr lang="en-US" sz="2010" b="true">
                  <a:solidFill>
                    <a:srgbClr val="0369A1"/>
                  </a:solidFill>
                  <a:latin typeface="DejaVu Sans Bold"/>
                  <a:ea typeface="DejaVu Sans Bold"/>
                  <a:cs typeface="DejaVu Sans Bold"/>
                  <a:sym typeface="DejaVu Sans Bold"/>
                </a:rPr>
                <a:t>1. VẾ 'KINH TẾ THỊ TRƯỜNG' </a:t>
              </a:r>
            </a:p>
            <a:p>
              <a:pPr algn="l">
                <a:lnSpc>
                  <a:spcPts val="2195"/>
                </a:lnSpc>
              </a:pPr>
              <a:r>
                <a:rPr lang="en-US" sz="1829">
                  <a:solidFill>
                    <a:srgbClr val="1E293B"/>
                  </a:solidFill>
                  <a:latin typeface="DejaVu Sans Light"/>
                  <a:ea typeface="DejaVu Sans Light"/>
                  <a:cs typeface="DejaVu Sans Light"/>
                  <a:sym typeface="DejaVu Sans Light"/>
                </a:rPr>
                <a:t>• Vận hành đầy đủ, đồng bộ theo các quy luật khách quan của kinh tế thị trường:</a:t>
              </a:r>
            </a:p>
            <a:p>
              <a:pPr algn="l">
                <a:lnSpc>
                  <a:spcPts val="2195"/>
                </a:lnSpc>
              </a:pPr>
              <a:r>
                <a:rPr lang="en-US" sz="1829">
                  <a:solidFill>
                    <a:srgbClr val="1E293B"/>
                  </a:solidFill>
                  <a:latin typeface="DejaVu Sans Light"/>
                  <a:ea typeface="DejaVu Sans Light"/>
                  <a:cs typeface="DejaVu Sans Light"/>
                  <a:sym typeface="DejaVu Sans Light"/>
                </a:rPr>
                <a:t>   Quy luật giá trị  •  Quy luật cung – cầu  •  Quy luật cạnh tranh.</a:t>
              </a:r>
            </a:p>
            <a:p>
              <a:pPr algn="l">
                <a:lnSpc>
                  <a:spcPts val="2195"/>
                </a:lnSpc>
              </a:pPr>
              <a:r>
                <a:rPr lang="en-US" sz="1829">
                  <a:solidFill>
                    <a:srgbClr val="1E293B"/>
                  </a:solidFill>
                  <a:latin typeface="DejaVu Sans Light"/>
                  <a:ea typeface="DejaVu Sans Light"/>
                  <a:cs typeface="DejaVu Sans Light"/>
                  <a:sym typeface="DejaVu Sans Light"/>
                </a:rPr>
                <a:t>• Thị trường giữ vai trò trực tiếp phân bổ nguồn lực sản xuất kinh doanh.</a:t>
              </a:r>
            </a:p>
          </p:txBody>
        </p:sp>
      </p:grpSp>
      <p:grpSp>
        <p:nvGrpSpPr>
          <p:cNvPr name="Group 33" id="33"/>
          <p:cNvGrpSpPr/>
          <p:nvPr/>
        </p:nvGrpSpPr>
        <p:grpSpPr>
          <a:xfrm rot="0">
            <a:off x="740093" y="4484560"/>
            <a:ext cx="9698355" cy="2305431"/>
            <a:chOff x="0" y="0"/>
            <a:chExt cx="12931140" cy="3073908"/>
          </a:xfrm>
        </p:grpSpPr>
        <p:sp>
          <p:nvSpPr>
            <p:cNvPr name="Freeform 34" id="34"/>
            <p:cNvSpPr/>
            <p:nvPr/>
          </p:nvSpPr>
          <p:spPr>
            <a:xfrm flipH="false" flipV="false" rot="0">
              <a:off x="0" y="0"/>
              <a:ext cx="12931140" cy="3073908"/>
            </a:xfrm>
            <a:custGeom>
              <a:avLst/>
              <a:gdLst/>
              <a:ahLst/>
              <a:cxnLst/>
              <a:rect r="r" b="b" t="t" l="l"/>
              <a:pathLst>
                <a:path h="3073908" w="12931140">
                  <a:moveTo>
                    <a:pt x="0" y="122936"/>
                  </a:moveTo>
                  <a:cubicBezTo>
                    <a:pt x="0" y="54991"/>
                    <a:pt x="54991" y="0"/>
                    <a:pt x="122936" y="0"/>
                  </a:cubicBezTo>
                  <a:lnTo>
                    <a:pt x="12808204" y="0"/>
                  </a:lnTo>
                  <a:cubicBezTo>
                    <a:pt x="12876150" y="0"/>
                    <a:pt x="12931140" y="54991"/>
                    <a:pt x="12931140" y="122936"/>
                  </a:cubicBezTo>
                  <a:lnTo>
                    <a:pt x="12931140" y="2950972"/>
                  </a:lnTo>
                  <a:cubicBezTo>
                    <a:pt x="12931140" y="3018917"/>
                    <a:pt x="12876150" y="3073908"/>
                    <a:pt x="12808204" y="3073908"/>
                  </a:cubicBezTo>
                  <a:lnTo>
                    <a:pt x="122936" y="3073908"/>
                  </a:lnTo>
                  <a:cubicBezTo>
                    <a:pt x="54991" y="3073908"/>
                    <a:pt x="0" y="3018917"/>
                    <a:pt x="0" y="2950972"/>
                  </a:cubicBezTo>
                  <a:close/>
                </a:path>
              </a:pathLst>
            </a:custGeom>
            <a:solidFill>
              <a:srgbClr val="FFFFFF"/>
            </a:solidFill>
            <a:ln w="28575" cap="sq">
              <a:solidFill>
                <a:srgbClr val="0F766E"/>
              </a:solidFill>
              <a:prstDash val="solid"/>
              <a:miter/>
            </a:ln>
          </p:spPr>
          <p:txBody>
            <a:bodyPr/>
            <a:p/>
          </p:txBody>
        </p:sp>
      </p:grpSp>
      <p:grpSp>
        <p:nvGrpSpPr>
          <p:cNvPr name="Group 35" id="35"/>
          <p:cNvGrpSpPr/>
          <p:nvPr/>
        </p:nvGrpSpPr>
        <p:grpSpPr>
          <a:xfrm rot="0">
            <a:off x="754380" y="4498848"/>
            <a:ext cx="192024" cy="2276856"/>
            <a:chOff x="0" y="0"/>
            <a:chExt cx="256032" cy="3035808"/>
          </a:xfrm>
        </p:grpSpPr>
        <p:sp>
          <p:nvSpPr>
            <p:cNvPr name="Freeform 36" id="36"/>
            <p:cNvSpPr/>
            <p:nvPr/>
          </p:nvSpPr>
          <p:spPr>
            <a:xfrm flipH="false" flipV="false" rot="0">
              <a:off x="0" y="0"/>
              <a:ext cx="256032" cy="3035808"/>
            </a:xfrm>
            <a:custGeom>
              <a:avLst/>
              <a:gdLst/>
              <a:ahLst/>
              <a:cxnLst/>
              <a:rect r="r" b="b" t="t" l="l"/>
              <a:pathLst>
                <a:path h="3035808" w="256032">
                  <a:moveTo>
                    <a:pt x="0" y="0"/>
                  </a:moveTo>
                  <a:lnTo>
                    <a:pt x="256032" y="0"/>
                  </a:lnTo>
                  <a:lnTo>
                    <a:pt x="256032" y="3035808"/>
                  </a:lnTo>
                  <a:lnTo>
                    <a:pt x="0" y="3035808"/>
                  </a:lnTo>
                  <a:close/>
                </a:path>
              </a:pathLst>
            </a:custGeom>
            <a:solidFill>
              <a:srgbClr val="0F766E"/>
            </a:solidFill>
          </p:spPr>
          <p:txBody>
            <a:bodyPr/>
            <a:p/>
          </p:txBody>
        </p:sp>
      </p:grpSp>
      <p:grpSp>
        <p:nvGrpSpPr>
          <p:cNvPr name="Group 37" id="37"/>
          <p:cNvGrpSpPr/>
          <p:nvPr/>
        </p:nvGrpSpPr>
        <p:grpSpPr>
          <a:xfrm rot="0">
            <a:off x="1124712" y="4767805"/>
            <a:ext cx="9121140" cy="1738941"/>
            <a:chOff x="0" y="0"/>
            <a:chExt cx="12161520" cy="2318588"/>
          </a:xfrm>
        </p:grpSpPr>
        <p:sp>
          <p:nvSpPr>
            <p:cNvPr name="Freeform 38" id="38"/>
            <p:cNvSpPr/>
            <p:nvPr/>
          </p:nvSpPr>
          <p:spPr>
            <a:xfrm flipH="false" flipV="false" rot="0">
              <a:off x="0" y="0"/>
              <a:ext cx="12161520" cy="2318584"/>
            </a:xfrm>
            <a:custGeom>
              <a:avLst/>
              <a:gdLst/>
              <a:ahLst/>
              <a:cxnLst/>
              <a:rect r="r" b="b" t="t" l="l"/>
              <a:pathLst>
                <a:path h="2318584" w="12161520">
                  <a:moveTo>
                    <a:pt x="0" y="0"/>
                  </a:moveTo>
                  <a:lnTo>
                    <a:pt x="12161520" y="0"/>
                  </a:lnTo>
                  <a:lnTo>
                    <a:pt x="12161520" y="2318584"/>
                  </a:lnTo>
                  <a:lnTo>
                    <a:pt x="0" y="2318584"/>
                  </a:lnTo>
                  <a:close/>
                </a:path>
              </a:pathLst>
            </a:custGeom>
            <a:blipFill>
              <a:blip r:embed="rId2">
                <a:alphaModFix amt="0"/>
              </a:blip>
              <a:stretch>
                <a:fillRect l="0" t="-52203" r="0" b="-52203"/>
              </a:stretch>
            </a:blipFill>
          </p:spPr>
          <p:txBody>
            <a:bodyPr/>
            <a:p/>
          </p:txBody>
        </p:sp>
        <p:sp>
          <p:nvSpPr>
            <p:cNvPr name="TextBox 39" id="39"/>
            <p:cNvSpPr txBox="true"/>
            <p:nvPr/>
          </p:nvSpPr>
          <p:spPr>
            <a:xfrm>
              <a:off x="0" y="-19050"/>
              <a:ext cx="12161520" cy="2337638"/>
            </a:xfrm>
            <a:prstGeom prst="rect">
              <a:avLst/>
            </a:prstGeom>
          </p:spPr>
          <p:txBody>
            <a:bodyPr anchor="ctr" rtlCol="false" tIns="0" lIns="0" bIns="0" rIns="0"/>
            <a:lstStyle/>
            <a:p>
              <a:pPr algn="l">
                <a:lnSpc>
                  <a:spcPts val="2412"/>
                </a:lnSpc>
              </a:pPr>
              <a:r>
                <a:rPr lang="en-US" sz="2010" b="true">
                  <a:solidFill>
                    <a:srgbClr val="0F766E"/>
                  </a:solidFill>
                  <a:latin typeface="DejaVu Sans Bold"/>
                  <a:ea typeface="DejaVu Sans Bold"/>
                  <a:cs typeface="DejaVu Sans Bold"/>
                  <a:sym typeface="DejaVu Sans Bold"/>
                </a:rPr>
                <a:t>2. VẾ 'ĐỊNH HƯỚNG XÃ HỘI CHỦ NGHĨA' </a:t>
              </a:r>
            </a:p>
            <a:p>
              <a:pPr algn="l">
                <a:lnSpc>
                  <a:spcPts val="2195"/>
                </a:lnSpc>
              </a:pPr>
              <a:r>
                <a:rPr lang="en-US" sz="1829">
                  <a:solidFill>
                    <a:srgbClr val="1E293B"/>
                  </a:solidFill>
                  <a:latin typeface="DejaVu Sans Light"/>
                  <a:ea typeface="DejaVu Sans Light"/>
                  <a:cs typeface="DejaVu Sans Light"/>
                  <a:sym typeface="DejaVu Sans Light"/>
                </a:rPr>
                <a:t>• Có sự quản lý của Nhà nước pháp quyền XHCN, dưới sự lãnh đạo của Đảng Cộng sản Việt Nam.</a:t>
              </a:r>
            </a:p>
            <a:p>
              <a:pPr algn="l">
                <a:lnSpc>
                  <a:spcPts val="2195"/>
                </a:lnSpc>
              </a:pPr>
              <a:r>
                <a:rPr lang="en-US" sz="1829">
                  <a:solidFill>
                    <a:srgbClr val="1E293B"/>
                  </a:solidFill>
                  <a:latin typeface="DejaVu Sans Light"/>
                  <a:ea typeface="DejaVu Sans Light"/>
                  <a:cs typeface="DejaVu Sans Light"/>
                  <a:sym typeface="DejaVu Sans Light"/>
                </a:rPr>
                <a:t>• Chủ động khắc phục khuyết tật thị trường tự phát, không để phân hóa cực đoan.</a:t>
              </a:r>
            </a:p>
          </p:txBody>
        </p:sp>
      </p:grpSp>
      <p:grpSp>
        <p:nvGrpSpPr>
          <p:cNvPr name="Group 40" id="40"/>
          <p:cNvGrpSpPr/>
          <p:nvPr/>
        </p:nvGrpSpPr>
        <p:grpSpPr>
          <a:xfrm rot="0">
            <a:off x="740093" y="7008304"/>
            <a:ext cx="9698355" cy="2305431"/>
            <a:chOff x="0" y="0"/>
            <a:chExt cx="12931140" cy="3073908"/>
          </a:xfrm>
        </p:grpSpPr>
        <p:sp>
          <p:nvSpPr>
            <p:cNvPr name="Freeform 41" id="41"/>
            <p:cNvSpPr/>
            <p:nvPr/>
          </p:nvSpPr>
          <p:spPr>
            <a:xfrm flipH="false" flipV="false" rot="0">
              <a:off x="0" y="0"/>
              <a:ext cx="12931140" cy="3073908"/>
            </a:xfrm>
            <a:custGeom>
              <a:avLst/>
              <a:gdLst/>
              <a:ahLst/>
              <a:cxnLst/>
              <a:rect r="r" b="b" t="t" l="l"/>
              <a:pathLst>
                <a:path h="3073908" w="12931140">
                  <a:moveTo>
                    <a:pt x="0" y="122936"/>
                  </a:moveTo>
                  <a:cubicBezTo>
                    <a:pt x="0" y="54991"/>
                    <a:pt x="54991" y="0"/>
                    <a:pt x="122936" y="0"/>
                  </a:cubicBezTo>
                  <a:lnTo>
                    <a:pt x="12808204" y="0"/>
                  </a:lnTo>
                  <a:cubicBezTo>
                    <a:pt x="12876150" y="0"/>
                    <a:pt x="12931140" y="54991"/>
                    <a:pt x="12931140" y="122936"/>
                  </a:cubicBezTo>
                  <a:lnTo>
                    <a:pt x="12931140" y="2950972"/>
                  </a:lnTo>
                  <a:cubicBezTo>
                    <a:pt x="12931140" y="3018917"/>
                    <a:pt x="12876150" y="3073908"/>
                    <a:pt x="12808204" y="3073908"/>
                  </a:cubicBezTo>
                  <a:lnTo>
                    <a:pt x="122936" y="3073908"/>
                  </a:lnTo>
                  <a:cubicBezTo>
                    <a:pt x="54991" y="3073908"/>
                    <a:pt x="0" y="3018917"/>
                    <a:pt x="0" y="2950972"/>
                  </a:cubicBezTo>
                  <a:close/>
                </a:path>
              </a:pathLst>
            </a:custGeom>
            <a:solidFill>
              <a:srgbClr val="FFFFFF"/>
            </a:solidFill>
            <a:ln w="28575" cap="sq">
              <a:solidFill>
                <a:srgbClr val="C25915"/>
              </a:solidFill>
              <a:prstDash val="solid"/>
              <a:miter/>
            </a:ln>
          </p:spPr>
          <p:txBody>
            <a:bodyPr/>
            <a:p/>
          </p:txBody>
        </p:sp>
      </p:grpSp>
      <p:grpSp>
        <p:nvGrpSpPr>
          <p:cNvPr name="Group 42" id="42"/>
          <p:cNvGrpSpPr/>
          <p:nvPr/>
        </p:nvGrpSpPr>
        <p:grpSpPr>
          <a:xfrm rot="0">
            <a:off x="754380" y="7022592"/>
            <a:ext cx="192024" cy="2276856"/>
            <a:chOff x="0" y="0"/>
            <a:chExt cx="256032" cy="3035808"/>
          </a:xfrm>
        </p:grpSpPr>
        <p:sp>
          <p:nvSpPr>
            <p:cNvPr name="Freeform 43" id="43"/>
            <p:cNvSpPr/>
            <p:nvPr/>
          </p:nvSpPr>
          <p:spPr>
            <a:xfrm flipH="false" flipV="false" rot="0">
              <a:off x="0" y="0"/>
              <a:ext cx="256032" cy="3035808"/>
            </a:xfrm>
            <a:custGeom>
              <a:avLst/>
              <a:gdLst/>
              <a:ahLst/>
              <a:cxnLst/>
              <a:rect r="r" b="b" t="t" l="l"/>
              <a:pathLst>
                <a:path h="3035808" w="256032">
                  <a:moveTo>
                    <a:pt x="0" y="0"/>
                  </a:moveTo>
                  <a:lnTo>
                    <a:pt x="256032" y="0"/>
                  </a:lnTo>
                  <a:lnTo>
                    <a:pt x="256032" y="3035808"/>
                  </a:lnTo>
                  <a:lnTo>
                    <a:pt x="0" y="3035808"/>
                  </a:lnTo>
                  <a:close/>
                </a:path>
              </a:pathLst>
            </a:custGeom>
            <a:solidFill>
              <a:srgbClr val="C25915"/>
            </a:solidFill>
          </p:spPr>
          <p:txBody>
            <a:bodyPr/>
            <a:p/>
          </p:txBody>
        </p:sp>
      </p:grpSp>
      <p:grpSp>
        <p:nvGrpSpPr>
          <p:cNvPr name="Group 44" id="44"/>
          <p:cNvGrpSpPr/>
          <p:nvPr/>
        </p:nvGrpSpPr>
        <p:grpSpPr>
          <a:xfrm rot="0">
            <a:off x="1124712" y="7132320"/>
            <a:ext cx="9121140" cy="2057400"/>
            <a:chOff x="0" y="0"/>
            <a:chExt cx="12161520" cy="2743200"/>
          </a:xfrm>
        </p:grpSpPr>
        <p:sp>
          <p:nvSpPr>
            <p:cNvPr name="Freeform 45" id="45"/>
            <p:cNvSpPr/>
            <p:nvPr/>
          </p:nvSpPr>
          <p:spPr>
            <a:xfrm flipH="false" flipV="false" rot="0">
              <a:off x="0" y="0"/>
              <a:ext cx="12161520" cy="2743200"/>
            </a:xfrm>
            <a:custGeom>
              <a:avLst/>
              <a:gdLst/>
              <a:ahLst/>
              <a:cxnLst/>
              <a:rect r="r" b="b" t="t" l="l"/>
              <a:pathLst>
                <a:path h="2743200" w="12161520">
                  <a:moveTo>
                    <a:pt x="0" y="0"/>
                  </a:moveTo>
                  <a:lnTo>
                    <a:pt x="12161520" y="0"/>
                  </a:lnTo>
                  <a:lnTo>
                    <a:pt x="12161520" y="2743200"/>
                  </a:lnTo>
                  <a:lnTo>
                    <a:pt x="0" y="2743200"/>
                  </a:lnTo>
                  <a:close/>
                </a:path>
              </a:pathLst>
            </a:custGeom>
            <a:blipFill>
              <a:blip r:embed="rId2">
                <a:alphaModFix amt="0"/>
              </a:blip>
              <a:stretch>
                <a:fillRect l="0" t="-36383" r="0" b="-36383"/>
              </a:stretch>
            </a:blipFill>
          </p:spPr>
          <p:txBody>
            <a:bodyPr/>
            <a:p/>
          </p:txBody>
        </p:sp>
        <p:sp>
          <p:nvSpPr>
            <p:cNvPr name="TextBox 46" id="46"/>
            <p:cNvSpPr txBox="true"/>
            <p:nvPr/>
          </p:nvSpPr>
          <p:spPr>
            <a:xfrm>
              <a:off x="0" y="-19050"/>
              <a:ext cx="12161520" cy="2762250"/>
            </a:xfrm>
            <a:prstGeom prst="rect">
              <a:avLst/>
            </a:prstGeom>
          </p:spPr>
          <p:txBody>
            <a:bodyPr anchor="ctr" rtlCol="false" tIns="0" lIns="0" bIns="0" rIns="0"/>
            <a:lstStyle/>
            <a:p>
              <a:pPr algn="l">
                <a:lnSpc>
                  <a:spcPts val="2700"/>
                </a:lnSpc>
              </a:pPr>
              <a:r>
                <a:rPr lang="en-US" sz="2250" b="true">
                  <a:solidFill>
                    <a:srgbClr val="C25915"/>
                  </a:solidFill>
                  <a:latin typeface="DejaVu Sans Bold"/>
                  <a:ea typeface="DejaVu Sans Bold"/>
                  <a:cs typeface="DejaVu Sans Bold"/>
                  <a:sym typeface="DejaVu Sans Bold"/>
                </a:rPr>
                <a:t>MỤC TIÊU ĐÍCH ĐẾN &amp; HÌNH ẢNH GỢI NHỚ</a:t>
              </a:r>
            </a:p>
            <a:p>
              <a:pPr algn="l">
                <a:lnSpc>
                  <a:spcPts val="2700"/>
                </a:lnSpc>
              </a:pPr>
              <a:r>
                <a:rPr lang="en-US" sz="2250">
                  <a:solidFill>
                    <a:srgbClr val="1E293B"/>
                  </a:solidFill>
                  <a:latin typeface="DejaVu Sans Light"/>
                  <a:ea typeface="DejaVu Sans Light"/>
                  <a:cs typeface="DejaVu Sans Light"/>
                  <a:sym typeface="DejaVu Sans Light"/>
                </a:rPr>
                <a:t>• Xác lập mục tiêu: "Dân giàu, nước mạnh, dân chủ, công bằng, văn minh".</a:t>
              </a:r>
            </a:p>
            <a:p>
              <a:pPr algn="l">
                <a:lnSpc>
                  <a:spcPts val="2700"/>
                </a:lnSpc>
              </a:pPr>
              <a:r>
                <a:rPr lang="en-US" sz="2250">
                  <a:solidFill>
                    <a:srgbClr val="1E293B"/>
                  </a:solidFill>
                  <a:latin typeface="DejaVu Sans Light"/>
                  <a:ea typeface="DejaVu Sans Light"/>
                  <a:cs typeface="DejaVu Sans Light"/>
                  <a:sym typeface="DejaVu Sans Light"/>
                </a:rPr>
                <a:t>→ Ẩn dụ: Lắp "Động cơ thị trường" mạnh mẽ + "Vô-lăng &amp; hệ thống phanh XHCN" nhân văn!</a:t>
              </a:r>
            </a:p>
          </p:txBody>
        </p:sp>
      </p:grpSp>
      <p:grpSp>
        <p:nvGrpSpPr>
          <p:cNvPr name="Group 47" id="47"/>
          <p:cNvGrpSpPr/>
          <p:nvPr/>
        </p:nvGrpSpPr>
        <p:grpSpPr>
          <a:xfrm rot="0">
            <a:off x="10810494" y="1881378"/>
            <a:ext cx="6743700" cy="7511796"/>
            <a:chOff x="0" y="0"/>
            <a:chExt cx="8991600" cy="10015728"/>
          </a:xfrm>
        </p:grpSpPr>
        <p:sp>
          <p:nvSpPr>
            <p:cNvPr name="Freeform 48" id="48"/>
            <p:cNvSpPr/>
            <p:nvPr/>
          </p:nvSpPr>
          <p:spPr>
            <a:xfrm flipH="false" flipV="false" rot="0">
              <a:off x="0" y="0"/>
              <a:ext cx="8991600" cy="10015728"/>
            </a:xfrm>
            <a:custGeom>
              <a:avLst/>
              <a:gdLst/>
              <a:ahLst/>
              <a:cxnLst/>
              <a:rect r="r" b="b" t="t" l="l"/>
              <a:pathLst>
                <a:path h="10015728" w="8991600">
                  <a:moveTo>
                    <a:pt x="0" y="359664"/>
                  </a:moveTo>
                  <a:cubicBezTo>
                    <a:pt x="0" y="161036"/>
                    <a:pt x="161036" y="0"/>
                    <a:pt x="359664" y="0"/>
                  </a:cubicBezTo>
                  <a:lnTo>
                    <a:pt x="8631936" y="0"/>
                  </a:lnTo>
                  <a:cubicBezTo>
                    <a:pt x="8830564" y="0"/>
                    <a:pt x="8991600" y="161036"/>
                    <a:pt x="8991600" y="359664"/>
                  </a:cubicBezTo>
                  <a:lnTo>
                    <a:pt x="8991600" y="9656064"/>
                  </a:lnTo>
                  <a:cubicBezTo>
                    <a:pt x="8991600" y="9854692"/>
                    <a:pt x="8830564" y="10015728"/>
                    <a:pt x="8631936" y="10015728"/>
                  </a:cubicBezTo>
                  <a:lnTo>
                    <a:pt x="359664" y="10015728"/>
                  </a:lnTo>
                  <a:cubicBezTo>
                    <a:pt x="161036" y="10015728"/>
                    <a:pt x="0" y="9854692"/>
                    <a:pt x="0" y="9656064"/>
                  </a:cubicBezTo>
                  <a:close/>
                </a:path>
              </a:pathLst>
            </a:custGeom>
            <a:solidFill>
              <a:srgbClr val="FFFFFF"/>
            </a:solidFill>
            <a:ln w="22860" cap="sq">
              <a:solidFill>
                <a:srgbClr val="CBD5E1"/>
              </a:solidFill>
              <a:prstDash val="solid"/>
              <a:miter/>
            </a:ln>
          </p:spPr>
          <p:txBody>
            <a:bodyPr/>
            <a:p/>
          </p:txBody>
        </p:sp>
      </p:grpSp>
      <p:grpSp>
        <p:nvGrpSpPr>
          <p:cNvPr name="Group 49" id="49"/>
          <p:cNvGrpSpPr/>
          <p:nvPr/>
        </p:nvGrpSpPr>
        <p:grpSpPr>
          <a:xfrm rot="0">
            <a:off x="10904220" y="1975104"/>
            <a:ext cx="6556248" cy="6748272"/>
            <a:chOff x="0" y="0"/>
            <a:chExt cx="8741664" cy="8997696"/>
          </a:xfrm>
        </p:grpSpPr>
        <p:sp>
          <p:nvSpPr>
            <p:cNvPr name="Freeform 50" id="50" descr="image3.jpg"/>
            <p:cNvSpPr/>
            <p:nvPr/>
          </p:nvSpPr>
          <p:spPr>
            <a:xfrm flipH="false" flipV="false" rot="0">
              <a:off x="0" y="0"/>
              <a:ext cx="8741664" cy="8997696"/>
            </a:xfrm>
            <a:custGeom>
              <a:avLst/>
              <a:gdLst/>
              <a:ahLst/>
              <a:cxnLst/>
              <a:rect r="r" b="b" t="t" l="l"/>
              <a:pathLst>
                <a:path h="8997696" w="8741664">
                  <a:moveTo>
                    <a:pt x="0" y="0"/>
                  </a:moveTo>
                  <a:lnTo>
                    <a:pt x="8741664" y="0"/>
                  </a:lnTo>
                  <a:lnTo>
                    <a:pt x="8741664" y="8997696"/>
                  </a:lnTo>
                  <a:lnTo>
                    <a:pt x="0" y="8997696"/>
                  </a:lnTo>
                  <a:lnTo>
                    <a:pt x="0" y="0"/>
                  </a:lnTo>
                  <a:close/>
                </a:path>
              </a:pathLst>
            </a:custGeom>
            <a:blipFill>
              <a:blip r:embed="rId3"/>
              <a:stretch>
                <a:fillRect l="-1464" t="0" r="-1464" b="0"/>
              </a:stretch>
            </a:blipFill>
          </p:spPr>
          <p:txBody>
            <a:bodyPr/>
            <a:p/>
          </p:txBody>
        </p:sp>
      </p:grpSp>
      <p:grpSp>
        <p:nvGrpSpPr>
          <p:cNvPr name="Group 51" id="51"/>
          <p:cNvGrpSpPr/>
          <p:nvPr/>
        </p:nvGrpSpPr>
        <p:grpSpPr>
          <a:xfrm rot="0">
            <a:off x="10904220" y="8778240"/>
            <a:ext cx="6556248" cy="548640"/>
            <a:chOff x="0" y="0"/>
            <a:chExt cx="8741664" cy="731520"/>
          </a:xfrm>
        </p:grpSpPr>
        <p:sp>
          <p:nvSpPr>
            <p:cNvPr name="Freeform 52" id="52"/>
            <p:cNvSpPr/>
            <p:nvPr/>
          </p:nvSpPr>
          <p:spPr>
            <a:xfrm flipH="false" flipV="false" rot="0">
              <a:off x="0" y="0"/>
              <a:ext cx="8741664" cy="731520"/>
            </a:xfrm>
            <a:custGeom>
              <a:avLst/>
              <a:gdLst/>
              <a:ahLst/>
              <a:cxnLst/>
              <a:rect r="r" b="b" t="t" l="l"/>
              <a:pathLst>
                <a:path h="731520" w="8741664">
                  <a:moveTo>
                    <a:pt x="0" y="0"/>
                  </a:moveTo>
                  <a:lnTo>
                    <a:pt x="8741664" y="0"/>
                  </a:lnTo>
                  <a:lnTo>
                    <a:pt x="8741664" y="731520"/>
                  </a:lnTo>
                  <a:lnTo>
                    <a:pt x="0" y="731520"/>
                  </a:lnTo>
                  <a:close/>
                </a:path>
              </a:pathLst>
            </a:custGeom>
            <a:solidFill>
              <a:srgbClr val="F1F5F9"/>
            </a:solidFill>
          </p:spPr>
          <p:txBody>
            <a:bodyPr/>
            <a:p/>
          </p:txBody>
        </p:sp>
      </p:grpSp>
      <p:grpSp>
        <p:nvGrpSpPr>
          <p:cNvPr name="Group 53" id="53"/>
          <p:cNvGrpSpPr/>
          <p:nvPr/>
        </p:nvGrpSpPr>
        <p:grpSpPr>
          <a:xfrm rot="0">
            <a:off x="10986516" y="8778240"/>
            <a:ext cx="6391656" cy="548640"/>
            <a:chOff x="0" y="0"/>
            <a:chExt cx="8522208" cy="731520"/>
          </a:xfrm>
        </p:grpSpPr>
        <p:sp>
          <p:nvSpPr>
            <p:cNvPr name="Freeform 54" id="54"/>
            <p:cNvSpPr/>
            <p:nvPr/>
          </p:nvSpPr>
          <p:spPr>
            <a:xfrm flipH="false" flipV="false" rot="0">
              <a:off x="0" y="0"/>
              <a:ext cx="8522208" cy="731520"/>
            </a:xfrm>
            <a:custGeom>
              <a:avLst/>
              <a:gdLst/>
              <a:ahLst/>
              <a:cxnLst/>
              <a:rect r="r" b="b" t="t" l="l"/>
              <a:pathLst>
                <a:path h="731520" w="8522208">
                  <a:moveTo>
                    <a:pt x="0" y="0"/>
                  </a:moveTo>
                  <a:lnTo>
                    <a:pt x="8522208" y="0"/>
                  </a:lnTo>
                  <a:lnTo>
                    <a:pt x="8522208" y="731520"/>
                  </a:lnTo>
                  <a:lnTo>
                    <a:pt x="0" y="731520"/>
                  </a:lnTo>
                  <a:close/>
                </a:path>
              </a:pathLst>
            </a:custGeom>
            <a:blipFill>
              <a:blip r:embed="rId2">
                <a:alphaModFix amt="0"/>
              </a:blip>
              <a:stretch>
                <a:fillRect l="0" t="-177000" r="0" b="-177000"/>
              </a:stretch>
            </a:blipFill>
          </p:spPr>
          <p:txBody>
            <a:bodyPr/>
            <a:p/>
          </p:txBody>
        </p:sp>
        <p:sp>
          <p:nvSpPr>
            <p:cNvPr name="TextBox 55" id="55"/>
            <p:cNvSpPr txBox="true"/>
            <p:nvPr/>
          </p:nvSpPr>
          <p:spPr>
            <a:xfrm>
              <a:off x="0" y="-9525"/>
              <a:ext cx="8522208" cy="741045"/>
            </a:xfrm>
            <a:prstGeom prst="rect">
              <a:avLst/>
            </a:prstGeom>
          </p:spPr>
          <p:txBody>
            <a:bodyPr anchor="ctr" rtlCol="false" tIns="0" lIns="0" bIns="0" rIns="0"/>
            <a:lstStyle/>
            <a:p>
              <a:pPr algn="l">
                <a:lnSpc>
                  <a:spcPts val="1727"/>
                </a:lnSpc>
              </a:pPr>
              <a:r>
                <a:rPr lang="en-US" sz="1439" b="true">
                  <a:solidFill>
                    <a:srgbClr val="1E293B"/>
                  </a:solidFill>
                  <a:latin typeface="DejaVu Sans Bold"/>
                  <a:ea typeface="DejaVu Sans Bold"/>
                  <a:cs typeface="DejaVu Sans Bold"/>
                  <a:sym typeface="DejaVu Sans Bold"/>
                </a:rPr>
                <a:t>Ảnh thật: Đoàn tàu Metro số 1 Bến Thành – Suối Tiên tại TP.HCM (02/2025) | Nguồn: Wikimedia Commons</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4876676" cy="137160"/>
            <a:chOff x="0" y="0"/>
            <a:chExt cx="6502235" cy="182880"/>
          </a:xfrm>
        </p:grpSpPr>
        <p:sp>
          <p:nvSpPr>
            <p:cNvPr name="Freeform 5" id="5"/>
            <p:cNvSpPr/>
            <p:nvPr/>
          </p:nvSpPr>
          <p:spPr>
            <a:xfrm flipH="false" flipV="false" rot="0">
              <a:off x="0" y="0"/>
              <a:ext cx="6502273" cy="182880"/>
            </a:xfrm>
            <a:custGeom>
              <a:avLst/>
              <a:gdLst/>
              <a:ahLst/>
              <a:cxnLst/>
              <a:rect r="r" b="b" t="t" l="l"/>
              <a:pathLst>
                <a:path h="182880" w="6502273">
                  <a:moveTo>
                    <a:pt x="0" y="0"/>
                  </a:moveTo>
                  <a:lnTo>
                    <a:pt x="6502273" y="0"/>
                  </a:lnTo>
                  <a:lnTo>
                    <a:pt x="6502273" y="182880"/>
                  </a:lnTo>
                  <a:lnTo>
                    <a:pt x="0" y="182880"/>
                  </a:lnTo>
                  <a:close/>
                </a:path>
              </a:pathLst>
            </a:custGeom>
            <a:solidFill>
              <a:srgbClr val="0F766E"/>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AF7F5"/>
            </a:solidFill>
            <a:ln w="19050" cap="sq">
              <a:solidFill>
                <a:srgbClr val="0F766E"/>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9525"/>
              <a:ext cx="9235440" cy="631317"/>
            </a:xfrm>
            <a:prstGeom prst="rect">
              <a:avLst/>
            </a:prstGeom>
          </p:spPr>
          <p:txBody>
            <a:bodyPr anchor="ctr" rtlCol="false" tIns="0" lIns="0" bIns="0" rIns="0"/>
            <a:lstStyle/>
            <a:p>
              <a:pPr algn="l">
                <a:lnSpc>
                  <a:spcPts val="1889"/>
                </a:lnSpc>
              </a:pPr>
              <a:r>
                <a:rPr lang="en-US" sz="1575" b="true">
                  <a:solidFill>
                    <a:srgbClr val="0F766E"/>
                  </a:solidFill>
                  <a:latin typeface="DejaVu Sans Bold"/>
                  <a:ea typeface="DejaVu Sans Bold"/>
                  <a:cs typeface="DejaVu Sans Bold"/>
                  <a:sym typeface="DejaVu Sans Bold"/>
                </a:rPr>
                <a:t>LÝ LUẬN NỀN TẢNG • MỤC 5.1.2 (TR. 171–177)</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19050"/>
              <a:ext cx="2432304" cy="64084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Slide 4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Vì sao phát triển KTTT định hướng XHCN là tất yếu khách quan?</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19050"/>
              <a:ext cx="22366224" cy="677418"/>
            </a:xfrm>
            <a:prstGeom prst="rect">
              <a:avLst/>
            </a:prstGeom>
          </p:spPr>
          <p:txBody>
            <a:bodyPr anchor="ctr" rtlCol="false" tIns="0" lIns="0" bIns="0" rIns="0"/>
            <a:lstStyle/>
            <a:p>
              <a:pPr algn="l">
                <a:lnSpc>
                  <a:spcPts val="2700"/>
                </a:lnSpc>
              </a:pPr>
              <a:r>
                <a:rPr lang="en-US" sz="2250" i="true">
                  <a:solidFill>
                    <a:srgbClr val="475569"/>
                  </a:solidFill>
                  <a:latin typeface="DejaVu Sans Bold Italics"/>
                  <a:ea typeface="DejaVu Sans Bold Italics"/>
                  <a:cs typeface="DejaVu Sans Bold Italics"/>
                  <a:sym typeface="DejaVu Sans Bold Italics"/>
                </a:rPr>
                <a:t>Nguồn lý luận: Giáo trình Kinh tế chính trị Mác – Lênin (Bộ GD&amp;ĐT, 2021, Mục 5.1.2, tr. 171–177).</a:t>
              </a:r>
            </a:p>
          </p:txBody>
        </p:sp>
      </p:grpSp>
      <p:grpSp>
        <p:nvGrpSpPr>
          <p:cNvPr name="Group 26" id="26"/>
          <p:cNvGrpSpPr/>
          <p:nvPr/>
        </p:nvGrpSpPr>
        <p:grpSpPr>
          <a:xfrm rot="0">
            <a:off x="742950" y="1963674"/>
            <a:ext cx="9692640" cy="2299716"/>
            <a:chOff x="0" y="0"/>
            <a:chExt cx="12923520" cy="3066288"/>
          </a:xfrm>
        </p:grpSpPr>
        <p:sp>
          <p:nvSpPr>
            <p:cNvPr name="Freeform 27" id="27"/>
            <p:cNvSpPr/>
            <p:nvPr/>
          </p:nvSpPr>
          <p:spPr>
            <a:xfrm flipH="false" flipV="false" rot="0">
              <a:off x="0" y="0"/>
              <a:ext cx="12923520" cy="3066288"/>
            </a:xfrm>
            <a:custGeom>
              <a:avLst/>
              <a:gdLst/>
              <a:ahLst/>
              <a:cxnLst/>
              <a:rect r="r" b="b" t="t" l="l"/>
              <a:pathLst>
                <a:path h="3066288" w="12923520">
                  <a:moveTo>
                    <a:pt x="0" y="122682"/>
                  </a:moveTo>
                  <a:cubicBezTo>
                    <a:pt x="0" y="54864"/>
                    <a:pt x="54864" y="0"/>
                    <a:pt x="122682" y="0"/>
                  </a:cubicBezTo>
                  <a:lnTo>
                    <a:pt x="12800838" y="0"/>
                  </a:lnTo>
                  <a:cubicBezTo>
                    <a:pt x="12868529" y="0"/>
                    <a:pt x="12923520" y="54864"/>
                    <a:pt x="12923520" y="122682"/>
                  </a:cubicBezTo>
                  <a:lnTo>
                    <a:pt x="12923520" y="2943606"/>
                  </a:lnTo>
                  <a:cubicBezTo>
                    <a:pt x="12923520" y="3011297"/>
                    <a:pt x="12868656" y="3066288"/>
                    <a:pt x="12800838" y="3066288"/>
                  </a:cubicBezTo>
                  <a:lnTo>
                    <a:pt x="122682" y="3066288"/>
                  </a:lnTo>
                  <a:cubicBezTo>
                    <a:pt x="54991" y="3066288"/>
                    <a:pt x="0" y="3011424"/>
                    <a:pt x="0" y="2943606"/>
                  </a:cubicBezTo>
                  <a:close/>
                </a:path>
              </a:pathLst>
            </a:custGeom>
            <a:solidFill>
              <a:srgbClr val="FFFFFF"/>
            </a:solidFill>
            <a:ln w="22860" cap="sq">
              <a:solidFill>
                <a:srgbClr val="CBD5E1"/>
              </a:solidFill>
              <a:prstDash val="solid"/>
              <a:miter/>
            </a:ln>
          </p:spPr>
          <p:txBody>
            <a:bodyPr/>
            <a:p/>
          </p:txBody>
        </p:sp>
      </p:grpSp>
      <p:grpSp>
        <p:nvGrpSpPr>
          <p:cNvPr name="Group 28" id="28"/>
          <p:cNvGrpSpPr/>
          <p:nvPr/>
        </p:nvGrpSpPr>
        <p:grpSpPr>
          <a:xfrm rot="0">
            <a:off x="754380" y="1975104"/>
            <a:ext cx="9669780" cy="576072"/>
            <a:chOff x="0" y="0"/>
            <a:chExt cx="12893040" cy="768096"/>
          </a:xfrm>
        </p:grpSpPr>
        <p:sp>
          <p:nvSpPr>
            <p:cNvPr name="Freeform 29" id="29"/>
            <p:cNvSpPr/>
            <p:nvPr/>
          </p:nvSpPr>
          <p:spPr>
            <a:xfrm flipH="false" flipV="false" rot="0">
              <a:off x="0" y="0"/>
              <a:ext cx="12893040" cy="768096"/>
            </a:xfrm>
            <a:custGeom>
              <a:avLst/>
              <a:gdLst/>
              <a:ahLst/>
              <a:cxnLst/>
              <a:rect r="r" b="b" t="t" l="l"/>
              <a:pathLst>
                <a:path h="768096" w="12893040">
                  <a:moveTo>
                    <a:pt x="0" y="0"/>
                  </a:moveTo>
                  <a:lnTo>
                    <a:pt x="12893040" y="0"/>
                  </a:lnTo>
                  <a:lnTo>
                    <a:pt x="12893040" y="768096"/>
                  </a:lnTo>
                  <a:lnTo>
                    <a:pt x="0" y="768096"/>
                  </a:lnTo>
                  <a:close/>
                </a:path>
              </a:pathLst>
            </a:custGeom>
            <a:solidFill>
              <a:srgbClr val="122645"/>
            </a:solidFill>
          </p:spPr>
          <p:txBody>
            <a:bodyPr/>
            <a:p/>
          </p:txBody>
        </p:sp>
      </p:grpSp>
      <p:grpSp>
        <p:nvGrpSpPr>
          <p:cNvPr name="Group 30" id="30"/>
          <p:cNvGrpSpPr/>
          <p:nvPr/>
        </p:nvGrpSpPr>
        <p:grpSpPr>
          <a:xfrm rot="0">
            <a:off x="987552" y="2002536"/>
            <a:ext cx="9258300" cy="521208"/>
            <a:chOff x="0" y="0"/>
            <a:chExt cx="12344400" cy="694944"/>
          </a:xfrm>
        </p:grpSpPr>
        <p:sp>
          <p:nvSpPr>
            <p:cNvPr name="Freeform 31" id="31"/>
            <p:cNvSpPr/>
            <p:nvPr/>
          </p:nvSpPr>
          <p:spPr>
            <a:xfrm flipH="false" flipV="false" rot="0">
              <a:off x="0" y="0"/>
              <a:ext cx="12344400" cy="694944"/>
            </a:xfrm>
            <a:custGeom>
              <a:avLst/>
              <a:gdLst/>
              <a:ahLst/>
              <a:cxnLst/>
              <a:rect r="r" b="b" t="t" l="l"/>
              <a:pathLst>
                <a:path h="694944" w="12344400">
                  <a:moveTo>
                    <a:pt x="0" y="0"/>
                  </a:moveTo>
                  <a:lnTo>
                    <a:pt x="12344400" y="0"/>
                  </a:lnTo>
                  <a:lnTo>
                    <a:pt x="12344400" y="694944"/>
                  </a:lnTo>
                  <a:lnTo>
                    <a:pt x="0" y="694944"/>
                  </a:lnTo>
                  <a:close/>
                </a:path>
              </a:pathLst>
            </a:custGeom>
            <a:blipFill>
              <a:blip r:embed="rId2">
                <a:alphaModFix amt="0"/>
              </a:blip>
              <a:stretch>
                <a:fillRect l="0" t="-296115" r="0" b="-296115"/>
              </a:stretch>
            </a:blipFill>
          </p:spPr>
          <p:txBody>
            <a:bodyPr/>
            <a:p/>
          </p:txBody>
        </p:sp>
        <p:sp>
          <p:nvSpPr>
            <p:cNvPr name="TextBox 32" id="32"/>
            <p:cNvSpPr txBox="true"/>
            <p:nvPr/>
          </p:nvSpPr>
          <p:spPr>
            <a:xfrm>
              <a:off x="0" y="-19050"/>
              <a:ext cx="12344400" cy="713994"/>
            </a:xfrm>
            <a:prstGeom prst="rect">
              <a:avLst/>
            </a:prstGeom>
          </p:spPr>
          <p:txBody>
            <a:bodyPr anchor="ctr" rtlCol="false" tIns="0" lIns="0" bIns="0" rIns="0"/>
            <a:lstStyle/>
            <a:p>
              <a:pPr algn="l">
                <a:lnSpc>
                  <a:spcPts val="2700"/>
                </a:lnSpc>
              </a:pPr>
              <a:r>
                <a:rPr lang="en-US" sz="2250" b="true">
                  <a:solidFill>
                    <a:srgbClr val="FFFFFF"/>
                  </a:solidFill>
                  <a:latin typeface="DejaVu Sans Bold"/>
                  <a:ea typeface="DejaVu Sans Bold"/>
                  <a:cs typeface="DejaVu Sans Bold"/>
                  <a:sym typeface="DejaVu Sans Bold"/>
                </a:rPr>
                <a:t>1. Phù hợp với tính quy luật phát triển khách quan</a:t>
              </a:r>
            </a:p>
          </p:txBody>
        </p:sp>
      </p:grpSp>
      <p:grpSp>
        <p:nvGrpSpPr>
          <p:cNvPr name="Group 33" id="33"/>
          <p:cNvGrpSpPr/>
          <p:nvPr/>
        </p:nvGrpSpPr>
        <p:grpSpPr>
          <a:xfrm rot="0">
            <a:off x="987552" y="2606040"/>
            <a:ext cx="9217152" cy="1563624"/>
            <a:chOff x="0" y="0"/>
            <a:chExt cx="12289536" cy="2084832"/>
          </a:xfrm>
        </p:grpSpPr>
        <p:sp>
          <p:nvSpPr>
            <p:cNvPr name="Freeform 34" id="34"/>
            <p:cNvSpPr/>
            <p:nvPr/>
          </p:nvSpPr>
          <p:spPr>
            <a:xfrm flipH="false" flipV="false" rot="0">
              <a:off x="0" y="0"/>
              <a:ext cx="12289536" cy="2084830"/>
            </a:xfrm>
            <a:custGeom>
              <a:avLst/>
              <a:gdLst/>
              <a:ahLst/>
              <a:cxnLst/>
              <a:rect r="r" b="b" t="t" l="l"/>
              <a:pathLst>
                <a:path h="2084830" w="12289536">
                  <a:moveTo>
                    <a:pt x="0" y="0"/>
                  </a:moveTo>
                  <a:lnTo>
                    <a:pt x="12289536" y="0"/>
                  </a:lnTo>
                  <a:lnTo>
                    <a:pt x="12289536" y="2084830"/>
                  </a:lnTo>
                  <a:lnTo>
                    <a:pt x="0" y="2084830"/>
                  </a:lnTo>
                  <a:close/>
                </a:path>
              </a:pathLst>
            </a:custGeom>
            <a:blipFill>
              <a:blip r:embed="rId2">
                <a:alphaModFix amt="0"/>
              </a:blip>
              <a:stretch>
                <a:fillRect l="0" t="-64859" r="0" b="-64859"/>
              </a:stretch>
            </a:blipFill>
          </p:spPr>
          <p:txBody>
            <a:bodyPr/>
            <a:p/>
          </p:txBody>
        </p:sp>
        <p:sp>
          <p:nvSpPr>
            <p:cNvPr name="TextBox 35" id="35"/>
            <p:cNvSpPr txBox="true"/>
            <p:nvPr/>
          </p:nvSpPr>
          <p:spPr>
            <a:xfrm>
              <a:off x="0" y="-19050"/>
              <a:ext cx="12289536" cy="2103882"/>
            </a:xfrm>
            <a:prstGeom prst="rect">
              <a:avLst/>
            </a:prstGeom>
          </p:spPr>
          <p:txBody>
            <a:bodyPr anchor="ctr" rtlCol="false" tIns="0" lIns="0" bIns="0" rIns="0"/>
            <a:lstStyle/>
            <a:p>
              <a:pPr algn="l">
                <a:lnSpc>
                  <a:spcPts val="2700"/>
                </a:lnSpc>
              </a:pPr>
              <a:r>
                <a:rPr lang="en-US" sz="2250">
                  <a:solidFill>
                    <a:srgbClr val="1E293B"/>
                  </a:solidFill>
                  <a:latin typeface="DejaVu Sans Light"/>
                  <a:ea typeface="DejaVu Sans Light"/>
                  <a:cs typeface="DejaVu Sans Light"/>
                  <a:sym typeface="DejaVu Sans Light"/>
                </a:rPr>
                <a:t>• Việt Nam có sẵn điều kiện khách quan của kinh tế hàng hóa: phân công lao động xã hội &amp; đa dạng hình thức sở hữu.</a:t>
              </a:r>
            </a:p>
            <a:p>
              <a:pPr algn="l">
                <a:lnSpc>
                  <a:spcPts val="2700"/>
                </a:lnSpc>
              </a:pPr>
              <a:r>
                <a:rPr lang="en-US" sz="2250">
                  <a:solidFill>
                    <a:srgbClr val="1E293B"/>
                  </a:solidFill>
                  <a:latin typeface="DejaVu Sans Light"/>
                  <a:ea typeface="DejaVu Sans Light"/>
                  <a:cs typeface="DejaVu Sans Light"/>
                  <a:sym typeface="DejaVu Sans Light"/>
                </a:rPr>
                <a:t>• Phù hợp xu thế hội nhập quốc tế; không thể duy ý chí xóa bỏ thị trường.</a:t>
              </a:r>
            </a:p>
          </p:txBody>
        </p:sp>
      </p:grpSp>
      <p:grpSp>
        <p:nvGrpSpPr>
          <p:cNvPr name="Group 36" id="36"/>
          <p:cNvGrpSpPr/>
          <p:nvPr/>
        </p:nvGrpSpPr>
        <p:grpSpPr>
          <a:xfrm rot="0">
            <a:off x="742950" y="4487418"/>
            <a:ext cx="9692640" cy="2299716"/>
            <a:chOff x="0" y="0"/>
            <a:chExt cx="12923520" cy="3066288"/>
          </a:xfrm>
        </p:grpSpPr>
        <p:sp>
          <p:nvSpPr>
            <p:cNvPr name="Freeform 37" id="37"/>
            <p:cNvSpPr/>
            <p:nvPr/>
          </p:nvSpPr>
          <p:spPr>
            <a:xfrm flipH="false" flipV="false" rot="0">
              <a:off x="0" y="0"/>
              <a:ext cx="12923520" cy="3066288"/>
            </a:xfrm>
            <a:custGeom>
              <a:avLst/>
              <a:gdLst/>
              <a:ahLst/>
              <a:cxnLst/>
              <a:rect r="r" b="b" t="t" l="l"/>
              <a:pathLst>
                <a:path h="3066288" w="12923520">
                  <a:moveTo>
                    <a:pt x="0" y="122682"/>
                  </a:moveTo>
                  <a:cubicBezTo>
                    <a:pt x="0" y="54864"/>
                    <a:pt x="54864" y="0"/>
                    <a:pt x="122682" y="0"/>
                  </a:cubicBezTo>
                  <a:lnTo>
                    <a:pt x="12800838" y="0"/>
                  </a:lnTo>
                  <a:cubicBezTo>
                    <a:pt x="12868529" y="0"/>
                    <a:pt x="12923520" y="54864"/>
                    <a:pt x="12923520" y="122682"/>
                  </a:cubicBezTo>
                  <a:lnTo>
                    <a:pt x="12923520" y="2943606"/>
                  </a:lnTo>
                  <a:cubicBezTo>
                    <a:pt x="12923520" y="3011297"/>
                    <a:pt x="12868656" y="3066288"/>
                    <a:pt x="12800838" y="3066288"/>
                  </a:cubicBezTo>
                  <a:lnTo>
                    <a:pt x="122682" y="3066288"/>
                  </a:lnTo>
                  <a:cubicBezTo>
                    <a:pt x="54991" y="3066288"/>
                    <a:pt x="0" y="3011424"/>
                    <a:pt x="0" y="2943606"/>
                  </a:cubicBezTo>
                  <a:close/>
                </a:path>
              </a:pathLst>
            </a:custGeom>
            <a:solidFill>
              <a:srgbClr val="FFFFFF"/>
            </a:solidFill>
            <a:ln w="22860" cap="sq">
              <a:solidFill>
                <a:srgbClr val="CBD5E1"/>
              </a:solidFill>
              <a:prstDash val="solid"/>
              <a:miter/>
            </a:ln>
          </p:spPr>
          <p:txBody>
            <a:bodyPr/>
            <a:p/>
          </p:txBody>
        </p:sp>
      </p:grpSp>
      <p:grpSp>
        <p:nvGrpSpPr>
          <p:cNvPr name="Group 38" id="38"/>
          <p:cNvGrpSpPr/>
          <p:nvPr/>
        </p:nvGrpSpPr>
        <p:grpSpPr>
          <a:xfrm rot="0">
            <a:off x="754380" y="4498848"/>
            <a:ext cx="9669780" cy="576072"/>
            <a:chOff x="0" y="0"/>
            <a:chExt cx="12893040" cy="768096"/>
          </a:xfrm>
        </p:grpSpPr>
        <p:sp>
          <p:nvSpPr>
            <p:cNvPr name="Freeform 39" id="39"/>
            <p:cNvSpPr/>
            <p:nvPr/>
          </p:nvSpPr>
          <p:spPr>
            <a:xfrm flipH="false" flipV="false" rot="0">
              <a:off x="0" y="0"/>
              <a:ext cx="12893040" cy="768096"/>
            </a:xfrm>
            <a:custGeom>
              <a:avLst/>
              <a:gdLst/>
              <a:ahLst/>
              <a:cxnLst/>
              <a:rect r="r" b="b" t="t" l="l"/>
              <a:pathLst>
                <a:path h="768096" w="12893040">
                  <a:moveTo>
                    <a:pt x="0" y="0"/>
                  </a:moveTo>
                  <a:lnTo>
                    <a:pt x="12893040" y="0"/>
                  </a:lnTo>
                  <a:lnTo>
                    <a:pt x="12893040" y="768096"/>
                  </a:lnTo>
                  <a:lnTo>
                    <a:pt x="0" y="768096"/>
                  </a:lnTo>
                  <a:close/>
                </a:path>
              </a:pathLst>
            </a:custGeom>
            <a:solidFill>
              <a:srgbClr val="0F766E"/>
            </a:solidFill>
          </p:spPr>
          <p:txBody>
            <a:bodyPr/>
            <a:p/>
          </p:txBody>
        </p:sp>
      </p:grpSp>
      <p:grpSp>
        <p:nvGrpSpPr>
          <p:cNvPr name="Group 40" id="40"/>
          <p:cNvGrpSpPr/>
          <p:nvPr/>
        </p:nvGrpSpPr>
        <p:grpSpPr>
          <a:xfrm rot="0">
            <a:off x="987552" y="4526280"/>
            <a:ext cx="9258300" cy="521208"/>
            <a:chOff x="0" y="0"/>
            <a:chExt cx="12344400" cy="694944"/>
          </a:xfrm>
        </p:grpSpPr>
        <p:sp>
          <p:nvSpPr>
            <p:cNvPr name="Freeform 41" id="41"/>
            <p:cNvSpPr/>
            <p:nvPr/>
          </p:nvSpPr>
          <p:spPr>
            <a:xfrm flipH="false" flipV="false" rot="0">
              <a:off x="0" y="0"/>
              <a:ext cx="12344400" cy="694944"/>
            </a:xfrm>
            <a:custGeom>
              <a:avLst/>
              <a:gdLst/>
              <a:ahLst/>
              <a:cxnLst/>
              <a:rect r="r" b="b" t="t" l="l"/>
              <a:pathLst>
                <a:path h="694944" w="12344400">
                  <a:moveTo>
                    <a:pt x="0" y="0"/>
                  </a:moveTo>
                  <a:lnTo>
                    <a:pt x="12344400" y="0"/>
                  </a:lnTo>
                  <a:lnTo>
                    <a:pt x="12344400" y="694944"/>
                  </a:lnTo>
                  <a:lnTo>
                    <a:pt x="0" y="694944"/>
                  </a:lnTo>
                  <a:close/>
                </a:path>
              </a:pathLst>
            </a:custGeom>
            <a:blipFill>
              <a:blip r:embed="rId2">
                <a:alphaModFix amt="0"/>
              </a:blip>
              <a:stretch>
                <a:fillRect l="0" t="-296115" r="0" b="-296115"/>
              </a:stretch>
            </a:blipFill>
          </p:spPr>
          <p:txBody>
            <a:bodyPr/>
            <a:p/>
          </p:txBody>
        </p:sp>
        <p:sp>
          <p:nvSpPr>
            <p:cNvPr name="TextBox 42" id="42"/>
            <p:cNvSpPr txBox="true"/>
            <p:nvPr/>
          </p:nvSpPr>
          <p:spPr>
            <a:xfrm>
              <a:off x="0" y="-19050"/>
              <a:ext cx="12344400" cy="713994"/>
            </a:xfrm>
            <a:prstGeom prst="rect">
              <a:avLst/>
            </a:prstGeom>
          </p:spPr>
          <p:txBody>
            <a:bodyPr anchor="ctr" rtlCol="false" tIns="0" lIns="0" bIns="0" rIns="0"/>
            <a:lstStyle/>
            <a:p>
              <a:pPr algn="l">
                <a:lnSpc>
                  <a:spcPts val="2700"/>
                </a:lnSpc>
              </a:pPr>
              <a:r>
                <a:rPr lang="en-US" sz="2250" b="true">
                  <a:solidFill>
                    <a:srgbClr val="FFFFFF"/>
                  </a:solidFill>
                  <a:latin typeface="DejaVu Sans Bold"/>
                  <a:ea typeface="DejaVu Sans Bold"/>
                  <a:cs typeface="DejaVu Sans Bold"/>
                  <a:sym typeface="DejaVu Sans Bold"/>
                </a:rPr>
                <a:t>2. Tính ưu việt của KTTT trong thúc đẩy sản xuất</a:t>
              </a:r>
            </a:p>
          </p:txBody>
        </p:sp>
      </p:grpSp>
      <p:grpSp>
        <p:nvGrpSpPr>
          <p:cNvPr name="Group 43" id="43"/>
          <p:cNvGrpSpPr/>
          <p:nvPr/>
        </p:nvGrpSpPr>
        <p:grpSpPr>
          <a:xfrm rot="0">
            <a:off x="987552" y="5129784"/>
            <a:ext cx="9217152" cy="1563624"/>
            <a:chOff x="0" y="0"/>
            <a:chExt cx="12289536" cy="2084832"/>
          </a:xfrm>
        </p:grpSpPr>
        <p:sp>
          <p:nvSpPr>
            <p:cNvPr name="Freeform 44" id="44"/>
            <p:cNvSpPr/>
            <p:nvPr/>
          </p:nvSpPr>
          <p:spPr>
            <a:xfrm flipH="false" flipV="false" rot="0">
              <a:off x="0" y="0"/>
              <a:ext cx="12289536" cy="2084830"/>
            </a:xfrm>
            <a:custGeom>
              <a:avLst/>
              <a:gdLst/>
              <a:ahLst/>
              <a:cxnLst/>
              <a:rect r="r" b="b" t="t" l="l"/>
              <a:pathLst>
                <a:path h="2084830" w="12289536">
                  <a:moveTo>
                    <a:pt x="0" y="0"/>
                  </a:moveTo>
                  <a:lnTo>
                    <a:pt x="12289536" y="0"/>
                  </a:lnTo>
                  <a:lnTo>
                    <a:pt x="12289536" y="2084830"/>
                  </a:lnTo>
                  <a:lnTo>
                    <a:pt x="0" y="2084830"/>
                  </a:lnTo>
                  <a:close/>
                </a:path>
              </a:pathLst>
            </a:custGeom>
            <a:blipFill>
              <a:blip r:embed="rId2">
                <a:alphaModFix amt="0"/>
              </a:blip>
              <a:stretch>
                <a:fillRect l="0" t="-64859" r="0" b="-64859"/>
              </a:stretch>
            </a:blipFill>
          </p:spPr>
          <p:txBody>
            <a:bodyPr/>
            <a:p/>
          </p:txBody>
        </p:sp>
        <p:sp>
          <p:nvSpPr>
            <p:cNvPr name="TextBox 45" id="45"/>
            <p:cNvSpPr txBox="true"/>
            <p:nvPr/>
          </p:nvSpPr>
          <p:spPr>
            <a:xfrm>
              <a:off x="0" y="-19050"/>
              <a:ext cx="12289536" cy="2103882"/>
            </a:xfrm>
            <a:prstGeom prst="rect">
              <a:avLst/>
            </a:prstGeom>
          </p:spPr>
          <p:txBody>
            <a:bodyPr anchor="ctr" rtlCol="false" tIns="0" lIns="0" bIns="0" rIns="0"/>
            <a:lstStyle/>
            <a:p>
              <a:pPr algn="l">
                <a:lnSpc>
                  <a:spcPts val="2700"/>
                </a:lnSpc>
              </a:pPr>
              <a:r>
                <a:rPr lang="en-US" sz="2250">
                  <a:solidFill>
                    <a:srgbClr val="1E293B"/>
                  </a:solidFill>
                  <a:latin typeface="DejaVu Sans Light"/>
                  <a:ea typeface="DejaVu Sans Light"/>
                  <a:cs typeface="DejaVu Sans Light"/>
                  <a:sym typeface="DejaVu Sans Light"/>
                </a:rPr>
                <a:t>• Cơ chế cạnh tranh kích thích đổi mới công nghệ, phân bổ nguồn lực hiệu quả.</a:t>
              </a:r>
            </a:p>
            <a:p>
              <a:pPr algn="l">
                <a:lnSpc>
                  <a:spcPts val="2700"/>
                </a:lnSpc>
              </a:pPr>
              <a:r>
                <a:rPr lang="en-US" sz="2250">
                  <a:solidFill>
                    <a:srgbClr val="1E293B"/>
                  </a:solidFill>
                  <a:latin typeface="DejaVu Sans Light"/>
                  <a:ea typeface="DejaVu Sans Light"/>
                  <a:cs typeface="DejaVu Sans Light"/>
                  <a:sym typeface="DejaVu Sans Light"/>
                </a:rPr>
                <a:t>• Thực chứng sau Đổi mới 1986: Việt Nam thoát khủng hoảng thiếu lương thực, quy mô GDP vượt 470 tỷ USD.</a:t>
              </a:r>
            </a:p>
          </p:txBody>
        </p:sp>
      </p:grpSp>
      <p:grpSp>
        <p:nvGrpSpPr>
          <p:cNvPr name="Group 46" id="46"/>
          <p:cNvGrpSpPr/>
          <p:nvPr/>
        </p:nvGrpSpPr>
        <p:grpSpPr>
          <a:xfrm rot="0">
            <a:off x="742950" y="7011162"/>
            <a:ext cx="9692640" cy="2299716"/>
            <a:chOff x="0" y="0"/>
            <a:chExt cx="12923520" cy="3066288"/>
          </a:xfrm>
        </p:grpSpPr>
        <p:sp>
          <p:nvSpPr>
            <p:cNvPr name="Freeform 47" id="47"/>
            <p:cNvSpPr/>
            <p:nvPr/>
          </p:nvSpPr>
          <p:spPr>
            <a:xfrm flipH="false" flipV="false" rot="0">
              <a:off x="0" y="0"/>
              <a:ext cx="12923520" cy="3066288"/>
            </a:xfrm>
            <a:custGeom>
              <a:avLst/>
              <a:gdLst/>
              <a:ahLst/>
              <a:cxnLst/>
              <a:rect r="r" b="b" t="t" l="l"/>
              <a:pathLst>
                <a:path h="3066288" w="12923520">
                  <a:moveTo>
                    <a:pt x="0" y="122682"/>
                  </a:moveTo>
                  <a:cubicBezTo>
                    <a:pt x="0" y="54864"/>
                    <a:pt x="54864" y="0"/>
                    <a:pt x="122682" y="0"/>
                  </a:cubicBezTo>
                  <a:lnTo>
                    <a:pt x="12800838" y="0"/>
                  </a:lnTo>
                  <a:cubicBezTo>
                    <a:pt x="12868529" y="0"/>
                    <a:pt x="12923520" y="54864"/>
                    <a:pt x="12923520" y="122682"/>
                  </a:cubicBezTo>
                  <a:lnTo>
                    <a:pt x="12923520" y="2943606"/>
                  </a:lnTo>
                  <a:cubicBezTo>
                    <a:pt x="12923520" y="3011297"/>
                    <a:pt x="12868656" y="3066288"/>
                    <a:pt x="12800838" y="3066288"/>
                  </a:cubicBezTo>
                  <a:lnTo>
                    <a:pt x="122682" y="3066288"/>
                  </a:lnTo>
                  <a:cubicBezTo>
                    <a:pt x="54991" y="3066288"/>
                    <a:pt x="0" y="3011424"/>
                    <a:pt x="0" y="2943606"/>
                  </a:cubicBezTo>
                  <a:close/>
                </a:path>
              </a:pathLst>
            </a:custGeom>
            <a:solidFill>
              <a:srgbClr val="FFFFFF"/>
            </a:solidFill>
            <a:ln w="22860" cap="sq">
              <a:solidFill>
                <a:srgbClr val="CBD5E1"/>
              </a:solidFill>
              <a:prstDash val="solid"/>
              <a:miter/>
            </a:ln>
          </p:spPr>
          <p:txBody>
            <a:bodyPr/>
            <a:p/>
          </p:txBody>
        </p:sp>
      </p:grpSp>
      <p:grpSp>
        <p:nvGrpSpPr>
          <p:cNvPr name="Group 48" id="48"/>
          <p:cNvGrpSpPr/>
          <p:nvPr/>
        </p:nvGrpSpPr>
        <p:grpSpPr>
          <a:xfrm rot="0">
            <a:off x="754380" y="7022592"/>
            <a:ext cx="9669780" cy="576072"/>
            <a:chOff x="0" y="0"/>
            <a:chExt cx="12893040" cy="768096"/>
          </a:xfrm>
        </p:grpSpPr>
        <p:sp>
          <p:nvSpPr>
            <p:cNvPr name="Freeform 49" id="49"/>
            <p:cNvSpPr/>
            <p:nvPr/>
          </p:nvSpPr>
          <p:spPr>
            <a:xfrm flipH="false" flipV="false" rot="0">
              <a:off x="0" y="0"/>
              <a:ext cx="12893040" cy="768096"/>
            </a:xfrm>
            <a:custGeom>
              <a:avLst/>
              <a:gdLst/>
              <a:ahLst/>
              <a:cxnLst/>
              <a:rect r="r" b="b" t="t" l="l"/>
              <a:pathLst>
                <a:path h="768096" w="12893040">
                  <a:moveTo>
                    <a:pt x="0" y="0"/>
                  </a:moveTo>
                  <a:lnTo>
                    <a:pt x="12893040" y="0"/>
                  </a:lnTo>
                  <a:lnTo>
                    <a:pt x="12893040" y="768096"/>
                  </a:lnTo>
                  <a:lnTo>
                    <a:pt x="0" y="768096"/>
                  </a:lnTo>
                  <a:close/>
                </a:path>
              </a:pathLst>
            </a:custGeom>
            <a:solidFill>
              <a:srgbClr val="C25915"/>
            </a:solidFill>
          </p:spPr>
          <p:txBody>
            <a:bodyPr/>
            <a:p/>
          </p:txBody>
        </p:sp>
      </p:grpSp>
      <p:grpSp>
        <p:nvGrpSpPr>
          <p:cNvPr name="Group 50" id="50"/>
          <p:cNvGrpSpPr/>
          <p:nvPr/>
        </p:nvGrpSpPr>
        <p:grpSpPr>
          <a:xfrm rot="0">
            <a:off x="987552" y="7050024"/>
            <a:ext cx="9258300" cy="521208"/>
            <a:chOff x="0" y="0"/>
            <a:chExt cx="12344400" cy="694944"/>
          </a:xfrm>
        </p:grpSpPr>
        <p:sp>
          <p:nvSpPr>
            <p:cNvPr name="Freeform 51" id="51"/>
            <p:cNvSpPr/>
            <p:nvPr/>
          </p:nvSpPr>
          <p:spPr>
            <a:xfrm flipH="false" flipV="false" rot="0">
              <a:off x="0" y="0"/>
              <a:ext cx="12344400" cy="694944"/>
            </a:xfrm>
            <a:custGeom>
              <a:avLst/>
              <a:gdLst/>
              <a:ahLst/>
              <a:cxnLst/>
              <a:rect r="r" b="b" t="t" l="l"/>
              <a:pathLst>
                <a:path h="694944" w="12344400">
                  <a:moveTo>
                    <a:pt x="0" y="0"/>
                  </a:moveTo>
                  <a:lnTo>
                    <a:pt x="12344400" y="0"/>
                  </a:lnTo>
                  <a:lnTo>
                    <a:pt x="12344400" y="694944"/>
                  </a:lnTo>
                  <a:lnTo>
                    <a:pt x="0" y="694944"/>
                  </a:lnTo>
                  <a:close/>
                </a:path>
              </a:pathLst>
            </a:custGeom>
            <a:blipFill>
              <a:blip r:embed="rId2">
                <a:alphaModFix amt="0"/>
              </a:blip>
              <a:stretch>
                <a:fillRect l="0" t="-296115" r="0" b="-296115"/>
              </a:stretch>
            </a:blipFill>
          </p:spPr>
          <p:txBody>
            <a:bodyPr/>
            <a:p/>
          </p:txBody>
        </p:sp>
        <p:sp>
          <p:nvSpPr>
            <p:cNvPr name="TextBox 52" id="52"/>
            <p:cNvSpPr txBox="true"/>
            <p:nvPr/>
          </p:nvSpPr>
          <p:spPr>
            <a:xfrm>
              <a:off x="0" y="-19050"/>
              <a:ext cx="12344400" cy="713994"/>
            </a:xfrm>
            <a:prstGeom prst="rect">
              <a:avLst/>
            </a:prstGeom>
          </p:spPr>
          <p:txBody>
            <a:bodyPr anchor="ctr" rtlCol="false" tIns="0" lIns="0" bIns="0" rIns="0"/>
            <a:lstStyle/>
            <a:p>
              <a:pPr algn="l">
                <a:lnSpc>
                  <a:spcPts val="2700"/>
                </a:lnSpc>
              </a:pPr>
              <a:r>
                <a:rPr lang="en-US" sz="2250" b="true">
                  <a:solidFill>
                    <a:srgbClr val="FFFFFF"/>
                  </a:solidFill>
                  <a:latin typeface="DejaVu Sans Bold"/>
                  <a:ea typeface="DejaVu Sans Bold"/>
                  <a:cs typeface="DejaVu Sans Bold"/>
                  <a:sym typeface="DejaVu Sans Bold"/>
                </a:rPr>
                <a:t>3. Phù hợp với nguyện vọng của Nhân dân Việt Nam</a:t>
              </a:r>
            </a:p>
          </p:txBody>
        </p:sp>
      </p:grpSp>
      <p:grpSp>
        <p:nvGrpSpPr>
          <p:cNvPr name="Group 53" id="53"/>
          <p:cNvGrpSpPr/>
          <p:nvPr/>
        </p:nvGrpSpPr>
        <p:grpSpPr>
          <a:xfrm rot="0">
            <a:off x="987552" y="7653528"/>
            <a:ext cx="9217152" cy="1563624"/>
            <a:chOff x="0" y="0"/>
            <a:chExt cx="12289536" cy="2084832"/>
          </a:xfrm>
        </p:grpSpPr>
        <p:sp>
          <p:nvSpPr>
            <p:cNvPr name="Freeform 54" id="54"/>
            <p:cNvSpPr/>
            <p:nvPr/>
          </p:nvSpPr>
          <p:spPr>
            <a:xfrm flipH="false" flipV="false" rot="0">
              <a:off x="0" y="0"/>
              <a:ext cx="12289536" cy="2084830"/>
            </a:xfrm>
            <a:custGeom>
              <a:avLst/>
              <a:gdLst/>
              <a:ahLst/>
              <a:cxnLst/>
              <a:rect r="r" b="b" t="t" l="l"/>
              <a:pathLst>
                <a:path h="2084830" w="12289536">
                  <a:moveTo>
                    <a:pt x="0" y="0"/>
                  </a:moveTo>
                  <a:lnTo>
                    <a:pt x="12289536" y="0"/>
                  </a:lnTo>
                  <a:lnTo>
                    <a:pt x="12289536" y="2084830"/>
                  </a:lnTo>
                  <a:lnTo>
                    <a:pt x="0" y="2084830"/>
                  </a:lnTo>
                  <a:close/>
                </a:path>
              </a:pathLst>
            </a:custGeom>
            <a:blipFill>
              <a:blip r:embed="rId2">
                <a:alphaModFix amt="0"/>
              </a:blip>
              <a:stretch>
                <a:fillRect l="0" t="-64859" r="0" b="-64859"/>
              </a:stretch>
            </a:blipFill>
          </p:spPr>
          <p:txBody>
            <a:bodyPr/>
            <a:p/>
          </p:txBody>
        </p:sp>
        <p:sp>
          <p:nvSpPr>
            <p:cNvPr name="TextBox 55" id="55"/>
            <p:cNvSpPr txBox="true"/>
            <p:nvPr/>
          </p:nvSpPr>
          <p:spPr>
            <a:xfrm>
              <a:off x="0" y="-19050"/>
              <a:ext cx="12289536" cy="2103882"/>
            </a:xfrm>
            <a:prstGeom prst="rect">
              <a:avLst/>
            </a:prstGeom>
          </p:spPr>
          <p:txBody>
            <a:bodyPr anchor="ctr" rtlCol="false" tIns="0" lIns="0" bIns="0" rIns="0"/>
            <a:lstStyle/>
            <a:p>
              <a:pPr algn="l">
                <a:lnSpc>
                  <a:spcPts val="2700"/>
                </a:lnSpc>
              </a:pPr>
              <a:r>
                <a:rPr lang="en-US" sz="2250">
                  <a:solidFill>
                    <a:srgbClr val="1E293B"/>
                  </a:solidFill>
                  <a:latin typeface="DejaVu Sans Light"/>
                  <a:ea typeface="DejaVu Sans Light"/>
                  <a:cs typeface="DejaVu Sans Light"/>
                  <a:sym typeface="DejaVu Sans Light"/>
                </a:rPr>
                <a:t>• Đáp ứng khát vọng làm giàu hợp pháp, tự do kinh doanh năng động của người dân và doanh nghiệp.</a:t>
              </a:r>
            </a:p>
            <a:p>
              <a:pPr algn="l">
                <a:lnSpc>
                  <a:spcPts val="2700"/>
                </a:lnSpc>
              </a:pPr>
              <a:r>
                <a:rPr lang="en-US" sz="2250">
                  <a:solidFill>
                    <a:srgbClr val="1E293B"/>
                  </a:solidFill>
                  <a:latin typeface="DejaVu Sans Light"/>
                  <a:ea typeface="DejaVu Sans Light"/>
                  <a:cs typeface="DejaVu Sans Light"/>
                  <a:sym typeface="DejaVu Sans Light"/>
                </a:rPr>
                <a:t>• Đồng thời bảo đảm an sinh xã hội, không bỏ rơi người lao động thu nhập thấp.</a:t>
              </a:r>
            </a:p>
          </p:txBody>
        </p:sp>
      </p:grpSp>
      <p:grpSp>
        <p:nvGrpSpPr>
          <p:cNvPr name="Group 56" id="56"/>
          <p:cNvGrpSpPr/>
          <p:nvPr/>
        </p:nvGrpSpPr>
        <p:grpSpPr>
          <a:xfrm rot="0">
            <a:off x="10810494" y="1881378"/>
            <a:ext cx="6743700" cy="7511796"/>
            <a:chOff x="0" y="0"/>
            <a:chExt cx="8991600" cy="10015728"/>
          </a:xfrm>
        </p:grpSpPr>
        <p:sp>
          <p:nvSpPr>
            <p:cNvPr name="Freeform 57" id="57"/>
            <p:cNvSpPr/>
            <p:nvPr/>
          </p:nvSpPr>
          <p:spPr>
            <a:xfrm flipH="false" flipV="false" rot="0">
              <a:off x="0" y="0"/>
              <a:ext cx="8991600" cy="10015728"/>
            </a:xfrm>
            <a:custGeom>
              <a:avLst/>
              <a:gdLst/>
              <a:ahLst/>
              <a:cxnLst/>
              <a:rect r="r" b="b" t="t" l="l"/>
              <a:pathLst>
                <a:path h="10015728" w="8991600">
                  <a:moveTo>
                    <a:pt x="0" y="359664"/>
                  </a:moveTo>
                  <a:cubicBezTo>
                    <a:pt x="0" y="161036"/>
                    <a:pt x="161036" y="0"/>
                    <a:pt x="359664" y="0"/>
                  </a:cubicBezTo>
                  <a:lnTo>
                    <a:pt x="8631936" y="0"/>
                  </a:lnTo>
                  <a:cubicBezTo>
                    <a:pt x="8830564" y="0"/>
                    <a:pt x="8991600" y="161036"/>
                    <a:pt x="8991600" y="359664"/>
                  </a:cubicBezTo>
                  <a:lnTo>
                    <a:pt x="8991600" y="9656064"/>
                  </a:lnTo>
                  <a:cubicBezTo>
                    <a:pt x="8991600" y="9854692"/>
                    <a:pt x="8830564" y="10015728"/>
                    <a:pt x="8631936" y="10015728"/>
                  </a:cubicBezTo>
                  <a:lnTo>
                    <a:pt x="359664" y="10015728"/>
                  </a:lnTo>
                  <a:cubicBezTo>
                    <a:pt x="161036" y="10015728"/>
                    <a:pt x="0" y="9854692"/>
                    <a:pt x="0" y="9656064"/>
                  </a:cubicBezTo>
                  <a:close/>
                </a:path>
              </a:pathLst>
            </a:custGeom>
            <a:solidFill>
              <a:srgbClr val="FFFFFF"/>
            </a:solidFill>
            <a:ln w="22860" cap="sq">
              <a:solidFill>
                <a:srgbClr val="CBD5E1"/>
              </a:solidFill>
              <a:prstDash val="solid"/>
              <a:miter/>
            </a:ln>
          </p:spPr>
          <p:txBody>
            <a:bodyPr/>
            <a:p/>
          </p:txBody>
        </p:sp>
      </p:grpSp>
      <p:grpSp>
        <p:nvGrpSpPr>
          <p:cNvPr name="Group 58" id="58"/>
          <p:cNvGrpSpPr/>
          <p:nvPr/>
        </p:nvGrpSpPr>
        <p:grpSpPr>
          <a:xfrm rot="0">
            <a:off x="10904220" y="1975104"/>
            <a:ext cx="6556248" cy="6748272"/>
            <a:chOff x="0" y="0"/>
            <a:chExt cx="8741664" cy="8997696"/>
          </a:xfrm>
        </p:grpSpPr>
        <p:sp>
          <p:nvSpPr>
            <p:cNvPr name="Freeform 59" id="59" descr="image4.jpg"/>
            <p:cNvSpPr/>
            <p:nvPr/>
          </p:nvSpPr>
          <p:spPr>
            <a:xfrm flipH="false" flipV="false" rot="0">
              <a:off x="0" y="0"/>
              <a:ext cx="8741664" cy="8997696"/>
            </a:xfrm>
            <a:custGeom>
              <a:avLst/>
              <a:gdLst/>
              <a:ahLst/>
              <a:cxnLst/>
              <a:rect r="r" b="b" t="t" l="l"/>
              <a:pathLst>
                <a:path h="8997696" w="8741664">
                  <a:moveTo>
                    <a:pt x="0" y="0"/>
                  </a:moveTo>
                  <a:lnTo>
                    <a:pt x="8741664" y="0"/>
                  </a:lnTo>
                  <a:lnTo>
                    <a:pt x="8741664" y="8997696"/>
                  </a:lnTo>
                  <a:lnTo>
                    <a:pt x="0" y="8997696"/>
                  </a:lnTo>
                  <a:lnTo>
                    <a:pt x="0" y="0"/>
                  </a:lnTo>
                  <a:close/>
                </a:path>
              </a:pathLst>
            </a:custGeom>
            <a:blipFill>
              <a:blip r:embed="rId3"/>
              <a:stretch>
                <a:fillRect l="-1464" t="0" r="-1464" b="0"/>
              </a:stretch>
            </a:blipFill>
          </p:spPr>
          <p:txBody>
            <a:bodyPr/>
            <a:p/>
          </p:txBody>
        </p:sp>
      </p:grpSp>
      <p:grpSp>
        <p:nvGrpSpPr>
          <p:cNvPr name="Group 60" id="60"/>
          <p:cNvGrpSpPr/>
          <p:nvPr/>
        </p:nvGrpSpPr>
        <p:grpSpPr>
          <a:xfrm rot="0">
            <a:off x="10904220" y="8778240"/>
            <a:ext cx="6556248" cy="548640"/>
            <a:chOff x="0" y="0"/>
            <a:chExt cx="8741664" cy="731520"/>
          </a:xfrm>
        </p:grpSpPr>
        <p:sp>
          <p:nvSpPr>
            <p:cNvPr name="Freeform 61" id="61"/>
            <p:cNvSpPr/>
            <p:nvPr/>
          </p:nvSpPr>
          <p:spPr>
            <a:xfrm flipH="false" flipV="false" rot="0">
              <a:off x="0" y="0"/>
              <a:ext cx="8741664" cy="731520"/>
            </a:xfrm>
            <a:custGeom>
              <a:avLst/>
              <a:gdLst/>
              <a:ahLst/>
              <a:cxnLst/>
              <a:rect r="r" b="b" t="t" l="l"/>
              <a:pathLst>
                <a:path h="731520" w="8741664">
                  <a:moveTo>
                    <a:pt x="0" y="0"/>
                  </a:moveTo>
                  <a:lnTo>
                    <a:pt x="8741664" y="0"/>
                  </a:lnTo>
                  <a:lnTo>
                    <a:pt x="8741664" y="731520"/>
                  </a:lnTo>
                  <a:lnTo>
                    <a:pt x="0" y="731520"/>
                  </a:lnTo>
                  <a:close/>
                </a:path>
              </a:pathLst>
            </a:custGeom>
            <a:solidFill>
              <a:srgbClr val="F1F5F9"/>
            </a:solidFill>
          </p:spPr>
          <p:txBody>
            <a:bodyPr/>
            <a:p/>
          </p:txBody>
        </p:sp>
      </p:grpSp>
      <p:grpSp>
        <p:nvGrpSpPr>
          <p:cNvPr name="Group 62" id="62"/>
          <p:cNvGrpSpPr/>
          <p:nvPr/>
        </p:nvGrpSpPr>
        <p:grpSpPr>
          <a:xfrm rot="0">
            <a:off x="10986516" y="8778240"/>
            <a:ext cx="6391656" cy="548640"/>
            <a:chOff x="0" y="0"/>
            <a:chExt cx="8522208" cy="731520"/>
          </a:xfrm>
        </p:grpSpPr>
        <p:sp>
          <p:nvSpPr>
            <p:cNvPr name="Freeform 63" id="63"/>
            <p:cNvSpPr/>
            <p:nvPr/>
          </p:nvSpPr>
          <p:spPr>
            <a:xfrm flipH="false" flipV="false" rot="0">
              <a:off x="0" y="0"/>
              <a:ext cx="8522208" cy="731520"/>
            </a:xfrm>
            <a:custGeom>
              <a:avLst/>
              <a:gdLst/>
              <a:ahLst/>
              <a:cxnLst/>
              <a:rect r="r" b="b" t="t" l="l"/>
              <a:pathLst>
                <a:path h="731520" w="8522208">
                  <a:moveTo>
                    <a:pt x="0" y="0"/>
                  </a:moveTo>
                  <a:lnTo>
                    <a:pt x="8522208" y="0"/>
                  </a:lnTo>
                  <a:lnTo>
                    <a:pt x="8522208" y="731520"/>
                  </a:lnTo>
                  <a:lnTo>
                    <a:pt x="0" y="731520"/>
                  </a:lnTo>
                  <a:close/>
                </a:path>
              </a:pathLst>
            </a:custGeom>
            <a:blipFill>
              <a:blip r:embed="rId2">
                <a:alphaModFix amt="0"/>
              </a:blip>
              <a:stretch>
                <a:fillRect l="0" t="-177000" r="0" b="-177000"/>
              </a:stretch>
            </a:blipFill>
          </p:spPr>
          <p:txBody>
            <a:bodyPr/>
            <a:p/>
          </p:txBody>
        </p:sp>
        <p:sp>
          <p:nvSpPr>
            <p:cNvPr name="TextBox 64" id="64"/>
            <p:cNvSpPr txBox="true"/>
            <p:nvPr/>
          </p:nvSpPr>
          <p:spPr>
            <a:xfrm>
              <a:off x="0" y="-9525"/>
              <a:ext cx="8522208" cy="741045"/>
            </a:xfrm>
            <a:prstGeom prst="rect">
              <a:avLst/>
            </a:prstGeom>
          </p:spPr>
          <p:txBody>
            <a:bodyPr anchor="ctr" rtlCol="false" tIns="0" lIns="0" bIns="0" rIns="0"/>
            <a:lstStyle/>
            <a:p>
              <a:pPr algn="l">
                <a:lnSpc>
                  <a:spcPts val="1727"/>
                </a:lnSpc>
              </a:pPr>
              <a:r>
                <a:rPr lang="en-US" sz="1439" b="true">
                  <a:solidFill>
                    <a:srgbClr val="1E293B"/>
                  </a:solidFill>
                  <a:latin typeface="DejaVu Sans Bold"/>
                  <a:ea typeface="DejaVu Sans Bold"/>
                  <a:cs typeface="DejaVu Sans Bold"/>
                  <a:sym typeface="DejaVu Sans Bold"/>
                </a:rPr>
                <a:t>Ảnh thật: Cầu Ba Son &amp; diện mạo hạ tầng đô thị hiện đại TP.HCM | Nguồn: Wikimedia Commons (CC BY-SA)</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6095848" cy="137160"/>
            <a:chOff x="0" y="0"/>
            <a:chExt cx="8127797" cy="182880"/>
          </a:xfrm>
        </p:grpSpPr>
        <p:sp>
          <p:nvSpPr>
            <p:cNvPr name="Freeform 5" id="5"/>
            <p:cNvSpPr/>
            <p:nvPr/>
          </p:nvSpPr>
          <p:spPr>
            <a:xfrm flipH="false" flipV="false" rot="0">
              <a:off x="0" y="0"/>
              <a:ext cx="8127746" cy="182880"/>
            </a:xfrm>
            <a:custGeom>
              <a:avLst/>
              <a:gdLst/>
              <a:ahLst/>
              <a:cxnLst/>
              <a:rect r="r" b="b" t="t" l="l"/>
              <a:pathLst>
                <a:path h="182880" w="8127746">
                  <a:moveTo>
                    <a:pt x="0" y="0"/>
                  </a:moveTo>
                  <a:lnTo>
                    <a:pt x="8127746" y="0"/>
                  </a:lnTo>
                  <a:lnTo>
                    <a:pt x="8127746" y="182880"/>
                  </a:lnTo>
                  <a:lnTo>
                    <a:pt x="0" y="182880"/>
                  </a:lnTo>
                  <a:close/>
                </a:path>
              </a:pathLst>
            </a:custGeom>
            <a:solidFill>
              <a:srgbClr val="0F766E"/>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AF7F5"/>
            </a:solidFill>
            <a:ln w="19050" cap="sq">
              <a:solidFill>
                <a:srgbClr val="0F766E"/>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9525"/>
              <a:ext cx="9235440" cy="631317"/>
            </a:xfrm>
            <a:prstGeom prst="rect">
              <a:avLst/>
            </a:prstGeom>
          </p:spPr>
          <p:txBody>
            <a:bodyPr anchor="ctr" rtlCol="false" tIns="0" lIns="0" bIns="0" rIns="0"/>
            <a:lstStyle/>
            <a:p>
              <a:pPr algn="l">
                <a:lnSpc>
                  <a:spcPts val="1889"/>
                </a:lnSpc>
              </a:pPr>
              <a:r>
                <a:rPr lang="en-US" sz="1575" b="true">
                  <a:solidFill>
                    <a:srgbClr val="0F766E"/>
                  </a:solidFill>
                  <a:latin typeface="DejaVu Sans Bold"/>
                  <a:ea typeface="DejaVu Sans Bold"/>
                  <a:cs typeface="DejaVu Sans Bold"/>
                  <a:sym typeface="DejaVu Sans Bold"/>
                </a:rPr>
                <a:t>TRẢ LỜI CÂU HỎI 1 • MỤC 5.1.3 (TR. 177–187)</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19050"/>
              <a:ext cx="2432304" cy="64084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Slide 5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So sánh 5 đặc trưng: KTTT Tư bản chủ nghĩa vs. KTTT Định hướng XHCN</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9525"/>
              <a:ext cx="22366224" cy="667893"/>
            </a:xfrm>
            <a:prstGeom prst="rect">
              <a:avLst/>
            </a:prstGeom>
          </p:spPr>
          <p:txBody>
            <a:bodyPr anchor="ctr" rtlCol="false" tIns="0" lIns="0" bIns="0" rIns="0"/>
            <a:lstStyle/>
            <a:p>
              <a:pPr algn="l">
                <a:lnSpc>
                  <a:spcPts val="2460"/>
                </a:lnSpc>
              </a:pPr>
              <a:r>
                <a:rPr lang="en-US" sz="2050" i="true">
                  <a:solidFill>
                    <a:srgbClr val="475569"/>
                  </a:solidFill>
                  <a:latin typeface="DejaVu Sans Bold Italics"/>
                  <a:ea typeface="DejaVu Sans Bold Italics"/>
                  <a:cs typeface="DejaVu Sans Bold Italics"/>
                  <a:sym typeface="DejaVu Sans Bold Italics"/>
                </a:rPr>
                <a:t>Nguồn: Giáo trình KTCT Mác – Lênin (2021, tr. 177–187); đối chiếu khách quan chính sách phúc lợi các nước OECD.</a:t>
              </a:r>
            </a:p>
          </p:txBody>
        </p:sp>
      </p:grpSp>
      <p:grpSp>
        <p:nvGrpSpPr>
          <p:cNvPr name="Group 26" id="26"/>
          <p:cNvGrpSpPr/>
          <p:nvPr/>
        </p:nvGrpSpPr>
        <p:grpSpPr>
          <a:xfrm rot="0">
            <a:off x="742950" y="1771650"/>
            <a:ext cx="16797528" cy="626364"/>
            <a:chOff x="0" y="0"/>
            <a:chExt cx="22396704" cy="835152"/>
          </a:xfrm>
        </p:grpSpPr>
        <p:sp>
          <p:nvSpPr>
            <p:cNvPr name="Freeform 27" id="27"/>
            <p:cNvSpPr/>
            <p:nvPr/>
          </p:nvSpPr>
          <p:spPr>
            <a:xfrm flipH="false" flipV="false" rot="0">
              <a:off x="0" y="0"/>
              <a:ext cx="22396704" cy="835152"/>
            </a:xfrm>
            <a:custGeom>
              <a:avLst/>
              <a:gdLst/>
              <a:ahLst/>
              <a:cxnLst/>
              <a:rect r="r" b="b" t="t" l="l"/>
              <a:pathLst>
                <a:path h="835152" w="22396704">
                  <a:moveTo>
                    <a:pt x="0" y="33401"/>
                  </a:moveTo>
                  <a:cubicBezTo>
                    <a:pt x="0" y="14986"/>
                    <a:pt x="14986" y="0"/>
                    <a:pt x="33401" y="0"/>
                  </a:cubicBezTo>
                  <a:lnTo>
                    <a:pt x="22363303" y="0"/>
                  </a:lnTo>
                  <a:cubicBezTo>
                    <a:pt x="22381718" y="0"/>
                    <a:pt x="22396704" y="14986"/>
                    <a:pt x="22396704" y="33401"/>
                  </a:cubicBezTo>
                  <a:lnTo>
                    <a:pt x="22396704" y="801751"/>
                  </a:lnTo>
                  <a:cubicBezTo>
                    <a:pt x="22396704" y="820166"/>
                    <a:pt x="22381718" y="835152"/>
                    <a:pt x="22363303" y="835152"/>
                  </a:cubicBezTo>
                  <a:lnTo>
                    <a:pt x="33401" y="835152"/>
                  </a:lnTo>
                  <a:cubicBezTo>
                    <a:pt x="14986" y="835152"/>
                    <a:pt x="0" y="820166"/>
                    <a:pt x="0" y="801751"/>
                  </a:cubicBezTo>
                  <a:close/>
                </a:path>
              </a:pathLst>
            </a:custGeom>
            <a:solidFill>
              <a:srgbClr val="EEF6FC"/>
            </a:solidFill>
            <a:ln w="22860" cap="sq">
              <a:solidFill>
                <a:srgbClr val="0369A1"/>
              </a:solidFill>
              <a:prstDash val="solid"/>
              <a:miter/>
            </a:ln>
          </p:spPr>
          <p:txBody>
            <a:bodyPr/>
            <a:p/>
          </p:txBody>
        </p:sp>
      </p:grpSp>
      <p:grpSp>
        <p:nvGrpSpPr>
          <p:cNvPr name="Group 28" id="28"/>
          <p:cNvGrpSpPr/>
          <p:nvPr/>
        </p:nvGrpSpPr>
        <p:grpSpPr>
          <a:xfrm rot="0">
            <a:off x="960120" y="1783080"/>
            <a:ext cx="16390620" cy="603504"/>
            <a:chOff x="0" y="0"/>
            <a:chExt cx="21854160" cy="804672"/>
          </a:xfrm>
        </p:grpSpPr>
        <p:sp>
          <p:nvSpPr>
            <p:cNvPr name="Freeform 29" id="29"/>
            <p:cNvSpPr/>
            <p:nvPr/>
          </p:nvSpPr>
          <p:spPr>
            <a:xfrm flipH="false" flipV="false" rot="0">
              <a:off x="0" y="0"/>
              <a:ext cx="21854161" cy="804672"/>
            </a:xfrm>
            <a:custGeom>
              <a:avLst/>
              <a:gdLst/>
              <a:ahLst/>
              <a:cxnLst/>
              <a:rect r="r" b="b" t="t" l="l"/>
              <a:pathLst>
                <a:path h="804672" w="21854161">
                  <a:moveTo>
                    <a:pt x="0" y="0"/>
                  </a:moveTo>
                  <a:lnTo>
                    <a:pt x="21854161" y="0"/>
                  </a:lnTo>
                  <a:lnTo>
                    <a:pt x="21854161" y="804672"/>
                  </a:lnTo>
                  <a:lnTo>
                    <a:pt x="0" y="804672"/>
                  </a:lnTo>
                  <a:close/>
                </a:path>
              </a:pathLst>
            </a:custGeom>
            <a:blipFill>
              <a:blip r:embed="rId2">
                <a:alphaModFix amt="0"/>
              </a:blip>
              <a:stretch>
                <a:fillRect l="0" t="-479195" r="0" b="-479195"/>
              </a:stretch>
            </a:blipFill>
          </p:spPr>
          <p:txBody>
            <a:bodyPr/>
            <a:p/>
          </p:txBody>
        </p:sp>
        <p:sp>
          <p:nvSpPr>
            <p:cNvPr name="TextBox 30" id="30"/>
            <p:cNvSpPr txBox="true"/>
            <p:nvPr/>
          </p:nvSpPr>
          <p:spPr>
            <a:xfrm>
              <a:off x="0" y="-9525"/>
              <a:ext cx="21854160" cy="814197"/>
            </a:xfrm>
            <a:prstGeom prst="rect">
              <a:avLst/>
            </a:prstGeom>
          </p:spPr>
          <p:txBody>
            <a:bodyPr anchor="ctr" rtlCol="false" tIns="0" lIns="0" bIns="0" rIns="0"/>
            <a:lstStyle/>
            <a:p>
              <a:pPr algn="l">
                <a:lnSpc>
                  <a:spcPts val="2124"/>
                </a:lnSpc>
              </a:pPr>
              <a:r>
                <a:rPr lang="en-US" sz="1770" b="true">
                  <a:solidFill>
                    <a:srgbClr val="0369A1"/>
                  </a:solidFill>
                  <a:latin typeface="DejaVu Sans Bold"/>
                  <a:ea typeface="DejaVu Sans Bold"/>
                  <a:cs typeface="DejaVu Sans Bold"/>
                  <a:sym typeface="DejaVu Sans Bold"/>
                </a:rPr>
                <a:t>ĐIỂM TƯƠNG ĐỒNG: Cả hai đều vận hành theo quy luật giá trị, cung – cầu, cạnh tranh và tôn trọng quyền tự do kinh doanh hợp pháp.</a:t>
              </a:r>
            </a:p>
          </p:txBody>
        </p:sp>
      </p:grpSp>
      <p:grpSp>
        <p:nvGrpSpPr>
          <p:cNvPr name="Group 31" id="31"/>
          <p:cNvGrpSpPr/>
          <p:nvPr/>
        </p:nvGrpSpPr>
        <p:grpSpPr>
          <a:xfrm rot="0">
            <a:off x="754380" y="2496312"/>
            <a:ext cx="3223260" cy="630936"/>
            <a:chOff x="0" y="0"/>
            <a:chExt cx="4297680" cy="841248"/>
          </a:xfrm>
        </p:grpSpPr>
        <p:sp>
          <p:nvSpPr>
            <p:cNvPr name="Freeform 32" id="32"/>
            <p:cNvSpPr/>
            <p:nvPr/>
          </p:nvSpPr>
          <p:spPr>
            <a:xfrm flipH="false" flipV="false" rot="0">
              <a:off x="0" y="0"/>
              <a:ext cx="4297680" cy="841248"/>
            </a:xfrm>
            <a:custGeom>
              <a:avLst/>
              <a:gdLst/>
              <a:ahLst/>
              <a:cxnLst/>
              <a:rect r="r" b="b" t="t" l="l"/>
              <a:pathLst>
                <a:path h="841248" w="4297680">
                  <a:moveTo>
                    <a:pt x="0" y="33655"/>
                  </a:moveTo>
                  <a:cubicBezTo>
                    <a:pt x="0" y="15113"/>
                    <a:pt x="15113" y="0"/>
                    <a:pt x="33655" y="0"/>
                  </a:cubicBezTo>
                  <a:lnTo>
                    <a:pt x="4264025" y="0"/>
                  </a:lnTo>
                  <a:cubicBezTo>
                    <a:pt x="4282567" y="0"/>
                    <a:pt x="4297680" y="15113"/>
                    <a:pt x="4297680" y="33655"/>
                  </a:cubicBezTo>
                  <a:lnTo>
                    <a:pt x="4297680" y="807593"/>
                  </a:lnTo>
                  <a:cubicBezTo>
                    <a:pt x="4297680" y="826135"/>
                    <a:pt x="4282567" y="841248"/>
                    <a:pt x="4264025" y="841248"/>
                  </a:cubicBezTo>
                  <a:lnTo>
                    <a:pt x="33655" y="841248"/>
                  </a:lnTo>
                  <a:cubicBezTo>
                    <a:pt x="15113" y="841248"/>
                    <a:pt x="0" y="826135"/>
                    <a:pt x="0" y="807593"/>
                  </a:cubicBezTo>
                  <a:close/>
                </a:path>
              </a:pathLst>
            </a:custGeom>
            <a:solidFill>
              <a:srgbClr val="122645"/>
            </a:solidFill>
          </p:spPr>
          <p:txBody>
            <a:bodyPr/>
            <a:p/>
          </p:txBody>
        </p:sp>
      </p:grpSp>
      <p:grpSp>
        <p:nvGrpSpPr>
          <p:cNvPr name="Group 33" id="33"/>
          <p:cNvGrpSpPr/>
          <p:nvPr/>
        </p:nvGrpSpPr>
        <p:grpSpPr>
          <a:xfrm rot="0">
            <a:off x="754380" y="2496312"/>
            <a:ext cx="3223260" cy="630936"/>
            <a:chOff x="0" y="0"/>
            <a:chExt cx="4297680" cy="841248"/>
          </a:xfrm>
        </p:grpSpPr>
        <p:sp>
          <p:nvSpPr>
            <p:cNvPr name="Freeform 34" id="34"/>
            <p:cNvSpPr/>
            <p:nvPr/>
          </p:nvSpPr>
          <p:spPr>
            <a:xfrm flipH="false" flipV="false" rot="0">
              <a:off x="0" y="0"/>
              <a:ext cx="4297680" cy="841248"/>
            </a:xfrm>
            <a:custGeom>
              <a:avLst/>
              <a:gdLst/>
              <a:ahLst/>
              <a:cxnLst/>
              <a:rect r="r" b="b" t="t" l="l"/>
              <a:pathLst>
                <a:path h="841248" w="4297680">
                  <a:moveTo>
                    <a:pt x="0" y="0"/>
                  </a:moveTo>
                  <a:lnTo>
                    <a:pt x="4297680" y="0"/>
                  </a:lnTo>
                  <a:lnTo>
                    <a:pt x="4297680" y="841248"/>
                  </a:lnTo>
                  <a:lnTo>
                    <a:pt x="0" y="841248"/>
                  </a:lnTo>
                  <a:close/>
                </a:path>
              </a:pathLst>
            </a:custGeom>
            <a:blipFill>
              <a:blip r:embed="rId2">
                <a:alphaModFix amt="0"/>
              </a:blip>
              <a:stretch>
                <a:fillRect l="0" t="-49543" r="0" b="-49543"/>
              </a:stretch>
            </a:blipFill>
          </p:spPr>
          <p:txBody>
            <a:bodyPr/>
            <a:p/>
          </p:txBody>
        </p:sp>
        <p:sp>
          <p:nvSpPr>
            <p:cNvPr name="TextBox 35" id="35"/>
            <p:cNvSpPr txBox="true"/>
            <p:nvPr/>
          </p:nvSpPr>
          <p:spPr>
            <a:xfrm>
              <a:off x="0" y="-9525"/>
              <a:ext cx="4297680" cy="850773"/>
            </a:xfrm>
            <a:prstGeom prst="rect">
              <a:avLst/>
            </a:prstGeom>
          </p:spPr>
          <p:txBody>
            <a:bodyPr anchor="ctr" rtlCol="false" tIns="0" lIns="0" bIns="0" rIns="0"/>
            <a:lstStyle/>
            <a:p>
              <a:pPr algn="ctr">
                <a:lnSpc>
                  <a:spcPts val="2052"/>
                </a:lnSpc>
              </a:pPr>
              <a:r>
                <a:rPr lang="en-US" sz="1710" b="true">
                  <a:solidFill>
                    <a:srgbClr val="FFFFFF"/>
                  </a:solidFill>
                  <a:latin typeface="DejaVu Sans Bold"/>
                  <a:ea typeface="DejaVu Sans Bold"/>
                  <a:cs typeface="DejaVu Sans Bold"/>
                  <a:sym typeface="DejaVu Sans Bold"/>
                </a:rPr>
                <a:t>5 TIÊU CHÍ (M-S-Q-P-G)</a:t>
              </a:r>
            </a:p>
          </p:txBody>
        </p:sp>
      </p:grpSp>
      <p:grpSp>
        <p:nvGrpSpPr>
          <p:cNvPr name="Group 36" id="36"/>
          <p:cNvGrpSpPr/>
          <p:nvPr/>
        </p:nvGrpSpPr>
        <p:grpSpPr>
          <a:xfrm rot="0">
            <a:off x="4087368" y="2496312"/>
            <a:ext cx="6473952" cy="630936"/>
            <a:chOff x="0" y="0"/>
            <a:chExt cx="8631936" cy="841248"/>
          </a:xfrm>
        </p:grpSpPr>
        <p:sp>
          <p:nvSpPr>
            <p:cNvPr name="Freeform 37" id="37"/>
            <p:cNvSpPr/>
            <p:nvPr/>
          </p:nvSpPr>
          <p:spPr>
            <a:xfrm flipH="false" flipV="false" rot="0">
              <a:off x="0" y="0"/>
              <a:ext cx="8631937" cy="841248"/>
            </a:xfrm>
            <a:custGeom>
              <a:avLst/>
              <a:gdLst/>
              <a:ahLst/>
              <a:cxnLst/>
              <a:rect r="r" b="b" t="t" l="l"/>
              <a:pathLst>
                <a:path h="841248" w="8631937">
                  <a:moveTo>
                    <a:pt x="0" y="33655"/>
                  </a:moveTo>
                  <a:cubicBezTo>
                    <a:pt x="0" y="15113"/>
                    <a:pt x="15113" y="0"/>
                    <a:pt x="33655" y="0"/>
                  </a:cubicBezTo>
                  <a:lnTo>
                    <a:pt x="8598281" y="0"/>
                  </a:lnTo>
                  <a:cubicBezTo>
                    <a:pt x="8616824" y="0"/>
                    <a:pt x="8631937" y="15113"/>
                    <a:pt x="8631937" y="33655"/>
                  </a:cubicBezTo>
                  <a:lnTo>
                    <a:pt x="8631937" y="807593"/>
                  </a:lnTo>
                  <a:cubicBezTo>
                    <a:pt x="8631937" y="826135"/>
                    <a:pt x="8616824" y="841248"/>
                    <a:pt x="8598281" y="841248"/>
                  </a:cubicBezTo>
                  <a:lnTo>
                    <a:pt x="33655" y="841248"/>
                  </a:lnTo>
                  <a:cubicBezTo>
                    <a:pt x="15113" y="841248"/>
                    <a:pt x="0" y="826135"/>
                    <a:pt x="0" y="807593"/>
                  </a:cubicBezTo>
                  <a:close/>
                </a:path>
              </a:pathLst>
            </a:custGeom>
            <a:solidFill>
              <a:srgbClr val="475569"/>
            </a:solidFill>
          </p:spPr>
          <p:txBody>
            <a:bodyPr/>
            <a:p/>
          </p:txBody>
        </p:sp>
      </p:grpSp>
      <p:grpSp>
        <p:nvGrpSpPr>
          <p:cNvPr name="Group 38" id="38"/>
          <p:cNvGrpSpPr/>
          <p:nvPr/>
        </p:nvGrpSpPr>
        <p:grpSpPr>
          <a:xfrm rot="0">
            <a:off x="4087368" y="2496312"/>
            <a:ext cx="6473952" cy="630936"/>
            <a:chOff x="0" y="0"/>
            <a:chExt cx="8631936" cy="841248"/>
          </a:xfrm>
        </p:grpSpPr>
        <p:sp>
          <p:nvSpPr>
            <p:cNvPr name="Freeform 39" id="39"/>
            <p:cNvSpPr/>
            <p:nvPr/>
          </p:nvSpPr>
          <p:spPr>
            <a:xfrm flipH="false" flipV="false" rot="0">
              <a:off x="0" y="0"/>
              <a:ext cx="8631936" cy="841248"/>
            </a:xfrm>
            <a:custGeom>
              <a:avLst/>
              <a:gdLst/>
              <a:ahLst/>
              <a:cxnLst/>
              <a:rect r="r" b="b" t="t" l="l"/>
              <a:pathLst>
                <a:path h="841248" w="8631936">
                  <a:moveTo>
                    <a:pt x="0" y="0"/>
                  </a:moveTo>
                  <a:lnTo>
                    <a:pt x="8631936" y="0"/>
                  </a:lnTo>
                  <a:lnTo>
                    <a:pt x="8631936" y="841248"/>
                  </a:lnTo>
                  <a:lnTo>
                    <a:pt x="0" y="841248"/>
                  </a:lnTo>
                  <a:close/>
                </a:path>
              </a:pathLst>
            </a:custGeom>
            <a:blipFill>
              <a:blip r:embed="rId2">
                <a:alphaModFix amt="0"/>
              </a:blip>
              <a:stretch>
                <a:fillRect l="0" t="-149933" r="0" b="-149933"/>
              </a:stretch>
            </a:blipFill>
          </p:spPr>
          <p:txBody>
            <a:bodyPr/>
            <a:p/>
          </p:txBody>
        </p:sp>
        <p:sp>
          <p:nvSpPr>
            <p:cNvPr name="TextBox 40" id="40"/>
            <p:cNvSpPr txBox="true"/>
            <p:nvPr/>
          </p:nvSpPr>
          <p:spPr>
            <a:xfrm>
              <a:off x="0" y="-19050"/>
              <a:ext cx="8631936" cy="860298"/>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KTTT TƯ BẢN CHỦ NGHĨA</a:t>
              </a:r>
            </a:p>
          </p:txBody>
        </p:sp>
      </p:grpSp>
      <p:grpSp>
        <p:nvGrpSpPr>
          <p:cNvPr name="Group 41" id="41"/>
          <p:cNvGrpSpPr/>
          <p:nvPr/>
        </p:nvGrpSpPr>
        <p:grpSpPr>
          <a:xfrm rot="0">
            <a:off x="10671048" y="2496312"/>
            <a:ext cx="6858000" cy="630936"/>
            <a:chOff x="0" y="0"/>
            <a:chExt cx="9144000" cy="841248"/>
          </a:xfrm>
        </p:grpSpPr>
        <p:sp>
          <p:nvSpPr>
            <p:cNvPr name="Freeform 42" id="42"/>
            <p:cNvSpPr/>
            <p:nvPr/>
          </p:nvSpPr>
          <p:spPr>
            <a:xfrm flipH="false" flipV="false" rot="0">
              <a:off x="0" y="0"/>
              <a:ext cx="9144000" cy="841248"/>
            </a:xfrm>
            <a:custGeom>
              <a:avLst/>
              <a:gdLst/>
              <a:ahLst/>
              <a:cxnLst/>
              <a:rect r="r" b="b" t="t" l="l"/>
              <a:pathLst>
                <a:path h="841248" w="9144000">
                  <a:moveTo>
                    <a:pt x="0" y="33655"/>
                  </a:moveTo>
                  <a:cubicBezTo>
                    <a:pt x="0" y="15113"/>
                    <a:pt x="15113" y="0"/>
                    <a:pt x="33655" y="0"/>
                  </a:cubicBezTo>
                  <a:lnTo>
                    <a:pt x="9110345" y="0"/>
                  </a:lnTo>
                  <a:cubicBezTo>
                    <a:pt x="9128887" y="0"/>
                    <a:pt x="9144000" y="15113"/>
                    <a:pt x="9144000" y="33655"/>
                  </a:cubicBezTo>
                  <a:lnTo>
                    <a:pt x="9144000" y="807593"/>
                  </a:lnTo>
                  <a:cubicBezTo>
                    <a:pt x="9144000" y="826135"/>
                    <a:pt x="9128887" y="841248"/>
                    <a:pt x="9110345" y="841248"/>
                  </a:cubicBezTo>
                  <a:lnTo>
                    <a:pt x="33655" y="841248"/>
                  </a:lnTo>
                  <a:cubicBezTo>
                    <a:pt x="15113" y="841248"/>
                    <a:pt x="0" y="826135"/>
                    <a:pt x="0" y="807593"/>
                  </a:cubicBezTo>
                  <a:close/>
                </a:path>
              </a:pathLst>
            </a:custGeom>
            <a:solidFill>
              <a:srgbClr val="0F766E"/>
            </a:solidFill>
          </p:spPr>
          <p:txBody>
            <a:bodyPr/>
            <a:p/>
          </p:txBody>
        </p:sp>
      </p:grpSp>
      <p:grpSp>
        <p:nvGrpSpPr>
          <p:cNvPr name="Group 43" id="43"/>
          <p:cNvGrpSpPr/>
          <p:nvPr/>
        </p:nvGrpSpPr>
        <p:grpSpPr>
          <a:xfrm rot="0">
            <a:off x="10671048" y="2496312"/>
            <a:ext cx="6858000" cy="630936"/>
            <a:chOff x="0" y="0"/>
            <a:chExt cx="9144000" cy="841248"/>
          </a:xfrm>
        </p:grpSpPr>
        <p:sp>
          <p:nvSpPr>
            <p:cNvPr name="Freeform 44" id="44"/>
            <p:cNvSpPr/>
            <p:nvPr/>
          </p:nvSpPr>
          <p:spPr>
            <a:xfrm flipH="false" flipV="false" rot="0">
              <a:off x="0" y="0"/>
              <a:ext cx="9144000" cy="841248"/>
            </a:xfrm>
            <a:custGeom>
              <a:avLst/>
              <a:gdLst/>
              <a:ahLst/>
              <a:cxnLst/>
              <a:rect r="r" b="b" t="t" l="l"/>
              <a:pathLst>
                <a:path h="841248" w="9144000">
                  <a:moveTo>
                    <a:pt x="0" y="0"/>
                  </a:moveTo>
                  <a:lnTo>
                    <a:pt x="9144000" y="0"/>
                  </a:lnTo>
                  <a:lnTo>
                    <a:pt x="9144000" y="841248"/>
                  </a:lnTo>
                  <a:lnTo>
                    <a:pt x="0" y="841248"/>
                  </a:lnTo>
                  <a:close/>
                </a:path>
              </a:pathLst>
            </a:custGeom>
            <a:blipFill>
              <a:blip r:embed="rId2">
                <a:alphaModFix amt="0"/>
              </a:blip>
              <a:stretch>
                <a:fillRect l="0" t="-161793" r="0" b="-161793"/>
              </a:stretch>
            </a:blipFill>
          </p:spPr>
          <p:txBody>
            <a:bodyPr/>
            <a:p/>
          </p:txBody>
        </p:sp>
        <p:sp>
          <p:nvSpPr>
            <p:cNvPr name="TextBox 45" id="45"/>
            <p:cNvSpPr txBox="true"/>
            <p:nvPr/>
          </p:nvSpPr>
          <p:spPr>
            <a:xfrm>
              <a:off x="0" y="-19050"/>
              <a:ext cx="9144000" cy="860298"/>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KTTT ĐỊNH HƯỚNG XHCN (VIỆT NAM)</a:t>
              </a:r>
            </a:p>
          </p:txBody>
        </p:sp>
      </p:grpSp>
      <p:grpSp>
        <p:nvGrpSpPr>
          <p:cNvPr name="Group 46" id="46"/>
          <p:cNvGrpSpPr/>
          <p:nvPr/>
        </p:nvGrpSpPr>
        <p:grpSpPr>
          <a:xfrm rot="0">
            <a:off x="744855" y="3200019"/>
            <a:ext cx="3242310" cy="1184910"/>
            <a:chOff x="0" y="0"/>
            <a:chExt cx="4323080" cy="1579880"/>
          </a:xfrm>
        </p:grpSpPr>
        <p:sp>
          <p:nvSpPr>
            <p:cNvPr name="Freeform 47" id="47"/>
            <p:cNvSpPr/>
            <p:nvPr/>
          </p:nvSpPr>
          <p:spPr>
            <a:xfrm flipH="false" flipV="false" rot="0">
              <a:off x="0" y="0"/>
              <a:ext cx="4323080" cy="1579880"/>
            </a:xfrm>
            <a:custGeom>
              <a:avLst/>
              <a:gdLst/>
              <a:ahLst/>
              <a:cxnLst/>
              <a:rect r="r" b="b" t="t" l="l"/>
              <a:pathLst>
                <a:path h="1579880" w="4323080">
                  <a:moveTo>
                    <a:pt x="0" y="63246"/>
                  </a:moveTo>
                  <a:cubicBezTo>
                    <a:pt x="0" y="28321"/>
                    <a:pt x="28321" y="0"/>
                    <a:pt x="63246" y="0"/>
                  </a:cubicBezTo>
                  <a:lnTo>
                    <a:pt x="4259834" y="0"/>
                  </a:lnTo>
                  <a:cubicBezTo>
                    <a:pt x="4294759" y="0"/>
                    <a:pt x="4323080" y="28321"/>
                    <a:pt x="4323080" y="63246"/>
                  </a:cubicBezTo>
                  <a:lnTo>
                    <a:pt x="4323080" y="1516634"/>
                  </a:lnTo>
                  <a:cubicBezTo>
                    <a:pt x="4323080" y="1551559"/>
                    <a:pt x="4294759" y="1579880"/>
                    <a:pt x="4259834" y="1579880"/>
                  </a:cubicBezTo>
                  <a:lnTo>
                    <a:pt x="63246" y="1579880"/>
                  </a:lnTo>
                  <a:cubicBezTo>
                    <a:pt x="28321" y="1579880"/>
                    <a:pt x="0" y="1551559"/>
                    <a:pt x="0" y="1516634"/>
                  </a:cubicBezTo>
                  <a:close/>
                </a:path>
              </a:pathLst>
            </a:custGeom>
            <a:solidFill>
              <a:srgbClr val="F1F5F9"/>
            </a:solidFill>
            <a:ln w="19050" cap="sq">
              <a:solidFill>
                <a:srgbClr val="CBD5E1"/>
              </a:solidFill>
              <a:prstDash val="solid"/>
              <a:miter/>
            </a:ln>
          </p:spPr>
          <p:txBody>
            <a:bodyPr/>
            <a:p/>
          </p:txBody>
        </p:sp>
      </p:grpSp>
      <p:grpSp>
        <p:nvGrpSpPr>
          <p:cNvPr name="Group 48" id="48"/>
          <p:cNvGrpSpPr/>
          <p:nvPr/>
        </p:nvGrpSpPr>
        <p:grpSpPr>
          <a:xfrm rot="0">
            <a:off x="850392" y="3209544"/>
            <a:ext cx="3031236" cy="1165860"/>
            <a:chOff x="0" y="0"/>
            <a:chExt cx="4041648" cy="1554480"/>
          </a:xfrm>
        </p:grpSpPr>
        <p:sp>
          <p:nvSpPr>
            <p:cNvPr name="Freeform 49" id="49"/>
            <p:cNvSpPr/>
            <p:nvPr/>
          </p:nvSpPr>
          <p:spPr>
            <a:xfrm flipH="false" flipV="false" rot="0">
              <a:off x="0" y="0"/>
              <a:ext cx="4041648" cy="1554480"/>
            </a:xfrm>
            <a:custGeom>
              <a:avLst/>
              <a:gdLst/>
              <a:ahLst/>
              <a:cxnLst/>
              <a:rect r="r" b="b" t="t" l="l"/>
              <a:pathLst>
                <a:path h="1554480" w="4041648">
                  <a:moveTo>
                    <a:pt x="0" y="0"/>
                  </a:moveTo>
                  <a:lnTo>
                    <a:pt x="4041648" y="0"/>
                  </a:lnTo>
                  <a:lnTo>
                    <a:pt x="4041648" y="1554480"/>
                  </a:lnTo>
                  <a:lnTo>
                    <a:pt x="0" y="1554480"/>
                  </a:lnTo>
                  <a:close/>
                </a:path>
              </a:pathLst>
            </a:custGeom>
            <a:blipFill>
              <a:blip r:embed="rId2">
                <a:alphaModFix amt="0"/>
              </a:blip>
              <a:stretch>
                <a:fillRect l="0" t="-661" r="0" b="-661"/>
              </a:stretch>
            </a:blipFill>
          </p:spPr>
          <p:txBody>
            <a:bodyPr/>
            <a:p/>
          </p:txBody>
        </p:sp>
        <p:sp>
          <p:nvSpPr>
            <p:cNvPr name="TextBox 50" id="50"/>
            <p:cNvSpPr txBox="true"/>
            <p:nvPr/>
          </p:nvSpPr>
          <p:spPr>
            <a:xfrm>
              <a:off x="0" y="-19050"/>
              <a:ext cx="4041648" cy="1573530"/>
            </a:xfrm>
            <a:prstGeom prst="rect">
              <a:avLst/>
            </a:prstGeom>
          </p:spPr>
          <p:txBody>
            <a:bodyPr anchor="ctr" rtlCol="false" tIns="0" lIns="0" bIns="0" rIns="0"/>
            <a:lstStyle/>
            <a:p>
              <a:pPr algn="ctr">
                <a:lnSpc>
                  <a:spcPts val="2700"/>
                </a:lnSpc>
              </a:pPr>
              <a:r>
                <a:rPr lang="en-US" sz="2250" b="true">
                  <a:solidFill>
                    <a:srgbClr val="122645"/>
                  </a:solidFill>
                  <a:latin typeface="DejaVu Sans Bold"/>
                  <a:ea typeface="DejaVu Sans Bold"/>
                  <a:cs typeface="DejaVu Sans Bold"/>
                  <a:sym typeface="DejaVu Sans Bold"/>
                </a:rPr>
                <a:t>1. Mục tiêu</a:t>
              </a:r>
            </a:p>
          </p:txBody>
        </p:sp>
      </p:grpSp>
      <p:grpSp>
        <p:nvGrpSpPr>
          <p:cNvPr name="Group 51" id="51"/>
          <p:cNvGrpSpPr/>
          <p:nvPr/>
        </p:nvGrpSpPr>
        <p:grpSpPr>
          <a:xfrm rot="0">
            <a:off x="4077843" y="3200019"/>
            <a:ext cx="6493002" cy="1184910"/>
            <a:chOff x="0" y="0"/>
            <a:chExt cx="8657336" cy="1579880"/>
          </a:xfrm>
        </p:grpSpPr>
        <p:sp>
          <p:nvSpPr>
            <p:cNvPr name="Freeform 52" id="52"/>
            <p:cNvSpPr/>
            <p:nvPr/>
          </p:nvSpPr>
          <p:spPr>
            <a:xfrm flipH="false" flipV="false" rot="0">
              <a:off x="0" y="0"/>
              <a:ext cx="8657336" cy="1579880"/>
            </a:xfrm>
            <a:custGeom>
              <a:avLst/>
              <a:gdLst/>
              <a:ahLst/>
              <a:cxnLst/>
              <a:rect r="r" b="b" t="t" l="l"/>
              <a:pathLst>
                <a:path h="1579880" w="8657336">
                  <a:moveTo>
                    <a:pt x="0" y="63246"/>
                  </a:moveTo>
                  <a:cubicBezTo>
                    <a:pt x="0" y="28321"/>
                    <a:pt x="28321" y="0"/>
                    <a:pt x="63246" y="0"/>
                  </a:cubicBezTo>
                  <a:lnTo>
                    <a:pt x="8594090" y="0"/>
                  </a:lnTo>
                  <a:cubicBezTo>
                    <a:pt x="8629015" y="0"/>
                    <a:pt x="8657336" y="28321"/>
                    <a:pt x="8657336" y="63246"/>
                  </a:cubicBezTo>
                  <a:lnTo>
                    <a:pt x="8657336" y="1516634"/>
                  </a:lnTo>
                  <a:cubicBezTo>
                    <a:pt x="8657336" y="1551559"/>
                    <a:pt x="8629015" y="1579880"/>
                    <a:pt x="8594090" y="1579880"/>
                  </a:cubicBezTo>
                  <a:lnTo>
                    <a:pt x="63246" y="1579880"/>
                  </a:lnTo>
                  <a:cubicBezTo>
                    <a:pt x="28321" y="1579880"/>
                    <a:pt x="0" y="1551559"/>
                    <a:pt x="0" y="1516634"/>
                  </a:cubicBezTo>
                  <a:close/>
                </a:path>
              </a:pathLst>
            </a:custGeom>
            <a:solidFill>
              <a:srgbClr val="FFFFFF"/>
            </a:solidFill>
            <a:ln w="19050" cap="sq">
              <a:solidFill>
                <a:srgbClr val="CBD5E1"/>
              </a:solidFill>
              <a:prstDash val="solid"/>
              <a:miter/>
            </a:ln>
          </p:spPr>
          <p:txBody>
            <a:bodyPr/>
            <a:p/>
          </p:txBody>
        </p:sp>
      </p:grpSp>
      <p:grpSp>
        <p:nvGrpSpPr>
          <p:cNvPr name="Group 53" id="53"/>
          <p:cNvGrpSpPr/>
          <p:nvPr/>
        </p:nvGrpSpPr>
        <p:grpSpPr>
          <a:xfrm rot="0">
            <a:off x="4251960" y="3209544"/>
            <a:ext cx="6144768" cy="1165860"/>
            <a:chOff x="0" y="0"/>
            <a:chExt cx="8193024" cy="1554480"/>
          </a:xfrm>
        </p:grpSpPr>
        <p:sp>
          <p:nvSpPr>
            <p:cNvPr name="Freeform 54" id="54"/>
            <p:cNvSpPr/>
            <p:nvPr/>
          </p:nvSpPr>
          <p:spPr>
            <a:xfrm flipH="false" flipV="false" rot="0">
              <a:off x="0" y="0"/>
              <a:ext cx="8193024" cy="1554480"/>
            </a:xfrm>
            <a:custGeom>
              <a:avLst/>
              <a:gdLst/>
              <a:ahLst/>
              <a:cxnLst/>
              <a:rect r="r" b="b" t="t" l="l"/>
              <a:pathLst>
                <a:path h="1554480" w="8193024">
                  <a:moveTo>
                    <a:pt x="0" y="0"/>
                  </a:moveTo>
                  <a:lnTo>
                    <a:pt x="8193024" y="0"/>
                  </a:lnTo>
                  <a:lnTo>
                    <a:pt x="8193024" y="1554480"/>
                  </a:lnTo>
                  <a:lnTo>
                    <a:pt x="0" y="1554480"/>
                  </a:lnTo>
                  <a:close/>
                </a:path>
              </a:pathLst>
            </a:custGeom>
            <a:blipFill>
              <a:blip r:embed="rId2">
                <a:alphaModFix amt="0"/>
              </a:blip>
              <a:stretch>
                <a:fillRect l="0" t="-52697" r="0" b="-52697"/>
              </a:stretch>
            </a:blipFill>
          </p:spPr>
          <p:txBody>
            <a:bodyPr/>
            <a:p/>
          </p:txBody>
        </p:sp>
        <p:sp>
          <p:nvSpPr>
            <p:cNvPr name="TextBox 55" id="55"/>
            <p:cNvSpPr txBox="true"/>
            <p:nvPr/>
          </p:nvSpPr>
          <p:spPr>
            <a:xfrm>
              <a:off x="0" y="-19050"/>
              <a:ext cx="8193024" cy="1573530"/>
            </a:xfrm>
            <a:prstGeom prst="rect">
              <a:avLst/>
            </a:prstGeom>
          </p:spPr>
          <p:txBody>
            <a:bodyPr anchor="ctr" rtlCol="false" tIns="0" lIns="0" bIns="0" rIns="0"/>
            <a:lstStyle/>
            <a:p>
              <a:pPr algn="l">
                <a:lnSpc>
                  <a:spcPts val="2700"/>
                </a:lnSpc>
              </a:pPr>
              <a:r>
                <a:rPr lang="en-US" sz="2250">
                  <a:solidFill>
                    <a:srgbClr val="1E293B"/>
                  </a:solidFill>
                  <a:latin typeface="DejaVu Sans Light"/>
                  <a:ea typeface="DejaVu Sans Light"/>
                  <a:cs typeface="DejaVu Sans Light"/>
                  <a:sym typeface="DejaVu Sans Light"/>
                </a:rPr>
                <a:t>Lợi nhuận và tích lũy tư bản là động lực quan trọng trong hoạt động sản xuất, kinh doanh.</a:t>
              </a:r>
            </a:p>
          </p:txBody>
        </p:sp>
      </p:grpSp>
      <p:grpSp>
        <p:nvGrpSpPr>
          <p:cNvPr name="Group 56" id="56"/>
          <p:cNvGrpSpPr/>
          <p:nvPr/>
        </p:nvGrpSpPr>
        <p:grpSpPr>
          <a:xfrm rot="0">
            <a:off x="10659618" y="3198114"/>
            <a:ext cx="6880860" cy="1188720"/>
            <a:chOff x="0" y="0"/>
            <a:chExt cx="9174480" cy="1584960"/>
          </a:xfrm>
        </p:grpSpPr>
        <p:sp>
          <p:nvSpPr>
            <p:cNvPr name="Freeform 57" id="57"/>
            <p:cNvSpPr/>
            <p:nvPr/>
          </p:nvSpPr>
          <p:spPr>
            <a:xfrm flipH="false" flipV="false" rot="0">
              <a:off x="0" y="0"/>
              <a:ext cx="9174480" cy="1584960"/>
            </a:xfrm>
            <a:custGeom>
              <a:avLst/>
              <a:gdLst/>
              <a:ahLst/>
              <a:cxnLst/>
              <a:rect r="r" b="b" t="t" l="l"/>
              <a:pathLst>
                <a:path h="1584960" w="9174480">
                  <a:moveTo>
                    <a:pt x="0" y="63373"/>
                  </a:moveTo>
                  <a:cubicBezTo>
                    <a:pt x="0" y="28321"/>
                    <a:pt x="28321" y="0"/>
                    <a:pt x="63373" y="0"/>
                  </a:cubicBezTo>
                  <a:lnTo>
                    <a:pt x="9111107" y="0"/>
                  </a:lnTo>
                  <a:cubicBezTo>
                    <a:pt x="9146159" y="0"/>
                    <a:pt x="9174480" y="28321"/>
                    <a:pt x="9174480" y="63373"/>
                  </a:cubicBezTo>
                  <a:lnTo>
                    <a:pt x="9174480" y="1521587"/>
                  </a:lnTo>
                  <a:cubicBezTo>
                    <a:pt x="9174480" y="1556639"/>
                    <a:pt x="9146159" y="1584960"/>
                    <a:pt x="9111107" y="1584960"/>
                  </a:cubicBezTo>
                  <a:lnTo>
                    <a:pt x="63373" y="1584960"/>
                  </a:lnTo>
                  <a:cubicBezTo>
                    <a:pt x="28321" y="1584960"/>
                    <a:pt x="0" y="1556639"/>
                    <a:pt x="0" y="1521587"/>
                  </a:cubicBezTo>
                  <a:close/>
                </a:path>
              </a:pathLst>
            </a:custGeom>
            <a:solidFill>
              <a:srgbClr val="EAF7F5"/>
            </a:solidFill>
            <a:ln w="22860" cap="sq">
              <a:solidFill>
                <a:srgbClr val="0F766E"/>
              </a:solidFill>
              <a:prstDash val="solid"/>
              <a:miter/>
            </a:ln>
          </p:spPr>
          <p:txBody>
            <a:bodyPr/>
            <a:p/>
          </p:txBody>
        </p:sp>
      </p:grpSp>
      <p:grpSp>
        <p:nvGrpSpPr>
          <p:cNvPr name="Group 58" id="58"/>
          <p:cNvGrpSpPr/>
          <p:nvPr/>
        </p:nvGrpSpPr>
        <p:grpSpPr>
          <a:xfrm rot="0">
            <a:off x="10835640" y="3209544"/>
            <a:ext cx="6528816" cy="1165860"/>
            <a:chOff x="0" y="0"/>
            <a:chExt cx="8705088" cy="1554480"/>
          </a:xfrm>
        </p:grpSpPr>
        <p:sp>
          <p:nvSpPr>
            <p:cNvPr name="Freeform 59" id="59"/>
            <p:cNvSpPr/>
            <p:nvPr/>
          </p:nvSpPr>
          <p:spPr>
            <a:xfrm flipH="false" flipV="false" rot="0">
              <a:off x="0" y="0"/>
              <a:ext cx="8705088" cy="1554480"/>
            </a:xfrm>
            <a:custGeom>
              <a:avLst/>
              <a:gdLst/>
              <a:ahLst/>
              <a:cxnLst/>
              <a:rect r="r" b="b" t="t" l="l"/>
              <a:pathLst>
                <a:path h="1554480" w="8705088">
                  <a:moveTo>
                    <a:pt x="0" y="0"/>
                  </a:moveTo>
                  <a:lnTo>
                    <a:pt x="8705088" y="0"/>
                  </a:lnTo>
                  <a:lnTo>
                    <a:pt x="8705088" y="1554480"/>
                  </a:lnTo>
                  <a:lnTo>
                    <a:pt x="0" y="1554480"/>
                  </a:lnTo>
                  <a:close/>
                </a:path>
              </a:pathLst>
            </a:custGeom>
            <a:blipFill>
              <a:blip r:embed="rId2">
                <a:alphaModFix amt="0"/>
              </a:blip>
              <a:stretch>
                <a:fillRect l="0" t="-59116" r="0" b="-59116"/>
              </a:stretch>
            </a:blipFill>
          </p:spPr>
          <p:txBody>
            <a:bodyPr/>
            <a:p/>
          </p:txBody>
        </p:sp>
        <p:sp>
          <p:nvSpPr>
            <p:cNvPr name="TextBox 60" id="60"/>
            <p:cNvSpPr txBox="true"/>
            <p:nvPr/>
          </p:nvSpPr>
          <p:spPr>
            <a:xfrm>
              <a:off x="0" y="-19050"/>
              <a:ext cx="8705088" cy="1573530"/>
            </a:xfrm>
            <a:prstGeom prst="rect">
              <a:avLst/>
            </a:prstGeom>
          </p:spPr>
          <p:txBody>
            <a:bodyPr anchor="ctr" rtlCol="false" tIns="0" lIns="0" bIns="0" rIns="0"/>
            <a:lstStyle/>
            <a:p>
              <a:pPr algn="l">
                <a:lnSpc>
                  <a:spcPts val="2700"/>
                </a:lnSpc>
              </a:pPr>
              <a:r>
                <a:rPr lang="en-US" sz="2250">
                  <a:solidFill>
                    <a:srgbClr val="0B192E"/>
                  </a:solidFill>
                  <a:latin typeface="DejaVu Sans Light"/>
                  <a:ea typeface="DejaVu Sans Light"/>
                  <a:cs typeface="DejaVu Sans Light"/>
                  <a:sym typeface="DejaVu Sans Light"/>
                </a:rPr>
                <a:t>"Dân giàu, nước mạnh, dân chủ, công bằng, văn minh" — lấy CON NGƯỜI làm trung tâm của phát triển.</a:t>
              </a:r>
            </a:p>
          </p:txBody>
        </p:sp>
      </p:grpSp>
      <p:grpSp>
        <p:nvGrpSpPr>
          <p:cNvPr name="Group 61" id="61"/>
          <p:cNvGrpSpPr/>
          <p:nvPr/>
        </p:nvGrpSpPr>
        <p:grpSpPr>
          <a:xfrm rot="0">
            <a:off x="744855" y="4461891"/>
            <a:ext cx="3242310" cy="1184910"/>
            <a:chOff x="0" y="0"/>
            <a:chExt cx="4323080" cy="1579880"/>
          </a:xfrm>
        </p:grpSpPr>
        <p:sp>
          <p:nvSpPr>
            <p:cNvPr name="Freeform 62" id="62"/>
            <p:cNvSpPr/>
            <p:nvPr/>
          </p:nvSpPr>
          <p:spPr>
            <a:xfrm flipH="false" flipV="false" rot="0">
              <a:off x="0" y="0"/>
              <a:ext cx="4323080" cy="1579880"/>
            </a:xfrm>
            <a:custGeom>
              <a:avLst/>
              <a:gdLst/>
              <a:ahLst/>
              <a:cxnLst/>
              <a:rect r="r" b="b" t="t" l="l"/>
              <a:pathLst>
                <a:path h="1579880" w="4323080">
                  <a:moveTo>
                    <a:pt x="0" y="63246"/>
                  </a:moveTo>
                  <a:cubicBezTo>
                    <a:pt x="0" y="28321"/>
                    <a:pt x="28321" y="0"/>
                    <a:pt x="63246" y="0"/>
                  </a:cubicBezTo>
                  <a:lnTo>
                    <a:pt x="4259834" y="0"/>
                  </a:lnTo>
                  <a:cubicBezTo>
                    <a:pt x="4294759" y="0"/>
                    <a:pt x="4323080" y="28321"/>
                    <a:pt x="4323080" y="63246"/>
                  </a:cubicBezTo>
                  <a:lnTo>
                    <a:pt x="4323080" y="1516634"/>
                  </a:lnTo>
                  <a:cubicBezTo>
                    <a:pt x="4323080" y="1551559"/>
                    <a:pt x="4294759" y="1579880"/>
                    <a:pt x="4259834" y="1579880"/>
                  </a:cubicBezTo>
                  <a:lnTo>
                    <a:pt x="63246" y="1579880"/>
                  </a:lnTo>
                  <a:cubicBezTo>
                    <a:pt x="28321" y="1579880"/>
                    <a:pt x="0" y="1551559"/>
                    <a:pt x="0" y="1516634"/>
                  </a:cubicBezTo>
                  <a:close/>
                </a:path>
              </a:pathLst>
            </a:custGeom>
            <a:solidFill>
              <a:srgbClr val="F1F5F9"/>
            </a:solidFill>
            <a:ln w="19050" cap="sq">
              <a:solidFill>
                <a:srgbClr val="CBD5E1"/>
              </a:solidFill>
              <a:prstDash val="solid"/>
              <a:miter/>
            </a:ln>
          </p:spPr>
          <p:txBody>
            <a:bodyPr/>
            <a:p/>
          </p:txBody>
        </p:sp>
      </p:grpSp>
      <p:grpSp>
        <p:nvGrpSpPr>
          <p:cNvPr name="Group 63" id="63"/>
          <p:cNvGrpSpPr/>
          <p:nvPr/>
        </p:nvGrpSpPr>
        <p:grpSpPr>
          <a:xfrm rot="0">
            <a:off x="850392" y="4471416"/>
            <a:ext cx="3031236" cy="1165860"/>
            <a:chOff x="0" y="0"/>
            <a:chExt cx="4041648" cy="1554480"/>
          </a:xfrm>
        </p:grpSpPr>
        <p:sp>
          <p:nvSpPr>
            <p:cNvPr name="Freeform 64" id="64"/>
            <p:cNvSpPr/>
            <p:nvPr/>
          </p:nvSpPr>
          <p:spPr>
            <a:xfrm flipH="false" flipV="false" rot="0">
              <a:off x="0" y="0"/>
              <a:ext cx="4041648" cy="1554480"/>
            </a:xfrm>
            <a:custGeom>
              <a:avLst/>
              <a:gdLst/>
              <a:ahLst/>
              <a:cxnLst/>
              <a:rect r="r" b="b" t="t" l="l"/>
              <a:pathLst>
                <a:path h="1554480" w="4041648">
                  <a:moveTo>
                    <a:pt x="0" y="0"/>
                  </a:moveTo>
                  <a:lnTo>
                    <a:pt x="4041648" y="0"/>
                  </a:lnTo>
                  <a:lnTo>
                    <a:pt x="4041648" y="1554480"/>
                  </a:lnTo>
                  <a:lnTo>
                    <a:pt x="0" y="1554480"/>
                  </a:lnTo>
                  <a:close/>
                </a:path>
              </a:pathLst>
            </a:custGeom>
            <a:blipFill>
              <a:blip r:embed="rId2">
                <a:alphaModFix amt="0"/>
              </a:blip>
              <a:stretch>
                <a:fillRect l="0" t="-661" r="0" b="-661"/>
              </a:stretch>
            </a:blipFill>
          </p:spPr>
          <p:txBody>
            <a:bodyPr/>
            <a:p/>
          </p:txBody>
        </p:sp>
        <p:sp>
          <p:nvSpPr>
            <p:cNvPr name="TextBox 65" id="65"/>
            <p:cNvSpPr txBox="true"/>
            <p:nvPr/>
          </p:nvSpPr>
          <p:spPr>
            <a:xfrm>
              <a:off x="0" y="-19050"/>
              <a:ext cx="4041648" cy="1573530"/>
            </a:xfrm>
            <a:prstGeom prst="rect">
              <a:avLst/>
            </a:prstGeom>
          </p:spPr>
          <p:txBody>
            <a:bodyPr anchor="ctr" rtlCol="false" tIns="0" lIns="0" bIns="0" rIns="0"/>
            <a:lstStyle/>
            <a:p>
              <a:pPr algn="ctr">
                <a:lnSpc>
                  <a:spcPts val="2700"/>
                </a:lnSpc>
              </a:pPr>
              <a:r>
                <a:rPr lang="en-US" sz="2250" b="true">
                  <a:solidFill>
                    <a:srgbClr val="122645"/>
                  </a:solidFill>
                  <a:latin typeface="DejaVu Sans Bold"/>
                  <a:ea typeface="DejaVu Sans Bold"/>
                  <a:cs typeface="DejaVu Sans Bold"/>
                  <a:sym typeface="DejaVu Sans Bold"/>
                </a:rPr>
                <a:t>2. Sở hữu &amp;</a:t>
              </a:r>
            </a:p>
            <a:p>
              <a:pPr algn="ctr">
                <a:lnSpc>
                  <a:spcPts val="2700"/>
                </a:lnSpc>
              </a:pPr>
              <a:r>
                <a:rPr lang="en-US" sz="2250" b="true">
                  <a:solidFill>
                    <a:srgbClr val="122645"/>
                  </a:solidFill>
                  <a:latin typeface="DejaVu Sans Bold"/>
                  <a:ea typeface="DejaVu Sans Bold"/>
                  <a:cs typeface="DejaVu Sans Bold"/>
                  <a:sym typeface="DejaVu Sans Bold"/>
                </a:rPr>
                <a:t>Thành phần KT</a:t>
              </a:r>
            </a:p>
          </p:txBody>
        </p:sp>
      </p:grpSp>
      <p:grpSp>
        <p:nvGrpSpPr>
          <p:cNvPr name="Group 66" id="66"/>
          <p:cNvGrpSpPr/>
          <p:nvPr/>
        </p:nvGrpSpPr>
        <p:grpSpPr>
          <a:xfrm rot="0">
            <a:off x="4077843" y="4461891"/>
            <a:ext cx="6493002" cy="1184910"/>
            <a:chOff x="0" y="0"/>
            <a:chExt cx="8657336" cy="1579880"/>
          </a:xfrm>
        </p:grpSpPr>
        <p:sp>
          <p:nvSpPr>
            <p:cNvPr name="Freeform 67" id="67"/>
            <p:cNvSpPr/>
            <p:nvPr/>
          </p:nvSpPr>
          <p:spPr>
            <a:xfrm flipH="false" flipV="false" rot="0">
              <a:off x="0" y="0"/>
              <a:ext cx="8657336" cy="1579880"/>
            </a:xfrm>
            <a:custGeom>
              <a:avLst/>
              <a:gdLst/>
              <a:ahLst/>
              <a:cxnLst/>
              <a:rect r="r" b="b" t="t" l="l"/>
              <a:pathLst>
                <a:path h="1579880" w="8657336">
                  <a:moveTo>
                    <a:pt x="0" y="63246"/>
                  </a:moveTo>
                  <a:cubicBezTo>
                    <a:pt x="0" y="28321"/>
                    <a:pt x="28321" y="0"/>
                    <a:pt x="63246" y="0"/>
                  </a:cubicBezTo>
                  <a:lnTo>
                    <a:pt x="8594090" y="0"/>
                  </a:lnTo>
                  <a:cubicBezTo>
                    <a:pt x="8629015" y="0"/>
                    <a:pt x="8657336" y="28321"/>
                    <a:pt x="8657336" y="63246"/>
                  </a:cubicBezTo>
                  <a:lnTo>
                    <a:pt x="8657336" y="1516634"/>
                  </a:lnTo>
                  <a:cubicBezTo>
                    <a:pt x="8657336" y="1551559"/>
                    <a:pt x="8629015" y="1579880"/>
                    <a:pt x="8594090" y="1579880"/>
                  </a:cubicBezTo>
                  <a:lnTo>
                    <a:pt x="63246" y="1579880"/>
                  </a:lnTo>
                  <a:cubicBezTo>
                    <a:pt x="28321" y="1579880"/>
                    <a:pt x="0" y="1551559"/>
                    <a:pt x="0" y="1516634"/>
                  </a:cubicBezTo>
                  <a:close/>
                </a:path>
              </a:pathLst>
            </a:custGeom>
            <a:solidFill>
              <a:srgbClr val="FFFFFF"/>
            </a:solidFill>
            <a:ln w="19050" cap="sq">
              <a:solidFill>
                <a:srgbClr val="CBD5E1"/>
              </a:solidFill>
              <a:prstDash val="solid"/>
              <a:miter/>
            </a:ln>
          </p:spPr>
          <p:txBody>
            <a:bodyPr/>
            <a:p/>
          </p:txBody>
        </p:sp>
      </p:grpSp>
      <p:grpSp>
        <p:nvGrpSpPr>
          <p:cNvPr name="Group 68" id="68"/>
          <p:cNvGrpSpPr/>
          <p:nvPr/>
        </p:nvGrpSpPr>
        <p:grpSpPr>
          <a:xfrm rot="0">
            <a:off x="4251960" y="4471416"/>
            <a:ext cx="6144768" cy="1165860"/>
            <a:chOff x="0" y="0"/>
            <a:chExt cx="8193024" cy="1554480"/>
          </a:xfrm>
        </p:grpSpPr>
        <p:sp>
          <p:nvSpPr>
            <p:cNvPr name="Freeform 69" id="69"/>
            <p:cNvSpPr/>
            <p:nvPr/>
          </p:nvSpPr>
          <p:spPr>
            <a:xfrm flipH="false" flipV="false" rot="0">
              <a:off x="0" y="0"/>
              <a:ext cx="8193024" cy="1554480"/>
            </a:xfrm>
            <a:custGeom>
              <a:avLst/>
              <a:gdLst/>
              <a:ahLst/>
              <a:cxnLst/>
              <a:rect r="r" b="b" t="t" l="l"/>
              <a:pathLst>
                <a:path h="1554480" w="8193024">
                  <a:moveTo>
                    <a:pt x="0" y="0"/>
                  </a:moveTo>
                  <a:lnTo>
                    <a:pt x="8193024" y="0"/>
                  </a:lnTo>
                  <a:lnTo>
                    <a:pt x="8193024" y="1554480"/>
                  </a:lnTo>
                  <a:lnTo>
                    <a:pt x="0" y="1554480"/>
                  </a:lnTo>
                  <a:close/>
                </a:path>
              </a:pathLst>
            </a:custGeom>
            <a:blipFill>
              <a:blip r:embed="rId2">
                <a:alphaModFix amt="0"/>
              </a:blip>
              <a:stretch>
                <a:fillRect l="0" t="-52697" r="0" b="-52697"/>
              </a:stretch>
            </a:blipFill>
          </p:spPr>
          <p:txBody>
            <a:bodyPr/>
            <a:p/>
          </p:txBody>
        </p:sp>
        <p:sp>
          <p:nvSpPr>
            <p:cNvPr name="TextBox 70" id="70"/>
            <p:cNvSpPr txBox="true"/>
            <p:nvPr/>
          </p:nvSpPr>
          <p:spPr>
            <a:xfrm>
              <a:off x="0" y="-57150"/>
              <a:ext cx="8193024" cy="1611630"/>
            </a:xfrm>
            <a:prstGeom prst="rect">
              <a:avLst/>
            </a:prstGeom>
          </p:spPr>
          <p:txBody>
            <a:bodyPr anchor="ctr" rtlCol="false" tIns="0" lIns="0" bIns="0" rIns="0"/>
            <a:lstStyle/>
            <a:p>
              <a:pPr algn="l">
                <a:lnSpc>
                  <a:spcPts val="3186"/>
                </a:lnSpc>
              </a:pPr>
              <a:r>
                <a:rPr lang="en-US" sz="2250">
                  <a:solidFill>
                    <a:srgbClr val="1E293B"/>
                  </a:solidFill>
                  <a:latin typeface="DejaVu Sans Light"/>
                  <a:ea typeface="DejaVu Sans Light"/>
                  <a:cs typeface="DejaVu Sans Light"/>
                  <a:sym typeface="DejaVu Sans Light"/>
                </a:rPr>
                <a:t>Sở hữu tư nhân tư bản giữ vai trò chi phối.</a:t>
              </a:r>
            </a:p>
          </p:txBody>
        </p:sp>
      </p:grpSp>
      <p:grpSp>
        <p:nvGrpSpPr>
          <p:cNvPr name="Group 71" id="71"/>
          <p:cNvGrpSpPr/>
          <p:nvPr/>
        </p:nvGrpSpPr>
        <p:grpSpPr>
          <a:xfrm rot="0">
            <a:off x="10659618" y="4459986"/>
            <a:ext cx="6880860" cy="1188720"/>
            <a:chOff x="0" y="0"/>
            <a:chExt cx="9174480" cy="1584960"/>
          </a:xfrm>
        </p:grpSpPr>
        <p:sp>
          <p:nvSpPr>
            <p:cNvPr name="Freeform 72" id="72"/>
            <p:cNvSpPr/>
            <p:nvPr/>
          </p:nvSpPr>
          <p:spPr>
            <a:xfrm flipH="false" flipV="false" rot="0">
              <a:off x="0" y="0"/>
              <a:ext cx="9174480" cy="1584960"/>
            </a:xfrm>
            <a:custGeom>
              <a:avLst/>
              <a:gdLst/>
              <a:ahLst/>
              <a:cxnLst/>
              <a:rect r="r" b="b" t="t" l="l"/>
              <a:pathLst>
                <a:path h="1584960" w="9174480">
                  <a:moveTo>
                    <a:pt x="0" y="63373"/>
                  </a:moveTo>
                  <a:cubicBezTo>
                    <a:pt x="0" y="28321"/>
                    <a:pt x="28321" y="0"/>
                    <a:pt x="63373" y="0"/>
                  </a:cubicBezTo>
                  <a:lnTo>
                    <a:pt x="9111107" y="0"/>
                  </a:lnTo>
                  <a:cubicBezTo>
                    <a:pt x="9146159" y="0"/>
                    <a:pt x="9174480" y="28321"/>
                    <a:pt x="9174480" y="63373"/>
                  </a:cubicBezTo>
                  <a:lnTo>
                    <a:pt x="9174480" y="1521587"/>
                  </a:lnTo>
                  <a:cubicBezTo>
                    <a:pt x="9174480" y="1556639"/>
                    <a:pt x="9146159" y="1584960"/>
                    <a:pt x="9111107" y="1584960"/>
                  </a:cubicBezTo>
                  <a:lnTo>
                    <a:pt x="63373" y="1584960"/>
                  </a:lnTo>
                  <a:cubicBezTo>
                    <a:pt x="28321" y="1584960"/>
                    <a:pt x="0" y="1556639"/>
                    <a:pt x="0" y="1521587"/>
                  </a:cubicBezTo>
                  <a:close/>
                </a:path>
              </a:pathLst>
            </a:custGeom>
            <a:solidFill>
              <a:srgbClr val="EAF7F5"/>
            </a:solidFill>
            <a:ln w="22860" cap="sq">
              <a:solidFill>
                <a:srgbClr val="0F766E"/>
              </a:solidFill>
              <a:prstDash val="solid"/>
              <a:miter/>
            </a:ln>
          </p:spPr>
          <p:txBody>
            <a:bodyPr/>
            <a:p/>
          </p:txBody>
        </p:sp>
      </p:grpSp>
      <p:grpSp>
        <p:nvGrpSpPr>
          <p:cNvPr name="Group 73" id="73"/>
          <p:cNvGrpSpPr/>
          <p:nvPr/>
        </p:nvGrpSpPr>
        <p:grpSpPr>
          <a:xfrm rot="0">
            <a:off x="10835640" y="4471416"/>
            <a:ext cx="6528816" cy="1165860"/>
            <a:chOff x="0" y="0"/>
            <a:chExt cx="8705088" cy="1554480"/>
          </a:xfrm>
        </p:grpSpPr>
        <p:sp>
          <p:nvSpPr>
            <p:cNvPr name="Freeform 74" id="74"/>
            <p:cNvSpPr/>
            <p:nvPr/>
          </p:nvSpPr>
          <p:spPr>
            <a:xfrm flipH="false" flipV="false" rot="0">
              <a:off x="0" y="0"/>
              <a:ext cx="8705088" cy="1554480"/>
            </a:xfrm>
            <a:custGeom>
              <a:avLst/>
              <a:gdLst/>
              <a:ahLst/>
              <a:cxnLst/>
              <a:rect r="r" b="b" t="t" l="l"/>
              <a:pathLst>
                <a:path h="1554480" w="8705088">
                  <a:moveTo>
                    <a:pt x="0" y="0"/>
                  </a:moveTo>
                  <a:lnTo>
                    <a:pt x="8705088" y="0"/>
                  </a:lnTo>
                  <a:lnTo>
                    <a:pt x="8705088" y="1554480"/>
                  </a:lnTo>
                  <a:lnTo>
                    <a:pt x="0" y="1554480"/>
                  </a:lnTo>
                  <a:close/>
                </a:path>
              </a:pathLst>
            </a:custGeom>
            <a:blipFill>
              <a:blip r:embed="rId2">
                <a:alphaModFix amt="0"/>
              </a:blip>
              <a:stretch>
                <a:fillRect l="0" t="-59116" r="0" b="-59116"/>
              </a:stretch>
            </a:blipFill>
          </p:spPr>
          <p:txBody>
            <a:bodyPr/>
            <a:p/>
          </p:txBody>
        </p:sp>
        <p:sp>
          <p:nvSpPr>
            <p:cNvPr name="TextBox 75" id="75"/>
            <p:cNvSpPr txBox="true"/>
            <p:nvPr/>
          </p:nvSpPr>
          <p:spPr>
            <a:xfrm>
              <a:off x="0" y="-19050"/>
              <a:ext cx="8705088" cy="1573530"/>
            </a:xfrm>
            <a:prstGeom prst="rect">
              <a:avLst/>
            </a:prstGeom>
          </p:spPr>
          <p:txBody>
            <a:bodyPr anchor="ctr" rtlCol="false" tIns="0" lIns="0" bIns="0" rIns="0"/>
            <a:lstStyle/>
            <a:p>
              <a:pPr algn="l">
                <a:lnSpc>
                  <a:spcPts val="2700"/>
                </a:lnSpc>
              </a:pPr>
              <a:r>
                <a:rPr lang="en-US" sz="2250">
                  <a:solidFill>
                    <a:srgbClr val="0B192E"/>
                  </a:solidFill>
                  <a:latin typeface="DejaVu Sans Light"/>
                  <a:ea typeface="DejaVu Sans Light"/>
                  <a:cs typeface="DejaVu Sans Light"/>
                  <a:sym typeface="DejaVu Sans Light"/>
                </a:rPr>
                <a:t>Đa dạng hình thức sở hữu bình đẳng; KT nhà nước giữ vai trò CHỦ ĐẠO, KT tư nhân là ĐỘNG LỰC QUAN TRỌNG.</a:t>
              </a:r>
            </a:p>
          </p:txBody>
        </p:sp>
      </p:grpSp>
      <p:grpSp>
        <p:nvGrpSpPr>
          <p:cNvPr name="Group 76" id="76"/>
          <p:cNvGrpSpPr/>
          <p:nvPr/>
        </p:nvGrpSpPr>
        <p:grpSpPr>
          <a:xfrm rot="0">
            <a:off x="744855" y="5723763"/>
            <a:ext cx="3242310" cy="1184910"/>
            <a:chOff x="0" y="0"/>
            <a:chExt cx="4323080" cy="1579880"/>
          </a:xfrm>
        </p:grpSpPr>
        <p:sp>
          <p:nvSpPr>
            <p:cNvPr name="Freeform 77" id="77"/>
            <p:cNvSpPr/>
            <p:nvPr/>
          </p:nvSpPr>
          <p:spPr>
            <a:xfrm flipH="false" flipV="false" rot="0">
              <a:off x="0" y="0"/>
              <a:ext cx="4323080" cy="1579880"/>
            </a:xfrm>
            <a:custGeom>
              <a:avLst/>
              <a:gdLst/>
              <a:ahLst/>
              <a:cxnLst/>
              <a:rect r="r" b="b" t="t" l="l"/>
              <a:pathLst>
                <a:path h="1579880" w="4323080">
                  <a:moveTo>
                    <a:pt x="0" y="63246"/>
                  </a:moveTo>
                  <a:cubicBezTo>
                    <a:pt x="0" y="28321"/>
                    <a:pt x="28321" y="0"/>
                    <a:pt x="63246" y="0"/>
                  </a:cubicBezTo>
                  <a:lnTo>
                    <a:pt x="4259834" y="0"/>
                  </a:lnTo>
                  <a:cubicBezTo>
                    <a:pt x="4294759" y="0"/>
                    <a:pt x="4323080" y="28321"/>
                    <a:pt x="4323080" y="63246"/>
                  </a:cubicBezTo>
                  <a:lnTo>
                    <a:pt x="4323080" y="1516634"/>
                  </a:lnTo>
                  <a:cubicBezTo>
                    <a:pt x="4323080" y="1551559"/>
                    <a:pt x="4294759" y="1579880"/>
                    <a:pt x="4259834" y="1579880"/>
                  </a:cubicBezTo>
                  <a:lnTo>
                    <a:pt x="63246" y="1579880"/>
                  </a:lnTo>
                  <a:cubicBezTo>
                    <a:pt x="28321" y="1579880"/>
                    <a:pt x="0" y="1551559"/>
                    <a:pt x="0" y="1516634"/>
                  </a:cubicBezTo>
                  <a:close/>
                </a:path>
              </a:pathLst>
            </a:custGeom>
            <a:solidFill>
              <a:srgbClr val="F1F5F9"/>
            </a:solidFill>
            <a:ln w="19050" cap="sq">
              <a:solidFill>
                <a:srgbClr val="CBD5E1"/>
              </a:solidFill>
              <a:prstDash val="solid"/>
              <a:miter/>
            </a:ln>
          </p:spPr>
          <p:txBody>
            <a:bodyPr/>
            <a:p/>
          </p:txBody>
        </p:sp>
      </p:grpSp>
      <p:grpSp>
        <p:nvGrpSpPr>
          <p:cNvPr name="Group 78" id="78"/>
          <p:cNvGrpSpPr/>
          <p:nvPr/>
        </p:nvGrpSpPr>
        <p:grpSpPr>
          <a:xfrm rot="0">
            <a:off x="850392" y="5733288"/>
            <a:ext cx="3031236" cy="1165860"/>
            <a:chOff x="0" y="0"/>
            <a:chExt cx="4041648" cy="1554480"/>
          </a:xfrm>
        </p:grpSpPr>
        <p:sp>
          <p:nvSpPr>
            <p:cNvPr name="Freeform 79" id="79"/>
            <p:cNvSpPr/>
            <p:nvPr/>
          </p:nvSpPr>
          <p:spPr>
            <a:xfrm flipH="false" flipV="false" rot="0">
              <a:off x="0" y="0"/>
              <a:ext cx="4041648" cy="1554480"/>
            </a:xfrm>
            <a:custGeom>
              <a:avLst/>
              <a:gdLst/>
              <a:ahLst/>
              <a:cxnLst/>
              <a:rect r="r" b="b" t="t" l="l"/>
              <a:pathLst>
                <a:path h="1554480" w="4041648">
                  <a:moveTo>
                    <a:pt x="0" y="0"/>
                  </a:moveTo>
                  <a:lnTo>
                    <a:pt x="4041648" y="0"/>
                  </a:lnTo>
                  <a:lnTo>
                    <a:pt x="4041648" y="1554480"/>
                  </a:lnTo>
                  <a:lnTo>
                    <a:pt x="0" y="1554480"/>
                  </a:lnTo>
                  <a:close/>
                </a:path>
              </a:pathLst>
            </a:custGeom>
            <a:blipFill>
              <a:blip r:embed="rId2">
                <a:alphaModFix amt="0"/>
              </a:blip>
              <a:stretch>
                <a:fillRect l="0" t="-661" r="0" b="-661"/>
              </a:stretch>
            </a:blipFill>
          </p:spPr>
          <p:txBody>
            <a:bodyPr/>
            <a:p/>
          </p:txBody>
        </p:sp>
        <p:sp>
          <p:nvSpPr>
            <p:cNvPr name="TextBox 80" id="80"/>
            <p:cNvSpPr txBox="true"/>
            <p:nvPr/>
          </p:nvSpPr>
          <p:spPr>
            <a:xfrm>
              <a:off x="0" y="-19050"/>
              <a:ext cx="4041648" cy="1573530"/>
            </a:xfrm>
            <a:prstGeom prst="rect">
              <a:avLst/>
            </a:prstGeom>
          </p:spPr>
          <p:txBody>
            <a:bodyPr anchor="ctr" rtlCol="false" tIns="0" lIns="0" bIns="0" rIns="0"/>
            <a:lstStyle/>
            <a:p>
              <a:pPr algn="ctr">
                <a:lnSpc>
                  <a:spcPts val="2700"/>
                </a:lnSpc>
              </a:pPr>
              <a:r>
                <a:rPr lang="en-US" sz="2250" b="true">
                  <a:solidFill>
                    <a:srgbClr val="122645"/>
                  </a:solidFill>
                  <a:latin typeface="DejaVu Sans Bold"/>
                  <a:ea typeface="DejaVu Sans Bold"/>
                  <a:cs typeface="DejaVu Sans Bold"/>
                  <a:sym typeface="DejaVu Sans Bold"/>
                </a:rPr>
                <a:t>3. Quan hệ</a:t>
              </a:r>
            </a:p>
            <a:p>
              <a:pPr algn="ctr">
                <a:lnSpc>
                  <a:spcPts val="2700"/>
                </a:lnSpc>
              </a:pPr>
              <a:r>
                <a:rPr lang="en-US" sz="2250" b="true">
                  <a:solidFill>
                    <a:srgbClr val="122645"/>
                  </a:solidFill>
                  <a:latin typeface="DejaVu Sans Bold"/>
                  <a:ea typeface="DejaVu Sans Bold"/>
                  <a:cs typeface="DejaVu Sans Bold"/>
                  <a:sym typeface="DejaVu Sans Bold"/>
                </a:rPr>
                <a:t>Quản lý</a:t>
              </a:r>
            </a:p>
          </p:txBody>
        </p:sp>
      </p:grpSp>
      <p:grpSp>
        <p:nvGrpSpPr>
          <p:cNvPr name="Group 81" id="81"/>
          <p:cNvGrpSpPr/>
          <p:nvPr/>
        </p:nvGrpSpPr>
        <p:grpSpPr>
          <a:xfrm rot="0">
            <a:off x="4077843" y="5723763"/>
            <a:ext cx="6493002" cy="1184910"/>
            <a:chOff x="0" y="0"/>
            <a:chExt cx="8657336" cy="1579880"/>
          </a:xfrm>
        </p:grpSpPr>
        <p:sp>
          <p:nvSpPr>
            <p:cNvPr name="Freeform 82" id="82"/>
            <p:cNvSpPr/>
            <p:nvPr/>
          </p:nvSpPr>
          <p:spPr>
            <a:xfrm flipH="false" flipV="false" rot="0">
              <a:off x="0" y="0"/>
              <a:ext cx="8657336" cy="1579880"/>
            </a:xfrm>
            <a:custGeom>
              <a:avLst/>
              <a:gdLst/>
              <a:ahLst/>
              <a:cxnLst/>
              <a:rect r="r" b="b" t="t" l="l"/>
              <a:pathLst>
                <a:path h="1579880" w="8657336">
                  <a:moveTo>
                    <a:pt x="0" y="63246"/>
                  </a:moveTo>
                  <a:cubicBezTo>
                    <a:pt x="0" y="28321"/>
                    <a:pt x="28321" y="0"/>
                    <a:pt x="63246" y="0"/>
                  </a:cubicBezTo>
                  <a:lnTo>
                    <a:pt x="8594090" y="0"/>
                  </a:lnTo>
                  <a:cubicBezTo>
                    <a:pt x="8629015" y="0"/>
                    <a:pt x="8657336" y="28321"/>
                    <a:pt x="8657336" y="63246"/>
                  </a:cubicBezTo>
                  <a:lnTo>
                    <a:pt x="8657336" y="1516634"/>
                  </a:lnTo>
                  <a:cubicBezTo>
                    <a:pt x="8657336" y="1551559"/>
                    <a:pt x="8629015" y="1579880"/>
                    <a:pt x="8594090" y="1579880"/>
                  </a:cubicBezTo>
                  <a:lnTo>
                    <a:pt x="63246" y="1579880"/>
                  </a:lnTo>
                  <a:cubicBezTo>
                    <a:pt x="28321" y="1579880"/>
                    <a:pt x="0" y="1551559"/>
                    <a:pt x="0" y="1516634"/>
                  </a:cubicBezTo>
                  <a:close/>
                </a:path>
              </a:pathLst>
            </a:custGeom>
            <a:solidFill>
              <a:srgbClr val="FFFFFF"/>
            </a:solidFill>
            <a:ln w="19050" cap="sq">
              <a:solidFill>
                <a:srgbClr val="CBD5E1"/>
              </a:solidFill>
              <a:prstDash val="solid"/>
              <a:miter/>
            </a:ln>
          </p:spPr>
          <p:txBody>
            <a:bodyPr/>
            <a:p/>
          </p:txBody>
        </p:sp>
      </p:grpSp>
      <p:grpSp>
        <p:nvGrpSpPr>
          <p:cNvPr name="Group 83" id="83"/>
          <p:cNvGrpSpPr/>
          <p:nvPr/>
        </p:nvGrpSpPr>
        <p:grpSpPr>
          <a:xfrm rot="0">
            <a:off x="4251960" y="5733288"/>
            <a:ext cx="6144768" cy="1165860"/>
            <a:chOff x="0" y="0"/>
            <a:chExt cx="8193024" cy="1554480"/>
          </a:xfrm>
        </p:grpSpPr>
        <p:sp>
          <p:nvSpPr>
            <p:cNvPr name="Freeform 84" id="84"/>
            <p:cNvSpPr/>
            <p:nvPr/>
          </p:nvSpPr>
          <p:spPr>
            <a:xfrm flipH="false" flipV="false" rot="0">
              <a:off x="0" y="0"/>
              <a:ext cx="8193024" cy="1554480"/>
            </a:xfrm>
            <a:custGeom>
              <a:avLst/>
              <a:gdLst/>
              <a:ahLst/>
              <a:cxnLst/>
              <a:rect r="r" b="b" t="t" l="l"/>
              <a:pathLst>
                <a:path h="1554480" w="8193024">
                  <a:moveTo>
                    <a:pt x="0" y="0"/>
                  </a:moveTo>
                  <a:lnTo>
                    <a:pt x="8193024" y="0"/>
                  </a:lnTo>
                  <a:lnTo>
                    <a:pt x="8193024" y="1554480"/>
                  </a:lnTo>
                  <a:lnTo>
                    <a:pt x="0" y="1554480"/>
                  </a:lnTo>
                  <a:close/>
                </a:path>
              </a:pathLst>
            </a:custGeom>
            <a:blipFill>
              <a:blip r:embed="rId2">
                <a:alphaModFix amt="0"/>
              </a:blip>
              <a:stretch>
                <a:fillRect l="0" t="-52697" r="0" b="-52697"/>
              </a:stretch>
            </a:blipFill>
          </p:spPr>
          <p:txBody>
            <a:bodyPr/>
            <a:p/>
          </p:txBody>
        </p:sp>
        <p:sp>
          <p:nvSpPr>
            <p:cNvPr name="TextBox 85" id="85"/>
            <p:cNvSpPr txBox="true"/>
            <p:nvPr/>
          </p:nvSpPr>
          <p:spPr>
            <a:xfrm>
              <a:off x="0" y="-57150"/>
              <a:ext cx="8193024" cy="1611630"/>
            </a:xfrm>
            <a:prstGeom prst="rect">
              <a:avLst/>
            </a:prstGeom>
          </p:spPr>
          <p:txBody>
            <a:bodyPr anchor="ctr" rtlCol="false" tIns="0" lIns="0" bIns="0" rIns="0"/>
            <a:lstStyle/>
            <a:p>
              <a:pPr algn="l">
                <a:lnSpc>
                  <a:spcPts val="3186"/>
                </a:lnSpc>
              </a:pPr>
              <a:r>
                <a:rPr lang="en-US" sz="2250">
                  <a:solidFill>
                    <a:srgbClr val="1E293B"/>
                  </a:solidFill>
                  <a:latin typeface="DejaVu Sans Light"/>
                  <a:ea typeface="DejaVu Sans Light"/>
                  <a:cs typeface="DejaVu Sans Light"/>
                  <a:sym typeface="DejaVu Sans Light"/>
                </a:rPr>
                <a:t>Nhà nước điều tiết nền kinh tế theo thể chế và chính sách của từng quốc gia.</a:t>
              </a:r>
            </a:p>
          </p:txBody>
        </p:sp>
      </p:grpSp>
      <p:grpSp>
        <p:nvGrpSpPr>
          <p:cNvPr name="Group 86" id="86"/>
          <p:cNvGrpSpPr/>
          <p:nvPr/>
        </p:nvGrpSpPr>
        <p:grpSpPr>
          <a:xfrm rot="0">
            <a:off x="10659618" y="5721858"/>
            <a:ext cx="6880860" cy="1188720"/>
            <a:chOff x="0" y="0"/>
            <a:chExt cx="9174480" cy="1584960"/>
          </a:xfrm>
        </p:grpSpPr>
        <p:sp>
          <p:nvSpPr>
            <p:cNvPr name="Freeform 87" id="87"/>
            <p:cNvSpPr/>
            <p:nvPr/>
          </p:nvSpPr>
          <p:spPr>
            <a:xfrm flipH="false" flipV="false" rot="0">
              <a:off x="0" y="0"/>
              <a:ext cx="9174480" cy="1584960"/>
            </a:xfrm>
            <a:custGeom>
              <a:avLst/>
              <a:gdLst/>
              <a:ahLst/>
              <a:cxnLst/>
              <a:rect r="r" b="b" t="t" l="l"/>
              <a:pathLst>
                <a:path h="1584960" w="9174480">
                  <a:moveTo>
                    <a:pt x="0" y="63373"/>
                  </a:moveTo>
                  <a:cubicBezTo>
                    <a:pt x="0" y="28321"/>
                    <a:pt x="28321" y="0"/>
                    <a:pt x="63373" y="0"/>
                  </a:cubicBezTo>
                  <a:lnTo>
                    <a:pt x="9111107" y="0"/>
                  </a:lnTo>
                  <a:cubicBezTo>
                    <a:pt x="9146159" y="0"/>
                    <a:pt x="9174480" y="28321"/>
                    <a:pt x="9174480" y="63373"/>
                  </a:cubicBezTo>
                  <a:lnTo>
                    <a:pt x="9174480" y="1521587"/>
                  </a:lnTo>
                  <a:cubicBezTo>
                    <a:pt x="9174480" y="1556639"/>
                    <a:pt x="9146159" y="1584960"/>
                    <a:pt x="9111107" y="1584960"/>
                  </a:cubicBezTo>
                  <a:lnTo>
                    <a:pt x="63373" y="1584960"/>
                  </a:lnTo>
                  <a:cubicBezTo>
                    <a:pt x="28321" y="1584960"/>
                    <a:pt x="0" y="1556639"/>
                    <a:pt x="0" y="1521587"/>
                  </a:cubicBezTo>
                  <a:close/>
                </a:path>
              </a:pathLst>
            </a:custGeom>
            <a:solidFill>
              <a:srgbClr val="EAF7F5"/>
            </a:solidFill>
            <a:ln w="22860" cap="sq">
              <a:solidFill>
                <a:srgbClr val="0F766E"/>
              </a:solidFill>
              <a:prstDash val="solid"/>
              <a:miter/>
            </a:ln>
          </p:spPr>
          <p:txBody>
            <a:bodyPr/>
            <a:p/>
          </p:txBody>
        </p:sp>
      </p:grpSp>
      <p:grpSp>
        <p:nvGrpSpPr>
          <p:cNvPr name="Group 88" id="88"/>
          <p:cNvGrpSpPr/>
          <p:nvPr/>
        </p:nvGrpSpPr>
        <p:grpSpPr>
          <a:xfrm rot="0">
            <a:off x="10835640" y="5733288"/>
            <a:ext cx="6528816" cy="1165860"/>
            <a:chOff x="0" y="0"/>
            <a:chExt cx="8705088" cy="1554480"/>
          </a:xfrm>
        </p:grpSpPr>
        <p:sp>
          <p:nvSpPr>
            <p:cNvPr name="Freeform 89" id="89"/>
            <p:cNvSpPr/>
            <p:nvPr/>
          </p:nvSpPr>
          <p:spPr>
            <a:xfrm flipH="false" flipV="false" rot="0">
              <a:off x="0" y="0"/>
              <a:ext cx="8705088" cy="1554480"/>
            </a:xfrm>
            <a:custGeom>
              <a:avLst/>
              <a:gdLst/>
              <a:ahLst/>
              <a:cxnLst/>
              <a:rect r="r" b="b" t="t" l="l"/>
              <a:pathLst>
                <a:path h="1554480" w="8705088">
                  <a:moveTo>
                    <a:pt x="0" y="0"/>
                  </a:moveTo>
                  <a:lnTo>
                    <a:pt x="8705088" y="0"/>
                  </a:lnTo>
                  <a:lnTo>
                    <a:pt x="8705088" y="1554480"/>
                  </a:lnTo>
                  <a:lnTo>
                    <a:pt x="0" y="1554480"/>
                  </a:lnTo>
                  <a:close/>
                </a:path>
              </a:pathLst>
            </a:custGeom>
            <a:blipFill>
              <a:blip r:embed="rId2">
                <a:alphaModFix amt="0"/>
              </a:blip>
              <a:stretch>
                <a:fillRect l="0" t="-59116" r="0" b="-59116"/>
              </a:stretch>
            </a:blipFill>
          </p:spPr>
          <p:txBody>
            <a:bodyPr/>
            <a:p/>
          </p:txBody>
        </p:sp>
        <p:sp>
          <p:nvSpPr>
            <p:cNvPr name="TextBox 90" id="90"/>
            <p:cNvSpPr txBox="true"/>
            <p:nvPr/>
          </p:nvSpPr>
          <p:spPr>
            <a:xfrm>
              <a:off x="0" y="-19050"/>
              <a:ext cx="8705088" cy="1573530"/>
            </a:xfrm>
            <a:prstGeom prst="rect">
              <a:avLst/>
            </a:prstGeom>
          </p:spPr>
          <p:txBody>
            <a:bodyPr anchor="ctr" rtlCol="false" tIns="0" lIns="0" bIns="0" rIns="0"/>
            <a:lstStyle/>
            <a:p>
              <a:pPr algn="l">
                <a:lnSpc>
                  <a:spcPts val="2700"/>
                </a:lnSpc>
              </a:pPr>
              <a:r>
                <a:rPr lang="en-US" sz="2250">
                  <a:solidFill>
                    <a:srgbClr val="0B192E"/>
                  </a:solidFill>
                  <a:latin typeface="DejaVu Sans Light"/>
                  <a:ea typeface="DejaVu Sans Light"/>
                  <a:cs typeface="DejaVu Sans Light"/>
                  <a:sym typeface="DejaVu Sans Light"/>
                </a:rPr>
                <a:t>Nhà nước pháp quyền XHCN (của dân, do dân, vì dân) quản lý dưới sự lãnh đạo của Đảng Cộng sản Việt Nam.</a:t>
              </a:r>
            </a:p>
          </p:txBody>
        </p:sp>
      </p:grpSp>
      <p:grpSp>
        <p:nvGrpSpPr>
          <p:cNvPr name="Group 91" id="91"/>
          <p:cNvGrpSpPr/>
          <p:nvPr/>
        </p:nvGrpSpPr>
        <p:grpSpPr>
          <a:xfrm rot="0">
            <a:off x="744855" y="6985635"/>
            <a:ext cx="3242310" cy="1184910"/>
            <a:chOff x="0" y="0"/>
            <a:chExt cx="4323080" cy="1579880"/>
          </a:xfrm>
        </p:grpSpPr>
        <p:sp>
          <p:nvSpPr>
            <p:cNvPr name="Freeform 92" id="92"/>
            <p:cNvSpPr/>
            <p:nvPr/>
          </p:nvSpPr>
          <p:spPr>
            <a:xfrm flipH="false" flipV="false" rot="0">
              <a:off x="0" y="0"/>
              <a:ext cx="4323080" cy="1579880"/>
            </a:xfrm>
            <a:custGeom>
              <a:avLst/>
              <a:gdLst/>
              <a:ahLst/>
              <a:cxnLst/>
              <a:rect r="r" b="b" t="t" l="l"/>
              <a:pathLst>
                <a:path h="1579880" w="4323080">
                  <a:moveTo>
                    <a:pt x="0" y="63246"/>
                  </a:moveTo>
                  <a:cubicBezTo>
                    <a:pt x="0" y="28321"/>
                    <a:pt x="28321" y="0"/>
                    <a:pt x="63246" y="0"/>
                  </a:cubicBezTo>
                  <a:lnTo>
                    <a:pt x="4259834" y="0"/>
                  </a:lnTo>
                  <a:cubicBezTo>
                    <a:pt x="4294759" y="0"/>
                    <a:pt x="4323080" y="28321"/>
                    <a:pt x="4323080" y="63246"/>
                  </a:cubicBezTo>
                  <a:lnTo>
                    <a:pt x="4323080" y="1516634"/>
                  </a:lnTo>
                  <a:cubicBezTo>
                    <a:pt x="4323080" y="1551559"/>
                    <a:pt x="4294759" y="1579880"/>
                    <a:pt x="4259834" y="1579880"/>
                  </a:cubicBezTo>
                  <a:lnTo>
                    <a:pt x="63246" y="1579880"/>
                  </a:lnTo>
                  <a:cubicBezTo>
                    <a:pt x="28321" y="1579880"/>
                    <a:pt x="0" y="1551559"/>
                    <a:pt x="0" y="1516634"/>
                  </a:cubicBezTo>
                  <a:close/>
                </a:path>
              </a:pathLst>
            </a:custGeom>
            <a:solidFill>
              <a:srgbClr val="F1F5F9"/>
            </a:solidFill>
            <a:ln w="19050" cap="sq">
              <a:solidFill>
                <a:srgbClr val="CBD5E1"/>
              </a:solidFill>
              <a:prstDash val="solid"/>
              <a:miter/>
            </a:ln>
          </p:spPr>
          <p:txBody>
            <a:bodyPr/>
            <a:p/>
          </p:txBody>
        </p:sp>
      </p:grpSp>
      <p:grpSp>
        <p:nvGrpSpPr>
          <p:cNvPr name="Group 93" id="93"/>
          <p:cNvGrpSpPr/>
          <p:nvPr/>
        </p:nvGrpSpPr>
        <p:grpSpPr>
          <a:xfrm rot="0">
            <a:off x="850392" y="6995160"/>
            <a:ext cx="3031236" cy="1165860"/>
            <a:chOff x="0" y="0"/>
            <a:chExt cx="4041648" cy="1554480"/>
          </a:xfrm>
        </p:grpSpPr>
        <p:sp>
          <p:nvSpPr>
            <p:cNvPr name="Freeform 94" id="94"/>
            <p:cNvSpPr/>
            <p:nvPr/>
          </p:nvSpPr>
          <p:spPr>
            <a:xfrm flipH="false" flipV="false" rot="0">
              <a:off x="0" y="0"/>
              <a:ext cx="4041648" cy="1554480"/>
            </a:xfrm>
            <a:custGeom>
              <a:avLst/>
              <a:gdLst/>
              <a:ahLst/>
              <a:cxnLst/>
              <a:rect r="r" b="b" t="t" l="l"/>
              <a:pathLst>
                <a:path h="1554480" w="4041648">
                  <a:moveTo>
                    <a:pt x="0" y="0"/>
                  </a:moveTo>
                  <a:lnTo>
                    <a:pt x="4041648" y="0"/>
                  </a:lnTo>
                  <a:lnTo>
                    <a:pt x="4041648" y="1554480"/>
                  </a:lnTo>
                  <a:lnTo>
                    <a:pt x="0" y="1554480"/>
                  </a:lnTo>
                  <a:close/>
                </a:path>
              </a:pathLst>
            </a:custGeom>
            <a:blipFill>
              <a:blip r:embed="rId2">
                <a:alphaModFix amt="0"/>
              </a:blip>
              <a:stretch>
                <a:fillRect l="0" t="-661" r="0" b="-661"/>
              </a:stretch>
            </a:blipFill>
          </p:spPr>
          <p:txBody>
            <a:bodyPr/>
            <a:p/>
          </p:txBody>
        </p:sp>
        <p:sp>
          <p:nvSpPr>
            <p:cNvPr name="TextBox 95" id="95"/>
            <p:cNvSpPr txBox="true"/>
            <p:nvPr/>
          </p:nvSpPr>
          <p:spPr>
            <a:xfrm>
              <a:off x="0" y="-19050"/>
              <a:ext cx="4041648" cy="1573530"/>
            </a:xfrm>
            <a:prstGeom prst="rect">
              <a:avLst/>
            </a:prstGeom>
          </p:spPr>
          <p:txBody>
            <a:bodyPr anchor="ctr" rtlCol="false" tIns="0" lIns="0" bIns="0" rIns="0"/>
            <a:lstStyle/>
            <a:p>
              <a:pPr algn="ctr">
                <a:lnSpc>
                  <a:spcPts val="2700"/>
                </a:lnSpc>
              </a:pPr>
              <a:r>
                <a:rPr lang="en-US" sz="2250" b="true">
                  <a:solidFill>
                    <a:srgbClr val="122645"/>
                  </a:solidFill>
                  <a:latin typeface="DejaVu Sans Bold"/>
                  <a:ea typeface="DejaVu Sans Bold"/>
                  <a:cs typeface="DejaVu Sans Bold"/>
                  <a:sym typeface="DejaVu Sans Bold"/>
                </a:rPr>
                <a:t>4. Quan hệ</a:t>
              </a:r>
            </a:p>
            <a:p>
              <a:pPr algn="ctr">
                <a:lnSpc>
                  <a:spcPts val="2700"/>
                </a:lnSpc>
              </a:pPr>
              <a:r>
                <a:rPr lang="en-US" sz="2250" b="true">
                  <a:solidFill>
                    <a:srgbClr val="122645"/>
                  </a:solidFill>
                  <a:latin typeface="DejaVu Sans Bold"/>
                  <a:ea typeface="DejaVu Sans Bold"/>
                  <a:cs typeface="DejaVu Sans Bold"/>
                  <a:sym typeface="DejaVu Sans Bold"/>
                </a:rPr>
                <a:t>Phân phối</a:t>
              </a:r>
            </a:p>
          </p:txBody>
        </p:sp>
      </p:grpSp>
      <p:grpSp>
        <p:nvGrpSpPr>
          <p:cNvPr name="Group 96" id="96"/>
          <p:cNvGrpSpPr/>
          <p:nvPr/>
        </p:nvGrpSpPr>
        <p:grpSpPr>
          <a:xfrm rot="0">
            <a:off x="4077843" y="6985635"/>
            <a:ext cx="6493002" cy="1184910"/>
            <a:chOff x="0" y="0"/>
            <a:chExt cx="8657336" cy="1579880"/>
          </a:xfrm>
        </p:grpSpPr>
        <p:sp>
          <p:nvSpPr>
            <p:cNvPr name="Freeform 97" id="97"/>
            <p:cNvSpPr/>
            <p:nvPr/>
          </p:nvSpPr>
          <p:spPr>
            <a:xfrm flipH="false" flipV="false" rot="0">
              <a:off x="0" y="0"/>
              <a:ext cx="8657336" cy="1579880"/>
            </a:xfrm>
            <a:custGeom>
              <a:avLst/>
              <a:gdLst/>
              <a:ahLst/>
              <a:cxnLst/>
              <a:rect r="r" b="b" t="t" l="l"/>
              <a:pathLst>
                <a:path h="1579880" w="8657336">
                  <a:moveTo>
                    <a:pt x="0" y="63246"/>
                  </a:moveTo>
                  <a:cubicBezTo>
                    <a:pt x="0" y="28321"/>
                    <a:pt x="28321" y="0"/>
                    <a:pt x="63246" y="0"/>
                  </a:cubicBezTo>
                  <a:lnTo>
                    <a:pt x="8594090" y="0"/>
                  </a:lnTo>
                  <a:cubicBezTo>
                    <a:pt x="8629015" y="0"/>
                    <a:pt x="8657336" y="28321"/>
                    <a:pt x="8657336" y="63246"/>
                  </a:cubicBezTo>
                  <a:lnTo>
                    <a:pt x="8657336" y="1516634"/>
                  </a:lnTo>
                  <a:cubicBezTo>
                    <a:pt x="8657336" y="1551559"/>
                    <a:pt x="8629015" y="1579880"/>
                    <a:pt x="8594090" y="1579880"/>
                  </a:cubicBezTo>
                  <a:lnTo>
                    <a:pt x="63246" y="1579880"/>
                  </a:lnTo>
                  <a:cubicBezTo>
                    <a:pt x="28321" y="1579880"/>
                    <a:pt x="0" y="1551559"/>
                    <a:pt x="0" y="1516634"/>
                  </a:cubicBezTo>
                  <a:close/>
                </a:path>
              </a:pathLst>
            </a:custGeom>
            <a:solidFill>
              <a:srgbClr val="FFFFFF"/>
            </a:solidFill>
            <a:ln w="19050" cap="sq">
              <a:solidFill>
                <a:srgbClr val="CBD5E1"/>
              </a:solidFill>
              <a:prstDash val="solid"/>
              <a:miter/>
            </a:ln>
          </p:spPr>
          <p:txBody>
            <a:bodyPr/>
            <a:p/>
          </p:txBody>
        </p:sp>
      </p:grpSp>
      <p:grpSp>
        <p:nvGrpSpPr>
          <p:cNvPr name="Group 98" id="98"/>
          <p:cNvGrpSpPr/>
          <p:nvPr/>
        </p:nvGrpSpPr>
        <p:grpSpPr>
          <a:xfrm rot="0">
            <a:off x="4251960" y="6995160"/>
            <a:ext cx="6144768" cy="1165860"/>
            <a:chOff x="0" y="0"/>
            <a:chExt cx="8193024" cy="1554480"/>
          </a:xfrm>
        </p:grpSpPr>
        <p:sp>
          <p:nvSpPr>
            <p:cNvPr name="Freeform 99" id="99"/>
            <p:cNvSpPr/>
            <p:nvPr/>
          </p:nvSpPr>
          <p:spPr>
            <a:xfrm flipH="false" flipV="false" rot="0">
              <a:off x="0" y="0"/>
              <a:ext cx="8193024" cy="1554480"/>
            </a:xfrm>
            <a:custGeom>
              <a:avLst/>
              <a:gdLst/>
              <a:ahLst/>
              <a:cxnLst/>
              <a:rect r="r" b="b" t="t" l="l"/>
              <a:pathLst>
                <a:path h="1554480" w="8193024">
                  <a:moveTo>
                    <a:pt x="0" y="0"/>
                  </a:moveTo>
                  <a:lnTo>
                    <a:pt x="8193024" y="0"/>
                  </a:lnTo>
                  <a:lnTo>
                    <a:pt x="8193024" y="1554480"/>
                  </a:lnTo>
                  <a:lnTo>
                    <a:pt x="0" y="1554480"/>
                  </a:lnTo>
                  <a:close/>
                </a:path>
              </a:pathLst>
            </a:custGeom>
            <a:blipFill>
              <a:blip r:embed="rId2">
                <a:alphaModFix amt="0"/>
              </a:blip>
              <a:stretch>
                <a:fillRect l="0" t="-52697" r="0" b="-52697"/>
              </a:stretch>
            </a:blipFill>
          </p:spPr>
          <p:txBody>
            <a:bodyPr/>
            <a:p/>
          </p:txBody>
        </p:sp>
        <p:sp>
          <p:nvSpPr>
            <p:cNvPr name="TextBox 100" id="100"/>
            <p:cNvSpPr txBox="true"/>
            <p:nvPr/>
          </p:nvSpPr>
          <p:spPr>
            <a:xfrm>
              <a:off x="0" y="-19050"/>
              <a:ext cx="8193024" cy="1573530"/>
            </a:xfrm>
            <a:prstGeom prst="rect">
              <a:avLst/>
            </a:prstGeom>
          </p:spPr>
          <p:txBody>
            <a:bodyPr anchor="ctr" rtlCol="false" tIns="0" lIns="0" bIns="0" rIns="0"/>
            <a:lstStyle/>
            <a:p>
              <a:pPr algn="l">
                <a:lnSpc>
                  <a:spcPts val="2700"/>
                </a:lnSpc>
              </a:pPr>
              <a:r>
                <a:rPr lang="en-US" sz="2250">
                  <a:solidFill>
                    <a:srgbClr val="1E293B"/>
                  </a:solidFill>
                  <a:latin typeface="DejaVu Sans Light"/>
                  <a:ea typeface="DejaVu Sans Light"/>
                  <a:cs typeface="DejaVu Sans Light"/>
                  <a:sym typeface="DejaVu Sans Light"/>
                </a:rPr>
                <a:t>Phân phối theo lao động, vốn, tài sản và cơ chế thị trường; có tái phân phối thông qua thuế, phúc lợi.</a:t>
              </a:r>
            </a:p>
          </p:txBody>
        </p:sp>
      </p:grpSp>
      <p:grpSp>
        <p:nvGrpSpPr>
          <p:cNvPr name="Group 101" id="101"/>
          <p:cNvGrpSpPr/>
          <p:nvPr/>
        </p:nvGrpSpPr>
        <p:grpSpPr>
          <a:xfrm rot="0">
            <a:off x="10659618" y="6983730"/>
            <a:ext cx="6880860" cy="1188720"/>
            <a:chOff x="0" y="0"/>
            <a:chExt cx="9174480" cy="1584960"/>
          </a:xfrm>
        </p:grpSpPr>
        <p:sp>
          <p:nvSpPr>
            <p:cNvPr name="Freeform 102" id="102"/>
            <p:cNvSpPr/>
            <p:nvPr/>
          </p:nvSpPr>
          <p:spPr>
            <a:xfrm flipH="false" flipV="false" rot="0">
              <a:off x="0" y="0"/>
              <a:ext cx="9174480" cy="1584960"/>
            </a:xfrm>
            <a:custGeom>
              <a:avLst/>
              <a:gdLst/>
              <a:ahLst/>
              <a:cxnLst/>
              <a:rect r="r" b="b" t="t" l="l"/>
              <a:pathLst>
                <a:path h="1584960" w="9174480">
                  <a:moveTo>
                    <a:pt x="0" y="63373"/>
                  </a:moveTo>
                  <a:cubicBezTo>
                    <a:pt x="0" y="28321"/>
                    <a:pt x="28321" y="0"/>
                    <a:pt x="63373" y="0"/>
                  </a:cubicBezTo>
                  <a:lnTo>
                    <a:pt x="9111107" y="0"/>
                  </a:lnTo>
                  <a:cubicBezTo>
                    <a:pt x="9146159" y="0"/>
                    <a:pt x="9174480" y="28321"/>
                    <a:pt x="9174480" y="63373"/>
                  </a:cubicBezTo>
                  <a:lnTo>
                    <a:pt x="9174480" y="1521587"/>
                  </a:lnTo>
                  <a:cubicBezTo>
                    <a:pt x="9174480" y="1556639"/>
                    <a:pt x="9146159" y="1584960"/>
                    <a:pt x="9111107" y="1584960"/>
                  </a:cubicBezTo>
                  <a:lnTo>
                    <a:pt x="63373" y="1584960"/>
                  </a:lnTo>
                  <a:cubicBezTo>
                    <a:pt x="28321" y="1584960"/>
                    <a:pt x="0" y="1556639"/>
                    <a:pt x="0" y="1521587"/>
                  </a:cubicBezTo>
                  <a:close/>
                </a:path>
              </a:pathLst>
            </a:custGeom>
            <a:solidFill>
              <a:srgbClr val="EAF7F5"/>
            </a:solidFill>
            <a:ln w="22860" cap="sq">
              <a:solidFill>
                <a:srgbClr val="0F766E"/>
              </a:solidFill>
              <a:prstDash val="solid"/>
              <a:miter/>
            </a:ln>
          </p:spPr>
          <p:txBody>
            <a:bodyPr/>
            <a:p/>
          </p:txBody>
        </p:sp>
      </p:grpSp>
      <p:grpSp>
        <p:nvGrpSpPr>
          <p:cNvPr name="Group 103" id="103"/>
          <p:cNvGrpSpPr/>
          <p:nvPr/>
        </p:nvGrpSpPr>
        <p:grpSpPr>
          <a:xfrm rot="0">
            <a:off x="10835640" y="6995160"/>
            <a:ext cx="6528816" cy="1165860"/>
            <a:chOff x="0" y="0"/>
            <a:chExt cx="8705088" cy="1554480"/>
          </a:xfrm>
        </p:grpSpPr>
        <p:sp>
          <p:nvSpPr>
            <p:cNvPr name="Freeform 104" id="104"/>
            <p:cNvSpPr/>
            <p:nvPr/>
          </p:nvSpPr>
          <p:spPr>
            <a:xfrm flipH="false" flipV="false" rot="0">
              <a:off x="0" y="0"/>
              <a:ext cx="8705088" cy="1554480"/>
            </a:xfrm>
            <a:custGeom>
              <a:avLst/>
              <a:gdLst/>
              <a:ahLst/>
              <a:cxnLst/>
              <a:rect r="r" b="b" t="t" l="l"/>
              <a:pathLst>
                <a:path h="1554480" w="8705088">
                  <a:moveTo>
                    <a:pt x="0" y="0"/>
                  </a:moveTo>
                  <a:lnTo>
                    <a:pt x="8705088" y="0"/>
                  </a:lnTo>
                  <a:lnTo>
                    <a:pt x="8705088" y="1554480"/>
                  </a:lnTo>
                  <a:lnTo>
                    <a:pt x="0" y="1554480"/>
                  </a:lnTo>
                  <a:close/>
                </a:path>
              </a:pathLst>
            </a:custGeom>
            <a:blipFill>
              <a:blip r:embed="rId2">
                <a:alphaModFix amt="0"/>
              </a:blip>
              <a:stretch>
                <a:fillRect l="0" t="-59116" r="0" b="-59116"/>
              </a:stretch>
            </a:blipFill>
          </p:spPr>
          <p:txBody>
            <a:bodyPr/>
            <a:p/>
          </p:txBody>
        </p:sp>
        <p:sp>
          <p:nvSpPr>
            <p:cNvPr name="TextBox 105" id="105"/>
            <p:cNvSpPr txBox="true"/>
            <p:nvPr/>
          </p:nvSpPr>
          <p:spPr>
            <a:xfrm>
              <a:off x="0" y="-19050"/>
              <a:ext cx="8705088" cy="1573530"/>
            </a:xfrm>
            <a:prstGeom prst="rect">
              <a:avLst/>
            </a:prstGeom>
          </p:spPr>
          <p:txBody>
            <a:bodyPr anchor="ctr" rtlCol="false" tIns="0" lIns="0" bIns="0" rIns="0"/>
            <a:lstStyle/>
            <a:p>
              <a:pPr algn="l">
                <a:lnSpc>
                  <a:spcPts val="2700"/>
                </a:lnSpc>
              </a:pPr>
              <a:r>
                <a:rPr lang="en-US" sz="2250">
                  <a:solidFill>
                    <a:srgbClr val="0B192E"/>
                  </a:solidFill>
                  <a:latin typeface="DejaVu Sans Light"/>
                  <a:ea typeface="DejaVu Sans Light"/>
                  <a:cs typeface="DejaVu Sans Light"/>
                  <a:sym typeface="DejaVu Sans Light"/>
                </a:rPr>
                <a:t>Theo kết quả lao động &amp; hiệu quả kinh tế là CHỦ YẾU; kết hợp theo mức đóng góp vốn và hệ thống AN SINH, PHÚC LỢI.</a:t>
              </a:r>
            </a:p>
          </p:txBody>
        </p:sp>
      </p:grpSp>
      <p:grpSp>
        <p:nvGrpSpPr>
          <p:cNvPr name="Group 106" id="106"/>
          <p:cNvGrpSpPr/>
          <p:nvPr/>
        </p:nvGrpSpPr>
        <p:grpSpPr>
          <a:xfrm rot="0">
            <a:off x="744855" y="8247507"/>
            <a:ext cx="3242310" cy="1184910"/>
            <a:chOff x="0" y="0"/>
            <a:chExt cx="4323080" cy="1579880"/>
          </a:xfrm>
        </p:grpSpPr>
        <p:sp>
          <p:nvSpPr>
            <p:cNvPr name="Freeform 107" id="107"/>
            <p:cNvSpPr/>
            <p:nvPr/>
          </p:nvSpPr>
          <p:spPr>
            <a:xfrm flipH="false" flipV="false" rot="0">
              <a:off x="0" y="0"/>
              <a:ext cx="4323080" cy="1579880"/>
            </a:xfrm>
            <a:custGeom>
              <a:avLst/>
              <a:gdLst/>
              <a:ahLst/>
              <a:cxnLst/>
              <a:rect r="r" b="b" t="t" l="l"/>
              <a:pathLst>
                <a:path h="1579880" w="4323080">
                  <a:moveTo>
                    <a:pt x="0" y="63246"/>
                  </a:moveTo>
                  <a:cubicBezTo>
                    <a:pt x="0" y="28321"/>
                    <a:pt x="28321" y="0"/>
                    <a:pt x="63246" y="0"/>
                  </a:cubicBezTo>
                  <a:lnTo>
                    <a:pt x="4259834" y="0"/>
                  </a:lnTo>
                  <a:cubicBezTo>
                    <a:pt x="4294759" y="0"/>
                    <a:pt x="4323080" y="28321"/>
                    <a:pt x="4323080" y="63246"/>
                  </a:cubicBezTo>
                  <a:lnTo>
                    <a:pt x="4323080" y="1516634"/>
                  </a:lnTo>
                  <a:cubicBezTo>
                    <a:pt x="4323080" y="1551559"/>
                    <a:pt x="4294759" y="1579880"/>
                    <a:pt x="4259834" y="1579880"/>
                  </a:cubicBezTo>
                  <a:lnTo>
                    <a:pt x="63246" y="1579880"/>
                  </a:lnTo>
                  <a:cubicBezTo>
                    <a:pt x="28321" y="1579880"/>
                    <a:pt x="0" y="1551559"/>
                    <a:pt x="0" y="1516634"/>
                  </a:cubicBezTo>
                  <a:close/>
                </a:path>
              </a:pathLst>
            </a:custGeom>
            <a:solidFill>
              <a:srgbClr val="F1F5F9"/>
            </a:solidFill>
            <a:ln w="19050" cap="sq">
              <a:solidFill>
                <a:srgbClr val="CBD5E1"/>
              </a:solidFill>
              <a:prstDash val="solid"/>
              <a:miter/>
            </a:ln>
          </p:spPr>
          <p:txBody>
            <a:bodyPr/>
            <a:p/>
          </p:txBody>
        </p:sp>
      </p:grpSp>
      <p:grpSp>
        <p:nvGrpSpPr>
          <p:cNvPr name="Group 108" id="108"/>
          <p:cNvGrpSpPr/>
          <p:nvPr/>
        </p:nvGrpSpPr>
        <p:grpSpPr>
          <a:xfrm rot="0">
            <a:off x="850392" y="8257032"/>
            <a:ext cx="3031236" cy="1165860"/>
            <a:chOff x="0" y="0"/>
            <a:chExt cx="4041648" cy="1554480"/>
          </a:xfrm>
        </p:grpSpPr>
        <p:sp>
          <p:nvSpPr>
            <p:cNvPr name="Freeform 109" id="109"/>
            <p:cNvSpPr/>
            <p:nvPr/>
          </p:nvSpPr>
          <p:spPr>
            <a:xfrm flipH="false" flipV="false" rot="0">
              <a:off x="0" y="0"/>
              <a:ext cx="4041648" cy="1554480"/>
            </a:xfrm>
            <a:custGeom>
              <a:avLst/>
              <a:gdLst/>
              <a:ahLst/>
              <a:cxnLst/>
              <a:rect r="r" b="b" t="t" l="l"/>
              <a:pathLst>
                <a:path h="1554480" w="4041648">
                  <a:moveTo>
                    <a:pt x="0" y="0"/>
                  </a:moveTo>
                  <a:lnTo>
                    <a:pt x="4041648" y="0"/>
                  </a:lnTo>
                  <a:lnTo>
                    <a:pt x="4041648" y="1554480"/>
                  </a:lnTo>
                  <a:lnTo>
                    <a:pt x="0" y="1554480"/>
                  </a:lnTo>
                  <a:close/>
                </a:path>
              </a:pathLst>
            </a:custGeom>
            <a:blipFill>
              <a:blip r:embed="rId2">
                <a:alphaModFix amt="0"/>
              </a:blip>
              <a:stretch>
                <a:fillRect l="0" t="-661" r="0" b="-661"/>
              </a:stretch>
            </a:blipFill>
          </p:spPr>
          <p:txBody>
            <a:bodyPr/>
            <a:p/>
          </p:txBody>
        </p:sp>
        <p:sp>
          <p:nvSpPr>
            <p:cNvPr name="TextBox 110" id="110"/>
            <p:cNvSpPr txBox="true"/>
            <p:nvPr/>
          </p:nvSpPr>
          <p:spPr>
            <a:xfrm>
              <a:off x="0" y="-19050"/>
              <a:ext cx="4041648" cy="1573530"/>
            </a:xfrm>
            <a:prstGeom prst="rect">
              <a:avLst/>
            </a:prstGeom>
          </p:spPr>
          <p:txBody>
            <a:bodyPr anchor="ctr" rtlCol="false" tIns="0" lIns="0" bIns="0" rIns="0"/>
            <a:lstStyle/>
            <a:p>
              <a:pPr algn="ctr">
                <a:lnSpc>
                  <a:spcPts val="2700"/>
                </a:lnSpc>
              </a:pPr>
              <a:r>
                <a:rPr lang="en-US" sz="2250" b="true">
                  <a:solidFill>
                    <a:srgbClr val="122645"/>
                  </a:solidFill>
                  <a:latin typeface="DejaVu Sans Bold"/>
                  <a:ea typeface="DejaVu Sans Bold"/>
                  <a:cs typeface="DejaVu Sans Bold"/>
                  <a:sym typeface="DejaVu Sans Bold"/>
                </a:rPr>
                <a:t>5. Tăng trưởng &amp;</a:t>
              </a:r>
            </a:p>
            <a:p>
              <a:pPr algn="ctr">
                <a:lnSpc>
                  <a:spcPts val="2700"/>
                </a:lnSpc>
              </a:pPr>
              <a:r>
                <a:rPr lang="en-US" sz="2250" b="true">
                  <a:solidFill>
                    <a:srgbClr val="122645"/>
                  </a:solidFill>
                  <a:latin typeface="DejaVu Sans Bold"/>
                  <a:ea typeface="DejaVu Sans Bold"/>
                  <a:cs typeface="DejaVu Sans Bold"/>
                  <a:sym typeface="DejaVu Sans Bold"/>
                </a:rPr>
                <a:t>Công bằng XH</a:t>
              </a:r>
            </a:p>
          </p:txBody>
        </p:sp>
      </p:grpSp>
      <p:grpSp>
        <p:nvGrpSpPr>
          <p:cNvPr name="Group 111" id="111"/>
          <p:cNvGrpSpPr/>
          <p:nvPr/>
        </p:nvGrpSpPr>
        <p:grpSpPr>
          <a:xfrm rot="0">
            <a:off x="4077843" y="8247507"/>
            <a:ext cx="6493002" cy="1184910"/>
            <a:chOff x="0" y="0"/>
            <a:chExt cx="8657336" cy="1579880"/>
          </a:xfrm>
        </p:grpSpPr>
        <p:sp>
          <p:nvSpPr>
            <p:cNvPr name="Freeform 112" id="112"/>
            <p:cNvSpPr/>
            <p:nvPr/>
          </p:nvSpPr>
          <p:spPr>
            <a:xfrm flipH="false" flipV="false" rot="0">
              <a:off x="0" y="0"/>
              <a:ext cx="8657336" cy="1579880"/>
            </a:xfrm>
            <a:custGeom>
              <a:avLst/>
              <a:gdLst/>
              <a:ahLst/>
              <a:cxnLst/>
              <a:rect r="r" b="b" t="t" l="l"/>
              <a:pathLst>
                <a:path h="1579880" w="8657336">
                  <a:moveTo>
                    <a:pt x="0" y="63246"/>
                  </a:moveTo>
                  <a:cubicBezTo>
                    <a:pt x="0" y="28321"/>
                    <a:pt x="28321" y="0"/>
                    <a:pt x="63246" y="0"/>
                  </a:cubicBezTo>
                  <a:lnTo>
                    <a:pt x="8594090" y="0"/>
                  </a:lnTo>
                  <a:cubicBezTo>
                    <a:pt x="8629015" y="0"/>
                    <a:pt x="8657336" y="28321"/>
                    <a:pt x="8657336" y="63246"/>
                  </a:cubicBezTo>
                  <a:lnTo>
                    <a:pt x="8657336" y="1516634"/>
                  </a:lnTo>
                  <a:cubicBezTo>
                    <a:pt x="8657336" y="1551559"/>
                    <a:pt x="8629015" y="1579880"/>
                    <a:pt x="8594090" y="1579880"/>
                  </a:cubicBezTo>
                  <a:lnTo>
                    <a:pt x="63246" y="1579880"/>
                  </a:lnTo>
                  <a:cubicBezTo>
                    <a:pt x="28321" y="1579880"/>
                    <a:pt x="0" y="1551559"/>
                    <a:pt x="0" y="1516634"/>
                  </a:cubicBezTo>
                  <a:close/>
                </a:path>
              </a:pathLst>
            </a:custGeom>
            <a:solidFill>
              <a:srgbClr val="FFFFFF"/>
            </a:solidFill>
            <a:ln w="19050" cap="sq">
              <a:solidFill>
                <a:srgbClr val="CBD5E1"/>
              </a:solidFill>
              <a:prstDash val="solid"/>
              <a:miter/>
            </a:ln>
          </p:spPr>
          <p:txBody>
            <a:bodyPr/>
            <a:p/>
          </p:txBody>
        </p:sp>
      </p:grpSp>
      <p:grpSp>
        <p:nvGrpSpPr>
          <p:cNvPr name="Group 113" id="113"/>
          <p:cNvGrpSpPr/>
          <p:nvPr/>
        </p:nvGrpSpPr>
        <p:grpSpPr>
          <a:xfrm rot="0">
            <a:off x="4251960" y="8257032"/>
            <a:ext cx="6144768" cy="1165860"/>
            <a:chOff x="0" y="0"/>
            <a:chExt cx="8193024" cy="1554480"/>
          </a:xfrm>
        </p:grpSpPr>
        <p:sp>
          <p:nvSpPr>
            <p:cNvPr name="Freeform 114" id="114"/>
            <p:cNvSpPr/>
            <p:nvPr/>
          </p:nvSpPr>
          <p:spPr>
            <a:xfrm flipH="false" flipV="false" rot="0">
              <a:off x="0" y="0"/>
              <a:ext cx="8193024" cy="1554480"/>
            </a:xfrm>
            <a:custGeom>
              <a:avLst/>
              <a:gdLst/>
              <a:ahLst/>
              <a:cxnLst/>
              <a:rect r="r" b="b" t="t" l="l"/>
              <a:pathLst>
                <a:path h="1554480" w="8193024">
                  <a:moveTo>
                    <a:pt x="0" y="0"/>
                  </a:moveTo>
                  <a:lnTo>
                    <a:pt x="8193024" y="0"/>
                  </a:lnTo>
                  <a:lnTo>
                    <a:pt x="8193024" y="1554480"/>
                  </a:lnTo>
                  <a:lnTo>
                    <a:pt x="0" y="1554480"/>
                  </a:lnTo>
                  <a:close/>
                </a:path>
              </a:pathLst>
            </a:custGeom>
            <a:blipFill>
              <a:blip r:embed="rId2">
                <a:alphaModFix amt="0"/>
              </a:blip>
              <a:stretch>
                <a:fillRect l="0" t="-52697" r="0" b="-52697"/>
              </a:stretch>
            </a:blipFill>
          </p:spPr>
          <p:txBody>
            <a:bodyPr/>
            <a:p/>
          </p:txBody>
        </p:sp>
        <p:sp>
          <p:nvSpPr>
            <p:cNvPr name="TextBox 115" id="115"/>
            <p:cNvSpPr txBox="true"/>
            <p:nvPr/>
          </p:nvSpPr>
          <p:spPr>
            <a:xfrm>
              <a:off x="0" y="-19050"/>
              <a:ext cx="8193024" cy="1573530"/>
            </a:xfrm>
            <a:prstGeom prst="rect">
              <a:avLst/>
            </a:prstGeom>
          </p:spPr>
          <p:txBody>
            <a:bodyPr anchor="ctr" rtlCol="false" tIns="0" lIns="0" bIns="0" rIns="0"/>
            <a:lstStyle/>
            <a:p>
              <a:pPr algn="l">
                <a:lnSpc>
                  <a:spcPts val="2700"/>
                </a:lnSpc>
              </a:pPr>
              <a:r>
                <a:rPr lang="en-US" sz="2250">
                  <a:solidFill>
                    <a:srgbClr val="1E293B"/>
                  </a:solidFill>
                  <a:latin typeface="DejaVu Sans Light"/>
                  <a:ea typeface="DejaVu Sans Light"/>
                  <a:cs typeface="DejaVu Sans Light"/>
                  <a:sym typeface="DejaVu Sans Light"/>
                </a:rPr>
                <a:t>Mức độ kết hợp tăng trưởng với công bằng xã hội phụ thuộc vào chính sách từng quốc gia.</a:t>
              </a:r>
            </a:p>
          </p:txBody>
        </p:sp>
      </p:grpSp>
      <p:grpSp>
        <p:nvGrpSpPr>
          <p:cNvPr name="Group 116" id="116"/>
          <p:cNvGrpSpPr/>
          <p:nvPr/>
        </p:nvGrpSpPr>
        <p:grpSpPr>
          <a:xfrm rot="0">
            <a:off x="10659618" y="8245602"/>
            <a:ext cx="6880860" cy="1188720"/>
            <a:chOff x="0" y="0"/>
            <a:chExt cx="9174480" cy="1584960"/>
          </a:xfrm>
        </p:grpSpPr>
        <p:sp>
          <p:nvSpPr>
            <p:cNvPr name="Freeform 117" id="117"/>
            <p:cNvSpPr/>
            <p:nvPr/>
          </p:nvSpPr>
          <p:spPr>
            <a:xfrm flipH="false" flipV="false" rot="0">
              <a:off x="0" y="0"/>
              <a:ext cx="9174480" cy="1584960"/>
            </a:xfrm>
            <a:custGeom>
              <a:avLst/>
              <a:gdLst/>
              <a:ahLst/>
              <a:cxnLst/>
              <a:rect r="r" b="b" t="t" l="l"/>
              <a:pathLst>
                <a:path h="1584960" w="9174480">
                  <a:moveTo>
                    <a:pt x="0" y="63373"/>
                  </a:moveTo>
                  <a:cubicBezTo>
                    <a:pt x="0" y="28321"/>
                    <a:pt x="28321" y="0"/>
                    <a:pt x="63373" y="0"/>
                  </a:cubicBezTo>
                  <a:lnTo>
                    <a:pt x="9111107" y="0"/>
                  </a:lnTo>
                  <a:cubicBezTo>
                    <a:pt x="9146159" y="0"/>
                    <a:pt x="9174480" y="28321"/>
                    <a:pt x="9174480" y="63373"/>
                  </a:cubicBezTo>
                  <a:lnTo>
                    <a:pt x="9174480" y="1521587"/>
                  </a:lnTo>
                  <a:cubicBezTo>
                    <a:pt x="9174480" y="1556639"/>
                    <a:pt x="9146159" y="1584960"/>
                    <a:pt x="9111107" y="1584960"/>
                  </a:cubicBezTo>
                  <a:lnTo>
                    <a:pt x="63373" y="1584960"/>
                  </a:lnTo>
                  <a:cubicBezTo>
                    <a:pt x="28321" y="1584960"/>
                    <a:pt x="0" y="1556639"/>
                    <a:pt x="0" y="1521587"/>
                  </a:cubicBezTo>
                  <a:close/>
                </a:path>
              </a:pathLst>
            </a:custGeom>
            <a:solidFill>
              <a:srgbClr val="EAF7F5"/>
            </a:solidFill>
            <a:ln w="22860" cap="sq">
              <a:solidFill>
                <a:srgbClr val="0F766E"/>
              </a:solidFill>
              <a:prstDash val="solid"/>
              <a:miter/>
            </a:ln>
          </p:spPr>
          <p:txBody>
            <a:bodyPr/>
            <a:p/>
          </p:txBody>
        </p:sp>
      </p:grpSp>
      <p:grpSp>
        <p:nvGrpSpPr>
          <p:cNvPr name="Group 118" id="118"/>
          <p:cNvGrpSpPr/>
          <p:nvPr/>
        </p:nvGrpSpPr>
        <p:grpSpPr>
          <a:xfrm rot="0">
            <a:off x="10835640" y="8257032"/>
            <a:ext cx="6528816" cy="1165860"/>
            <a:chOff x="0" y="0"/>
            <a:chExt cx="8705088" cy="1554480"/>
          </a:xfrm>
        </p:grpSpPr>
        <p:sp>
          <p:nvSpPr>
            <p:cNvPr name="Freeform 119" id="119"/>
            <p:cNvSpPr/>
            <p:nvPr/>
          </p:nvSpPr>
          <p:spPr>
            <a:xfrm flipH="false" flipV="false" rot="0">
              <a:off x="0" y="0"/>
              <a:ext cx="8705088" cy="1554480"/>
            </a:xfrm>
            <a:custGeom>
              <a:avLst/>
              <a:gdLst/>
              <a:ahLst/>
              <a:cxnLst/>
              <a:rect r="r" b="b" t="t" l="l"/>
              <a:pathLst>
                <a:path h="1554480" w="8705088">
                  <a:moveTo>
                    <a:pt x="0" y="0"/>
                  </a:moveTo>
                  <a:lnTo>
                    <a:pt x="8705088" y="0"/>
                  </a:lnTo>
                  <a:lnTo>
                    <a:pt x="8705088" y="1554480"/>
                  </a:lnTo>
                  <a:lnTo>
                    <a:pt x="0" y="1554480"/>
                  </a:lnTo>
                  <a:close/>
                </a:path>
              </a:pathLst>
            </a:custGeom>
            <a:blipFill>
              <a:blip r:embed="rId2">
                <a:alphaModFix amt="0"/>
              </a:blip>
              <a:stretch>
                <a:fillRect l="0" t="-59116" r="0" b="-59116"/>
              </a:stretch>
            </a:blipFill>
          </p:spPr>
          <p:txBody>
            <a:bodyPr/>
            <a:p/>
          </p:txBody>
        </p:sp>
        <p:sp>
          <p:nvSpPr>
            <p:cNvPr name="TextBox 120" id="120"/>
            <p:cNvSpPr txBox="true"/>
            <p:nvPr/>
          </p:nvSpPr>
          <p:spPr>
            <a:xfrm>
              <a:off x="0" y="-19050"/>
              <a:ext cx="8705088" cy="1573530"/>
            </a:xfrm>
            <a:prstGeom prst="rect">
              <a:avLst/>
            </a:prstGeom>
          </p:spPr>
          <p:txBody>
            <a:bodyPr anchor="ctr" rtlCol="false" tIns="0" lIns="0" bIns="0" rIns="0"/>
            <a:lstStyle/>
            <a:p>
              <a:pPr algn="l">
                <a:lnSpc>
                  <a:spcPts val="2700"/>
                </a:lnSpc>
              </a:pPr>
              <a:r>
                <a:rPr lang="en-US" sz="2250">
                  <a:solidFill>
                    <a:srgbClr val="0B192E"/>
                  </a:solidFill>
                  <a:latin typeface="DejaVu Sans Light"/>
                  <a:ea typeface="DejaVu Sans Light"/>
                  <a:cs typeface="DejaVu Sans Light"/>
                  <a:sym typeface="DejaVu Sans Light"/>
                </a:rPr>
                <a:t>Gắn tăng trưởng kinh tế với tiến bộ và công bằng xã hội NGAY TRONG TỪNG BƯỚC, TỪNG CHÍNH SÁCH phát triển.</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7315019" cy="137160"/>
            <a:chOff x="0" y="0"/>
            <a:chExt cx="9753359" cy="182880"/>
          </a:xfrm>
        </p:grpSpPr>
        <p:sp>
          <p:nvSpPr>
            <p:cNvPr name="Freeform 5" id="5"/>
            <p:cNvSpPr/>
            <p:nvPr/>
          </p:nvSpPr>
          <p:spPr>
            <a:xfrm flipH="false" flipV="false" rot="0">
              <a:off x="0" y="0"/>
              <a:ext cx="9753346" cy="182880"/>
            </a:xfrm>
            <a:custGeom>
              <a:avLst/>
              <a:gdLst/>
              <a:ahLst/>
              <a:cxnLst/>
              <a:rect r="r" b="b" t="t" l="l"/>
              <a:pathLst>
                <a:path h="182880" w="9753346">
                  <a:moveTo>
                    <a:pt x="0" y="0"/>
                  </a:moveTo>
                  <a:lnTo>
                    <a:pt x="9753346" y="0"/>
                  </a:lnTo>
                  <a:lnTo>
                    <a:pt x="9753346" y="182880"/>
                  </a:lnTo>
                  <a:lnTo>
                    <a:pt x="0" y="182880"/>
                  </a:lnTo>
                  <a:close/>
                </a:path>
              </a:pathLst>
            </a:custGeom>
            <a:solidFill>
              <a:srgbClr val="0F766E"/>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AF7F5"/>
            </a:solidFill>
            <a:ln w="19050" cap="sq">
              <a:solidFill>
                <a:srgbClr val="0F766E"/>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9525"/>
              <a:ext cx="9235440" cy="631317"/>
            </a:xfrm>
            <a:prstGeom prst="rect">
              <a:avLst/>
            </a:prstGeom>
          </p:spPr>
          <p:txBody>
            <a:bodyPr anchor="ctr" rtlCol="false" tIns="0" lIns="0" bIns="0" rIns="0"/>
            <a:lstStyle/>
            <a:p>
              <a:pPr algn="l">
                <a:lnSpc>
                  <a:spcPts val="1889"/>
                </a:lnSpc>
              </a:pPr>
              <a:r>
                <a:rPr lang="en-US" sz="1575" b="true">
                  <a:solidFill>
                    <a:srgbClr val="0F766E"/>
                  </a:solidFill>
                  <a:latin typeface="DejaVu Sans Bold"/>
                  <a:ea typeface="DejaVu Sans Bold"/>
                  <a:cs typeface="DejaVu Sans Bold"/>
                  <a:sym typeface="DejaVu Sans Bold"/>
                </a:rPr>
                <a:t>TRẢ LỜI CÂU HỎI 1 • LIÊN HỆ TRỰC TIẾP TÌNH HUỐNG CQ7</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19050"/>
              <a:ext cx="2432304" cy="64084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Slide 6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Khác biệt bản chất nhìn từ bài toán điều tiết nhà ở đô thị</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9525"/>
              <a:ext cx="22366224" cy="667893"/>
            </a:xfrm>
            <a:prstGeom prst="rect">
              <a:avLst/>
            </a:prstGeom>
          </p:spPr>
          <p:txBody>
            <a:bodyPr anchor="ctr" rtlCol="false" tIns="0" lIns="0" bIns="0" rIns="0"/>
            <a:lstStyle/>
            <a:p>
              <a:pPr algn="l">
                <a:lnSpc>
                  <a:spcPts val="2460"/>
                </a:lnSpc>
              </a:pPr>
              <a:r>
                <a:rPr lang="en-US" sz="2050" i="true">
                  <a:solidFill>
                    <a:srgbClr val="475569"/>
                  </a:solidFill>
                  <a:latin typeface="DejaVu Sans Bold Italics"/>
                  <a:ea typeface="DejaVu Sans Bold Italics"/>
                  <a:cs typeface="DejaVu Sans Bold Italics"/>
                  <a:sym typeface="DejaVu Sans Bold Italics"/>
                </a:rPr>
                <a:t>Nguồn đối chiếu: Vận dụng Mục 5.1.3 Giáo trình KTCT Mác – Lênin (2021) vào chính sách nhà ở đô thị Việt Nam.</a:t>
              </a:r>
            </a:p>
          </p:txBody>
        </p:sp>
      </p:grpSp>
      <p:grpSp>
        <p:nvGrpSpPr>
          <p:cNvPr name="Group 26" id="26"/>
          <p:cNvGrpSpPr/>
          <p:nvPr/>
        </p:nvGrpSpPr>
        <p:grpSpPr>
          <a:xfrm rot="0">
            <a:off x="739140" y="1877568"/>
            <a:ext cx="8191500" cy="7601712"/>
            <a:chOff x="0" y="0"/>
            <a:chExt cx="10922000" cy="10135616"/>
          </a:xfrm>
        </p:grpSpPr>
        <p:sp>
          <p:nvSpPr>
            <p:cNvPr name="Freeform 27" id="27"/>
            <p:cNvSpPr/>
            <p:nvPr/>
          </p:nvSpPr>
          <p:spPr>
            <a:xfrm flipH="false" flipV="false" rot="0">
              <a:off x="0" y="0"/>
              <a:ext cx="10922000" cy="10135615"/>
            </a:xfrm>
            <a:custGeom>
              <a:avLst/>
              <a:gdLst/>
              <a:ahLst/>
              <a:cxnLst/>
              <a:rect r="r" b="b" t="t" l="l"/>
              <a:pathLst>
                <a:path h="10135615" w="10922000">
                  <a:moveTo>
                    <a:pt x="0" y="405384"/>
                  </a:moveTo>
                  <a:cubicBezTo>
                    <a:pt x="0" y="181483"/>
                    <a:pt x="181483" y="0"/>
                    <a:pt x="405384" y="0"/>
                  </a:cubicBezTo>
                  <a:lnTo>
                    <a:pt x="10516616" y="0"/>
                  </a:lnTo>
                  <a:cubicBezTo>
                    <a:pt x="10740517" y="0"/>
                    <a:pt x="10922000" y="181483"/>
                    <a:pt x="10922000" y="405384"/>
                  </a:cubicBezTo>
                  <a:lnTo>
                    <a:pt x="10922000" y="9730232"/>
                  </a:lnTo>
                  <a:cubicBezTo>
                    <a:pt x="10922000" y="9954133"/>
                    <a:pt x="10740517" y="10135615"/>
                    <a:pt x="10516616" y="10135615"/>
                  </a:cubicBezTo>
                  <a:lnTo>
                    <a:pt x="405384" y="10135615"/>
                  </a:lnTo>
                  <a:cubicBezTo>
                    <a:pt x="181483" y="10135616"/>
                    <a:pt x="0" y="9954133"/>
                    <a:pt x="0" y="9730232"/>
                  </a:cubicBezTo>
                  <a:close/>
                </a:path>
              </a:pathLst>
            </a:custGeom>
            <a:solidFill>
              <a:srgbClr val="FFFFFF"/>
            </a:solidFill>
            <a:ln w="30480" cap="sq">
              <a:solidFill>
                <a:srgbClr val="C25915"/>
              </a:solidFill>
              <a:prstDash val="solid"/>
              <a:miter/>
            </a:ln>
          </p:spPr>
          <p:txBody>
            <a:bodyPr/>
            <a:p/>
          </p:txBody>
        </p:sp>
      </p:grpSp>
      <p:grpSp>
        <p:nvGrpSpPr>
          <p:cNvPr name="Group 28" id="28"/>
          <p:cNvGrpSpPr/>
          <p:nvPr/>
        </p:nvGrpSpPr>
        <p:grpSpPr>
          <a:xfrm rot="0">
            <a:off x="946404" y="2057400"/>
            <a:ext cx="7776972" cy="3346704"/>
            <a:chOff x="0" y="0"/>
            <a:chExt cx="10369296" cy="4462272"/>
          </a:xfrm>
        </p:grpSpPr>
        <p:sp>
          <p:nvSpPr>
            <p:cNvPr name="Freeform 29" id="29" descr="image5.jpg"/>
            <p:cNvSpPr/>
            <p:nvPr/>
          </p:nvSpPr>
          <p:spPr>
            <a:xfrm flipH="false" flipV="false" rot="0">
              <a:off x="0" y="0"/>
              <a:ext cx="10369296" cy="4462272"/>
            </a:xfrm>
            <a:custGeom>
              <a:avLst/>
              <a:gdLst/>
              <a:ahLst/>
              <a:cxnLst/>
              <a:rect r="r" b="b" t="t" l="l"/>
              <a:pathLst>
                <a:path h="4462272" w="10369296">
                  <a:moveTo>
                    <a:pt x="0" y="0"/>
                  </a:moveTo>
                  <a:lnTo>
                    <a:pt x="10369296" y="0"/>
                  </a:lnTo>
                  <a:lnTo>
                    <a:pt x="10369296" y="4462272"/>
                  </a:lnTo>
                  <a:lnTo>
                    <a:pt x="0" y="4462272"/>
                  </a:lnTo>
                  <a:lnTo>
                    <a:pt x="0" y="0"/>
                  </a:lnTo>
                  <a:close/>
                </a:path>
              </a:pathLst>
            </a:custGeom>
            <a:blipFill>
              <a:blip r:embed="rId3"/>
              <a:stretch>
                <a:fillRect l="0" t="-1527" r="0" b="-1526"/>
              </a:stretch>
            </a:blipFill>
          </p:spPr>
          <p:txBody>
            <a:bodyPr/>
            <a:p/>
          </p:txBody>
        </p:sp>
      </p:grpSp>
      <p:grpSp>
        <p:nvGrpSpPr>
          <p:cNvPr name="Group 30" id="30"/>
          <p:cNvGrpSpPr/>
          <p:nvPr/>
        </p:nvGrpSpPr>
        <p:grpSpPr>
          <a:xfrm rot="0">
            <a:off x="946404" y="5431536"/>
            <a:ext cx="7776972" cy="466344"/>
            <a:chOff x="0" y="0"/>
            <a:chExt cx="10369296" cy="621792"/>
          </a:xfrm>
        </p:grpSpPr>
        <p:sp>
          <p:nvSpPr>
            <p:cNvPr name="Freeform 31" id="31"/>
            <p:cNvSpPr/>
            <p:nvPr/>
          </p:nvSpPr>
          <p:spPr>
            <a:xfrm flipH="false" flipV="false" rot="0">
              <a:off x="0" y="0"/>
              <a:ext cx="10369296" cy="621792"/>
            </a:xfrm>
            <a:custGeom>
              <a:avLst/>
              <a:gdLst/>
              <a:ahLst/>
              <a:cxnLst/>
              <a:rect r="r" b="b" t="t" l="l"/>
              <a:pathLst>
                <a:path h="621792" w="10369296">
                  <a:moveTo>
                    <a:pt x="0" y="0"/>
                  </a:moveTo>
                  <a:lnTo>
                    <a:pt x="10369296" y="0"/>
                  </a:lnTo>
                  <a:lnTo>
                    <a:pt x="10369296" y="621792"/>
                  </a:lnTo>
                  <a:lnTo>
                    <a:pt x="0" y="621792"/>
                  </a:lnTo>
                  <a:close/>
                </a:path>
              </a:pathLst>
            </a:custGeom>
            <a:solidFill>
              <a:srgbClr val="F1F5F9"/>
            </a:solidFill>
          </p:spPr>
          <p:txBody>
            <a:bodyPr/>
            <a:p/>
          </p:txBody>
        </p:sp>
      </p:grpSp>
      <p:grpSp>
        <p:nvGrpSpPr>
          <p:cNvPr name="Group 32" id="32"/>
          <p:cNvGrpSpPr/>
          <p:nvPr/>
        </p:nvGrpSpPr>
        <p:grpSpPr>
          <a:xfrm rot="0">
            <a:off x="1028700" y="5431536"/>
            <a:ext cx="7612380" cy="466344"/>
            <a:chOff x="0" y="0"/>
            <a:chExt cx="10149840" cy="621792"/>
          </a:xfrm>
        </p:grpSpPr>
        <p:sp>
          <p:nvSpPr>
            <p:cNvPr name="Freeform 33" id="33"/>
            <p:cNvSpPr/>
            <p:nvPr/>
          </p:nvSpPr>
          <p:spPr>
            <a:xfrm flipH="false" flipV="false" rot="0">
              <a:off x="0" y="0"/>
              <a:ext cx="10149840" cy="621792"/>
            </a:xfrm>
            <a:custGeom>
              <a:avLst/>
              <a:gdLst/>
              <a:ahLst/>
              <a:cxnLst/>
              <a:rect r="r" b="b" t="t" l="l"/>
              <a:pathLst>
                <a:path h="621792" w="10149840">
                  <a:moveTo>
                    <a:pt x="0" y="0"/>
                  </a:moveTo>
                  <a:lnTo>
                    <a:pt x="10149840" y="0"/>
                  </a:lnTo>
                  <a:lnTo>
                    <a:pt x="10149840" y="621792"/>
                  </a:lnTo>
                  <a:lnTo>
                    <a:pt x="0" y="621792"/>
                  </a:lnTo>
                  <a:close/>
                </a:path>
              </a:pathLst>
            </a:custGeom>
            <a:blipFill>
              <a:blip r:embed="rId2">
                <a:alphaModFix amt="0"/>
              </a:blip>
              <a:stretch>
                <a:fillRect l="0" t="-268064" r="0" b="-268064"/>
              </a:stretch>
            </a:blipFill>
          </p:spPr>
          <p:txBody>
            <a:bodyPr/>
            <a:p/>
          </p:txBody>
        </p:sp>
        <p:sp>
          <p:nvSpPr>
            <p:cNvPr name="TextBox 34" id="34"/>
            <p:cNvSpPr txBox="true"/>
            <p:nvPr/>
          </p:nvSpPr>
          <p:spPr>
            <a:xfrm>
              <a:off x="0" y="0"/>
              <a:ext cx="10149840" cy="621792"/>
            </a:xfrm>
            <a:prstGeom prst="rect">
              <a:avLst/>
            </a:prstGeom>
          </p:spPr>
          <p:txBody>
            <a:bodyPr anchor="ctr" rtlCol="false" tIns="0" lIns="0" bIns="0" rIns="0"/>
            <a:lstStyle/>
            <a:p>
              <a:pPr algn="l">
                <a:lnSpc>
                  <a:spcPts val="1692"/>
                </a:lnSpc>
              </a:pPr>
              <a:r>
                <a:rPr lang="en-US" sz="1410" b="true">
                  <a:solidFill>
                    <a:srgbClr val="1E293B"/>
                  </a:solidFill>
                  <a:latin typeface="DejaVu Sans Bold"/>
                  <a:ea typeface="DejaVu Sans Bold"/>
                  <a:cs typeface="DejaVu Sans Bold"/>
                  <a:sym typeface="DejaVu Sans Bold"/>
                </a:rPr>
                <a:t>Ảnh thật: Cụm chung cư thương mại cao tầng tại Hà Nội | Nguồn: Báo Tuổi Trẻ</a:t>
              </a:r>
            </a:p>
          </p:txBody>
        </p:sp>
      </p:grpSp>
      <p:sp>
        <p:nvSpPr>
          <p:cNvPr name="TextBox 35" id="35"/>
          <p:cNvSpPr txBox="true"/>
          <p:nvPr/>
        </p:nvSpPr>
        <p:spPr>
          <a:xfrm rot="0">
            <a:off x="1083564" y="5997702"/>
            <a:ext cx="7776972" cy="3306051"/>
          </a:xfrm>
          <a:prstGeom prst="rect">
            <a:avLst/>
          </a:prstGeom>
        </p:spPr>
        <p:txBody>
          <a:bodyPr anchor="t" rtlCol="false" tIns="0" lIns="0" bIns="0" rIns="0">
            <a:spAutoFit/>
          </a:bodyPr>
          <a:lstStyle/>
          <a:p>
            <a:pPr algn="l">
              <a:lnSpc>
                <a:spcPts val="2700"/>
              </a:lnSpc>
            </a:pPr>
            <a:r>
              <a:rPr lang="en-US" sz="2250" b="true">
                <a:solidFill>
                  <a:srgbClr val="C25915"/>
                </a:solidFill>
                <a:latin typeface="DejaVu Sans Bold"/>
                <a:ea typeface="DejaVu Sans Bold"/>
                <a:cs typeface="DejaVu Sans Bold"/>
                <a:sym typeface="DejaVu Sans Bold"/>
              </a:rPr>
              <a:t>KỊCH BẢN CHỈ DỰA VÀO TÍN HIỆU LỢI NHUẬN THỊ TRƯỜNG:</a:t>
            </a:r>
          </a:p>
          <a:p>
            <a:pPr algn="l">
              <a:lnSpc>
                <a:spcPts val="2700"/>
              </a:lnSpc>
            </a:pPr>
            <a:r>
              <a:rPr lang="en-US" sz="2250">
                <a:solidFill>
                  <a:srgbClr val="1E293B"/>
                </a:solidFill>
                <a:latin typeface="DejaVu Sans Light"/>
                <a:ea typeface="DejaVu Sans Light"/>
                <a:cs typeface="DejaVu Sans Light"/>
                <a:sym typeface="DejaVu Sans Light"/>
              </a:rPr>
              <a:t>• Khi thiếu chính sách điều tiết, nguồn vốn có xu hướng ưu tiên phân khúc thương mại có tỷ suất lợi nhuận cao.</a:t>
            </a:r>
          </a:p>
          <a:p>
            <a:pPr algn="l">
              <a:lnSpc>
                <a:spcPts val="2700"/>
              </a:lnSpc>
            </a:pPr>
            <a:r>
              <a:rPr lang="en-US" sz="2250">
                <a:solidFill>
                  <a:srgbClr val="1E293B"/>
                </a:solidFill>
                <a:latin typeface="DejaVu Sans Light"/>
                <a:ea typeface="DejaVu Sans Light"/>
                <a:cs typeface="DejaVu Sans Light"/>
                <a:sym typeface="DejaVu Sans Light"/>
              </a:rPr>
              <a:t>• Nhu cầu nhà ở thực của nhóm người có khả năng thanh toán thấp chưa được đáp ứng đầy đủ.</a:t>
            </a:r>
          </a:p>
          <a:p>
            <a:pPr algn="l">
              <a:lnSpc>
                <a:spcPts val="2700"/>
              </a:lnSpc>
            </a:pPr>
            <a:r>
              <a:rPr lang="en-US" sz="2250">
                <a:solidFill>
                  <a:srgbClr val="1E293B"/>
                </a:solidFill>
                <a:latin typeface="DejaVu Sans Light"/>
                <a:ea typeface="DejaVu Sans Light"/>
                <a:cs typeface="DejaVu Sans Light"/>
                <a:sym typeface="DejaVu Sans Light"/>
              </a:rPr>
              <a:t>• Khoảng cách giữa giá nhà thương mại và thu nhập người trẻ ngày càng nới rộng.</a:t>
            </a:r>
          </a:p>
        </p:txBody>
      </p:sp>
      <p:grpSp>
        <p:nvGrpSpPr>
          <p:cNvPr name="Group 36" id="36"/>
          <p:cNvGrpSpPr/>
          <p:nvPr/>
        </p:nvGrpSpPr>
        <p:grpSpPr>
          <a:xfrm rot="0">
            <a:off x="9350883" y="1875663"/>
            <a:ext cx="8195310" cy="7605522"/>
            <a:chOff x="0" y="0"/>
            <a:chExt cx="10927080" cy="10140696"/>
          </a:xfrm>
        </p:grpSpPr>
        <p:sp>
          <p:nvSpPr>
            <p:cNvPr name="Freeform 37" id="37"/>
            <p:cNvSpPr/>
            <p:nvPr/>
          </p:nvSpPr>
          <p:spPr>
            <a:xfrm flipH="false" flipV="false" rot="0">
              <a:off x="0" y="0"/>
              <a:ext cx="10927080" cy="10140696"/>
            </a:xfrm>
            <a:custGeom>
              <a:avLst/>
              <a:gdLst/>
              <a:ahLst/>
              <a:cxnLst/>
              <a:rect r="r" b="b" t="t" l="l"/>
              <a:pathLst>
                <a:path h="10140696" w="10927080">
                  <a:moveTo>
                    <a:pt x="0" y="405638"/>
                  </a:moveTo>
                  <a:cubicBezTo>
                    <a:pt x="0" y="181610"/>
                    <a:pt x="181610" y="0"/>
                    <a:pt x="405638" y="0"/>
                  </a:cubicBezTo>
                  <a:lnTo>
                    <a:pt x="10521442" y="0"/>
                  </a:lnTo>
                  <a:cubicBezTo>
                    <a:pt x="10745470" y="0"/>
                    <a:pt x="10927080" y="181610"/>
                    <a:pt x="10927080" y="405638"/>
                  </a:cubicBezTo>
                  <a:lnTo>
                    <a:pt x="10927080" y="9735058"/>
                  </a:lnTo>
                  <a:cubicBezTo>
                    <a:pt x="10927080" y="9959086"/>
                    <a:pt x="10745470" y="10140696"/>
                    <a:pt x="10521442" y="10140696"/>
                  </a:cubicBezTo>
                  <a:lnTo>
                    <a:pt x="405638" y="10140696"/>
                  </a:lnTo>
                  <a:cubicBezTo>
                    <a:pt x="181610" y="10140696"/>
                    <a:pt x="0" y="9959086"/>
                    <a:pt x="0" y="9735058"/>
                  </a:cubicBezTo>
                  <a:close/>
                </a:path>
              </a:pathLst>
            </a:custGeom>
            <a:solidFill>
              <a:srgbClr val="EAF7F5"/>
            </a:solidFill>
            <a:ln w="34290" cap="sq">
              <a:solidFill>
                <a:srgbClr val="0F766E"/>
              </a:solidFill>
              <a:prstDash val="solid"/>
              <a:miter/>
            </a:ln>
          </p:spPr>
          <p:txBody>
            <a:bodyPr/>
            <a:p/>
          </p:txBody>
        </p:sp>
      </p:grpSp>
      <p:grpSp>
        <p:nvGrpSpPr>
          <p:cNvPr name="Group 38" id="38"/>
          <p:cNvGrpSpPr/>
          <p:nvPr/>
        </p:nvGrpSpPr>
        <p:grpSpPr>
          <a:xfrm rot="0">
            <a:off x="9560052" y="2057400"/>
            <a:ext cx="7776972" cy="3346704"/>
            <a:chOff x="0" y="0"/>
            <a:chExt cx="10369296" cy="4462272"/>
          </a:xfrm>
        </p:grpSpPr>
        <p:sp>
          <p:nvSpPr>
            <p:cNvPr name="Freeform 39" id="39" descr="image6.jpg"/>
            <p:cNvSpPr/>
            <p:nvPr/>
          </p:nvSpPr>
          <p:spPr>
            <a:xfrm flipH="false" flipV="false" rot="0">
              <a:off x="0" y="0"/>
              <a:ext cx="10369296" cy="4462272"/>
            </a:xfrm>
            <a:custGeom>
              <a:avLst/>
              <a:gdLst/>
              <a:ahLst/>
              <a:cxnLst/>
              <a:rect r="r" b="b" t="t" l="l"/>
              <a:pathLst>
                <a:path h="4462272" w="10369296">
                  <a:moveTo>
                    <a:pt x="0" y="0"/>
                  </a:moveTo>
                  <a:lnTo>
                    <a:pt x="10369296" y="0"/>
                  </a:lnTo>
                  <a:lnTo>
                    <a:pt x="10369296" y="4462272"/>
                  </a:lnTo>
                  <a:lnTo>
                    <a:pt x="0" y="4462272"/>
                  </a:lnTo>
                  <a:lnTo>
                    <a:pt x="0" y="0"/>
                  </a:lnTo>
                  <a:close/>
                </a:path>
              </a:pathLst>
            </a:custGeom>
            <a:blipFill>
              <a:blip r:embed="rId4"/>
              <a:stretch>
                <a:fillRect l="0" t="-1527" r="0" b="-1526"/>
              </a:stretch>
            </a:blipFill>
          </p:spPr>
          <p:txBody>
            <a:bodyPr/>
            <a:p/>
          </p:txBody>
        </p:sp>
      </p:grpSp>
      <p:grpSp>
        <p:nvGrpSpPr>
          <p:cNvPr name="Group 40" id="40"/>
          <p:cNvGrpSpPr/>
          <p:nvPr/>
        </p:nvGrpSpPr>
        <p:grpSpPr>
          <a:xfrm rot="0">
            <a:off x="9560052" y="5431536"/>
            <a:ext cx="7776972" cy="466344"/>
            <a:chOff x="0" y="0"/>
            <a:chExt cx="10369296" cy="621792"/>
          </a:xfrm>
        </p:grpSpPr>
        <p:sp>
          <p:nvSpPr>
            <p:cNvPr name="Freeform 41" id="41"/>
            <p:cNvSpPr/>
            <p:nvPr/>
          </p:nvSpPr>
          <p:spPr>
            <a:xfrm flipH="false" flipV="false" rot="0">
              <a:off x="0" y="0"/>
              <a:ext cx="10369296" cy="621792"/>
            </a:xfrm>
            <a:custGeom>
              <a:avLst/>
              <a:gdLst/>
              <a:ahLst/>
              <a:cxnLst/>
              <a:rect r="r" b="b" t="t" l="l"/>
              <a:pathLst>
                <a:path h="621792" w="10369296">
                  <a:moveTo>
                    <a:pt x="0" y="0"/>
                  </a:moveTo>
                  <a:lnTo>
                    <a:pt x="10369296" y="0"/>
                  </a:lnTo>
                  <a:lnTo>
                    <a:pt x="10369296" y="621792"/>
                  </a:lnTo>
                  <a:lnTo>
                    <a:pt x="0" y="621792"/>
                  </a:lnTo>
                  <a:close/>
                </a:path>
              </a:pathLst>
            </a:custGeom>
            <a:solidFill>
              <a:srgbClr val="FFFFFF"/>
            </a:solidFill>
          </p:spPr>
          <p:txBody>
            <a:bodyPr/>
            <a:p/>
          </p:txBody>
        </p:sp>
      </p:grpSp>
      <p:grpSp>
        <p:nvGrpSpPr>
          <p:cNvPr name="Group 42" id="42"/>
          <p:cNvGrpSpPr/>
          <p:nvPr/>
        </p:nvGrpSpPr>
        <p:grpSpPr>
          <a:xfrm rot="0">
            <a:off x="9642348" y="5431536"/>
            <a:ext cx="7612380" cy="466344"/>
            <a:chOff x="0" y="0"/>
            <a:chExt cx="10149840" cy="621792"/>
          </a:xfrm>
        </p:grpSpPr>
        <p:sp>
          <p:nvSpPr>
            <p:cNvPr name="Freeform 43" id="43"/>
            <p:cNvSpPr/>
            <p:nvPr/>
          </p:nvSpPr>
          <p:spPr>
            <a:xfrm flipH="false" flipV="false" rot="0">
              <a:off x="0" y="0"/>
              <a:ext cx="10149840" cy="621792"/>
            </a:xfrm>
            <a:custGeom>
              <a:avLst/>
              <a:gdLst/>
              <a:ahLst/>
              <a:cxnLst/>
              <a:rect r="r" b="b" t="t" l="l"/>
              <a:pathLst>
                <a:path h="621792" w="10149840">
                  <a:moveTo>
                    <a:pt x="0" y="0"/>
                  </a:moveTo>
                  <a:lnTo>
                    <a:pt x="10149840" y="0"/>
                  </a:lnTo>
                  <a:lnTo>
                    <a:pt x="10149840" y="621792"/>
                  </a:lnTo>
                  <a:lnTo>
                    <a:pt x="0" y="621792"/>
                  </a:lnTo>
                  <a:close/>
                </a:path>
              </a:pathLst>
            </a:custGeom>
            <a:blipFill>
              <a:blip r:embed="rId2">
                <a:alphaModFix amt="0"/>
              </a:blip>
              <a:stretch>
                <a:fillRect l="0" t="-268064" r="0" b="-268064"/>
              </a:stretch>
            </a:blipFill>
          </p:spPr>
          <p:txBody>
            <a:bodyPr/>
            <a:p/>
          </p:txBody>
        </p:sp>
        <p:sp>
          <p:nvSpPr>
            <p:cNvPr name="TextBox 44" id="44"/>
            <p:cNvSpPr txBox="true"/>
            <p:nvPr/>
          </p:nvSpPr>
          <p:spPr>
            <a:xfrm>
              <a:off x="0" y="0"/>
              <a:ext cx="10149840" cy="621792"/>
            </a:xfrm>
            <a:prstGeom prst="rect">
              <a:avLst/>
            </a:prstGeom>
          </p:spPr>
          <p:txBody>
            <a:bodyPr anchor="ctr" rtlCol="false" tIns="0" lIns="0" bIns="0" rIns="0"/>
            <a:lstStyle/>
            <a:p>
              <a:pPr algn="l">
                <a:lnSpc>
                  <a:spcPts val="1692"/>
                </a:lnSpc>
              </a:pPr>
              <a:r>
                <a:rPr lang="en-US" sz="1410" b="true">
                  <a:solidFill>
                    <a:srgbClr val="1E293B"/>
                  </a:solidFill>
                  <a:latin typeface="DejaVu Sans Bold"/>
                  <a:ea typeface="DejaVu Sans Bold"/>
                  <a:cs typeface="DejaVu Sans Bold"/>
                  <a:sym typeface="DejaVu Sans Bold"/>
                </a:rPr>
                <a:t>Ảnh thật: Khu đô thị NOXH Đặng Xá – Gia Lâm, Hà Nội | Nguồn: Viglacera – Bộ Xây dựng</a:t>
              </a:r>
            </a:p>
          </p:txBody>
        </p:sp>
      </p:grpSp>
      <p:sp>
        <p:nvSpPr>
          <p:cNvPr name="TextBox 45" id="45"/>
          <p:cNvSpPr txBox="true"/>
          <p:nvPr/>
        </p:nvSpPr>
        <p:spPr>
          <a:xfrm rot="0">
            <a:off x="9697212" y="5997702"/>
            <a:ext cx="7776972" cy="3015196"/>
          </a:xfrm>
          <a:prstGeom prst="rect">
            <a:avLst/>
          </a:prstGeom>
        </p:spPr>
        <p:txBody>
          <a:bodyPr anchor="t" rtlCol="false" tIns="0" lIns="0" bIns="0" rIns="0">
            <a:spAutoFit/>
          </a:bodyPr>
          <a:lstStyle/>
          <a:p>
            <a:pPr algn="l">
              <a:lnSpc>
                <a:spcPts val="2520"/>
              </a:lnSpc>
            </a:pPr>
            <a:r>
              <a:rPr lang="en-US" sz="2100" b="true">
                <a:solidFill>
                  <a:srgbClr val="0F766E"/>
                </a:solidFill>
                <a:latin typeface="DejaVu Sans Bold"/>
                <a:ea typeface="DejaVu Sans Bold"/>
                <a:cs typeface="DejaVu Sans Bold"/>
                <a:sym typeface="DejaVu Sans Bold"/>
              </a:rPr>
              <a:t>MÔ HÌNH KTTT ĐỊNH HƯỚNG XHCN Ở VIỆT NAM:</a:t>
            </a:r>
          </a:p>
          <a:p>
            <a:pPr algn="l">
              <a:lnSpc>
                <a:spcPts val="2520"/>
              </a:lnSpc>
            </a:pPr>
            <a:r>
              <a:rPr lang="en-US" sz="2100">
                <a:solidFill>
                  <a:srgbClr val="0B192E"/>
                </a:solidFill>
                <a:latin typeface="DejaVu Sans Light"/>
                <a:ea typeface="DejaVu Sans Light"/>
                <a:cs typeface="DejaVu Sans Light"/>
                <a:sym typeface="DejaVu Sans Light"/>
              </a:rPr>
              <a:t>• Tôn trọng cơ chế thị trường ở phân khúc thương mại; đồng thời xác định chỗ ở cơ bản là trụ cột an sinh xã hội.</a:t>
            </a:r>
          </a:p>
          <a:p>
            <a:pPr algn="l">
              <a:lnSpc>
                <a:spcPts val="2520"/>
              </a:lnSpc>
            </a:pPr>
            <a:r>
              <a:rPr lang="en-US" sz="2100">
                <a:solidFill>
                  <a:srgbClr val="0B192E"/>
                </a:solidFill>
                <a:latin typeface="DejaVu Sans Light"/>
                <a:ea typeface="DejaVu Sans Light"/>
                <a:cs typeface="DejaVu Sans Light"/>
                <a:sym typeface="DejaVu Sans Light"/>
              </a:rPr>
              <a:t>• Không tùy tiện ép doanh nghiệp bán dưới chi phí; kết hợp nghĩa vụ luật định với đòn bẩy khuyến khích kinh tế.</a:t>
            </a:r>
          </a:p>
          <a:p>
            <a:pPr algn="l">
              <a:lnSpc>
                <a:spcPts val="2520"/>
              </a:lnSpc>
            </a:pPr>
            <a:r>
              <a:rPr lang="en-US" sz="2100">
                <a:solidFill>
                  <a:srgbClr val="0B192E"/>
                </a:solidFill>
                <a:latin typeface="DejaVu Sans Light"/>
                <a:ea typeface="DejaVu Sans Light"/>
                <a:cs typeface="DejaVu Sans Light"/>
                <a:sym typeface="DejaVu Sans Light"/>
              </a:rPr>
              <a:t>• Nhà nước chủ động kiến tạo thể chế, tín dụng ưu đãi &amp; quỹ NOXH cho người lao động.</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8534181" cy="137160"/>
            <a:chOff x="0" y="0"/>
            <a:chExt cx="11378908" cy="182880"/>
          </a:xfrm>
        </p:grpSpPr>
        <p:sp>
          <p:nvSpPr>
            <p:cNvPr name="Freeform 5" id="5"/>
            <p:cNvSpPr/>
            <p:nvPr/>
          </p:nvSpPr>
          <p:spPr>
            <a:xfrm flipH="false" flipV="false" rot="0">
              <a:off x="0" y="0"/>
              <a:ext cx="11378946" cy="182880"/>
            </a:xfrm>
            <a:custGeom>
              <a:avLst/>
              <a:gdLst/>
              <a:ahLst/>
              <a:cxnLst/>
              <a:rect r="r" b="b" t="t" l="l"/>
              <a:pathLst>
                <a:path h="182880" w="11378946">
                  <a:moveTo>
                    <a:pt x="0" y="0"/>
                  </a:moveTo>
                  <a:lnTo>
                    <a:pt x="11378946" y="0"/>
                  </a:lnTo>
                  <a:lnTo>
                    <a:pt x="11378946" y="182880"/>
                  </a:lnTo>
                  <a:lnTo>
                    <a:pt x="0" y="182880"/>
                  </a:lnTo>
                  <a:close/>
                </a:path>
              </a:pathLst>
            </a:custGeom>
            <a:solidFill>
              <a:srgbClr val="0369A1"/>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EF6FC"/>
            </a:solidFill>
            <a:ln w="19050" cap="sq">
              <a:solidFill>
                <a:srgbClr val="0369A1"/>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9525"/>
              <a:ext cx="9235440" cy="631317"/>
            </a:xfrm>
            <a:prstGeom prst="rect">
              <a:avLst/>
            </a:prstGeom>
          </p:spPr>
          <p:txBody>
            <a:bodyPr anchor="ctr" rtlCol="false" tIns="0" lIns="0" bIns="0" rIns="0"/>
            <a:lstStyle/>
            <a:p>
              <a:pPr algn="l">
                <a:lnSpc>
                  <a:spcPts val="1889"/>
                </a:lnSpc>
              </a:pPr>
              <a:r>
                <a:rPr lang="en-US" sz="1575" b="true">
                  <a:solidFill>
                    <a:srgbClr val="0369A1"/>
                  </a:solidFill>
                  <a:latin typeface="DejaVu Sans Bold"/>
                  <a:ea typeface="DejaVu Sans Bold"/>
                  <a:cs typeface="DejaVu Sans Bold"/>
                  <a:sym typeface="DejaVu Sans Bold"/>
                </a:rPr>
                <a:t>LÝ LUẬN NỀN TẢNG • MỤC 5.2.1 (TR. 187–190)</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19050"/>
              <a:ext cx="2432304" cy="64084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Slide 7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Thể chế KTTT định hướng XHCN: "Bộ luật chơi" &amp; 4 bộ phận cấu thành</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19050"/>
              <a:ext cx="22366224" cy="677418"/>
            </a:xfrm>
            <a:prstGeom prst="rect">
              <a:avLst/>
            </a:prstGeom>
          </p:spPr>
          <p:txBody>
            <a:bodyPr anchor="ctr" rtlCol="false" tIns="0" lIns="0" bIns="0" rIns="0"/>
            <a:lstStyle/>
            <a:p>
              <a:pPr algn="l">
                <a:lnSpc>
                  <a:spcPts val="1500"/>
                </a:lnSpc>
              </a:pPr>
              <a:r>
                <a:rPr lang="en-US" sz="1250" i="true">
                  <a:solidFill>
                    <a:srgbClr val="475569"/>
                  </a:solidFill>
                  <a:latin typeface="DejaVu Sans Bold Italics"/>
                  <a:ea typeface="DejaVu Sans Bold Italics"/>
                  <a:cs typeface="DejaVu Sans Bold Italics"/>
                  <a:sym typeface="DejaVu Sans Bold Italics"/>
                </a:rPr>
                <a:t>Nguồn lý luận: Giáo trình Kinh tế chính trị Mác – Lênin (Bộ GD&amp;ĐT, 2021, Mục 5.2.1, tr. 187–190).</a:t>
              </a:r>
            </a:p>
          </p:txBody>
        </p:sp>
      </p:grpSp>
      <p:grpSp>
        <p:nvGrpSpPr>
          <p:cNvPr name="Group 26" id="26"/>
          <p:cNvGrpSpPr/>
          <p:nvPr/>
        </p:nvGrpSpPr>
        <p:grpSpPr>
          <a:xfrm rot="0">
            <a:off x="756666" y="1881378"/>
            <a:ext cx="6743700" cy="7511796"/>
            <a:chOff x="0" y="0"/>
            <a:chExt cx="8991600" cy="10015728"/>
          </a:xfrm>
        </p:grpSpPr>
        <p:sp>
          <p:nvSpPr>
            <p:cNvPr name="Freeform 27" id="27"/>
            <p:cNvSpPr/>
            <p:nvPr/>
          </p:nvSpPr>
          <p:spPr>
            <a:xfrm flipH="false" flipV="false" rot="0">
              <a:off x="0" y="0"/>
              <a:ext cx="8991600" cy="10015728"/>
            </a:xfrm>
            <a:custGeom>
              <a:avLst/>
              <a:gdLst/>
              <a:ahLst/>
              <a:cxnLst/>
              <a:rect r="r" b="b" t="t" l="l"/>
              <a:pathLst>
                <a:path h="10015728" w="8991600">
                  <a:moveTo>
                    <a:pt x="0" y="359664"/>
                  </a:moveTo>
                  <a:cubicBezTo>
                    <a:pt x="0" y="161036"/>
                    <a:pt x="161036" y="0"/>
                    <a:pt x="359664" y="0"/>
                  </a:cubicBezTo>
                  <a:lnTo>
                    <a:pt x="8631936" y="0"/>
                  </a:lnTo>
                  <a:cubicBezTo>
                    <a:pt x="8830564" y="0"/>
                    <a:pt x="8991600" y="161036"/>
                    <a:pt x="8991600" y="359664"/>
                  </a:cubicBezTo>
                  <a:lnTo>
                    <a:pt x="8991600" y="9656064"/>
                  </a:lnTo>
                  <a:cubicBezTo>
                    <a:pt x="8991600" y="9854692"/>
                    <a:pt x="8830564" y="10015728"/>
                    <a:pt x="8631936" y="10015728"/>
                  </a:cubicBezTo>
                  <a:lnTo>
                    <a:pt x="359664" y="10015728"/>
                  </a:lnTo>
                  <a:cubicBezTo>
                    <a:pt x="161036" y="10015728"/>
                    <a:pt x="0" y="9854692"/>
                    <a:pt x="0" y="9656064"/>
                  </a:cubicBezTo>
                  <a:close/>
                </a:path>
              </a:pathLst>
            </a:custGeom>
            <a:solidFill>
              <a:srgbClr val="FFFFFF"/>
            </a:solidFill>
            <a:ln w="22860" cap="sq">
              <a:solidFill>
                <a:srgbClr val="CBD5E1"/>
              </a:solidFill>
              <a:prstDash val="solid"/>
              <a:miter/>
            </a:ln>
          </p:spPr>
          <p:txBody>
            <a:bodyPr/>
            <a:p/>
          </p:txBody>
        </p:sp>
      </p:grpSp>
      <p:grpSp>
        <p:nvGrpSpPr>
          <p:cNvPr name="Group 28" id="28"/>
          <p:cNvGrpSpPr/>
          <p:nvPr/>
        </p:nvGrpSpPr>
        <p:grpSpPr>
          <a:xfrm rot="0">
            <a:off x="850392" y="1975104"/>
            <a:ext cx="6556248" cy="6748272"/>
            <a:chOff x="0" y="0"/>
            <a:chExt cx="8741664" cy="8997696"/>
          </a:xfrm>
        </p:grpSpPr>
        <p:sp>
          <p:nvSpPr>
            <p:cNvPr name="Freeform 29" id="29" descr="image7.jpg"/>
            <p:cNvSpPr/>
            <p:nvPr/>
          </p:nvSpPr>
          <p:spPr>
            <a:xfrm flipH="false" flipV="false" rot="0">
              <a:off x="0" y="0"/>
              <a:ext cx="8741664" cy="8997696"/>
            </a:xfrm>
            <a:custGeom>
              <a:avLst/>
              <a:gdLst/>
              <a:ahLst/>
              <a:cxnLst/>
              <a:rect r="r" b="b" t="t" l="l"/>
              <a:pathLst>
                <a:path h="8997696" w="8741664">
                  <a:moveTo>
                    <a:pt x="0" y="0"/>
                  </a:moveTo>
                  <a:lnTo>
                    <a:pt x="8741664" y="0"/>
                  </a:lnTo>
                  <a:lnTo>
                    <a:pt x="8741664" y="8997696"/>
                  </a:lnTo>
                  <a:lnTo>
                    <a:pt x="0" y="8997696"/>
                  </a:lnTo>
                  <a:lnTo>
                    <a:pt x="0" y="0"/>
                  </a:lnTo>
                  <a:close/>
                </a:path>
              </a:pathLst>
            </a:custGeom>
            <a:blipFill>
              <a:blip r:embed="rId3"/>
              <a:stretch>
                <a:fillRect l="-1464" t="0" r="-1464" b="0"/>
              </a:stretch>
            </a:blipFill>
          </p:spPr>
          <p:txBody>
            <a:bodyPr/>
            <a:p/>
          </p:txBody>
        </p:sp>
      </p:grpSp>
      <p:grpSp>
        <p:nvGrpSpPr>
          <p:cNvPr name="Group 30" id="30"/>
          <p:cNvGrpSpPr/>
          <p:nvPr/>
        </p:nvGrpSpPr>
        <p:grpSpPr>
          <a:xfrm rot="0">
            <a:off x="850392" y="8778240"/>
            <a:ext cx="6556248" cy="548640"/>
            <a:chOff x="0" y="0"/>
            <a:chExt cx="8741664" cy="731520"/>
          </a:xfrm>
        </p:grpSpPr>
        <p:sp>
          <p:nvSpPr>
            <p:cNvPr name="Freeform 31" id="31"/>
            <p:cNvSpPr/>
            <p:nvPr/>
          </p:nvSpPr>
          <p:spPr>
            <a:xfrm flipH="false" flipV="false" rot="0">
              <a:off x="0" y="0"/>
              <a:ext cx="8741664" cy="731520"/>
            </a:xfrm>
            <a:custGeom>
              <a:avLst/>
              <a:gdLst/>
              <a:ahLst/>
              <a:cxnLst/>
              <a:rect r="r" b="b" t="t" l="l"/>
              <a:pathLst>
                <a:path h="731520" w="8741664">
                  <a:moveTo>
                    <a:pt x="0" y="0"/>
                  </a:moveTo>
                  <a:lnTo>
                    <a:pt x="8741664" y="0"/>
                  </a:lnTo>
                  <a:lnTo>
                    <a:pt x="8741664" y="731520"/>
                  </a:lnTo>
                  <a:lnTo>
                    <a:pt x="0" y="731520"/>
                  </a:lnTo>
                  <a:close/>
                </a:path>
              </a:pathLst>
            </a:custGeom>
            <a:solidFill>
              <a:srgbClr val="F1F5F9"/>
            </a:solidFill>
          </p:spPr>
          <p:txBody>
            <a:bodyPr/>
            <a:p/>
          </p:txBody>
        </p:sp>
      </p:grpSp>
      <p:grpSp>
        <p:nvGrpSpPr>
          <p:cNvPr name="Group 32" id="32"/>
          <p:cNvGrpSpPr/>
          <p:nvPr/>
        </p:nvGrpSpPr>
        <p:grpSpPr>
          <a:xfrm rot="0">
            <a:off x="932688" y="8778240"/>
            <a:ext cx="6391656" cy="548640"/>
            <a:chOff x="0" y="0"/>
            <a:chExt cx="8522208" cy="731520"/>
          </a:xfrm>
        </p:grpSpPr>
        <p:sp>
          <p:nvSpPr>
            <p:cNvPr name="Freeform 33" id="33"/>
            <p:cNvSpPr/>
            <p:nvPr/>
          </p:nvSpPr>
          <p:spPr>
            <a:xfrm flipH="false" flipV="false" rot="0">
              <a:off x="0" y="0"/>
              <a:ext cx="8522208" cy="731520"/>
            </a:xfrm>
            <a:custGeom>
              <a:avLst/>
              <a:gdLst/>
              <a:ahLst/>
              <a:cxnLst/>
              <a:rect r="r" b="b" t="t" l="l"/>
              <a:pathLst>
                <a:path h="731520" w="8522208">
                  <a:moveTo>
                    <a:pt x="0" y="0"/>
                  </a:moveTo>
                  <a:lnTo>
                    <a:pt x="8522208" y="0"/>
                  </a:lnTo>
                  <a:lnTo>
                    <a:pt x="8522208" y="731520"/>
                  </a:lnTo>
                  <a:lnTo>
                    <a:pt x="0" y="731520"/>
                  </a:lnTo>
                  <a:close/>
                </a:path>
              </a:pathLst>
            </a:custGeom>
            <a:blipFill>
              <a:blip r:embed="rId2">
                <a:alphaModFix amt="0"/>
              </a:blip>
              <a:stretch>
                <a:fillRect l="0" t="-177000" r="0" b="-177000"/>
              </a:stretch>
            </a:blipFill>
          </p:spPr>
          <p:txBody>
            <a:bodyPr/>
            <a:p/>
          </p:txBody>
        </p:sp>
        <p:sp>
          <p:nvSpPr>
            <p:cNvPr name="TextBox 34" id="34"/>
            <p:cNvSpPr txBox="true"/>
            <p:nvPr/>
          </p:nvSpPr>
          <p:spPr>
            <a:xfrm>
              <a:off x="0" y="-9525"/>
              <a:ext cx="8522208" cy="741045"/>
            </a:xfrm>
            <a:prstGeom prst="rect">
              <a:avLst/>
            </a:prstGeom>
          </p:spPr>
          <p:txBody>
            <a:bodyPr anchor="ctr" rtlCol="false" tIns="0" lIns="0" bIns="0" rIns="0"/>
            <a:lstStyle/>
            <a:p>
              <a:pPr algn="l">
                <a:lnSpc>
                  <a:spcPts val="1727"/>
                </a:lnSpc>
              </a:pPr>
              <a:r>
                <a:rPr lang="en-US" sz="1439" b="true">
                  <a:solidFill>
                    <a:srgbClr val="1E293B"/>
                  </a:solidFill>
                  <a:latin typeface="DejaVu Sans Bold"/>
                  <a:ea typeface="DejaVu Sans Bold"/>
                  <a:cs typeface="DejaVu Sans Bold"/>
                  <a:sym typeface="DejaVu Sans Bold"/>
                </a:rPr>
                <a:t>Ảnh thật: Quốc hội khóa XV biểu quyết thông qua Luật Đất đai 2024 | Nguồn: Báo Điện tử Chính phủ</a:t>
              </a:r>
            </a:p>
          </p:txBody>
        </p:sp>
      </p:grpSp>
      <p:grpSp>
        <p:nvGrpSpPr>
          <p:cNvPr name="Group 35" id="35"/>
          <p:cNvGrpSpPr/>
          <p:nvPr/>
        </p:nvGrpSpPr>
        <p:grpSpPr>
          <a:xfrm rot="0">
            <a:off x="7872412" y="1905952"/>
            <a:ext cx="9657207" cy="2168271"/>
            <a:chOff x="0" y="0"/>
            <a:chExt cx="12876276" cy="2891028"/>
          </a:xfrm>
        </p:grpSpPr>
        <p:sp>
          <p:nvSpPr>
            <p:cNvPr name="Freeform 36" id="36"/>
            <p:cNvSpPr/>
            <p:nvPr/>
          </p:nvSpPr>
          <p:spPr>
            <a:xfrm flipH="false" flipV="false" rot="0">
              <a:off x="0" y="0"/>
              <a:ext cx="12876403" cy="2891028"/>
            </a:xfrm>
            <a:custGeom>
              <a:avLst/>
              <a:gdLst/>
              <a:ahLst/>
              <a:cxnLst/>
              <a:rect r="r" b="b" t="t" l="l"/>
              <a:pathLst>
                <a:path h="2891028" w="12876403">
                  <a:moveTo>
                    <a:pt x="0" y="115697"/>
                  </a:moveTo>
                  <a:cubicBezTo>
                    <a:pt x="0" y="51816"/>
                    <a:pt x="51816" y="0"/>
                    <a:pt x="115697" y="0"/>
                  </a:cubicBezTo>
                  <a:lnTo>
                    <a:pt x="12760706" y="0"/>
                  </a:lnTo>
                  <a:cubicBezTo>
                    <a:pt x="12824587" y="0"/>
                    <a:pt x="12876403" y="51816"/>
                    <a:pt x="12876403" y="115697"/>
                  </a:cubicBezTo>
                  <a:lnTo>
                    <a:pt x="12876403" y="2775331"/>
                  </a:lnTo>
                  <a:cubicBezTo>
                    <a:pt x="12876403" y="2839212"/>
                    <a:pt x="12824587" y="2891028"/>
                    <a:pt x="12760706" y="2891028"/>
                  </a:cubicBezTo>
                  <a:lnTo>
                    <a:pt x="115697" y="2891028"/>
                  </a:lnTo>
                  <a:cubicBezTo>
                    <a:pt x="51816" y="2891028"/>
                    <a:pt x="0" y="2839212"/>
                    <a:pt x="0" y="2775331"/>
                  </a:cubicBezTo>
                  <a:close/>
                </a:path>
              </a:pathLst>
            </a:custGeom>
            <a:solidFill>
              <a:srgbClr val="EEF6FC"/>
            </a:solidFill>
            <a:ln w="28575" cap="sq">
              <a:solidFill>
                <a:srgbClr val="0369A1"/>
              </a:solidFill>
              <a:prstDash val="solid"/>
              <a:miter/>
            </a:ln>
          </p:spPr>
          <p:txBody>
            <a:bodyPr/>
            <a:p/>
          </p:txBody>
        </p:sp>
      </p:grpSp>
      <p:grpSp>
        <p:nvGrpSpPr>
          <p:cNvPr name="Group 37" id="37"/>
          <p:cNvGrpSpPr/>
          <p:nvPr/>
        </p:nvGrpSpPr>
        <p:grpSpPr>
          <a:xfrm rot="0">
            <a:off x="7998047" y="2002536"/>
            <a:ext cx="9405937" cy="1975104"/>
            <a:chOff x="0" y="0"/>
            <a:chExt cx="12541250" cy="2633472"/>
          </a:xfrm>
        </p:grpSpPr>
        <p:sp>
          <p:nvSpPr>
            <p:cNvPr name="Freeform 38" id="38"/>
            <p:cNvSpPr/>
            <p:nvPr/>
          </p:nvSpPr>
          <p:spPr>
            <a:xfrm flipH="false" flipV="false" rot="0">
              <a:off x="0" y="0"/>
              <a:ext cx="12541250" cy="2633472"/>
            </a:xfrm>
            <a:custGeom>
              <a:avLst/>
              <a:gdLst/>
              <a:ahLst/>
              <a:cxnLst/>
              <a:rect r="r" b="b" t="t" l="l"/>
              <a:pathLst>
                <a:path h="2633472" w="12541250">
                  <a:moveTo>
                    <a:pt x="0" y="0"/>
                  </a:moveTo>
                  <a:lnTo>
                    <a:pt x="12541250" y="0"/>
                  </a:lnTo>
                  <a:lnTo>
                    <a:pt x="12541250" y="2633472"/>
                  </a:lnTo>
                  <a:lnTo>
                    <a:pt x="0" y="2633472"/>
                  </a:lnTo>
                  <a:close/>
                </a:path>
              </a:pathLst>
            </a:custGeom>
            <a:blipFill>
              <a:blip r:embed="rId2">
                <a:alphaModFix amt="0"/>
              </a:blip>
              <a:stretch>
                <a:fillRect l="0" t="-40659" r="2298" b="-40659"/>
              </a:stretch>
            </a:blipFill>
          </p:spPr>
          <p:txBody>
            <a:bodyPr/>
            <a:p/>
          </p:txBody>
        </p:sp>
        <p:sp>
          <p:nvSpPr>
            <p:cNvPr name="TextBox 39" id="39"/>
            <p:cNvSpPr txBox="true"/>
            <p:nvPr/>
          </p:nvSpPr>
          <p:spPr>
            <a:xfrm>
              <a:off x="0" y="-19050"/>
              <a:ext cx="12541250" cy="2652522"/>
            </a:xfrm>
            <a:prstGeom prst="rect">
              <a:avLst/>
            </a:prstGeom>
          </p:spPr>
          <p:txBody>
            <a:bodyPr anchor="ctr" rtlCol="false" tIns="0" lIns="0" bIns="0" rIns="0"/>
            <a:lstStyle/>
            <a:p>
              <a:pPr algn="l">
                <a:lnSpc>
                  <a:spcPts val="2700"/>
                </a:lnSpc>
              </a:pPr>
              <a:r>
                <a:rPr lang="en-US" sz="2250" b="true">
                  <a:solidFill>
                    <a:srgbClr val="0369A1"/>
                  </a:solidFill>
                  <a:latin typeface="DejaVu Sans Bold"/>
                  <a:ea typeface="DejaVu Sans Bold"/>
                  <a:cs typeface="DejaVu Sans Bold"/>
                  <a:sym typeface="DejaVu Sans Bold"/>
                </a:rPr>
                <a:t>THỂ CHẾ KTTT ĐỊNH HƯỚNG XHCN LÀ GÌ?</a:t>
              </a:r>
            </a:p>
            <a:p>
              <a:pPr algn="l">
                <a:lnSpc>
                  <a:spcPts val="3402"/>
                </a:lnSpc>
              </a:pPr>
              <a:r>
                <a:rPr lang="en-US" sz="2250">
                  <a:solidFill>
                    <a:srgbClr val="0B192E"/>
                  </a:solidFill>
                  <a:latin typeface="DejaVu Sans Light"/>
                  <a:ea typeface="DejaVu Sans Light"/>
                  <a:cs typeface="DejaVu Sans Light"/>
                  <a:sym typeface="DejaVu Sans Light"/>
                </a:rPr>
                <a:t>Là hệ thống luật pháp, cơ chế, chính sách, quy tắc, chế định điều tiết hành vi của các chủ thể và các quá trình kinh tế nhằm bảo đảm sự vận hành thông suốt và phát triển theo định hướng XHCN[27].</a:t>
              </a:r>
            </a:p>
          </p:txBody>
        </p:sp>
      </p:grpSp>
      <p:sp>
        <p:nvSpPr>
          <p:cNvPr id="40" name="Rounded Rectangle 39"/>
          <p:cNvSpPr/>
          <p:nvPr/>
        </p:nvSpPr>
        <p:spPr>
          <a:xfrm>
            <a:off x="7872983" y="4251960"/>
            <a:ext cx="9646920" cy="1143000"/>
          </a:xfrm>
          <a:prstGeom prst="roundRect">
            <a:avLst>
              <a:gd name="adj" fmla="val 6000"/>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101583" y="4480560"/>
            <a:ext cx="777240" cy="685800"/>
          </a:xfrm>
          <a:prstGeom prst="roundRect">
            <a:avLst>
              <a:gd name="adj" fmla="val 20000"/>
            </a:avLst>
          </a:prstGeom>
          <a:solidFill>
            <a:srgbClr val="122645"/>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600" b="1">
                <a:solidFill>
                  <a:srgbClr val="FFFFFF"/>
                </a:solidFill>
                <a:latin typeface="DejaVu Sans Bold"/>
              </a:rPr>
              <a:t>01</a:t>
            </a:r>
          </a:p>
        </p:txBody>
      </p:sp>
      <p:sp>
        <p:nvSpPr>
          <p:cNvPr id="42" name="TextBox 41"/>
          <p:cNvSpPr txBox="1"/>
          <p:nvPr/>
        </p:nvSpPr>
        <p:spPr>
          <a:xfrm>
            <a:off x="9107424" y="4379976"/>
            <a:ext cx="8275320" cy="886968"/>
          </a:xfrm>
          <a:prstGeom prst="rect">
            <a:avLst/>
          </a:prstGeom>
          <a:noFill/>
        </p:spPr>
        <p:txBody>
          <a:bodyPr wrap="square" lIns="0" tIns="0" rIns="0" bIns="0">
            <a:spAutoFit/>
          </a:bodyPr>
          <a:lstStyle/>
          <a:p>
            <a:pPr>
              <a:spcAft>
                <a:spcPts val="200"/>
              </a:spcAft>
            </a:pPr>
            <a:r>
              <a:rPr sz="1700" b="1">
                <a:solidFill>
                  <a:srgbClr val="122645"/>
                </a:solidFill>
                <a:latin typeface="DejaVu Sans Bold"/>
              </a:rPr>
              <a:t>1. Các bộ quy tắc, chế định, luật lệ</a:t>
            </a:r>
          </a:p>
          <a:p>
            <a:r>
              <a:rPr sz="1500">
                <a:solidFill>
                  <a:srgbClr val="334155"/>
                </a:solidFill>
                <a:latin typeface="DejaVu Sans Light"/>
              </a:rPr>
              <a:t>(Thể chế chính thức và phi chính thức)[27].</a:t>
            </a:r>
          </a:p>
        </p:txBody>
      </p:sp>
      <p:sp>
        <p:nvSpPr>
          <p:cNvPr id="43" name="Rounded Rectangle 42"/>
          <p:cNvSpPr/>
          <p:nvPr/>
        </p:nvSpPr>
        <p:spPr>
          <a:xfrm>
            <a:off x="7872983" y="5532120"/>
            <a:ext cx="9646920" cy="1143000"/>
          </a:xfrm>
          <a:prstGeom prst="roundRect">
            <a:avLst>
              <a:gd name="adj" fmla="val 6000"/>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101583" y="5760720"/>
            <a:ext cx="777240" cy="685800"/>
          </a:xfrm>
          <a:prstGeom prst="roundRect">
            <a:avLst>
              <a:gd name="adj" fmla="val 20000"/>
            </a:avLst>
          </a:prstGeom>
          <a:solidFill>
            <a:srgbClr val="122645"/>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600" b="1">
                <a:solidFill>
                  <a:srgbClr val="FFFFFF"/>
                </a:solidFill>
                <a:latin typeface="DejaVu Sans Bold"/>
              </a:rPr>
              <a:t>02</a:t>
            </a:r>
          </a:p>
        </p:txBody>
      </p:sp>
      <p:sp>
        <p:nvSpPr>
          <p:cNvPr id="45" name="TextBox 44"/>
          <p:cNvSpPr txBox="1"/>
          <p:nvPr/>
        </p:nvSpPr>
        <p:spPr>
          <a:xfrm>
            <a:off x="9107424" y="5660136"/>
            <a:ext cx="8275320" cy="886968"/>
          </a:xfrm>
          <a:prstGeom prst="rect">
            <a:avLst/>
          </a:prstGeom>
          <a:noFill/>
        </p:spPr>
        <p:txBody>
          <a:bodyPr wrap="square" lIns="0" tIns="0" rIns="0" bIns="0">
            <a:spAutoFit/>
          </a:bodyPr>
          <a:lstStyle/>
          <a:p>
            <a:pPr>
              <a:spcAft>
                <a:spcPts val="200"/>
              </a:spcAft>
            </a:pPr>
            <a:r>
              <a:rPr sz="1700" b="1">
                <a:solidFill>
                  <a:srgbClr val="122645"/>
                </a:solidFill>
                <a:latin typeface="DejaVu Sans Bold"/>
              </a:rPr>
              <a:t>2. Các chủ thể tham gia kinh tế</a:t>
            </a:r>
          </a:p>
          <a:p>
            <a:r>
              <a:rPr sz="1500">
                <a:solidFill>
                  <a:srgbClr val="334155"/>
                </a:solidFill>
                <a:latin typeface="DejaVu Sans Light"/>
              </a:rPr>
              <a:t>(Doanh nghiệp, nhà nước, tổ chức xã hội, người tiêu dùng...)[28][29].</a:t>
            </a:r>
          </a:p>
        </p:txBody>
      </p:sp>
      <p:sp>
        <p:nvSpPr>
          <p:cNvPr id="46" name="Rounded Rectangle 45"/>
          <p:cNvSpPr/>
          <p:nvPr/>
        </p:nvSpPr>
        <p:spPr>
          <a:xfrm>
            <a:off x="7872983" y="6812280"/>
            <a:ext cx="9646920" cy="1143000"/>
          </a:xfrm>
          <a:prstGeom prst="roundRect">
            <a:avLst>
              <a:gd name="adj" fmla="val 6000"/>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8101583" y="7040880"/>
            <a:ext cx="777240" cy="685800"/>
          </a:xfrm>
          <a:prstGeom prst="roundRect">
            <a:avLst>
              <a:gd name="adj" fmla="val 20000"/>
            </a:avLst>
          </a:prstGeom>
          <a:solidFill>
            <a:srgbClr val="122645"/>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600" b="1">
                <a:solidFill>
                  <a:srgbClr val="FFFFFF"/>
                </a:solidFill>
                <a:latin typeface="DejaVu Sans Bold"/>
              </a:rPr>
              <a:t>03</a:t>
            </a:r>
          </a:p>
        </p:txBody>
      </p:sp>
      <p:sp>
        <p:nvSpPr>
          <p:cNvPr id="48" name="TextBox 47"/>
          <p:cNvSpPr txBox="1"/>
          <p:nvPr/>
        </p:nvSpPr>
        <p:spPr>
          <a:xfrm>
            <a:off x="9107424" y="6940296"/>
            <a:ext cx="8275320" cy="886968"/>
          </a:xfrm>
          <a:prstGeom prst="rect">
            <a:avLst/>
          </a:prstGeom>
          <a:noFill/>
        </p:spPr>
        <p:txBody>
          <a:bodyPr wrap="square" lIns="0" tIns="0" rIns="0" bIns="0">
            <a:spAutoFit/>
          </a:bodyPr>
          <a:lstStyle/>
          <a:p>
            <a:pPr>
              <a:spcAft>
                <a:spcPts val="200"/>
              </a:spcAft>
            </a:pPr>
            <a:r>
              <a:rPr sz="1700" b="1">
                <a:solidFill>
                  <a:srgbClr val="122645"/>
                </a:solidFill>
                <a:latin typeface="DejaVu Sans Bold"/>
              </a:rPr>
              <a:t>3. Cơ chế vận hành</a:t>
            </a:r>
          </a:p>
          <a:p>
            <a:r>
              <a:rPr sz="1500">
                <a:solidFill>
                  <a:srgbClr val="334155"/>
                </a:solidFill>
                <a:latin typeface="DejaVu Sans Light"/>
              </a:rPr>
              <a:t>(Cơ chế cạnh tranh, phân cấp, phối hợp, giám sát...)[30][31].</a:t>
            </a:r>
          </a:p>
        </p:txBody>
      </p:sp>
      <p:sp>
        <p:nvSpPr>
          <p:cNvPr id="49" name="Rounded Rectangle 48"/>
          <p:cNvSpPr/>
          <p:nvPr/>
        </p:nvSpPr>
        <p:spPr>
          <a:xfrm>
            <a:off x="7872983" y="8092440"/>
            <a:ext cx="9646920" cy="1143000"/>
          </a:xfrm>
          <a:prstGeom prst="roundRect">
            <a:avLst>
              <a:gd name="adj" fmla="val 6000"/>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8101583" y="8321040"/>
            <a:ext cx="777240" cy="685800"/>
          </a:xfrm>
          <a:prstGeom prst="roundRect">
            <a:avLst>
              <a:gd name="adj" fmla="val 20000"/>
            </a:avLst>
          </a:prstGeom>
          <a:solidFill>
            <a:srgbClr val="122645"/>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600" b="1">
                <a:solidFill>
                  <a:srgbClr val="FFFFFF"/>
                </a:solidFill>
                <a:latin typeface="DejaVu Sans Bold"/>
              </a:rPr>
              <a:t>04</a:t>
            </a:r>
          </a:p>
        </p:txBody>
      </p:sp>
      <p:sp>
        <p:nvSpPr>
          <p:cNvPr id="51" name="TextBox 50"/>
          <p:cNvSpPr txBox="1"/>
          <p:nvPr/>
        </p:nvSpPr>
        <p:spPr>
          <a:xfrm>
            <a:off x="9107424" y="8220456"/>
            <a:ext cx="8275320" cy="886968"/>
          </a:xfrm>
          <a:prstGeom prst="rect">
            <a:avLst/>
          </a:prstGeom>
          <a:noFill/>
        </p:spPr>
        <p:txBody>
          <a:bodyPr wrap="square" lIns="0" tIns="0" rIns="0" bIns="0">
            <a:spAutoFit/>
          </a:bodyPr>
          <a:lstStyle/>
          <a:p>
            <a:pPr>
              <a:spcAft>
                <a:spcPts val="200"/>
              </a:spcAft>
            </a:pPr>
            <a:r>
              <a:rPr sz="1700" b="1">
                <a:solidFill>
                  <a:srgbClr val="122645"/>
                </a:solidFill>
                <a:latin typeface="DejaVu Sans Bold"/>
              </a:rPr>
              <a:t>4. Thể chế các thị trường cơ bản</a:t>
            </a:r>
          </a:p>
          <a:p>
            <a:r>
              <a:rPr sz="1500">
                <a:solidFill>
                  <a:srgbClr val="334155"/>
                </a:solidFill>
                <a:latin typeface="DejaVu Sans Light"/>
              </a:rPr>
              <a:t>(Thị trường hàng hóa, dịch vụ, vốn, lao động, bất động sản, khoa học - công nghệ...)[31].</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9753352" cy="137160"/>
            <a:chOff x="0" y="0"/>
            <a:chExt cx="13004470" cy="182880"/>
          </a:xfrm>
        </p:grpSpPr>
        <p:sp>
          <p:nvSpPr>
            <p:cNvPr name="Freeform 5" id="5"/>
            <p:cNvSpPr/>
            <p:nvPr/>
          </p:nvSpPr>
          <p:spPr>
            <a:xfrm flipH="false" flipV="false" rot="0">
              <a:off x="0" y="0"/>
              <a:ext cx="13004419" cy="182880"/>
            </a:xfrm>
            <a:custGeom>
              <a:avLst/>
              <a:gdLst/>
              <a:ahLst/>
              <a:cxnLst/>
              <a:rect r="r" b="b" t="t" l="l"/>
              <a:pathLst>
                <a:path h="182880" w="13004419">
                  <a:moveTo>
                    <a:pt x="0" y="0"/>
                  </a:moveTo>
                  <a:lnTo>
                    <a:pt x="13004419" y="0"/>
                  </a:lnTo>
                  <a:lnTo>
                    <a:pt x="13004419" y="182880"/>
                  </a:lnTo>
                  <a:lnTo>
                    <a:pt x="0" y="182880"/>
                  </a:lnTo>
                  <a:close/>
                </a:path>
              </a:pathLst>
            </a:custGeom>
            <a:solidFill>
              <a:srgbClr val="0369A1"/>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EF6FC"/>
            </a:solidFill>
            <a:ln w="19050" cap="sq">
              <a:solidFill>
                <a:srgbClr val="0369A1"/>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9525"/>
              <a:ext cx="9235440" cy="631317"/>
            </a:xfrm>
            <a:prstGeom prst="rect">
              <a:avLst/>
            </a:prstGeom>
          </p:spPr>
          <p:txBody>
            <a:bodyPr anchor="ctr" rtlCol="false" tIns="0" lIns="0" bIns="0" rIns="0"/>
            <a:lstStyle/>
            <a:p>
              <a:pPr algn="l">
                <a:lnSpc>
                  <a:spcPts val="1889"/>
                </a:lnSpc>
              </a:pPr>
              <a:r>
                <a:rPr lang="en-US" sz="1575" b="true">
                  <a:solidFill>
                    <a:srgbClr val="0369A1"/>
                  </a:solidFill>
                  <a:latin typeface="DejaVu Sans Bold"/>
                  <a:ea typeface="DejaVu Sans Bold"/>
                  <a:cs typeface="DejaVu Sans Bold"/>
                  <a:sym typeface="DejaVu Sans Bold"/>
                </a:rPr>
                <a:t>LÝ LUẬN NỀN TẢNG • MỤC 5.2.2 (TR. 190–196)</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19050"/>
              <a:ext cx="2432304" cy="64084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Slide 9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5 nội dung trọng tâm hoàn thiện Thể chế KTTT định hướng XHCN</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9525"/>
              <a:ext cx="22366224" cy="667893"/>
            </a:xfrm>
            <a:prstGeom prst="rect">
              <a:avLst/>
            </a:prstGeom>
          </p:spPr>
          <p:txBody>
            <a:bodyPr anchor="ctr" rtlCol="false" tIns="0" lIns="0" bIns="0" rIns="0"/>
            <a:lstStyle/>
            <a:p>
              <a:pPr algn="l">
                <a:lnSpc>
                  <a:spcPts val="1380"/>
                </a:lnSpc>
              </a:pPr>
              <a:r>
                <a:rPr lang="en-US" sz="1150" i="true">
                  <a:solidFill>
                    <a:srgbClr val="475569"/>
                  </a:solidFill>
                  <a:latin typeface="DejaVu Sans Bold Italics"/>
                  <a:ea typeface="DejaVu Sans Bold Italics"/>
                  <a:cs typeface="DejaVu Sans Bold Italics"/>
                  <a:sym typeface="DejaVu Sans Bold Italics"/>
                </a:rPr>
                <a:t>Nguồn: Giáo trình KTCT Mác – Lênin (2021, tr. 190–196); Cổng Thông tin điện tử Quốc hội &amp; Chính phủ.</a:t>
              </a:r>
            </a:p>
          </p:txBody>
        </p:sp>
      </p:grpSp>
      <p:grpSp>
        <p:nvGrpSpPr>
          <p:cNvPr name="Group 26" id="26"/>
          <p:cNvGrpSpPr/>
          <p:nvPr/>
        </p:nvGrpSpPr>
        <p:grpSpPr>
          <a:xfrm rot="0">
            <a:off x="742950" y="1963674"/>
            <a:ext cx="5454396" cy="3479292"/>
            <a:chOff x="0" y="0"/>
            <a:chExt cx="7272528" cy="4639056"/>
          </a:xfrm>
        </p:grpSpPr>
        <p:sp>
          <p:nvSpPr>
            <p:cNvPr name="Freeform 27" id="27"/>
            <p:cNvSpPr/>
            <p:nvPr/>
          </p:nvSpPr>
          <p:spPr>
            <a:xfrm flipH="false" flipV="false" rot="0">
              <a:off x="0" y="0"/>
              <a:ext cx="7272528" cy="4639056"/>
            </a:xfrm>
            <a:custGeom>
              <a:avLst/>
              <a:gdLst/>
              <a:ahLst/>
              <a:cxnLst/>
              <a:rect r="r" b="b" t="t" l="l"/>
              <a:pathLst>
                <a:path h="4639056" w="7272528">
                  <a:moveTo>
                    <a:pt x="0" y="185547"/>
                  </a:moveTo>
                  <a:cubicBezTo>
                    <a:pt x="0" y="83058"/>
                    <a:pt x="83058" y="0"/>
                    <a:pt x="185547" y="0"/>
                  </a:cubicBezTo>
                  <a:lnTo>
                    <a:pt x="7086981" y="0"/>
                  </a:lnTo>
                  <a:cubicBezTo>
                    <a:pt x="7189470" y="0"/>
                    <a:pt x="7272528" y="83058"/>
                    <a:pt x="7272528" y="185547"/>
                  </a:cubicBezTo>
                  <a:lnTo>
                    <a:pt x="7272528" y="4453509"/>
                  </a:lnTo>
                  <a:cubicBezTo>
                    <a:pt x="7272528" y="4555998"/>
                    <a:pt x="7189470" y="4639056"/>
                    <a:pt x="7086981" y="4639056"/>
                  </a:cubicBezTo>
                  <a:lnTo>
                    <a:pt x="185547" y="4639056"/>
                  </a:lnTo>
                  <a:cubicBezTo>
                    <a:pt x="83058" y="4639056"/>
                    <a:pt x="0" y="4555998"/>
                    <a:pt x="0" y="4453509"/>
                  </a:cubicBezTo>
                  <a:close/>
                </a:path>
              </a:pathLst>
            </a:custGeom>
            <a:solidFill>
              <a:srgbClr val="FFFFFF"/>
            </a:solidFill>
            <a:ln w="22860" cap="sq">
              <a:solidFill>
                <a:srgbClr val="CBD5E1"/>
              </a:solidFill>
              <a:prstDash val="solid"/>
              <a:miter/>
            </a:ln>
          </p:spPr>
          <p:txBody>
            <a:bodyPr/>
            <a:p/>
          </p:txBody>
        </p:sp>
      </p:grpSp>
      <p:grpSp>
        <p:nvGrpSpPr>
          <p:cNvPr name="Group 28" id="28"/>
          <p:cNvGrpSpPr/>
          <p:nvPr/>
        </p:nvGrpSpPr>
        <p:grpSpPr>
          <a:xfrm rot="0">
            <a:off x="1001268" y="2221992"/>
            <a:ext cx="905256" cy="630936"/>
            <a:chOff x="0" y="0"/>
            <a:chExt cx="1207008" cy="841248"/>
          </a:xfrm>
        </p:grpSpPr>
        <p:sp>
          <p:nvSpPr>
            <p:cNvPr name="Freeform 29" id="29"/>
            <p:cNvSpPr/>
            <p:nvPr/>
          </p:nvSpPr>
          <p:spPr>
            <a:xfrm flipH="false" flipV="false" rot="0">
              <a:off x="0" y="0"/>
              <a:ext cx="1207008" cy="841248"/>
            </a:xfrm>
            <a:custGeom>
              <a:avLst/>
              <a:gdLst/>
              <a:ahLst/>
              <a:cxnLst/>
              <a:rect r="r" b="b" t="t" l="l"/>
              <a:pathLst>
                <a:path h="841248" w="1207008">
                  <a:moveTo>
                    <a:pt x="0" y="33655"/>
                  </a:moveTo>
                  <a:cubicBezTo>
                    <a:pt x="0" y="15113"/>
                    <a:pt x="15113" y="0"/>
                    <a:pt x="33655" y="0"/>
                  </a:cubicBezTo>
                  <a:lnTo>
                    <a:pt x="1173353" y="0"/>
                  </a:lnTo>
                  <a:cubicBezTo>
                    <a:pt x="1191895" y="0"/>
                    <a:pt x="1207008" y="15113"/>
                    <a:pt x="1207008" y="33655"/>
                  </a:cubicBezTo>
                  <a:lnTo>
                    <a:pt x="1207008" y="807593"/>
                  </a:lnTo>
                  <a:cubicBezTo>
                    <a:pt x="1207008" y="826135"/>
                    <a:pt x="1191895" y="841248"/>
                    <a:pt x="1173353" y="841248"/>
                  </a:cubicBezTo>
                  <a:lnTo>
                    <a:pt x="33655" y="841248"/>
                  </a:lnTo>
                  <a:cubicBezTo>
                    <a:pt x="15113" y="841248"/>
                    <a:pt x="0" y="826135"/>
                    <a:pt x="0" y="807593"/>
                  </a:cubicBezTo>
                  <a:close/>
                </a:path>
              </a:pathLst>
            </a:custGeom>
            <a:solidFill>
              <a:srgbClr val="122645"/>
            </a:solidFill>
          </p:spPr>
          <p:txBody>
            <a:bodyPr/>
            <a:p/>
          </p:txBody>
        </p:sp>
      </p:grpSp>
      <p:grpSp>
        <p:nvGrpSpPr>
          <p:cNvPr name="Group 30" id="30"/>
          <p:cNvGrpSpPr/>
          <p:nvPr/>
        </p:nvGrpSpPr>
        <p:grpSpPr>
          <a:xfrm rot="0">
            <a:off x="1001268" y="2221992"/>
            <a:ext cx="905256" cy="630936"/>
            <a:chOff x="0" y="0"/>
            <a:chExt cx="1207008" cy="841248"/>
          </a:xfrm>
        </p:grpSpPr>
        <p:sp>
          <p:nvSpPr>
            <p:cNvPr name="Freeform 31" id="31"/>
            <p:cNvSpPr/>
            <p:nvPr/>
          </p:nvSpPr>
          <p:spPr>
            <a:xfrm flipH="false" flipV="false" rot="0">
              <a:off x="0" y="0"/>
              <a:ext cx="1207008" cy="841248"/>
            </a:xfrm>
            <a:custGeom>
              <a:avLst/>
              <a:gdLst/>
              <a:ahLst/>
              <a:cxnLst/>
              <a:rect r="r" b="b" t="t" l="l"/>
              <a:pathLst>
                <a:path h="841248" w="1207008">
                  <a:moveTo>
                    <a:pt x="0" y="0"/>
                  </a:moveTo>
                  <a:lnTo>
                    <a:pt x="1207008" y="0"/>
                  </a:lnTo>
                  <a:lnTo>
                    <a:pt x="1207008" y="841248"/>
                  </a:lnTo>
                  <a:lnTo>
                    <a:pt x="0" y="841248"/>
                  </a:lnTo>
                  <a:close/>
                </a:path>
              </a:pathLst>
            </a:custGeom>
            <a:blipFill>
              <a:blip r:embed="rId2">
                <a:alphaModFix amt="0"/>
              </a:blip>
              <a:stretch>
                <a:fillRect l="-39423" t="0" r="-39423" b="0"/>
              </a:stretch>
            </a:blipFill>
          </p:spPr>
          <p:txBody>
            <a:bodyPr/>
            <a:p/>
          </p:txBody>
        </p:sp>
        <p:sp>
          <p:nvSpPr>
            <p:cNvPr name="TextBox 32" id="32"/>
            <p:cNvSpPr txBox="true"/>
            <p:nvPr/>
          </p:nvSpPr>
          <p:spPr>
            <a:xfrm>
              <a:off x="0" y="-19050"/>
              <a:ext cx="1207008" cy="860298"/>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01</a:t>
              </a:r>
            </a:p>
          </p:txBody>
        </p:sp>
      </p:grpSp>
      <p:sp>
        <p:nvSpPr>
          <p:cNvPr name="TextBox 33" id="33"/>
          <p:cNvSpPr txBox="true"/>
          <p:nvPr/>
        </p:nvSpPr>
        <p:spPr>
          <a:xfrm rot="0">
            <a:off x="1056132" y="3007614"/>
            <a:ext cx="4828032" cy="2222754"/>
          </a:xfrm>
          <a:prstGeom prst="rect">
            <a:avLst/>
          </a:prstGeom>
        </p:spPr>
        <p:txBody>
          <a:bodyPr anchor="t" rtlCol="false" tIns="0" lIns="0" bIns="0" rIns="0">
            <a:spAutoFit/>
          </a:bodyPr>
          <a:lstStyle/>
          <a:p>
            <a:pPr algn="l">
              <a:lnSpc>
                <a:spcPts val="2700"/>
              </a:lnSpc>
            </a:pPr>
            <a:r>
              <a:rPr lang="en-US" sz="2250" b="true">
                <a:solidFill>
                  <a:srgbClr val="122645"/>
                </a:solidFill>
                <a:latin typeface="DejaVu Sans Bold"/>
                <a:ea typeface="DejaVu Sans Bold"/>
                <a:cs typeface="DejaVu Sans Bold"/>
                <a:sym typeface="DejaVu Sans Bold"/>
              </a:rPr>
              <a:t>Quyền sở hữu &amp; Thành phần kinh tế</a:t>
            </a:r>
          </a:p>
          <a:p>
            <a:pPr algn="l">
              <a:lnSpc>
                <a:spcPts val="2700"/>
              </a:lnSpc>
            </a:pPr>
            <a:r>
              <a:rPr lang="en-US" sz="2250">
                <a:solidFill>
                  <a:srgbClr val="1E293B"/>
                </a:solidFill>
                <a:latin typeface="DejaVu Sans Light"/>
                <a:ea typeface="DejaVu Sans Light"/>
                <a:cs typeface="DejaVu Sans Light"/>
                <a:sym typeface="DejaVu Sans Light"/>
              </a:rPr>
              <a:t>Thể chế hóa đầy đủ quyền tài sản; bảo đảm mọi thành phần kinh tế hợp tác, cạnh tranh bình đẳng theo pháp luật.</a:t>
            </a:r>
          </a:p>
        </p:txBody>
      </p:sp>
      <p:grpSp>
        <p:nvGrpSpPr>
          <p:cNvPr name="Group 34" id="34"/>
          <p:cNvGrpSpPr/>
          <p:nvPr/>
        </p:nvGrpSpPr>
        <p:grpSpPr>
          <a:xfrm rot="0">
            <a:off x="6407658" y="1963674"/>
            <a:ext cx="5454396" cy="3479292"/>
            <a:chOff x="0" y="0"/>
            <a:chExt cx="7272528" cy="4639056"/>
          </a:xfrm>
        </p:grpSpPr>
        <p:sp>
          <p:nvSpPr>
            <p:cNvPr name="Freeform 35" id="35"/>
            <p:cNvSpPr/>
            <p:nvPr/>
          </p:nvSpPr>
          <p:spPr>
            <a:xfrm flipH="false" flipV="false" rot="0">
              <a:off x="0" y="0"/>
              <a:ext cx="7272528" cy="4639056"/>
            </a:xfrm>
            <a:custGeom>
              <a:avLst/>
              <a:gdLst/>
              <a:ahLst/>
              <a:cxnLst/>
              <a:rect r="r" b="b" t="t" l="l"/>
              <a:pathLst>
                <a:path h="4639056" w="7272528">
                  <a:moveTo>
                    <a:pt x="0" y="185547"/>
                  </a:moveTo>
                  <a:cubicBezTo>
                    <a:pt x="0" y="83058"/>
                    <a:pt x="83058" y="0"/>
                    <a:pt x="185547" y="0"/>
                  </a:cubicBezTo>
                  <a:lnTo>
                    <a:pt x="7086981" y="0"/>
                  </a:lnTo>
                  <a:cubicBezTo>
                    <a:pt x="7189470" y="0"/>
                    <a:pt x="7272528" y="83058"/>
                    <a:pt x="7272528" y="185547"/>
                  </a:cubicBezTo>
                  <a:lnTo>
                    <a:pt x="7272528" y="4453509"/>
                  </a:lnTo>
                  <a:cubicBezTo>
                    <a:pt x="7272528" y="4555998"/>
                    <a:pt x="7189470" y="4639056"/>
                    <a:pt x="7086981" y="4639056"/>
                  </a:cubicBezTo>
                  <a:lnTo>
                    <a:pt x="185547" y="4639056"/>
                  </a:lnTo>
                  <a:cubicBezTo>
                    <a:pt x="83058" y="4639056"/>
                    <a:pt x="0" y="4555998"/>
                    <a:pt x="0" y="4453509"/>
                  </a:cubicBezTo>
                  <a:close/>
                </a:path>
              </a:pathLst>
            </a:custGeom>
            <a:solidFill>
              <a:srgbClr val="FFFFFF"/>
            </a:solidFill>
            <a:ln w="22860" cap="sq">
              <a:solidFill>
                <a:srgbClr val="CBD5E1"/>
              </a:solidFill>
              <a:prstDash val="solid"/>
              <a:miter/>
            </a:ln>
          </p:spPr>
          <p:txBody>
            <a:bodyPr/>
            <a:p/>
          </p:txBody>
        </p:sp>
      </p:grpSp>
      <p:grpSp>
        <p:nvGrpSpPr>
          <p:cNvPr name="Group 36" id="36"/>
          <p:cNvGrpSpPr/>
          <p:nvPr/>
        </p:nvGrpSpPr>
        <p:grpSpPr>
          <a:xfrm rot="0">
            <a:off x="6665976" y="2221992"/>
            <a:ext cx="905256" cy="630936"/>
            <a:chOff x="0" y="0"/>
            <a:chExt cx="1207008" cy="841248"/>
          </a:xfrm>
        </p:grpSpPr>
        <p:sp>
          <p:nvSpPr>
            <p:cNvPr name="Freeform 37" id="37"/>
            <p:cNvSpPr/>
            <p:nvPr/>
          </p:nvSpPr>
          <p:spPr>
            <a:xfrm flipH="false" flipV="false" rot="0">
              <a:off x="0" y="0"/>
              <a:ext cx="1207008" cy="841248"/>
            </a:xfrm>
            <a:custGeom>
              <a:avLst/>
              <a:gdLst/>
              <a:ahLst/>
              <a:cxnLst/>
              <a:rect r="r" b="b" t="t" l="l"/>
              <a:pathLst>
                <a:path h="841248" w="1207008">
                  <a:moveTo>
                    <a:pt x="0" y="33655"/>
                  </a:moveTo>
                  <a:cubicBezTo>
                    <a:pt x="0" y="15113"/>
                    <a:pt x="15113" y="0"/>
                    <a:pt x="33655" y="0"/>
                  </a:cubicBezTo>
                  <a:lnTo>
                    <a:pt x="1173353" y="0"/>
                  </a:lnTo>
                  <a:cubicBezTo>
                    <a:pt x="1191895" y="0"/>
                    <a:pt x="1207008" y="15113"/>
                    <a:pt x="1207008" y="33655"/>
                  </a:cubicBezTo>
                  <a:lnTo>
                    <a:pt x="1207008" y="807593"/>
                  </a:lnTo>
                  <a:cubicBezTo>
                    <a:pt x="1207008" y="826135"/>
                    <a:pt x="1191895" y="841248"/>
                    <a:pt x="1173353" y="841248"/>
                  </a:cubicBezTo>
                  <a:lnTo>
                    <a:pt x="33655" y="841248"/>
                  </a:lnTo>
                  <a:cubicBezTo>
                    <a:pt x="15113" y="841248"/>
                    <a:pt x="0" y="826135"/>
                    <a:pt x="0" y="807593"/>
                  </a:cubicBezTo>
                  <a:close/>
                </a:path>
              </a:pathLst>
            </a:custGeom>
            <a:solidFill>
              <a:srgbClr val="122645"/>
            </a:solidFill>
          </p:spPr>
          <p:txBody>
            <a:bodyPr/>
            <a:p/>
          </p:txBody>
        </p:sp>
      </p:grpSp>
      <p:grpSp>
        <p:nvGrpSpPr>
          <p:cNvPr name="Group 38" id="38"/>
          <p:cNvGrpSpPr/>
          <p:nvPr/>
        </p:nvGrpSpPr>
        <p:grpSpPr>
          <a:xfrm rot="0">
            <a:off x="6665976" y="2221992"/>
            <a:ext cx="905256" cy="630936"/>
            <a:chOff x="0" y="0"/>
            <a:chExt cx="1207008" cy="841248"/>
          </a:xfrm>
        </p:grpSpPr>
        <p:sp>
          <p:nvSpPr>
            <p:cNvPr name="Freeform 39" id="39"/>
            <p:cNvSpPr/>
            <p:nvPr/>
          </p:nvSpPr>
          <p:spPr>
            <a:xfrm flipH="false" flipV="false" rot="0">
              <a:off x="0" y="0"/>
              <a:ext cx="1207008" cy="841248"/>
            </a:xfrm>
            <a:custGeom>
              <a:avLst/>
              <a:gdLst/>
              <a:ahLst/>
              <a:cxnLst/>
              <a:rect r="r" b="b" t="t" l="l"/>
              <a:pathLst>
                <a:path h="841248" w="1207008">
                  <a:moveTo>
                    <a:pt x="0" y="0"/>
                  </a:moveTo>
                  <a:lnTo>
                    <a:pt x="1207008" y="0"/>
                  </a:lnTo>
                  <a:lnTo>
                    <a:pt x="1207008" y="841248"/>
                  </a:lnTo>
                  <a:lnTo>
                    <a:pt x="0" y="841248"/>
                  </a:lnTo>
                  <a:close/>
                </a:path>
              </a:pathLst>
            </a:custGeom>
            <a:blipFill>
              <a:blip r:embed="rId2">
                <a:alphaModFix amt="0"/>
              </a:blip>
              <a:stretch>
                <a:fillRect l="-39423" t="0" r="-39423" b="0"/>
              </a:stretch>
            </a:blipFill>
          </p:spPr>
          <p:txBody>
            <a:bodyPr/>
            <a:p/>
          </p:txBody>
        </p:sp>
        <p:sp>
          <p:nvSpPr>
            <p:cNvPr name="TextBox 40" id="40"/>
            <p:cNvSpPr txBox="true"/>
            <p:nvPr/>
          </p:nvSpPr>
          <p:spPr>
            <a:xfrm>
              <a:off x="0" y="-19050"/>
              <a:ext cx="1207008" cy="860298"/>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02</a:t>
              </a:r>
            </a:p>
          </p:txBody>
        </p:sp>
      </p:grpSp>
      <p:sp>
        <p:nvSpPr>
          <p:cNvPr name="TextBox 41" id="41"/>
          <p:cNvSpPr txBox="true"/>
          <p:nvPr/>
        </p:nvSpPr>
        <p:spPr>
          <a:xfrm rot="0">
            <a:off x="6720840" y="3007614"/>
            <a:ext cx="4828032" cy="2222754"/>
          </a:xfrm>
          <a:prstGeom prst="rect">
            <a:avLst/>
          </a:prstGeom>
        </p:spPr>
        <p:txBody>
          <a:bodyPr anchor="t" rtlCol="false" tIns="0" lIns="0" bIns="0" rIns="0">
            <a:spAutoFit/>
          </a:bodyPr>
          <a:lstStyle/>
          <a:p>
            <a:pPr algn="l">
              <a:lnSpc>
                <a:spcPts val="2520"/>
              </a:lnSpc>
            </a:pPr>
            <a:r>
              <a:rPr lang="en-US" sz="2100" b="true">
                <a:solidFill>
                  <a:srgbClr val="122645"/>
                </a:solidFill>
                <a:latin typeface="DejaVu Sans Bold"/>
                <a:ea typeface="DejaVu Sans Bold"/>
                <a:cs typeface="DejaVu Sans Bold"/>
                <a:sym typeface="DejaVu Sans Bold"/>
              </a:rPr>
              <a:t>Đồng bộ yếu tố &amp; các loại thị trường</a:t>
            </a:r>
          </a:p>
          <a:p>
            <a:pPr algn="l">
              <a:lnSpc>
                <a:spcPts val="3124"/>
              </a:lnSpc>
            </a:pPr>
            <a:r>
              <a:rPr lang="en-US" sz="2100">
                <a:solidFill>
                  <a:srgbClr val="1E293B"/>
                </a:solidFill>
                <a:latin typeface="DejaVu Sans Light"/>
                <a:ea typeface="DejaVu Sans Light"/>
                <a:cs typeface="DejaVu Sans Light"/>
                <a:sym typeface="DejaVu Sans Light"/>
              </a:rPr>
              <a:t>Vận hành thông suốt thị trường hàng hóa, vốn – tín dụng, đất đai – bất động sản, lao động và KH&amp;CN.</a:t>
            </a:r>
          </a:p>
        </p:txBody>
      </p:sp>
      <p:grpSp>
        <p:nvGrpSpPr>
          <p:cNvPr name="Group 42" id="42"/>
          <p:cNvGrpSpPr/>
          <p:nvPr/>
        </p:nvGrpSpPr>
        <p:grpSpPr>
          <a:xfrm rot="0">
            <a:off x="12072366" y="1963674"/>
            <a:ext cx="5454396" cy="3479292"/>
            <a:chOff x="0" y="0"/>
            <a:chExt cx="7272528" cy="4639056"/>
          </a:xfrm>
        </p:grpSpPr>
        <p:sp>
          <p:nvSpPr>
            <p:cNvPr name="Freeform 43" id="43"/>
            <p:cNvSpPr/>
            <p:nvPr/>
          </p:nvSpPr>
          <p:spPr>
            <a:xfrm flipH="false" flipV="false" rot="0">
              <a:off x="0" y="0"/>
              <a:ext cx="7272528" cy="4639056"/>
            </a:xfrm>
            <a:custGeom>
              <a:avLst/>
              <a:gdLst/>
              <a:ahLst/>
              <a:cxnLst/>
              <a:rect r="r" b="b" t="t" l="l"/>
              <a:pathLst>
                <a:path h="4639056" w="7272528">
                  <a:moveTo>
                    <a:pt x="0" y="185547"/>
                  </a:moveTo>
                  <a:cubicBezTo>
                    <a:pt x="0" y="83058"/>
                    <a:pt x="83058" y="0"/>
                    <a:pt x="185547" y="0"/>
                  </a:cubicBezTo>
                  <a:lnTo>
                    <a:pt x="7086981" y="0"/>
                  </a:lnTo>
                  <a:cubicBezTo>
                    <a:pt x="7189470" y="0"/>
                    <a:pt x="7272528" y="83058"/>
                    <a:pt x="7272528" y="185547"/>
                  </a:cubicBezTo>
                  <a:lnTo>
                    <a:pt x="7272528" y="4453509"/>
                  </a:lnTo>
                  <a:cubicBezTo>
                    <a:pt x="7272528" y="4555998"/>
                    <a:pt x="7189470" y="4639056"/>
                    <a:pt x="7086981" y="4639056"/>
                  </a:cubicBezTo>
                  <a:lnTo>
                    <a:pt x="185547" y="4639056"/>
                  </a:lnTo>
                  <a:cubicBezTo>
                    <a:pt x="83058" y="4639056"/>
                    <a:pt x="0" y="4555998"/>
                    <a:pt x="0" y="4453509"/>
                  </a:cubicBezTo>
                  <a:close/>
                </a:path>
              </a:pathLst>
            </a:custGeom>
            <a:solidFill>
              <a:srgbClr val="FFFFFF"/>
            </a:solidFill>
            <a:ln w="22860" cap="sq">
              <a:solidFill>
                <a:srgbClr val="CBD5E1"/>
              </a:solidFill>
              <a:prstDash val="solid"/>
              <a:miter/>
            </a:ln>
          </p:spPr>
          <p:txBody>
            <a:bodyPr/>
            <a:p/>
          </p:txBody>
        </p:sp>
      </p:grpSp>
      <p:grpSp>
        <p:nvGrpSpPr>
          <p:cNvPr name="Group 44" id="44"/>
          <p:cNvGrpSpPr/>
          <p:nvPr/>
        </p:nvGrpSpPr>
        <p:grpSpPr>
          <a:xfrm rot="0">
            <a:off x="12330684" y="2221992"/>
            <a:ext cx="905256" cy="630936"/>
            <a:chOff x="0" y="0"/>
            <a:chExt cx="1207008" cy="841248"/>
          </a:xfrm>
        </p:grpSpPr>
        <p:sp>
          <p:nvSpPr>
            <p:cNvPr name="Freeform 45" id="45"/>
            <p:cNvSpPr/>
            <p:nvPr/>
          </p:nvSpPr>
          <p:spPr>
            <a:xfrm flipH="false" flipV="false" rot="0">
              <a:off x="0" y="0"/>
              <a:ext cx="1207008" cy="841248"/>
            </a:xfrm>
            <a:custGeom>
              <a:avLst/>
              <a:gdLst/>
              <a:ahLst/>
              <a:cxnLst/>
              <a:rect r="r" b="b" t="t" l="l"/>
              <a:pathLst>
                <a:path h="841248" w="1207008">
                  <a:moveTo>
                    <a:pt x="0" y="33655"/>
                  </a:moveTo>
                  <a:cubicBezTo>
                    <a:pt x="0" y="15113"/>
                    <a:pt x="15113" y="0"/>
                    <a:pt x="33655" y="0"/>
                  </a:cubicBezTo>
                  <a:lnTo>
                    <a:pt x="1173353" y="0"/>
                  </a:lnTo>
                  <a:cubicBezTo>
                    <a:pt x="1191895" y="0"/>
                    <a:pt x="1207008" y="15113"/>
                    <a:pt x="1207008" y="33655"/>
                  </a:cubicBezTo>
                  <a:lnTo>
                    <a:pt x="1207008" y="807593"/>
                  </a:lnTo>
                  <a:cubicBezTo>
                    <a:pt x="1207008" y="826135"/>
                    <a:pt x="1191895" y="841248"/>
                    <a:pt x="1173353" y="841248"/>
                  </a:cubicBezTo>
                  <a:lnTo>
                    <a:pt x="33655" y="841248"/>
                  </a:lnTo>
                  <a:cubicBezTo>
                    <a:pt x="15113" y="841248"/>
                    <a:pt x="0" y="826135"/>
                    <a:pt x="0" y="807593"/>
                  </a:cubicBezTo>
                  <a:close/>
                </a:path>
              </a:pathLst>
            </a:custGeom>
            <a:solidFill>
              <a:srgbClr val="122645"/>
            </a:solidFill>
          </p:spPr>
          <p:txBody>
            <a:bodyPr/>
            <a:p/>
          </p:txBody>
        </p:sp>
      </p:grpSp>
      <p:grpSp>
        <p:nvGrpSpPr>
          <p:cNvPr name="Group 46" id="46"/>
          <p:cNvGrpSpPr/>
          <p:nvPr/>
        </p:nvGrpSpPr>
        <p:grpSpPr>
          <a:xfrm rot="0">
            <a:off x="12330684" y="2221992"/>
            <a:ext cx="905256" cy="630936"/>
            <a:chOff x="0" y="0"/>
            <a:chExt cx="1207008" cy="841248"/>
          </a:xfrm>
        </p:grpSpPr>
        <p:sp>
          <p:nvSpPr>
            <p:cNvPr name="Freeform 47" id="47"/>
            <p:cNvSpPr/>
            <p:nvPr/>
          </p:nvSpPr>
          <p:spPr>
            <a:xfrm flipH="false" flipV="false" rot="0">
              <a:off x="0" y="0"/>
              <a:ext cx="1207008" cy="841248"/>
            </a:xfrm>
            <a:custGeom>
              <a:avLst/>
              <a:gdLst/>
              <a:ahLst/>
              <a:cxnLst/>
              <a:rect r="r" b="b" t="t" l="l"/>
              <a:pathLst>
                <a:path h="841248" w="1207008">
                  <a:moveTo>
                    <a:pt x="0" y="0"/>
                  </a:moveTo>
                  <a:lnTo>
                    <a:pt x="1207008" y="0"/>
                  </a:lnTo>
                  <a:lnTo>
                    <a:pt x="1207008" y="841248"/>
                  </a:lnTo>
                  <a:lnTo>
                    <a:pt x="0" y="841248"/>
                  </a:lnTo>
                  <a:close/>
                </a:path>
              </a:pathLst>
            </a:custGeom>
            <a:blipFill>
              <a:blip r:embed="rId2">
                <a:alphaModFix amt="0"/>
              </a:blip>
              <a:stretch>
                <a:fillRect l="-39423" t="0" r="-39423" b="0"/>
              </a:stretch>
            </a:blipFill>
          </p:spPr>
          <p:txBody>
            <a:bodyPr/>
            <a:p/>
          </p:txBody>
        </p:sp>
        <p:sp>
          <p:nvSpPr>
            <p:cNvPr name="TextBox 48" id="48"/>
            <p:cNvSpPr txBox="true"/>
            <p:nvPr/>
          </p:nvSpPr>
          <p:spPr>
            <a:xfrm>
              <a:off x="0" y="-19050"/>
              <a:ext cx="1207008" cy="860298"/>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03</a:t>
              </a:r>
            </a:p>
          </p:txBody>
        </p:sp>
      </p:grpSp>
      <p:sp>
        <p:nvSpPr>
          <p:cNvPr name="TextBox 49" id="49"/>
          <p:cNvSpPr txBox="true"/>
          <p:nvPr/>
        </p:nvSpPr>
        <p:spPr>
          <a:xfrm rot="0">
            <a:off x="12385548" y="3007614"/>
            <a:ext cx="4828032" cy="2222754"/>
          </a:xfrm>
          <a:prstGeom prst="rect">
            <a:avLst/>
          </a:prstGeom>
        </p:spPr>
        <p:txBody>
          <a:bodyPr anchor="t" rtlCol="false" tIns="0" lIns="0" bIns="0" rIns="0">
            <a:spAutoFit/>
          </a:bodyPr>
          <a:lstStyle/>
          <a:p>
            <a:pPr algn="l">
              <a:lnSpc>
                <a:spcPts val="2700"/>
              </a:lnSpc>
            </a:pPr>
            <a:r>
              <a:rPr lang="en-US" sz="2250" b="true">
                <a:solidFill>
                  <a:srgbClr val="122645"/>
                </a:solidFill>
                <a:latin typeface="DejaVu Sans Bold"/>
                <a:ea typeface="DejaVu Sans Bold"/>
                <a:cs typeface="DejaVu Sans Bold"/>
                <a:sym typeface="DejaVu Sans Bold"/>
              </a:rPr>
              <a:t>Gắn tăng trưởng với Công bằng XH</a:t>
            </a:r>
          </a:p>
          <a:p>
            <a:pPr algn="l">
              <a:lnSpc>
                <a:spcPts val="2700"/>
              </a:lnSpc>
            </a:pPr>
            <a:r>
              <a:rPr lang="en-US" sz="2250">
                <a:solidFill>
                  <a:srgbClr val="1E293B"/>
                </a:solidFill>
                <a:latin typeface="DejaVu Sans Light"/>
                <a:ea typeface="DejaVu Sans Light"/>
                <a:cs typeface="DejaVu Sans Light"/>
                <a:sym typeface="DejaVu Sans Light"/>
              </a:rPr>
              <a:t>Hoàn thiện thể chế phân phối, thuế, an sinh xã hội đa tầng, tín dụng ưu đãi và chính sách Nhà ở xã hội.</a:t>
            </a:r>
          </a:p>
        </p:txBody>
      </p:sp>
      <p:grpSp>
        <p:nvGrpSpPr>
          <p:cNvPr name="Group 50" id="50"/>
          <p:cNvGrpSpPr/>
          <p:nvPr/>
        </p:nvGrpSpPr>
        <p:grpSpPr>
          <a:xfrm rot="0">
            <a:off x="742950" y="5776722"/>
            <a:ext cx="5454396" cy="3479292"/>
            <a:chOff x="0" y="0"/>
            <a:chExt cx="7272528" cy="4639056"/>
          </a:xfrm>
        </p:grpSpPr>
        <p:sp>
          <p:nvSpPr>
            <p:cNvPr name="Freeform 51" id="51"/>
            <p:cNvSpPr/>
            <p:nvPr/>
          </p:nvSpPr>
          <p:spPr>
            <a:xfrm flipH="false" flipV="false" rot="0">
              <a:off x="0" y="0"/>
              <a:ext cx="7272528" cy="4639056"/>
            </a:xfrm>
            <a:custGeom>
              <a:avLst/>
              <a:gdLst/>
              <a:ahLst/>
              <a:cxnLst/>
              <a:rect r="r" b="b" t="t" l="l"/>
              <a:pathLst>
                <a:path h="4639056" w="7272528">
                  <a:moveTo>
                    <a:pt x="0" y="185547"/>
                  </a:moveTo>
                  <a:cubicBezTo>
                    <a:pt x="0" y="83058"/>
                    <a:pt x="83058" y="0"/>
                    <a:pt x="185547" y="0"/>
                  </a:cubicBezTo>
                  <a:lnTo>
                    <a:pt x="7086981" y="0"/>
                  </a:lnTo>
                  <a:cubicBezTo>
                    <a:pt x="7189470" y="0"/>
                    <a:pt x="7272528" y="83058"/>
                    <a:pt x="7272528" y="185547"/>
                  </a:cubicBezTo>
                  <a:lnTo>
                    <a:pt x="7272528" y="4453509"/>
                  </a:lnTo>
                  <a:cubicBezTo>
                    <a:pt x="7272528" y="4555998"/>
                    <a:pt x="7189470" y="4639056"/>
                    <a:pt x="7086981" y="4639056"/>
                  </a:cubicBezTo>
                  <a:lnTo>
                    <a:pt x="185547" y="4639056"/>
                  </a:lnTo>
                  <a:cubicBezTo>
                    <a:pt x="83058" y="4639056"/>
                    <a:pt x="0" y="4555998"/>
                    <a:pt x="0" y="4453509"/>
                  </a:cubicBezTo>
                  <a:close/>
                </a:path>
              </a:pathLst>
            </a:custGeom>
            <a:solidFill>
              <a:srgbClr val="FFFFFF"/>
            </a:solidFill>
            <a:ln w="22860" cap="sq">
              <a:solidFill>
                <a:srgbClr val="CBD5E1"/>
              </a:solidFill>
              <a:prstDash val="solid"/>
              <a:miter/>
            </a:ln>
          </p:spPr>
          <p:txBody>
            <a:bodyPr/>
            <a:p/>
          </p:txBody>
        </p:sp>
      </p:grpSp>
      <p:grpSp>
        <p:nvGrpSpPr>
          <p:cNvPr name="Group 52" id="52"/>
          <p:cNvGrpSpPr/>
          <p:nvPr/>
        </p:nvGrpSpPr>
        <p:grpSpPr>
          <a:xfrm rot="0">
            <a:off x="1001268" y="6035040"/>
            <a:ext cx="905256" cy="630936"/>
            <a:chOff x="0" y="0"/>
            <a:chExt cx="1207008" cy="841248"/>
          </a:xfrm>
        </p:grpSpPr>
        <p:sp>
          <p:nvSpPr>
            <p:cNvPr name="Freeform 53" id="53"/>
            <p:cNvSpPr/>
            <p:nvPr/>
          </p:nvSpPr>
          <p:spPr>
            <a:xfrm flipH="false" flipV="false" rot="0">
              <a:off x="0" y="0"/>
              <a:ext cx="1207008" cy="841248"/>
            </a:xfrm>
            <a:custGeom>
              <a:avLst/>
              <a:gdLst/>
              <a:ahLst/>
              <a:cxnLst/>
              <a:rect r="r" b="b" t="t" l="l"/>
              <a:pathLst>
                <a:path h="841248" w="1207008">
                  <a:moveTo>
                    <a:pt x="0" y="33655"/>
                  </a:moveTo>
                  <a:cubicBezTo>
                    <a:pt x="0" y="15113"/>
                    <a:pt x="15113" y="0"/>
                    <a:pt x="33655" y="0"/>
                  </a:cubicBezTo>
                  <a:lnTo>
                    <a:pt x="1173353" y="0"/>
                  </a:lnTo>
                  <a:cubicBezTo>
                    <a:pt x="1191895" y="0"/>
                    <a:pt x="1207008" y="15113"/>
                    <a:pt x="1207008" y="33655"/>
                  </a:cubicBezTo>
                  <a:lnTo>
                    <a:pt x="1207008" y="807593"/>
                  </a:lnTo>
                  <a:cubicBezTo>
                    <a:pt x="1207008" y="826135"/>
                    <a:pt x="1191895" y="841248"/>
                    <a:pt x="1173353" y="841248"/>
                  </a:cubicBezTo>
                  <a:lnTo>
                    <a:pt x="33655" y="841248"/>
                  </a:lnTo>
                  <a:cubicBezTo>
                    <a:pt x="15113" y="841248"/>
                    <a:pt x="0" y="826135"/>
                    <a:pt x="0" y="807593"/>
                  </a:cubicBezTo>
                  <a:close/>
                </a:path>
              </a:pathLst>
            </a:custGeom>
            <a:solidFill>
              <a:srgbClr val="122645"/>
            </a:solidFill>
          </p:spPr>
          <p:txBody>
            <a:bodyPr/>
            <a:p/>
          </p:txBody>
        </p:sp>
      </p:grpSp>
      <p:grpSp>
        <p:nvGrpSpPr>
          <p:cNvPr name="Group 54" id="54"/>
          <p:cNvGrpSpPr/>
          <p:nvPr/>
        </p:nvGrpSpPr>
        <p:grpSpPr>
          <a:xfrm rot="0">
            <a:off x="1001268" y="6035040"/>
            <a:ext cx="905256" cy="630936"/>
            <a:chOff x="0" y="0"/>
            <a:chExt cx="1207008" cy="841248"/>
          </a:xfrm>
        </p:grpSpPr>
        <p:sp>
          <p:nvSpPr>
            <p:cNvPr name="Freeform 55" id="55"/>
            <p:cNvSpPr/>
            <p:nvPr/>
          </p:nvSpPr>
          <p:spPr>
            <a:xfrm flipH="false" flipV="false" rot="0">
              <a:off x="0" y="0"/>
              <a:ext cx="1207008" cy="841248"/>
            </a:xfrm>
            <a:custGeom>
              <a:avLst/>
              <a:gdLst/>
              <a:ahLst/>
              <a:cxnLst/>
              <a:rect r="r" b="b" t="t" l="l"/>
              <a:pathLst>
                <a:path h="841248" w="1207008">
                  <a:moveTo>
                    <a:pt x="0" y="0"/>
                  </a:moveTo>
                  <a:lnTo>
                    <a:pt x="1207008" y="0"/>
                  </a:lnTo>
                  <a:lnTo>
                    <a:pt x="1207008" y="841248"/>
                  </a:lnTo>
                  <a:lnTo>
                    <a:pt x="0" y="841248"/>
                  </a:lnTo>
                  <a:close/>
                </a:path>
              </a:pathLst>
            </a:custGeom>
            <a:blipFill>
              <a:blip r:embed="rId2">
                <a:alphaModFix amt="0"/>
              </a:blip>
              <a:stretch>
                <a:fillRect l="-39423" t="0" r="-39423" b="0"/>
              </a:stretch>
            </a:blipFill>
          </p:spPr>
          <p:txBody>
            <a:bodyPr/>
            <a:p/>
          </p:txBody>
        </p:sp>
        <p:sp>
          <p:nvSpPr>
            <p:cNvPr name="TextBox 56" id="56"/>
            <p:cNvSpPr txBox="true"/>
            <p:nvPr/>
          </p:nvSpPr>
          <p:spPr>
            <a:xfrm>
              <a:off x="0" y="-19050"/>
              <a:ext cx="1207008" cy="860298"/>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04</a:t>
              </a:r>
            </a:p>
          </p:txBody>
        </p:sp>
      </p:grpSp>
      <p:sp>
        <p:nvSpPr>
          <p:cNvPr name="TextBox 57" id="57"/>
          <p:cNvSpPr txBox="true"/>
          <p:nvPr/>
        </p:nvSpPr>
        <p:spPr>
          <a:xfrm rot="0">
            <a:off x="1056132" y="6820662"/>
            <a:ext cx="4828032" cy="2222754"/>
          </a:xfrm>
          <a:prstGeom prst="rect">
            <a:avLst/>
          </a:prstGeom>
        </p:spPr>
        <p:txBody>
          <a:bodyPr anchor="t" rtlCol="false" tIns="0" lIns="0" bIns="0" rIns="0">
            <a:spAutoFit/>
          </a:bodyPr>
          <a:lstStyle/>
          <a:p>
            <a:pPr algn="l">
              <a:lnSpc>
                <a:spcPts val="2520"/>
              </a:lnSpc>
            </a:pPr>
            <a:r>
              <a:rPr lang="en-US" sz="2100" b="true">
                <a:solidFill>
                  <a:srgbClr val="122645"/>
                </a:solidFill>
                <a:latin typeface="DejaVu Sans Bold"/>
                <a:ea typeface="DejaVu Sans Bold"/>
                <a:cs typeface="DejaVu Sans Bold"/>
                <a:sym typeface="DejaVu Sans Bold"/>
              </a:rPr>
              <a:t>Thúc đẩy hội nhập kinh tế quốc tế</a:t>
            </a:r>
          </a:p>
          <a:p>
            <a:pPr algn="l">
              <a:lnSpc>
                <a:spcPts val="3124"/>
              </a:lnSpc>
            </a:pPr>
            <a:r>
              <a:rPr lang="en-US" sz="2100">
                <a:solidFill>
                  <a:srgbClr val="1E293B"/>
                </a:solidFill>
                <a:latin typeface="DejaVu Sans Light"/>
                <a:ea typeface="DejaVu Sans Light"/>
                <a:cs typeface="DejaVu Sans Light"/>
                <a:sym typeface="DejaVu Sans Light"/>
              </a:rPr>
              <a:t>Thực thi cam kết các FTA thế hệ mới gắn với nâng cao năng lực tự chủ của doanh nghiệp trong nước.</a:t>
            </a:r>
          </a:p>
        </p:txBody>
      </p:sp>
      <p:grpSp>
        <p:nvGrpSpPr>
          <p:cNvPr name="Group 58" id="58"/>
          <p:cNvGrpSpPr/>
          <p:nvPr/>
        </p:nvGrpSpPr>
        <p:grpSpPr>
          <a:xfrm rot="0">
            <a:off x="6407658" y="5776722"/>
            <a:ext cx="5454396" cy="3479292"/>
            <a:chOff x="0" y="0"/>
            <a:chExt cx="7272528" cy="4639056"/>
          </a:xfrm>
        </p:grpSpPr>
        <p:sp>
          <p:nvSpPr>
            <p:cNvPr name="Freeform 59" id="59"/>
            <p:cNvSpPr/>
            <p:nvPr/>
          </p:nvSpPr>
          <p:spPr>
            <a:xfrm flipH="false" flipV="false" rot="0">
              <a:off x="0" y="0"/>
              <a:ext cx="7272528" cy="4639056"/>
            </a:xfrm>
            <a:custGeom>
              <a:avLst/>
              <a:gdLst/>
              <a:ahLst/>
              <a:cxnLst/>
              <a:rect r="r" b="b" t="t" l="l"/>
              <a:pathLst>
                <a:path h="4639056" w="7272528">
                  <a:moveTo>
                    <a:pt x="0" y="185547"/>
                  </a:moveTo>
                  <a:cubicBezTo>
                    <a:pt x="0" y="83058"/>
                    <a:pt x="83058" y="0"/>
                    <a:pt x="185547" y="0"/>
                  </a:cubicBezTo>
                  <a:lnTo>
                    <a:pt x="7086981" y="0"/>
                  </a:lnTo>
                  <a:cubicBezTo>
                    <a:pt x="7189470" y="0"/>
                    <a:pt x="7272528" y="83058"/>
                    <a:pt x="7272528" y="185547"/>
                  </a:cubicBezTo>
                  <a:lnTo>
                    <a:pt x="7272528" y="4453509"/>
                  </a:lnTo>
                  <a:cubicBezTo>
                    <a:pt x="7272528" y="4555998"/>
                    <a:pt x="7189470" y="4639056"/>
                    <a:pt x="7086981" y="4639056"/>
                  </a:cubicBezTo>
                  <a:lnTo>
                    <a:pt x="185547" y="4639056"/>
                  </a:lnTo>
                  <a:cubicBezTo>
                    <a:pt x="83058" y="4639056"/>
                    <a:pt x="0" y="4555998"/>
                    <a:pt x="0" y="4453509"/>
                  </a:cubicBezTo>
                  <a:close/>
                </a:path>
              </a:pathLst>
            </a:custGeom>
            <a:solidFill>
              <a:srgbClr val="FFFFFF"/>
            </a:solidFill>
            <a:ln w="22860" cap="sq">
              <a:solidFill>
                <a:srgbClr val="CBD5E1"/>
              </a:solidFill>
              <a:prstDash val="solid"/>
              <a:miter/>
            </a:ln>
          </p:spPr>
          <p:txBody>
            <a:bodyPr/>
            <a:p/>
          </p:txBody>
        </p:sp>
      </p:grpSp>
      <p:grpSp>
        <p:nvGrpSpPr>
          <p:cNvPr name="Group 60" id="60"/>
          <p:cNvGrpSpPr/>
          <p:nvPr/>
        </p:nvGrpSpPr>
        <p:grpSpPr>
          <a:xfrm rot="0">
            <a:off x="6665976" y="6035040"/>
            <a:ext cx="905256" cy="630936"/>
            <a:chOff x="0" y="0"/>
            <a:chExt cx="1207008" cy="841248"/>
          </a:xfrm>
        </p:grpSpPr>
        <p:sp>
          <p:nvSpPr>
            <p:cNvPr name="Freeform 61" id="61"/>
            <p:cNvSpPr/>
            <p:nvPr/>
          </p:nvSpPr>
          <p:spPr>
            <a:xfrm flipH="false" flipV="false" rot="0">
              <a:off x="0" y="0"/>
              <a:ext cx="1207008" cy="841248"/>
            </a:xfrm>
            <a:custGeom>
              <a:avLst/>
              <a:gdLst/>
              <a:ahLst/>
              <a:cxnLst/>
              <a:rect r="r" b="b" t="t" l="l"/>
              <a:pathLst>
                <a:path h="841248" w="1207008">
                  <a:moveTo>
                    <a:pt x="0" y="33655"/>
                  </a:moveTo>
                  <a:cubicBezTo>
                    <a:pt x="0" y="15113"/>
                    <a:pt x="15113" y="0"/>
                    <a:pt x="33655" y="0"/>
                  </a:cubicBezTo>
                  <a:lnTo>
                    <a:pt x="1173353" y="0"/>
                  </a:lnTo>
                  <a:cubicBezTo>
                    <a:pt x="1191895" y="0"/>
                    <a:pt x="1207008" y="15113"/>
                    <a:pt x="1207008" y="33655"/>
                  </a:cubicBezTo>
                  <a:lnTo>
                    <a:pt x="1207008" y="807593"/>
                  </a:lnTo>
                  <a:cubicBezTo>
                    <a:pt x="1207008" y="826135"/>
                    <a:pt x="1191895" y="841248"/>
                    <a:pt x="1173353" y="841248"/>
                  </a:cubicBezTo>
                  <a:lnTo>
                    <a:pt x="33655" y="841248"/>
                  </a:lnTo>
                  <a:cubicBezTo>
                    <a:pt x="15113" y="841248"/>
                    <a:pt x="0" y="826135"/>
                    <a:pt x="0" y="807593"/>
                  </a:cubicBezTo>
                  <a:close/>
                </a:path>
              </a:pathLst>
            </a:custGeom>
            <a:solidFill>
              <a:srgbClr val="122645"/>
            </a:solidFill>
          </p:spPr>
          <p:txBody>
            <a:bodyPr/>
            <a:p/>
          </p:txBody>
        </p:sp>
      </p:grpSp>
      <p:grpSp>
        <p:nvGrpSpPr>
          <p:cNvPr name="Group 62" id="62"/>
          <p:cNvGrpSpPr/>
          <p:nvPr/>
        </p:nvGrpSpPr>
        <p:grpSpPr>
          <a:xfrm rot="0">
            <a:off x="6665976" y="6035040"/>
            <a:ext cx="905256" cy="630936"/>
            <a:chOff x="0" y="0"/>
            <a:chExt cx="1207008" cy="841248"/>
          </a:xfrm>
        </p:grpSpPr>
        <p:sp>
          <p:nvSpPr>
            <p:cNvPr name="Freeform 63" id="63"/>
            <p:cNvSpPr/>
            <p:nvPr/>
          </p:nvSpPr>
          <p:spPr>
            <a:xfrm flipH="false" flipV="false" rot="0">
              <a:off x="0" y="0"/>
              <a:ext cx="1207008" cy="841248"/>
            </a:xfrm>
            <a:custGeom>
              <a:avLst/>
              <a:gdLst/>
              <a:ahLst/>
              <a:cxnLst/>
              <a:rect r="r" b="b" t="t" l="l"/>
              <a:pathLst>
                <a:path h="841248" w="1207008">
                  <a:moveTo>
                    <a:pt x="0" y="0"/>
                  </a:moveTo>
                  <a:lnTo>
                    <a:pt x="1207008" y="0"/>
                  </a:lnTo>
                  <a:lnTo>
                    <a:pt x="1207008" y="841248"/>
                  </a:lnTo>
                  <a:lnTo>
                    <a:pt x="0" y="841248"/>
                  </a:lnTo>
                  <a:close/>
                </a:path>
              </a:pathLst>
            </a:custGeom>
            <a:blipFill>
              <a:blip r:embed="rId2">
                <a:alphaModFix amt="0"/>
              </a:blip>
              <a:stretch>
                <a:fillRect l="-39423" t="0" r="-39423" b="0"/>
              </a:stretch>
            </a:blipFill>
          </p:spPr>
          <p:txBody>
            <a:bodyPr/>
            <a:p/>
          </p:txBody>
        </p:sp>
        <p:sp>
          <p:nvSpPr>
            <p:cNvPr name="TextBox 64" id="64"/>
            <p:cNvSpPr txBox="true"/>
            <p:nvPr/>
          </p:nvSpPr>
          <p:spPr>
            <a:xfrm>
              <a:off x="0" y="-19050"/>
              <a:ext cx="1207008" cy="860298"/>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05</a:t>
              </a:r>
            </a:p>
          </p:txBody>
        </p:sp>
      </p:grpSp>
      <p:sp>
        <p:nvSpPr>
          <p:cNvPr name="TextBox 65" id="65"/>
          <p:cNvSpPr txBox="true"/>
          <p:nvPr/>
        </p:nvSpPr>
        <p:spPr>
          <a:xfrm rot="0">
            <a:off x="6720840" y="6820662"/>
            <a:ext cx="4828032" cy="2222754"/>
          </a:xfrm>
          <a:prstGeom prst="rect">
            <a:avLst/>
          </a:prstGeom>
        </p:spPr>
        <p:txBody>
          <a:bodyPr anchor="t" rtlCol="false" tIns="0" lIns="0" bIns="0" rIns="0">
            <a:spAutoFit/>
          </a:bodyPr>
          <a:lstStyle/>
          <a:p>
            <a:pPr algn="l">
              <a:lnSpc>
                <a:spcPts val="2700"/>
              </a:lnSpc>
            </a:pPr>
            <a:r>
              <a:rPr lang="en-US" sz="2250" b="true">
                <a:solidFill>
                  <a:srgbClr val="122645"/>
                </a:solidFill>
                <a:latin typeface="DejaVu Sans Bold"/>
                <a:ea typeface="DejaVu Sans Bold"/>
                <a:cs typeface="DejaVu Sans Bold"/>
                <a:sym typeface="DejaVu Sans Bold"/>
              </a:rPr>
              <a:t>Nâng cao năng lực hệ thống chính trị</a:t>
            </a:r>
          </a:p>
          <a:p>
            <a:pPr algn="l">
              <a:lnSpc>
                <a:spcPts val="2700"/>
              </a:lnSpc>
            </a:pPr>
            <a:r>
              <a:rPr lang="en-US" sz="2250">
                <a:solidFill>
                  <a:srgbClr val="1E293B"/>
                </a:solidFill>
                <a:latin typeface="DejaVu Sans Light"/>
                <a:ea typeface="DejaVu Sans Light"/>
                <a:cs typeface="DejaVu Sans Light"/>
                <a:sym typeface="DejaVu Sans Light"/>
              </a:rPr>
              <a:t>Đổi mới phương thức lãnh đạo của Đảng; xây dựng Nhà nước pháp quyền kiến tạo, minh bạch, cắt giảm thủ tục.</a:t>
            </a:r>
          </a:p>
        </p:txBody>
      </p:sp>
      <p:grpSp>
        <p:nvGrpSpPr>
          <p:cNvPr name="Group 66" id="66"/>
          <p:cNvGrpSpPr/>
          <p:nvPr/>
        </p:nvGrpSpPr>
        <p:grpSpPr>
          <a:xfrm rot="0">
            <a:off x="12066651" y="5771007"/>
            <a:ext cx="5465826" cy="3490722"/>
            <a:chOff x="0" y="0"/>
            <a:chExt cx="7287768" cy="4654296"/>
          </a:xfrm>
        </p:grpSpPr>
        <p:sp>
          <p:nvSpPr>
            <p:cNvPr name="Freeform 67" id="67"/>
            <p:cNvSpPr/>
            <p:nvPr/>
          </p:nvSpPr>
          <p:spPr>
            <a:xfrm flipH="false" flipV="false" rot="0">
              <a:off x="0" y="0"/>
              <a:ext cx="7287768" cy="4654296"/>
            </a:xfrm>
            <a:custGeom>
              <a:avLst/>
              <a:gdLst/>
              <a:ahLst/>
              <a:cxnLst/>
              <a:rect r="r" b="b" t="t" l="l"/>
              <a:pathLst>
                <a:path h="4654296" w="7287768">
                  <a:moveTo>
                    <a:pt x="0" y="186182"/>
                  </a:moveTo>
                  <a:cubicBezTo>
                    <a:pt x="0" y="83312"/>
                    <a:pt x="83312" y="0"/>
                    <a:pt x="186182" y="0"/>
                  </a:cubicBezTo>
                  <a:lnTo>
                    <a:pt x="7101586" y="0"/>
                  </a:lnTo>
                  <a:cubicBezTo>
                    <a:pt x="7204456" y="0"/>
                    <a:pt x="7287768" y="83312"/>
                    <a:pt x="7287768" y="186182"/>
                  </a:cubicBezTo>
                  <a:lnTo>
                    <a:pt x="7287768" y="4468114"/>
                  </a:lnTo>
                  <a:cubicBezTo>
                    <a:pt x="7287768" y="4570984"/>
                    <a:pt x="7204456" y="4654296"/>
                    <a:pt x="7101586" y="4654296"/>
                  </a:cubicBezTo>
                  <a:lnTo>
                    <a:pt x="186182" y="4654296"/>
                  </a:lnTo>
                  <a:cubicBezTo>
                    <a:pt x="83312" y="4654296"/>
                    <a:pt x="0" y="4570984"/>
                    <a:pt x="0" y="4468114"/>
                  </a:cubicBezTo>
                  <a:close/>
                </a:path>
              </a:pathLst>
            </a:custGeom>
            <a:solidFill>
              <a:srgbClr val="EAF7F5"/>
            </a:solidFill>
            <a:ln w="34290" cap="sq">
              <a:solidFill>
                <a:srgbClr val="0F766E"/>
              </a:solidFill>
              <a:prstDash val="solid"/>
              <a:miter/>
            </a:ln>
          </p:spPr>
          <p:txBody>
            <a:bodyPr/>
            <a:p/>
          </p:txBody>
        </p:sp>
      </p:grpSp>
      <p:grpSp>
        <p:nvGrpSpPr>
          <p:cNvPr name="Group 68" id="68"/>
          <p:cNvGrpSpPr/>
          <p:nvPr/>
        </p:nvGrpSpPr>
        <p:grpSpPr>
          <a:xfrm rot="0">
            <a:off x="12316968" y="5925312"/>
            <a:ext cx="4992624" cy="3182112"/>
            <a:chOff x="0" y="0"/>
            <a:chExt cx="6656832" cy="4242816"/>
          </a:xfrm>
        </p:grpSpPr>
        <p:sp>
          <p:nvSpPr>
            <p:cNvPr name="Freeform 69" id="69"/>
            <p:cNvSpPr/>
            <p:nvPr/>
          </p:nvSpPr>
          <p:spPr>
            <a:xfrm flipH="false" flipV="false" rot="0">
              <a:off x="0" y="0"/>
              <a:ext cx="6656832" cy="4242816"/>
            </a:xfrm>
            <a:custGeom>
              <a:avLst/>
              <a:gdLst/>
              <a:ahLst/>
              <a:cxnLst/>
              <a:rect r="r" b="b" t="t" l="l"/>
              <a:pathLst>
                <a:path h="4242816" w="6656832">
                  <a:moveTo>
                    <a:pt x="0" y="0"/>
                  </a:moveTo>
                  <a:lnTo>
                    <a:pt x="6656832" y="0"/>
                  </a:lnTo>
                  <a:lnTo>
                    <a:pt x="6656832" y="4242816"/>
                  </a:lnTo>
                  <a:lnTo>
                    <a:pt x="0" y="4242816"/>
                  </a:lnTo>
                  <a:close/>
                </a:path>
              </a:pathLst>
            </a:custGeom>
            <a:blipFill>
              <a:blip r:embed="rId2">
                <a:alphaModFix amt="0"/>
              </a:blip>
              <a:stretch>
                <a:fillRect l="-31775" t="0" r="-31775" b="0"/>
              </a:stretch>
            </a:blipFill>
          </p:spPr>
          <p:txBody>
            <a:bodyPr/>
            <a:p/>
          </p:txBody>
        </p:sp>
        <p:sp>
          <p:nvSpPr>
            <p:cNvPr name="TextBox 70" id="70"/>
            <p:cNvSpPr txBox="true"/>
            <p:nvPr/>
          </p:nvSpPr>
          <p:spPr>
            <a:xfrm>
              <a:off x="0" y="-19050"/>
              <a:ext cx="6656832" cy="4261866"/>
            </a:xfrm>
            <a:prstGeom prst="rect">
              <a:avLst/>
            </a:prstGeom>
          </p:spPr>
          <p:txBody>
            <a:bodyPr anchor="ctr" rtlCol="false" tIns="0" lIns="0" bIns="0" rIns="0"/>
            <a:lstStyle/>
            <a:p>
              <a:pPr algn="l">
                <a:lnSpc>
                  <a:spcPts val="2520"/>
                </a:lnSpc>
              </a:pPr>
              <a:r>
                <a:rPr lang="en-US" sz="2100" b="true">
                  <a:solidFill>
                    <a:srgbClr val="0F766E"/>
                  </a:solidFill>
                  <a:latin typeface="DejaVu Sans Bold"/>
                  <a:ea typeface="DejaVu Sans Bold"/>
                  <a:cs typeface="DejaVu Sans Bold"/>
                  <a:sym typeface="DejaVu Sans Bold"/>
                </a:rPr>
                <a:t>ĐỘT PHÁ THỂ CHẾ CHO CQ7:</a:t>
              </a:r>
            </a:p>
            <a:p>
              <a:pPr algn="l">
                <a:lnSpc>
                  <a:spcPts val="2520"/>
                </a:lnSpc>
              </a:pPr>
              <a:r>
                <a:rPr lang="en-US" sz="2100" b="true">
                  <a:solidFill>
                    <a:srgbClr val="0B192E"/>
                  </a:solidFill>
                  <a:latin typeface="DejaVu Sans Bold"/>
                  <a:ea typeface="DejaVu Sans Bold"/>
                  <a:cs typeface="DejaVu Sans Bold"/>
                  <a:sym typeface="DejaVu Sans Bold"/>
                </a:rPr>
                <a:t>Đồng bộ bộ 3 đạo luật từ 01/8/2024:</a:t>
              </a:r>
            </a:p>
            <a:p>
              <a:pPr algn="l">
                <a:lnSpc>
                  <a:spcPts val="2520"/>
                </a:lnSpc>
              </a:pPr>
              <a:r>
                <a:rPr lang="en-US" sz="2100" b="true">
                  <a:solidFill>
                    <a:srgbClr val="0B192E"/>
                  </a:solidFill>
                  <a:latin typeface="DejaVu Sans Bold"/>
                  <a:ea typeface="DejaVu Sans Bold"/>
                  <a:cs typeface="DejaVu Sans Bold"/>
                  <a:sym typeface="DejaVu Sans Bold"/>
                </a:rPr>
                <a:t>• Luật Đất đai 2024</a:t>
              </a:r>
            </a:p>
            <a:p>
              <a:pPr algn="l">
                <a:lnSpc>
                  <a:spcPts val="2520"/>
                </a:lnSpc>
              </a:pPr>
              <a:r>
                <a:rPr lang="en-US" sz="2100" b="true">
                  <a:solidFill>
                    <a:srgbClr val="0B192E"/>
                  </a:solidFill>
                  <a:latin typeface="DejaVu Sans Bold"/>
                  <a:ea typeface="DejaVu Sans Bold"/>
                  <a:cs typeface="DejaVu Sans Bold"/>
                  <a:sym typeface="DejaVu Sans Bold"/>
                </a:rPr>
                <a:t>• Luật Nhà ở 2023</a:t>
              </a:r>
            </a:p>
            <a:p>
              <a:pPr algn="l">
                <a:lnSpc>
                  <a:spcPts val="2520"/>
                </a:lnSpc>
              </a:pPr>
              <a:r>
                <a:rPr lang="en-US" sz="2100" b="true">
                  <a:solidFill>
                    <a:srgbClr val="0B192E"/>
                  </a:solidFill>
                  <a:latin typeface="DejaVu Sans Bold"/>
                  <a:ea typeface="DejaVu Sans Bold"/>
                  <a:cs typeface="DejaVu Sans Bold"/>
                  <a:sym typeface="DejaVu Sans Bold"/>
                </a:rPr>
                <a:t>• Luật Kinh doanh BĐS 2023</a:t>
              </a:r>
            </a:p>
            <a:p>
              <a:pPr algn="l">
                <a:lnSpc>
                  <a:spcPts val="2520"/>
                </a:lnSpc>
              </a:pPr>
              <a:r>
                <a:rPr lang="en-US" sz="2100" b="true">
                  <a:solidFill>
                    <a:srgbClr val="0B192E"/>
                  </a:solidFill>
                  <a:latin typeface="DejaVu Sans Bold"/>
                  <a:ea typeface="DejaVu Sans Bold"/>
                  <a:cs typeface="DejaVu Sans Bold"/>
                  <a:sym typeface="DejaVu Sans Bold"/>
                </a:rPr>
                <a:t>+ Nghị định 136/2026/NĐ-CP</a:t>
              </a:r>
            </a:p>
            <a:p>
              <a:pPr algn="l">
                <a:lnSpc>
                  <a:spcPts val="2520"/>
                </a:lnSpc>
              </a:pPr>
              <a:r>
                <a:rPr lang="en-US" sz="2100" b="true">
                  <a:solidFill>
                    <a:srgbClr val="0B192E"/>
                  </a:solidFill>
                  <a:latin typeface="DejaVu Sans Bold"/>
                  <a:ea typeface="DejaVu Sans Bold"/>
                  <a:cs typeface="DejaVu Sans Bold"/>
                  <a:sym typeface="DejaVu Sans Bold"/>
                </a:rPr>
                <a:t>→ Khơi thông 'luật chơi' NOXH!</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10972524" cy="137160"/>
            <a:chOff x="0" y="0"/>
            <a:chExt cx="14630032" cy="182880"/>
          </a:xfrm>
        </p:grpSpPr>
        <p:sp>
          <p:nvSpPr>
            <p:cNvPr name="Freeform 5" id="5"/>
            <p:cNvSpPr/>
            <p:nvPr/>
          </p:nvSpPr>
          <p:spPr>
            <a:xfrm flipH="false" flipV="false" rot="0">
              <a:off x="0" y="0"/>
              <a:ext cx="14630019" cy="182880"/>
            </a:xfrm>
            <a:custGeom>
              <a:avLst/>
              <a:gdLst/>
              <a:ahLst/>
              <a:cxnLst/>
              <a:rect r="r" b="b" t="t" l="l"/>
              <a:pathLst>
                <a:path h="182880" w="14630019">
                  <a:moveTo>
                    <a:pt x="0" y="0"/>
                  </a:moveTo>
                  <a:lnTo>
                    <a:pt x="14630019" y="0"/>
                  </a:lnTo>
                  <a:lnTo>
                    <a:pt x="14630019" y="182880"/>
                  </a:lnTo>
                  <a:lnTo>
                    <a:pt x="0" y="182880"/>
                  </a:lnTo>
                  <a:close/>
                </a:path>
              </a:pathLst>
            </a:custGeom>
            <a:solidFill>
              <a:srgbClr val="B91C1C"/>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EF6FC"/>
            </a:solidFill>
            <a:ln w="19050" cap="sq">
              <a:solidFill>
                <a:srgbClr val="B91C1C"/>
              </a:solidFill>
              <a:prstDash val="solid"/>
              <a:miter/>
            </a:ln>
          </p:spPr>
          <p:txBody>
            <a:bodyPr/>
            <a:p/>
          </p:txBody>
        </p:sp>
      </p:grpSp>
      <p:grpSp>
        <p:nvGrpSpPr>
          <p:cNvPr name="Group 8" id="8"/>
          <p:cNvGrpSpPr/>
          <p:nvPr/>
        </p:nvGrpSpPr>
        <p:grpSpPr>
          <a:xfrm rot="0">
            <a:off x="850392" y="413737"/>
            <a:ext cx="6926580" cy="242373"/>
            <a:chOff x="0" y="0"/>
            <a:chExt cx="9235440" cy="323164"/>
          </a:xfrm>
        </p:grpSpPr>
        <p:sp>
          <p:nvSpPr>
            <p:cNvPr name="Freeform 9" id="9"/>
            <p:cNvSpPr/>
            <p:nvPr/>
          </p:nvSpPr>
          <p:spPr>
            <a:xfrm flipH="false" flipV="false" rot="0">
              <a:off x="0" y="0"/>
              <a:ext cx="9235440" cy="323166"/>
            </a:xfrm>
            <a:custGeom>
              <a:avLst/>
              <a:gdLst/>
              <a:ahLst/>
              <a:cxnLst/>
              <a:rect r="r" b="b" t="t" l="l"/>
              <a:pathLst>
                <a:path h="323166" w="9235440">
                  <a:moveTo>
                    <a:pt x="0" y="0"/>
                  </a:moveTo>
                  <a:lnTo>
                    <a:pt x="9235440" y="0"/>
                  </a:lnTo>
                  <a:lnTo>
                    <a:pt x="9235440" y="323166"/>
                  </a:lnTo>
                  <a:lnTo>
                    <a:pt x="0" y="323166"/>
                  </a:lnTo>
                  <a:close/>
                </a:path>
              </a:pathLst>
            </a:custGeom>
            <a:blipFill>
              <a:blip r:embed="rId2">
                <a:alphaModFix amt="0"/>
              </a:blip>
              <a:stretch>
                <a:fillRect l="0" t="-506843" r="0" b="-506843"/>
              </a:stretch>
            </a:blipFill>
          </p:spPr>
          <p:txBody>
            <a:bodyPr/>
            <a:p/>
          </p:txBody>
        </p:sp>
        <p:sp>
          <p:nvSpPr>
            <p:cNvPr name="TextBox 10" id="10"/>
            <p:cNvSpPr txBox="true"/>
            <p:nvPr/>
          </p:nvSpPr>
          <p:spPr>
            <a:xfrm>
              <a:off x="0" y="-9525"/>
              <a:ext cx="9235440" cy="332689"/>
            </a:xfrm>
            <a:prstGeom prst="rect">
              <a:avLst/>
            </a:prstGeom>
          </p:spPr>
          <p:txBody>
            <a:bodyPr anchor="ctr" rtlCol="false" tIns="0" lIns="0" bIns="0" rIns="0"/>
            <a:lstStyle/>
            <a:p>
              <a:pPr algn="l">
                <a:lnSpc>
                  <a:spcPts val="1889"/>
                </a:lnSpc>
              </a:pPr>
              <a:r>
                <a:rPr lang="en-US" sz="1575" b="true">
                  <a:solidFill>
                    <a:srgbClr val="B91C1C"/>
                  </a:solidFill>
                  <a:latin typeface="DejaVu Sans Bold"/>
                  <a:ea typeface="DejaVu Sans Bold"/>
                  <a:cs typeface="DejaVu Sans Bold"/>
                  <a:sym typeface="DejaVu Sans Bold"/>
                </a:rPr>
                <a:t>“Bàn tay vô hình thất bại”</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19050"/>
              <a:ext cx="2432304" cy="64084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Slide 10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Lệch pha cung – cầu nhà ở đô thị &amp; Thực tế khả năng chi trả</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9525"/>
              <a:ext cx="22366224" cy="667893"/>
            </a:xfrm>
            <a:prstGeom prst="rect">
              <a:avLst/>
            </a:prstGeom>
          </p:spPr>
          <p:txBody>
            <a:bodyPr anchor="ctr" rtlCol="false" tIns="0" lIns="0" bIns="0" rIns="0"/>
            <a:lstStyle/>
            <a:p>
              <a:pPr algn="l">
                <a:lnSpc>
                  <a:spcPts val="1260"/>
                </a:lnSpc>
              </a:pPr>
              <a:r>
                <a:rPr lang="en-US" sz="1050" i="true">
                  <a:solidFill>
                    <a:srgbClr val="475569"/>
                  </a:solidFill>
                  <a:latin typeface="DejaVu Sans Bold Italics"/>
                  <a:ea typeface="DejaVu Sans Bold Italics"/>
                  <a:cs typeface="DejaVu Sans Bold Italics"/>
                  <a:sym typeface="DejaVu Sans Bold Italics"/>
                </a:rPr>
                <a:t>Nguồn: Bộ Xây dựng (BC Thị trường BĐS Q2/2026); Cục Thống kê (BC 9T/2026); Nghị định 261/2025/NĐ-CP.</a:t>
              </a:r>
            </a:p>
          </p:txBody>
        </p:sp>
      </p:grpSp>
      <p:grpSp>
        <p:nvGrpSpPr>
          <p:cNvPr name="Group 26" id="26"/>
          <p:cNvGrpSpPr/>
          <p:nvPr/>
        </p:nvGrpSpPr>
        <p:grpSpPr>
          <a:xfrm rot="0">
            <a:off x="742950" y="1881378"/>
            <a:ext cx="10337292" cy="7566660"/>
            <a:chOff x="0" y="0"/>
            <a:chExt cx="13783056" cy="10088880"/>
          </a:xfrm>
        </p:grpSpPr>
        <p:sp>
          <p:nvSpPr>
            <p:cNvPr name="Freeform 27" id="27"/>
            <p:cNvSpPr/>
            <p:nvPr/>
          </p:nvSpPr>
          <p:spPr>
            <a:xfrm flipH="false" flipV="false" rot="0">
              <a:off x="0" y="0"/>
              <a:ext cx="13783056" cy="10088880"/>
            </a:xfrm>
            <a:custGeom>
              <a:avLst/>
              <a:gdLst/>
              <a:ahLst/>
              <a:cxnLst/>
              <a:rect r="r" b="b" t="t" l="l"/>
              <a:pathLst>
                <a:path h="10088880" w="13783056">
                  <a:moveTo>
                    <a:pt x="0" y="403606"/>
                  </a:moveTo>
                  <a:cubicBezTo>
                    <a:pt x="0" y="180721"/>
                    <a:pt x="180721" y="0"/>
                    <a:pt x="403606" y="0"/>
                  </a:cubicBezTo>
                  <a:lnTo>
                    <a:pt x="13379450" y="0"/>
                  </a:lnTo>
                  <a:cubicBezTo>
                    <a:pt x="13602336" y="0"/>
                    <a:pt x="13783056" y="180721"/>
                    <a:pt x="13783056" y="403606"/>
                  </a:cubicBezTo>
                  <a:lnTo>
                    <a:pt x="13783056" y="9685274"/>
                  </a:lnTo>
                  <a:cubicBezTo>
                    <a:pt x="13783056" y="9908159"/>
                    <a:pt x="13602336" y="10088880"/>
                    <a:pt x="13379450" y="10088880"/>
                  </a:cubicBezTo>
                  <a:lnTo>
                    <a:pt x="403606" y="10088880"/>
                  </a:lnTo>
                  <a:cubicBezTo>
                    <a:pt x="180721" y="10088880"/>
                    <a:pt x="0" y="9908159"/>
                    <a:pt x="0" y="9685274"/>
                  </a:cubicBezTo>
                  <a:close/>
                </a:path>
              </a:pathLst>
            </a:custGeom>
            <a:solidFill>
              <a:srgbClr val="FFFFFF"/>
            </a:solidFill>
            <a:ln w="22860" cap="sq">
              <a:solidFill>
                <a:srgbClr val="CBD5E1"/>
              </a:solidFill>
              <a:prstDash val="solid"/>
              <a:miter/>
            </a:ln>
          </p:spPr>
          <p:txBody>
            <a:bodyPr/>
            <a:p/>
          </p:txBody>
        </p:sp>
      </p:grpSp>
      <p:grpSp>
        <p:nvGrpSpPr>
          <p:cNvPr name="Group 28" id="28"/>
          <p:cNvGrpSpPr/>
          <p:nvPr/>
        </p:nvGrpSpPr>
        <p:grpSpPr>
          <a:xfrm rot="0">
            <a:off x="905256" y="2002536"/>
            <a:ext cx="10012680" cy="6501384"/>
            <a:chOff x="0" y="0"/>
            <a:chExt cx="13350240" cy="8668512"/>
          </a:xfrm>
        </p:grpSpPr>
        <p:sp>
          <p:nvSpPr>
            <p:cNvPr name="Freeform 29" id="29" descr="chart_housing_projector.png"/>
            <p:cNvSpPr/>
            <p:nvPr/>
          </p:nvSpPr>
          <p:spPr>
            <a:xfrm flipH="false" flipV="false" rot="0">
              <a:off x="0" y="0"/>
              <a:ext cx="13350239" cy="8668512"/>
            </a:xfrm>
            <a:custGeom>
              <a:avLst/>
              <a:gdLst/>
              <a:ahLst/>
              <a:cxnLst/>
              <a:rect r="r" b="b" t="t" l="l"/>
              <a:pathLst>
                <a:path h="8668512" w="13350239">
                  <a:moveTo>
                    <a:pt x="0" y="0"/>
                  </a:moveTo>
                  <a:lnTo>
                    <a:pt x="13350239" y="0"/>
                  </a:lnTo>
                  <a:lnTo>
                    <a:pt x="13350239" y="8668512"/>
                  </a:lnTo>
                  <a:lnTo>
                    <a:pt x="0" y="8668512"/>
                  </a:lnTo>
                  <a:lnTo>
                    <a:pt x="0" y="0"/>
                  </a:lnTo>
                  <a:close/>
                </a:path>
              </a:pathLst>
            </a:custGeom>
            <a:blipFill>
              <a:blip r:embed="rId3"/>
              <a:stretch>
                <a:fillRect l="0" t="-52" r="0" b="-52"/>
              </a:stretch>
            </a:blipFill>
          </p:spPr>
          <p:txBody>
            <a:bodyPr/>
            <a:p/>
          </p:txBody>
        </p:sp>
      </p:grpSp>
      <p:grpSp>
        <p:nvGrpSpPr>
          <p:cNvPr name="Group 30" id="30"/>
          <p:cNvGrpSpPr/>
          <p:nvPr/>
        </p:nvGrpSpPr>
        <p:grpSpPr>
          <a:xfrm rot="0">
            <a:off x="960120" y="8558784"/>
            <a:ext cx="9902952" cy="768096"/>
            <a:chOff x="0" y="0"/>
            <a:chExt cx="13203936" cy="1024128"/>
          </a:xfrm>
        </p:grpSpPr>
        <p:sp>
          <p:nvSpPr>
            <p:cNvPr name="Freeform 31" id="31"/>
            <p:cNvSpPr/>
            <p:nvPr/>
          </p:nvSpPr>
          <p:spPr>
            <a:xfrm flipH="false" flipV="false" rot="0">
              <a:off x="0" y="0"/>
              <a:ext cx="13203937" cy="1024128"/>
            </a:xfrm>
            <a:custGeom>
              <a:avLst/>
              <a:gdLst/>
              <a:ahLst/>
              <a:cxnLst/>
              <a:rect r="r" b="b" t="t" l="l"/>
              <a:pathLst>
                <a:path h="1024128" w="13203937">
                  <a:moveTo>
                    <a:pt x="0" y="0"/>
                  </a:moveTo>
                  <a:lnTo>
                    <a:pt x="13203937" y="0"/>
                  </a:lnTo>
                  <a:lnTo>
                    <a:pt x="13203937" y="1024128"/>
                  </a:lnTo>
                  <a:lnTo>
                    <a:pt x="0" y="1024128"/>
                  </a:lnTo>
                  <a:close/>
                </a:path>
              </a:pathLst>
            </a:custGeom>
            <a:blipFill>
              <a:blip r:embed="rId2">
                <a:alphaModFix amt="0"/>
              </a:blip>
              <a:stretch>
                <a:fillRect l="0" t="-201217" r="0" b="-201217"/>
              </a:stretch>
            </a:blipFill>
          </p:spPr>
          <p:txBody>
            <a:bodyPr/>
            <a:p/>
          </p:txBody>
        </p:sp>
        <p:sp>
          <p:nvSpPr>
            <p:cNvPr name="TextBox 32" id="32"/>
            <p:cNvSpPr txBox="true"/>
            <p:nvPr/>
          </p:nvSpPr>
          <p:spPr>
            <a:xfrm>
              <a:off x="0" y="-9525"/>
              <a:ext cx="13203936" cy="1033653"/>
            </a:xfrm>
            <a:prstGeom prst="rect">
              <a:avLst/>
            </a:prstGeom>
          </p:spPr>
          <p:txBody>
            <a:bodyPr anchor="ctr" rtlCol="false" tIns="0" lIns="0" bIns="0" rIns="0"/>
            <a:lstStyle/>
            <a:p>
              <a:pPr algn="l">
                <a:lnSpc>
                  <a:spcPts val="1727"/>
                </a:lnSpc>
              </a:pPr>
              <a:r>
                <a:rPr lang="en-US" sz="1439" b="true">
                  <a:solidFill>
                    <a:srgbClr val="475569"/>
                  </a:solidFill>
                  <a:latin typeface="DejaVu Sans Bold"/>
                  <a:ea typeface="DejaVu Sans Bold"/>
                  <a:cs typeface="DejaVu Sans Bold"/>
                  <a:sym typeface="DejaVu Sans Bold"/>
                </a:rPr>
                <a:t>Biểu đồ: Khoảng cách thu nhập – trả góp thương mại và mức giảm áp lực khi vay NOXH (Nguồn: Cục Thống kê 9T/2026, Bộ Xây dựng Q2/2026 &amp; NĐ 261/2025).</a:t>
              </a:r>
            </a:p>
          </p:txBody>
        </p:sp>
      </p:grpSp>
      <p:grpSp>
        <p:nvGrpSpPr>
          <p:cNvPr name="Group 33" id="33"/>
          <p:cNvGrpSpPr/>
          <p:nvPr/>
        </p:nvGrpSpPr>
        <p:grpSpPr>
          <a:xfrm rot="0">
            <a:off x="11343513" y="1879473"/>
            <a:ext cx="6198870" cy="2413254"/>
            <a:chOff x="0" y="0"/>
            <a:chExt cx="8265160" cy="3217672"/>
          </a:xfrm>
        </p:grpSpPr>
        <p:sp>
          <p:nvSpPr>
            <p:cNvPr name="Freeform 34" id="34"/>
            <p:cNvSpPr/>
            <p:nvPr/>
          </p:nvSpPr>
          <p:spPr>
            <a:xfrm flipH="false" flipV="false" rot="0">
              <a:off x="0" y="0"/>
              <a:ext cx="8265160" cy="3217672"/>
            </a:xfrm>
            <a:custGeom>
              <a:avLst/>
              <a:gdLst/>
              <a:ahLst/>
              <a:cxnLst/>
              <a:rect r="r" b="b" t="t" l="l"/>
              <a:pathLst>
                <a:path h="3217672" w="8265160">
                  <a:moveTo>
                    <a:pt x="0" y="128651"/>
                  </a:moveTo>
                  <a:cubicBezTo>
                    <a:pt x="0" y="57658"/>
                    <a:pt x="57658" y="0"/>
                    <a:pt x="128651" y="0"/>
                  </a:cubicBezTo>
                  <a:lnTo>
                    <a:pt x="8136509" y="0"/>
                  </a:lnTo>
                  <a:cubicBezTo>
                    <a:pt x="8207628" y="0"/>
                    <a:pt x="8265160" y="57658"/>
                    <a:pt x="8265160" y="128651"/>
                  </a:cubicBezTo>
                  <a:lnTo>
                    <a:pt x="8265160" y="3089021"/>
                  </a:lnTo>
                  <a:cubicBezTo>
                    <a:pt x="8265160" y="3160141"/>
                    <a:pt x="8207502" y="3217672"/>
                    <a:pt x="8136509" y="3217672"/>
                  </a:cubicBezTo>
                  <a:lnTo>
                    <a:pt x="128651" y="3217672"/>
                  </a:lnTo>
                  <a:cubicBezTo>
                    <a:pt x="57658" y="3217672"/>
                    <a:pt x="0" y="3160014"/>
                    <a:pt x="0" y="3089021"/>
                  </a:cubicBezTo>
                  <a:close/>
                </a:path>
              </a:pathLst>
            </a:custGeom>
            <a:solidFill>
              <a:srgbClr val="FFFFFF"/>
            </a:solidFill>
            <a:ln w="26670" cap="sq">
              <a:solidFill>
                <a:srgbClr val="122645"/>
              </a:solidFill>
              <a:prstDash val="solid"/>
              <a:miter/>
            </a:ln>
          </p:spPr>
          <p:txBody>
            <a:bodyPr/>
            <a:p/>
          </p:txBody>
        </p:sp>
      </p:grpSp>
      <p:grpSp>
        <p:nvGrpSpPr>
          <p:cNvPr name="Group 35" id="35"/>
          <p:cNvGrpSpPr/>
          <p:nvPr/>
        </p:nvGrpSpPr>
        <p:grpSpPr>
          <a:xfrm rot="0">
            <a:off x="11576304" y="2002536"/>
            <a:ext cx="5760720" cy="2167128"/>
            <a:chOff x="0" y="0"/>
            <a:chExt cx="7680960" cy="2889504"/>
          </a:xfrm>
        </p:grpSpPr>
        <p:sp>
          <p:nvSpPr>
            <p:cNvPr name="Freeform 36" id="36"/>
            <p:cNvSpPr/>
            <p:nvPr/>
          </p:nvSpPr>
          <p:spPr>
            <a:xfrm flipH="false" flipV="false" rot="0">
              <a:off x="0" y="0"/>
              <a:ext cx="7680960" cy="2889504"/>
            </a:xfrm>
            <a:custGeom>
              <a:avLst/>
              <a:gdLst/>
              <a:ahLst/>
              <a:cxnLst/>
              <a:rect r="r" b="b" t="t" l="l"/>
              <a:pathLst>
                <a:path h="2889504" w="7680960">
                  <a:moveTo>
                    <a:pt x="0" y="0"/>
                  </a:moveTo>
                  <a:lnTo>
                    <a:pt x="7680960" y="0"/>
                  </a:lnTo>
                  <a:lnTo>
                    <a:pt x="7680960" y="2889504"/>
                  </a:lnTo>
                  <a:lnTo>
                    <a:pt x="0" y="2889504"/>
                  </a:lnTo>
                  <a:close/>
                </a:path>
              </a:pathLst>
            </a:custGeom>
            <a:blipFill>
              <a:blip r:embed="rId2">
                <a:alphaModFix amt="0"/>
              </a:blip>
              <a:stretch>
                <a:fillRect l="0" t="-1795" r="0" b="-1795"/>
              </a:stretch>
            </a:blipFill>
          </p:spPr>
          <p:txBody>
            <a:bodyPr/>
            <a:p/>
          </p:txBody>
        </p:sp>
        <p:sp>
          <p:nvSpPr>
            <p:cNvPr name="TextBox 37" id="37"/>
            <p:cNvSpPr txBox="true"/>
            <p:nvPr/>
          </p:nvSpPr>
          <p:spPr>
            <a:xfrm>
              <a:off x="0" y="-19050"/>
              <a:ext cx="7680960" cy="2908554"/>
            </a:xfrm>
            <a:prstGeom prst="rect">
              <a:avLst/>
            </a:prstGeom>
          </p:spPr>
          <p:txBody>
            <a:bodyPr anchor="ctr" rtlCol="false" tIns="0" lIns="0" bIns="0" rIns="0"/>
            <a:lstStyle/>
            <a:p>
              <a:pPr algn="l">
                <a:lnSpc>
                  <a:spcPts val="2700"/>
                </a:lnSpc>
              </a:pPr>
              <a:r>
                <a:rPr lang="en-US" sz="2250" b="true">
                  <a:solidFill>
                    <a:srgbClr val="122645"/>
                  </a:solidFill>
                  <a:latin typeface="DejaVu Sans Bold"/>
                  <a:ea typeface="DejaVu Sans Bold"/>
                  <a:cs typeface="DejaVu Sans Bold"/>
                  <a:sym typeface="DejaVu Sans Bold"/>
                </a:rPr>
                <a:t>1. MÂU THUẪN LỢI ÍCH KINH TẾ</a:t>
              </a:r>
            </a:p>
            <a:p>
              <a:pPr algn="l">
                <a:lnSpc>
                  <a:spcPts val="3240"/>
                </a:lnSpc>
              </a:pPr>
              <a:r>
                <a:rPr lang="en-US" sz="2250">
                  <a:solidFill>
                    <a:srgbClr val="1E293B"/>
                  </a:solidFill>
                  <a:latin typeface="DejaVu Sans Light"/>
                  <a:ea typeface="DejaVu Sans Light"/>
                  <a:cs typeface="DejaVu Sans Light"/>
                  <a:sym typeface="DejaVu Sans Light"/>
                </a:rPr>
                <a:t>Doanh nghiệp tối đa hóa lợi nhuận mâu thuẫn với Lợi ích của Người dân thu nhập thấp nhu cầu an cư giá rẻ</a:t>
              </a:r>
            </a:p>
          </p:txBody>
        </p:sp>
      </p:grpSp>
      <p:grpSp>
        <p:nvGrpSpPr>
          <p:cNvPr name="Group 38" id="38"/>
          <p:cNvGrpSpPr/>
          <p:nvPr/>
        </p:nvGrpSpPr>
        <p:grpSpPr>
          <a:xfrm rot="0">
            <a:off x="11343513" y="4458081"/>
            <a:ext cx="6198870" cy="2413254"/>
            <a:chOff x="0" y="0"/>
            <a:chExt cx="8265160" cy="3217672"/>
          </a:xfrm>
        </p:grpSpPr>
        <p:sp>
          <p:nvSpPr>
            <p:cNvPr name="Freeform 39" id="39"/>
            <p:cNvSpPr/>
            <p:nvPr/>
          </p:nvSpPr>
          <p:spPr>
            <a:xfrm flipH="false" flipV="false" rot="0">
              <a:off x="0" y="0"/>
              <a:ext cx="8265160" cy="3217672"/>
            </a:xfrm>
            <a:custGeom>
              <a:avLst/>
              <a:gdLst/>
              <a:ahLst/>
              <a:cxnLst/>
              <a:rect r="r" b="b" t="t" l="l"/>
              <a:pathLst>
                <a:path h="3217672" w="8265160">
                  <a:moveTo>
                    <a:pt x="0" y="128651"/>
                  </a:moveTo>
                  <a:cubicBezTo>
                    <a:pt x="0" y="57658"/>
                    <a:pt x="57658" y="0"/>
                    <a:pt x="128651" y="0"/>
                  </a:cubicBezTo>
                  <a:lnTo>
                    <a:pt x="8136509" y="0"/>
                  </a:lnTo>
                  <a:cubicBezTo>
                    <a:pt x="8207628" y="0"/>
                    <a:pt x="8265160" y="57658"/>
                    <a:pt x="8265160" y="128651"/>
                  </a:cubicBezTo>
                  <a:lnTo>
                    <a:pt x="8265160" y="3089021"/>
                  </a:lnTo>
                  <a:cubicBezTo>
                    <a:pt x="8265160" y="3160141"/>
                    <a:pt x="8207502" y="3217672"/>
                    <a:pt x="8136509" y="3217672"/>
                  </a:cubicBezTo>
                  <a:lnTo>
                    <a:pt x="128651" y="3217672"/>
                  </a:lnTo>
                  <a:cubicBezTo>
                    <a:pt x="57658" y="3217672"/>
                    <a:pt x="0" y="3160014"/>
                    <a:pt x="0" y="3089021"/>
                  </a:cubicBezTo>
                  <a:close/>
                </a:path>
              </a:pathLst>
            </a:custGeom>
            <a:solidFill>
              <a:srgbClr val="EAF7F5"/>
            </a:solidFill>
            <a:ln w="26670" cap="sq">
              <a:solidFill>
                <a:srgbClr val="0F766E"/>
              </a:solidFill>
              <a:prstDash val="solid"/>
              <a:miter/>
            </a:ln>
          </p:spPr>
          <p:txBody>
            <a:bodyPr/>
            <a:p/>
          </p:txBody>
        </p:sp>
      </p:grpSp>
      <p:grpSp>
        <p:nvGrpSpPr>
          <p:cNvPr name="Group 40" id="40"/>
          <p:cNvGrpSpPr/>
          <p:nvPr/>
        </p:nvGrpSpPr>
        <p:grpSpPr>
          <a:xfrm rot="0">
            <a:off x="11576304" y="4581144"/>
            <a:ext cx="5760720" cy="2167128"/>
            <a:chOff x="0" y="0"/>
            <a:chExt cx="7680960" cy="2889504"/>
          </a:xfrm>
        </p:grpSpPr>
        <p:sp>
          <p:nvSpPr>
            <p:cNvPr name="Freeform 41" id="41"/>
            <p:cNvSpPr/>
            <p:nvPr/>
          </p:nvSpPr>
          <p:spPr>
            <a:xfrm flipH="false" flipV="false" rot="0">
              <a:off x="0" y="0"/>
              <a:ext cx="7680960" cy="2889504"/>
            </a:xfrm>
            <a:custGeom>
              <a:avLst/>
              <a:gdLst/>
              <a:ahLst/>
              <a:cxnLst/>
              <a:rect r="r" b="b" t="t" l="l"/>
              <a:pathLst>
                <a:path h="2889504" w="7680960">
                  <a:moveTo>
                    <a:pt x="0" y="0"/>
                  </a:moveTo>
                  <a:lnTo>
                    <a:pt x="7680960" y="0"/>
                  </a:lnTo>
                  <a:lnTo>
                    <a:pt x="7680960" y="2889504"/>
                  </a:lnTo>
                  <a:lnTo>
                    <a:pt x="0" y="2889504"/>
                  </a:lnTo>
                  <a:close/>
                </a:path>
              </a:pathLst>
            </a:custGeom>
            <a:blipFill>
              <a:blip r:embed="rId2">
                <a:alphaModFix amt="0"/>
              </a:blip>
              <a:stretch>
                <a:fillRect l="0" t="-1795" r="0" b="-1795"/>
              </a:stretch>
            </a:blipFill>
          </p:spPr>
          <p:txBody>
            <a:bodyPr/>
            <a:p/>
          </p:txBody>
        </p:sp>
        <p:sp>
          <p:nvSpPr>
            <p:cNvPr name="TextBox 42" id="42"/>
            <p:cNvSpPr txBox="true"/>
            <p:nvPr/>
          </p:nvSpPr>
          <p:spPr>
            <a:xfrm>
              <a:off x="0" y="-19050"/>
              <a:ext cx="7680960" cy="2908554"/>
            </a:xfrm>
            <a:prstGeom prst="rect">
              <a:avLst/>
            </a:prstGeom>
          </p:spPr>
          <p:txBody>
            <a:bodyPr anchor="ctr" rtlCol="false" tIns="0" lIns="0" bIns="0" rIns="0"/>
            <a:lstStyle/>
            <a:p>
              <a:pPr algn="l">
                <a:lnSpc>
                  <a:spcPts val="2700"/>
                </a:lnSpc>
              </a:pPr>
              <a:r>
                <a:rPr lang="en-US" sz="2250" b="true">
                  <a:solidFill>
                    <a:srgbClr val="0F766E"/>
                  </a:solidFill>
                  <a:latin typeface="DejaVu Sans Bold"/>
                  <a:ea typeface="DejaVu Sans Bold"/>
                  <a:cs typeface="DejaVu Sans Bold"/>
                  <a:sym typeface="DejaVu Sans Bold"/>
                </a:rPr>
                <a:t>2. CẦU Ở THỰC ≠ CẦU CÓ KHẢ NĂNG CHI TRẢ</a:t>
              </a:r>
            </a:p>
            <a:p>
              <a:pPr algn="l">
                <a:lnSpc>
                  <a:spcPts val="3240"/>
                </a:lnSpc>
              </a:pPr>
              <a:r>
                <a:rPr lang="en-US" sz="2250">
                  <a:solidFill>
                    <a:srgbClr val="1E293B"/>
                  </a:solidFill>
                  <a:latin typeface="DejaVu Sans Light"/>
                  <a:ea typeface="DejaVu Sans Light"/>
                  <a:cs typeface="DejaVu Sans Light"/>
                  <a:sym typeface="DejaVu Sans Light"/>
                </a:rPr>
                <a:t>Tài liệu ước tính hơn 80% người lao động/sinh viên cần nhà; thu nhập 10–15 triệu khó mua căn 3–5 tỷ.</a:t>
              </a:r>
            </a:p>
          </p:txBody>
        </p:sp>
      </p:grpSp>
      <p:grpSp>
        <p:nvGrpSpPr>
          <p:cNvPr name="Group 43" id="43"/>
          <p:cNvGrpSpPr/>
          <p:nvPr/>
        </p:nvGrpSpPr>
        <p:grpSpPr>
          <a:xfrm rot="0">
            <a:off x="11343513" y="7036689"/>
            <a:ext cx="6198870" cy="2413254"/>
            <a:chOff x="0" y="0"/>
            <a:chExt cx="8265160" cy="3217672"/>
          </a:xfrm>
        </p:grpSpPr>
        <p:sp>
          <p:nvSpPr>
            <p:cNvPr name="Freeform 44" id="44"/>
            <p:cNvSpPr/>
            <p:nvPr/>
          </p:nvSpPr>
          <p:spPr>
            <a:xfrm flipH="false" flipV="false" rot="0">
              <a:off x="0" y="0"/>
              <a:ext cx="8265160" cy="3217672"/>
            </a:xfrm>
            <a:custGeom>
              <a:avLst/>
              <a:gdLst/>
              <a:ahLst/>
              <a:cxnLst/>
              <a:rect r="r" b="b" t="t" l="l"/>
              <a:pathLst>
                <a:path h="3217672" w="8265160">
                  <a:moveTo>
                    <a:pt x="0" y="128651"/>
                  </a:moveTo>
                  <a:cubicBezTo>
                    <a:pt x="0" y="57658"/>
                    <a:pt x="57658" y="0"/>
                    <a:pt x="128651" y="0"/>
                  </a:cubicBezTo>
                  <a:lnTo>
                    <a:pt x="8136509" y="0"/>
                  </a:lnTo>
                  <a:cubicBezTo>
                    <a:pt x="8207628" y="0"/>
                    <a:pt x="8265160" y="57658"/>
                    <a:pt x="8265160" y="128651"/>
                  </a:cubicBezTo>
                  <a:lnTo>
                    <a:pt x="8265160" y="3089021"/>
                  </a:lnTo>
                  <a:cubicBezTo>
                    <a:pt x="8265160" y="3160141"/>
                    <a:pt x="8207502" y="3217672"/>
                    <a:pt x="8136509" y="3217672"/>
                  </a:cubicBezTo>
                  <a:lnTo>
                    <a:pt x="128651" y="3217672"/>
                  </a:lnTo>
                  <a:cubicBezTo>
                    <a:pt x="57658" y="3217672"/>
                    <a:pt x="0" y="3160014"/>
                    <a:pt x="0" y="3089021"/>
                  </a:cubicBezTo>
                  <a:close/>
                </a:path>
              </a:pathLst>
            </a:custGeom>
            <a:solidFill>
              <a:srgbClr val="FEF2F2"/>
            </a:solidFill>
            <a:ln w="26670" cap="sq">
              <a:solidFill>
                <a:srgbClr val="B91C1C"/>
              </a:solidFill>
              <a:prstDash val="solid"/>
              <a:miter/>
            </a:ln>
          </p:spPr>
          <p:txBody>
            <a:bodyPr/>
            <a:p/>
          </p:txBody>
        </p:sp>
      </p:grpSp>
      <p:grpSp>
        <p:nvGrpSpPr>
          <p:cNvPr name="Group 45" id="45"/>
          <p:cNvGrpSpPr/>
          <p:nvPr/>
        </p:nvGrpSpPr>
        <p:grpSpPr>
          <a:xfrm rot="0">
            <a:off x="11576304" y="7159752"/>
            <a:ext cx="5760720" cy="2167128"/>
            <a:chOff x="0" y="0"/>
            <a:chExt cx="7680960" cy="2889504"/>
          </a:xfrm>
        </p:grpSpPr>
        <p:sp>
          <p:nvSpPr>
            <p:cNvPr name="Freeform 46" id="46"/>
            <p:cNvSpPr/>
            <p:nvPr/>
          </p:nvSpPr>
          <p:spPr>
            <a:xfrm flipH="false" flipV="false" rot="0">
              <a:off x="0" y="0"/>
              <a:ext cx="7680960" cy="2889504"/>
            </a:xfrm>
            <a:custGeom>
              <a:avLst/>
              <a:gdLst/>
              <a:ahLst/>
              <a:cxnLst/>
              <a:rect r="r" b="b" t="t" l="l"/>
              <a:pathLst>
                <a:path h="2889504" w="7680960">
                  <a:moveTo>
                    <a:pt x="0" y="0"/>
                  </a:moveTo>
                  <a:lnTo>
                    <a:pt x="7680960" y="0"/>
                  </a:lnTo>
                  <a:lnTo>
                    <a:pt x="7680960" y="2889504"/>
                  </a:lnTo>
                  <a:lnTo>
                    <a:pt x="0" y="2889504"/>
                  </a:lnTo>
                  <a:close/>
                </a:path>
              </a:pathLst>
            </a:custGeom>
            <a:blipFill>
              <a:blip r:embed="rId2">
                <a:alphaModFix amt="0"/>
              </a:blip>
              <a:stretch>
                <a:fillRect l="0" t="-1795" r="0" b="-1795"/>
              </a:stretch>
            </a:blipFill>
          </p:spPr>
          <p:txBody>
            <a:bodyPr/>
            <a:p/>
          </p:txBody>
        </p:sp>
        <p:sp>
          <p:nvSpPr>
            <p:cNvPr name="TextBox 47" id="47"/>
            <p:cNvSpPr txBox="true"/>
            <p:nvPr/>
          </p:nvSpPr>
          <p:spPr>
            <a:xfrm>
              <a:off x="0" y="-19050"/>
              <a:ext cx="7680960" cy="2908554"/>
            </a:xfrm>
            <a:prstGeom prst="rect">
              <a:avLst/>
            </a:prstGeom>
          </p:spPr>
          <p:txBody>
            <a:bodyPr anchor="ctr" rtlCol="false" tIns="0" lIns="0" bIns="0" rIns="0"/>
            <a:lstStyle/>
            <a:p>
              <a:pPr algn="l">
                <a:lnSpc>
                  <a:spcPts val="2700"/>
                </a:lnSpc>
              </a:pPr>
              <a:r>
                <a:rPr lang="en-US" sz="2250" b="true">
                  <a:solidFill>
                    <a:srgbClr val="B91C1C"/>
                  </a:solidFill>
                  <a:latin typeface="DejaVu Sans Bold"/>
                  <a:ea typeface="DejaVu Sans Bold"/>
                  <a:cs typeface="DejaVu Sans Bold"/>
                  <a:sym typeface="DejaVu Sans Bold"/>
                </a:rPr>
                <a:t>3. ĐẤT KHAN HIẾM &amp; NGOẠI ỨNG</a:t>
              </a:r>
            </a:p>
            <a:p>
              <a:pPr algn="l">
                <a:lnSpc>
                  <a:spcPts val="3240"/>
                </a:lnSpc>
              </a:pPr>
              <a:r>
                <a:rPr lang="en-US" sz="2250">
                  <a:solidFill>
                    <a:srgbClr val="1E293B"/>
                  </a:solidFill>
                  <a:latin typeface="DejaVu Sans Light"/>
                  <a:ea typeface="DejaVu Sans Light"/>
                  <a:cs typeface="DejaVu Sans Light"/>
                  <a:sym typeface="DejaVu Sans Light"/>
                </a:rPr>
                <a:t>Đầu cơ, bong bóng và giá đất đẩy chi phí lên, phân hóa giàu nghèo, làm giảm cơ hội an cư và năng suất xã hội.</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12191695" cy="137160"/>
            <a:chOff x="0" y="0"/>
            <a:chExt cx="16255594" cy="182880"/>
          </a:xfrm>
        </p:grpSpPr>
        <p:sp>
          <p:nvSpPr>
            <p:cNvPr name="Freeform 5" id="5"/>
            <p:cNvSpPr/>
            <p:nvPr/>
          </p:nvSpPr>
          <p:spPr>
            <a:xfrm flipH="false" flipV="false" rot="0">
              <a:off x="0" y="0"/>
              <a:ext cx="16255619" cy="182880"/>
            </a:xfrm>
            <a:custGeom>
              <a:avLst/>
              <a:gdLst/>
              <a:ahLst/>
              <a:cxnLst/>
              <a:rect r="r" b="b" t="t" l="l"/>
              <a:pathLst>
                <a:path h="182880" w="16255619">
                  <a:moveTo>
                    <a:pt x="0" y="0"/>
                  </a:moveTo>
                  <a:lnTo>
                    <a:pt x="16255619" y="0"/>
                  </a:lnTo>
                  <a:lnTo>
                    <a:pt x="16255619" y="182880"/>
                  </a:lnTo>
                  <a:lnTo>
                    <a:pt x="0" y="182880"/>
                  </a:lnTo>
                  <a:close/>
                </a:path>
              </a:pathLst>
            </a:custGeom>
            <a:solidFill>
              <a:srgbClr val="0F766E"/>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AF7F5"/>
            </a:solidFill>
            <a:ln w="19050" cap="sq">
              <a:solidFill>
                <a:srgbClr val="0F766E"/>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9525"/>
              <a:ext cx="9235440" cy="631317"/>
            </a:xfrm>
            <a:prstGeom prst="rect">
              <a:avLst/>
            </a:prstGeom>
          </p:spPr>
          <p:txBody>
            <a:bodyPr anchor="ctr" rtlCol="false" tIns="0" lIns="0" bIns="0" rIns="0"/>
            <a:lstStyle/>
            <a:p>
              <a:pPr algn="l">
                <a:lnSpc>
                  <a:spcPts val="1889"/>
                </a:lnSpc>
              </a:pPr>
              <a:r>
                <a:rPr lang="en-US" sz="1575" b="true">
                  <a:solidFill>
                    <a:srgbClr val="0F766E"/>
                  </a:solidFill>
                  <a:latin typeface="DejaVu Sans Bold"/>
                  <a:ea typeface="DejaVu Sans Bold"/>
                  <a:cs typeface="DejaVu Sans Bold"/>
                  <a:sym typeface="DejaVu Sans Bold"/>
                </a:rPr>
                <a:t>TRẢ LỜI CÂU HỎI 2 • ĐÒN BẨY KINH TẾ PHÍA CUNG</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9525"/>
              <a:ext cx="2432304" cy="631317"/>
            </a:xfrm>
            <a:prstGeom prst="rect">
              <a:avLst/>
            </a:prstGeom>
          </p:spPr>
          <p:txBody>
            <a:bodyPr anchor="ctr" rtlCol="false" tIns="0" lIns="0" bIns="0" rIns="0"/>
            <a:lstStyle/>
            <a:p>
              <a:pPr algn="ctr">
                <a:lnSpc>
                  <a:spcPts val="1889"/>
                </a:lnSpc>
              </a:pPr>
              <a:r>
                <a:rPr lang="en-US" sz="1575" b="true">
                  <a:solidFill>
                    <a:srgbClr val="FFFFFF"/>
                  </a:solidFill>
                  <a:latin typeface="DejaVu Sans Bold"/>
                  <a:ea typeface="DejaVu Sans Bold"/>
                  <a:cs typeface="DejaVu Sans Bold"/>
                  <a:sym typeface="DejaVu Sans Bold"/>
                </a:rPr>
                <a:t>Slide 11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Công cụ 1 – 2 – 4: Giảm chi phí đầu vào &amp; bù đắp lợi nhuận hợp pháp</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9525"/>
              <a:ext cx="22366224" cy="667893"/>
            </a:xfrm>
            <a:prstGeom prst="rect">
              <a:avLst/>
            </a:prstGeom>
          </p:spPr>
          <p:txBody>
            <a:bodyPr anchor="ctr" rtlCol="false" tIns="0" lIns="0" bIns="0" rIns="0"/>
            <a:lstStyle/>
            <a:p>
              <a:pPr algn="l">
                <a:lnSpc>
                  <a:spcPts val="1260"/>
                </a:lnSpc>
              </a:pPr>
              <a:r>
                <a:rPr lang="en-US" sz="1050" i="true">
                  <a:solidFill>
                    <a:srgbClr val="475569"/>
                  </a:solidFill>
                  <a:latin typeface="DejaVu Sans Bold Italics"/>
                  <a:ea typeface="DejaVu Sans Bold Italics"/>
                  <a:cs typeface="DejaVu Sans Bold Italics"/>
                  <a:sym typeface="DejaVu Sans Bold Italics"/>
                </a:rPr>
                <a:t>Nguồn pháp lý: Điều 85 Luật Nhà ở 2023; Luật Thuế GTGT 2024; Luật Thuế TNDN 2025.</a:t>
              </a:r>
            </a:p>
          </p:txBody>
        </p:sp>
      </p:grpSp>
      <p:grpSp>
        <p:nvGrpSpPr>
          <p:cNvPr name="Group 26" id="26"/>
          <p:cNvGrpSpPr/>
          <p:nvPr/>
        </p:nvGrpSpPr>
        <p:grpSpPr>
          <a:xfrm rot="0">
            <a:off x="754380" y="1975104"/>
            <a:ext cx="2221992" cy="2249424"/>
            <a:chOff x="0" y="0"/>
            <a:chExt cx="2962656" cy="2999232"/>
          </a:xfrm>
        </p:grpSpPr>
        <p:sp>
          <p:nvSpPr>
            <p:cNvPr name="Freeform 27" id="27"/>
            <p:cNvSpPr/>
            <p:nvPr/>
          </p:nvSpPr>
          <p:spPr>
            <a:xfrm flipH="false" flipV="false" rot="0">
              <a:off x="0" y="0"/>
              <a:ext cx="2962656" cy="2999232"/>
            </a:xfrm>
            <a:custGeom>
              <a:avLst/>
              <a:gdLst/>
              <a:ahLst/>
              <a:cxnLst/>
              <a:rect r="r" b="b" t="t" l="l"/>
              <a:pathLst>
                <a:path h="2999232" w="2962656">
                  <a:moveTo>
                    <a:pt x="0" y="118491"/>
                  </a:moveTo>
                  <a:cubicBezTo>
                    <a:pt x="0" y="53086"/>
                    <a:pt x="53086" y="0"/>
                    <a:pt x="118491" y="0"/>
                  </a:cubicBezTo>
                  <a:lnTo>
                    <a:pt x="2844165" y="0"/>
                  </a:lnTo>
                  <a:cubicBezTo>
                    <a:pt x="2909570" y="0"/>
                    <a:pt x="2962656" y="53086"/>
                    <a:pt x="2962656" y="118491"/>
                  </a:cubicBezTo>
                  <a:lnTo>
                    <a:pt x="2962656" y="2880741"/>
                  </a:lnTo>
                  <a:cubicBezTo>
                    <a:pt x="2962656" y="2946146"/>
                    <a:pt x="2909570" y="2999232"/>
                    <a:pt x="2844165" y="2999232"/>
                  </a:cubicBezTo>
                  <a:lnTo>
                    <a:pt x="118491" y="2999232"/>
                  </a:lnTo>
                  <a:cubicBezTo>
                    <a:pt x="53086" y="2999232"/>
                    <a:pt x="0" y="2946146"/>
                    <a:pt x="0" y="2880741"/>
                  </a:cubicBezTo>
                  <a:close/>
                </a:path>
              </a:pathLst>
            </a:custGeom>
            <a:solidFill>
              <a:srgbClr val="0F766E"/>
            </a:solidFill>
          </p:spPr>
          <p:txBody>
            <a:bodyPr/>
            <a:p/>
          </p:txBody>
        </p:sp>
      </p:grpSp>
      <p:grpSp>
        <p:nvGrpSpPr>
          <p:cNvPr name="Group 28" id="28"/>
          <p:cNvGrpSpPr/>
          <p:nvPr/>
        </p:nvGrpSpPr>
        <p:grpSpPr>
          <a:xfrm rot="0">
            <a:off x="754380" y="1975104"/>
            <a:ext cx="2221992" cy="2249424"/>
            <a:chOff x="0" y="0"/>
            <a:chExt cx="2962656" cy="2999232"/>
          </a:xfrm>
        </p:grpSpPr>
        <p:sp>
          <p:nvSpPr>
            <p:cNvPr name="Freeform 29" id="29"/>
            <p:cNvSpPr/>
            <p:nvPr/>
          </p:nvSpPr>
          <p:spPr>
            <a:xfrm flipH="false" flipV="false" rot="0">
              <a:off x="0" y="0"/>
              <a:ext cx="2962656" cy="2999232"/>
            </a:xfrm>
            <a:custGeom>
              <a:avLst/>
              <a:gdLst/>
              <a:ahLst/>
              <a:cxnLst/>
              <a:rect r="r" b="b" t="t" l="l"/>
              <a:pathLst>
                <a:path h="2999232" w="2962656">
                  <a:moveTo>
                    <a:pt x="0" y="0"/>
                  </a:moveTo>
                  <a:lnTo>
                    <a:pt x="2962656" y="0"/>
                  </a:lnTo>
                  <a:lnTo>
                    <a:pt x="2962656" y="2999232"/>
                  </a:lnTo>
                  <a:lnTo>
                    <a:pt x="0" y="2999232"/>
                  </a:lnTo>
                  <a:close/>
                </a:path>
              </a:pathLst>
            </a:custGeom>
            <a:blipFill>
              <a:blip r:embed="rId2">
                <a:alphaModFix amt="0"/>
              </a:blip>
              <a:stretch>
                <a:fillRect l="-79887" t="0" r="-79887" b="0"/>
              </a:stretch>
            </a:blipFill>
          </p:spPr>
          <p:txBody>
            <a:bodyPr/>
            <a:p/>
          </p:txBody>
        </p:sp>
        <p:sp>
          <p:nvSpPr>
            <p:cNvPr name="TextBox 30" id="30"/>
            <p:cNvSpPr txBox="true"/>
            <p:nvPr/>
          </p:nvSpPr>
          <p:spPr>
            <a:xfrm>
              <a:off x="0" y="-19050"/>
              <a:ext cx="2962656" cy="301828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MIỄN</a:t>
              </a:r>
            </a:p>
            <a:p>
              <a:pPr algn="ctr">
                <a:lnSpc>
                  <a:spcPts val="2700"/>
                </a:lnSpc>
              </a:pPr>
              <a:r>
                <a:rPr lang="en-US" sz="2250" b="true">
                  <a:solidFill>
                    <a:srgbClr val="FFFFFF"/>
                  </a:solidFill>
                  <a:latin typeface="DejaVu Sans Bold"/>
                  <a:ea typeface="DejaVu Sans Bold"/>
                  <a:cs typeface="DejaVu Sans Bold"/>
                  <a:sym typeface="DejaVu Sans Bold"/>
                </a:rPr>
                <a:t>TIỀN ĐẤT</a:t>
              </a:r>
            </a:p>
          </p:txBody>
        </p:sp>
      </p:grpSp>
      <p:grpSp>
        <p:nvGrpSpPr>
          <p:cNvPr name="Group 31" id="31"/>
          <p:cNvGrpSpPr/>
          <p:nvPr/>
        </p:nvGrpSpPr>
        <p:grpSpPr>
          <a:xfrm rot="0">
            <a:off x="3114866" y="1962722"/>
            <a:ext cx="7458837" cy="2274189"/>
            <a:chOff x="0" y="0"/>
            <a:chExt cx="9945116" cy="3032252"/>
          </a:xfrm>
        </p:grpSpPr>
        <p:sp>
          <p:nvSpPr>
            <p:cNvPr name="Freeform 32" id="32"/>
            <p:cNvSpPr/>
            <p:nvPr/>
          </p:nvSpPr>
          <p:spPr>
            <a:xfrm flipH="false" flipV="false" rot="0">
              <a:off x="0" y="0"/>
              <a:ext cx="9945116" cy="3032252"/>
            </a:xfrm>
            <a:custGeom>
              <a:avLst/>
              <a:gdLst/>
              <a:ahLst/>
              <a:cxnLst/>
              <a:rect r="r" b="b" t="t" l="l"/>
              <a:pathLst>
                <a:path h="3032252" w="9945116">
                  <a:moveTo>
                    <a:pt x="0" y="121285"/>
                  </a:moveTo>
                  <a:cubicBezTo>
                    <a:pt x="0" y="54356"/>
                    <a:pt x="54356" y="0"/>
                    <a:pt x="121285" y="0"/>
                  </a:cubicBezTo>
                  <a:lnTo>
                    <a:pt x="9823831" y="0"/>
                  </a:lnTo>
                  <a:cubicBezTo>
                    <a:pt x="9890761" y="0"/>
                    <a:pt x="9945116" y="54356"/>
                    <a:pt x="9945116" y="121285"/>
                  </a:cubicBezTo>
                  <a:lnTo>
                    <a:pt x="9945116" y="2910967"/>
                  </a:lnTo>
                  <a:cubicBezTo>
                    <a:pt x="9945116" y="2977896"/>
                    <a:pt x="9890761" y="3032252"/>
                    <a:pt x="9823831" y="3032252"/>
                  </a:cubicBezTo>
                  <a:lnTo>
                    <a:pt x="121285" y="3032252"/>
                  </a:lnTo>
                  <a:cubicBezTo>
                    <a:pt x="54356" y="3032252"/>
                    <a:pt x="0" y="2977896"/>
                    <a:pt x="0" y="2910967"/>
                  </a:cubicBezTo>
                  <a:close/>
                </a:path>
              </a:pathLst>
            </a:custGeom>
            <a:solidFill>
              <a:srgbClr val="FFFFFF"/>
            </a:solidFill>
            <a:ln w="24765" cap="sq">
              <a:solidFill>
                <a:srgbClr val="0F766E"/>
              </a:solidFill>
              <a:prstDash val="solid"/>
              <a:miter/>
            </a:ln>
          </p:spPr>
          <p:txBody>
            <a:bodyPr/>
            <a:p/>
          </p:txBody>
        </p:sp>
      </p:grpSp>
      <p:grpSp>
        <p:nvGrpSpPr>
          <p:cNvPr name="Group 33" id="33"/>
          <p:cNvGrpSpPr/>
          <p:nvPr/>
        </p:nvGrpSpPr>
        <p:grpSpPr>
          <a:xfrm rot="0">
            <a:off x="3346704" y="2057400"/>
            <a:ext cx="7022592" cy="2084832"/>
            <a:chOff x="0" y="0"/>
            <a:chExt cx="9363456" cy="2779776"/>
          </a:xfrm>
        </p:grpSpPr>
        <p:sp>
          <p:nvSpPr>
            <p:cNvPr name="Freeform 34" id="34"/>
            <p:cNvSpPr/>
            <p:nvPr/>
          </p:nvSpPr>
          <p:spPr>
            <a:xfrm flipH="false" flipV="false" rot="0">
              <a:off x="0" y="0"/>
              <a:ext cx="9363456" cy="2779776"/>
            </a:xfrm>
            <a:custGeom>
              <a:avLst/>
              <a:gdLst/>
              <a:ahLst/>
              <a:cxnLst/>
              <a:rect r="r" b="b" t="t" l="l"/>
              <a:pathLst>
                <a:path h="2779776" w="9363456">
                  <a:moveTo>
                    <a:pt x="0" y="0"/>
                  </a:moveTo>
                  <a:lnTo>
                    <a:pt x="9363456" y="0"/>
                  </a:lnTo>
                  <a:lnTo>
                    <a:pt x="9363456" y="2779776"/>
                  </a:lnTo>
                  <a:lnTo>
                    <a:pt x="0" y="2779776"/>
                  </a:lnTo>
                  <a:close/>
                </a:path>
              </a:pathLst>
            </a:custGeom>
            <a:blipFill>
              <a:blip r:embed="rId2">
                <a:alphaModFix amt="0"/>
              </a:blip>
              <a:stretch>
                <a:fillRect l="0" t="-15633" r="0" b="-15633"/>
              </a:stretch>
            </a:blipFill>
          </p:spPr>
          <p:txBody>
            <a:bodyPr/>
            <a:p/>
          </p:txBody>
        </p:sp>
        <p:sp>
          <p:nvSpPr>
            <p:cNvPr name="TextBox 35" id="35"/>
            <p:cNvSpPr txBox="true"/>
            <p:nvPr/>
          </p:nvSpPr>
          <p:spPr>
            <a:xfrm>
              <a:off x="0" y="-19050"/>
              <a:ext cx="9363456" cy="2798826"/>
            </a:xfrm>
            <a:prstGeom prst="rect">
              <a:avLst/>
            </a:prstGeom>
          </p:spPr>
          <p:txBody>
            <a:bodyPr anchor="ctr" rtlCol="false" tIns="0" lIns="0" bIns="0" rIns="0"/>
            <a:lstStyle/>
            <a:p>
              <a:pPr algn="l">
                <a:lnSpc>
                  <a:spcPts val="2520"/>
                </a:lnSpc>
              </a:pPr>
              <a:r>
                <a:rPr lang="en-US" sz="2100" b="true">
                  <a:solidFill>
                    <a:srgbClr val="0F766E"/>
                  </a:solidFill>
                  <a:latin typeface="DejaVu Sans Bold"/>
                  <a:ea typeface="DejaVu Sans Bold"/>
                  <a:cs typeface="DejaVu Sans Bold"/>
                  <a:sym typeface="DejaVu Sans Bold"/>
                </a:rPr>
                <a:t>1. Đất đai &amp; Hạ tầng (Điều 85 Luật Nhà ở 2023)</a:t>
              </a:r>
            </a:p>
            <a:p>
              <a:pPr algn="l">
                <a:lnSpc>
                  <a:spcPts val="2520"/>
                </a:lnSpc>
              </a:pPr>
              <a:r>
                <a:rPr lang="en-US" sz="2100">
                  <a:solidFill>
                    <a:srgbClr val="1E293B"/>
                  </a:solidFill>
                  <a:latin typeface="DejaVu Sans Light"/>
                  <a:ea typeface="DejaVu Sans Light"/>
                  <a:cs typeface="DejaVu Sans Light"/>
                  <a:sym typeface="DejaVu Sans Light"/>
                </a:rPr>
                <a:t>Miễn tiền sử dụng đất, tiền thuê đất (không phải làm thủ tục tính giá đất); chủ đầu tư có thể được hỗ trợ kết nối hạ tầng kỹ thuật theo quy định và điều kiện cụ thể.</a:t>
              </a:r>
            </a:p>
          </p:txBody>
        </p:sp>
      </p:grpSp>
      <p:grpSp>
        <p:nvGrpSpPr>
          <p:cNvPr name="Group 36" id="36"/>
          <p:cNvGrpSpPr/>
          <p:nvPr/>
        </p:nvGrpSpPr>
        <p:grpSpPr>
          <a:xfrm rot="0">
            <a:off x="754380" y="4498848"/>
            <a:ext cx="2221992" cy="2249424"/>
            <a:chOff x="0" y="0"/>
            <a:chExt cx="2962656" cy="2999232"/>
          </a:xfrm>
        </p:grpSpPr>
        <p:sp>
          <p:nvSpPr>
            <p:cNvPr name="Freeform 37" id="37"/>
            <p:cNvSpPr/>
            <p:nvPr/>
          </p:nvSpPr>
          <p:spPr>
            <a:xfrm flipH="false" flipV="false" rot="0">
              <a:off x="0" y="0"/>
              <a:ext cx="2962656" cy="2999232"/>
            </a:xfrm>
            <a:custGeom>
              <a:avLst/>
              <a:gdLst/>
              <a:ahLst/>
              <a:cxnLst/>
              <a:rect r="r" b="b" t="t" l="l"/>
              <a:pathLst>
                <a:path h="2999232" w="2962656">
                  <a:moveTo>
                    <a:pt x="0" y="118491"/>
                  </a:moveTo>
                  <a:cubicBezTo>
                    <a:pt x="0" y="53086"/>
                    <a:pt x="53086" y="0"/>
                    <a:pt x="118491" y="0"/>
                  </a:cubicBezTo>
                  <a:lnTo>
                    <a:pt x="2844165" y="0"/>
                  </a:lnTo>
                  <a:cubicBezTo>
                    <a:pt x="2909570" y="0"/>
                    <a:pt x="2962656" y="53086"/>
                    <a:pt x="2962656" y="118491"/>
                  </a:cubicBezTo>
                  <a:lnTo>
                    <a:pt x="2962656" y="2880741"/>
                  </a:lnTo>
                  <a:cubicBezTo>
                    <a:pt x="2962656" y="2946146"/>
                    <a:pt x="2909570" y="2999232"/>
                    <a:pt x="2844165" y="2999232"/>
                  </a:cubicBezTo>
                  <a:lnTo>
                    <a:pt x="118491" y="2999232"/>
                  </a:lnTo>
                  <a:cubicBezTo>
                    <a:pt x="53086" y="2999232"/>
                    <a:pt x="0" y="2946146"/>
                    <a:pt x="0" y="2880741"/>
                  </a:cubicBezTo>
                  <a:close/>
                </a:path>
              </a:pathLst>
            </a:custGeom>
            <a:solidFill>
              <a:srgbClr val="0369A1"/>
            </a:solidFill>
          </p:spPr>
          <p:txBody>
            <a:bodyPr/>
            <a:p/>
          </p:txBody>
        </p:sp>
      </p:grpSp>
      <p:grpSp>
        <p:nvGrpSpPr>
          <p:cNvPr name="Group 38" id="38"/>
          <p:cNvGrpSpPr/>
          <p:nvPr/>
        </p:nvGrpSpPr>
        <p:grpSpPr>
          <a:xfrm rot="0">
            <a:off x="754380" y="4498848"/>
            <a:ext cx="2221992" cy="2249424"/>
            <a:chOff x="0" y="0"/>
            <a:chExt cx="2962656" cy="2999232"/>
          </a:xfrm>
        </p:grpSpPr>
        <p:sp>
          <p:nvSpPr>
            <p:cNvPr name="Freeform 39" id="39"/>
            <p:cNvSpPr/>
            <p:nvPr/>
          </p:nvSpPr>
          <p:spPr>
            <a:xfrm flipH="false" flipV="false" rot="0">
              <a:off x="0" y="0"/>
              <a:ext cx="2962656" cy="2999232"/>
            </a:xfrm>
            <a:custGeom>
              <a:avLst/>
              <a:gdLst/>
              <a:ahLst/>
              <a:cxnLst/>
              <a:rect r="r" b="b" t="t" l="l"/>
              <a:pathLst>
                <a:path h="2999232" w="2962656">
                  <a:moveTo>
                    <a:pt x="0" y="0"/>
                  </a:moveTo>
                  <a:lnTo>
                    <a:pt x="2962656" y="0"/>
                  </a:lnTo>
                  <a:lnTo>
                    <a:pt x="2962656" y="2999232"/>
                  </a:lnTo>
                  <a:lnTo>
                    <a:pt x="0" y="2999232"/>
                  </a:lnTo>
                  <a:close/>
                </a:path>
              </a:pathLst>
            </a:custGeom>
            <a:blipFill>
              <a:blip r:embed="rId2">
                <a:alphaModFix amt="0"/>
              </a:blip>
              <a:stretch>
                <a:fillRect l="-79887" t="0" r="-79887" b="0"/>
              </a:stretch>
            </a:blipFill>
          </p:spPr>
          <p:txBody>
            <a:bodyPr/>
            <a:p/>
          </p:txBody>
        </p:sp>
        <p:sp>
          <p:nvSpPr>
            <p:cNvPr name="TextBox 40" id="40"/>
            <p:cNvSpPr txBox="true"/>
            <p:nvPr/>
          </p:nvSpPr>
          <p:spPr>
            <a:xfrm>
              <a:off x="0" y="-19050"/>
              <a:ext cx="2962656" cy="301828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5% GTGT</a:t>
              </a:r>
            </a:p>
            <a:p>
              <a:pPr algn="ctr">
                <a:lnSpc>
                  <a:spcPts val="2700"/>
                </a:lnSpc>
              </a:pPr>
              <a:r>
                <a:rPr lang="en-US" sz="2250" b="true">
                  <a:solidFill>
                    <a:srgbClr val="FFFFFF"/>
                  </a:solidFill>
                  <a:latin typeface="DejaVu Sans Bold"/>
                  <a:ea typeface="DejaVu Sans Bold"/>
                  <a:cs typeface="DejaVu Sans Bold"/>
                  <a:sym typeface="DejaVu Sans Bold"/>
                </a:rPr>
                <a:t>10% TNDN</a:t>
              </a:r>
            </a:p>
          </p:txBody>
        </p:sp>
      </p:grpSp>
      <p:grpSp>
        <p:nvGrpSpPr>
          <p:cNvPr name="Group 41" id="41"/>
          <p:cNvGrpSpPr/>
          <p:nvPr/>
        </p:nvGrpSpPr>
        <p:grpSpPr>
          <a:xfrm rot="0">
            <a:off x="3114866" y="4486466"/>
            <a:ext cx="7458837" cy="2274189"/>
            <a:chOff x="0" y="0"/>
            <a:chExt cx="9945116" cy="3032252"/>
          </a:xfrm>
        </p:grpSpPr>
        <p:sp>
          <p:nvSpPr>
            <p:cNvPr name="Freeform 42" id="42"/>
            <p:cNvSpPr/>
            <p:nvPr/>
          </p:nvSpPr>
          <p:spPr>
            <a:xfrm flipH="false" flipV="false" rot="0">
              <a:off x="0" y="0"/>
              <a:ext cx="9945116" cy="3032252"/>
            </a:xfrm>
            <a:custGeom>
              <a:avLst/>
              <a:gdLst/>
              <a:ahLst/>
              <a:cxnLst/>
              <a:rect r="r" b="b" t="t" l="l"/>
              <a:pathLst>
                <a:path h="3032252" w="9945116">
                  <a:moveTo>
                    <a:pt x="0" y="121285"/>
                  </a:moveTo>
                  <a:cubicBezTo>
                    <a:pt x="0" y="54356"/>
                    <a:pt x="54356" y="0"/>
                    <a:pt x="121285" y="0"/>
                  </a:cubicBezTo>
                  <a:lnTo>
                    <a:pt x="9823831" y="0"/>
                  </a:lnTo>
                  <a:cubicBezTo>
                    <a:pt x="9890761" y="0"/>
                    <a:pt x="9945116" y="54356"/>
                    <a:pt x="9945116" y="121285"/>
                  </a:cubicBezTo>
                  <a:lnTo>
                    <a:pt x="9945116" y="2910967"/>
                  </a:lnTo>
                  <a:cubicBezTo>
                    <a:pt x="9945116" y="2977896"/>
                    <a:pt x="9890761" y="3032252"/>
                    <a:pt x="9823831" y="3032252"/>
                  </a:cubicBezTo>
                  <a:lnTo>
                    <a:pt x="121285" y="3032252"/>
                  </a:lnTo>
                  <a:cubicBezTo>
                    <a:pt x="54356" y="3032252"/>
                    <a:pt x="0" y="2977896"/>
                    <a:pt x="0" y="2910967"/>
                  </a:cubicBezTo>
                  <a:close/>
                </a:path>
              </a:pathLst>
            </a:custGeom>
            <a:solidFill>
              <a:srgbClr val="FFFFFF"/>
            </a:solidFill>
            <a:ln w="24765" cap="sq">
              <a:solidFill>
                <a:srgbClr val="0369A1"/>
              </a:solidFill>
              <a:prstDash val="solid"/>
              <a:miter/>
            </a:ln>
          </p:spPr>
          <p:txBody>
            <a:bodyPr/>
            <a:p/>
          </p:txBody>
        </p:sp>
      </p:grpSp>
      <p:grpSp>
        <p:nvGrpSpPr>
          <p:cNvPr name="Group 43" id="43"/>
          <p:cNvGrpSpPr/>
          <p:nvPr/>
        </p:nvGrpSpPr>
        <p:grpSpPr>
          <a:xfrm rot="0">
            <a:off x="3346704" y="4581144"/>
            <a:ext cx="7022592" cy="2084832"/>
            <a:chOff x="0" y="0"/>
            <a:chExt cx="9363456" cy="2779776"/>
          </a:xfrm>
        </p:grpSpPr>
        <p:sp>
          <p:nvSpPr>
            <p:cNvPr name="Freeform 44" id="44"/>
            <p:cNvSpPr/>
            <p:nvPr/>
          </p:nvSpPr>
          <p:spPr>
            <a:xfrm flipH="false" flipV="false" rot="0">
              <a:off x="0" y="0"/>
              <a:ext cx="9363456" cy="2779776"/>
            </a:xfrm>
            <a:custGeom>
              <a:avLst/>
              <a:gdLst/>
              <a:ahLst/>
              <a:cxnLst/>
              <a:rect r="r" b="b" t="t" l="l"/>
              <a:pathLst>
                <a:path h="2779776" w="9363456">
                  <a:moveTo>
                    <a:pt x="0" y="0"/>
                  </a:moveTo>
                  <a:lnTo>
                    <a:pt x="9363456" y="0"/>
                  </a:lnTo>
                  <a:lnTo>
                    <a:pt x="9363456" y="2779776"/>
                  </a:lnTo>
                  <a:lnTo>
                    <a:pt x="0" y="2779776"/>
                  </a:lnTo>
                  <a:close/>
                </a:path>
              </a:pathLst>
            </a:custGeom>
            <a:blipFill>
              <a:blip r:embed="rId2">
                <a:alphaModFix amt="0"/>
              </a:blip>
              <a:stretch>
                <a:fillRect l="0" t="-15633" r="0" b="-15633"/>
              </a:stretch>
            </a:blipFill>
          </p:spPr>
          <p:txBody>
            <a:bodyPr/>
            <a:p/>
          </p:txBody>
        </p:sp>
        <p:sp>
          <p:nvSpPr>
            <p:cNvPr name="TextBox 45" id="45"/>
            <p:cNvSpPr txBox="true"/>
            <p:nvPr/>
          </p:nvSpPr>
          <p:spPr>
            <a:xfrm>
              <a:off x="0" y="-19050"/>
              <a:ext cx="9363456" cy="2798826"/>
            </a:xfrm>
            <a:prstGeom prst="rect">
              <a:avLst/>
            </a:prstGeom>
          </p:spPr>
          <p:txBody>
            <a:bodyPr anchor="ctr" rtlCol="false" tIns="0" lIns="0" bIns="0" rIns="0"/>
            <a:lstStyle/>
            <a:p>
              <a:pPr algn="l">
                <a:lnSpc>
                  <a:spcPts val="2520"/>
                </a:lnSpc>
              </a:pPr>
              <a:r>
                <a:rPr lang="en-US" sz="2100" b="true">
                  <a:solidFill>
                    <a:srgbClr val="0369A1"/>
                  </a:solidFill>
                  <a:latin typeface="DejaVu Sans Bold"/>
                  <a:ea typeface="DejaVu Sans Bold"/>
                  <a:cs typeface="DejaVu Sans Bold"/>
                  <a:sym typeface="DejaVu Sans Bold"/>
                </a:rPr>
                <a:t>2. Ưu đãi Thuế đúng phạm vi (Luật Thuế 2024 – 2025)</a:t>
              </a:r>
            </a:p>
            <a:p>
              <a:pPr algn="l">
                <a:lnSpc>
                  <a:spcPts val="3074"/>
                </a:lnSpc>
              </a:pPr>
              <a:r>
                <a:rPr lang="en-US" sz="2100">
                  <a:solidFill>
                    <a:srgbClr val="1E293B"/>
                  </a:solidFill>
                  <a:latin typeface="DejaVu Sans Light"/>
                  <a:ea typeface="DejaVu Sans Light"/>
                  <a:cs typeface="DejaVu Sans Light"/>
                  <a:sym typeface="DejaVu Sans Light"/>
                </a:rPr>
                <a:t>Áp thuế GTGT 5% đối với bán, cho thuê, cho thuê mua NOXH; áp thuế suất TNDN ưu đãi 10% đối với phần thu nhập từ đầu tư NOXH đủ điều kiện.</a:t>
              </a:r>
            </a:p>
          </p:txBody>
        </p:sp>
      </p:grpSp>
      <p:grpSp>
        <p:nvGrpSpPr>
          <p:cNvPr name="Group 46" id="46"/>
          <p:cNvGrpSpPr/>
          <p:nvPr/>
        </p:nvGrpSpPr>
        <p:grpSpPr>
          <a:xfrm rot="0">
            <a:off x="754380" y="7022592"/>
            <a:ext cx="2221992" cy="2249424"/>
            <a:chOff x="0" y="0"/>
            <a:chExt cx="2962656" cy="2999232"/>
          </a:xfrm>
        </p:grpSpPr>
        <p:sp>
          <p:nvSpPr>
            <p:cNvPr name="Freeform 47" id="47"/>
            <p:cNvSpPr/>
            <p:nvPr/>
          </p:nvSpPr>
          <p:spPr>
            <a:xfrm flipH="false" flipV="false" rot="0">
              <a:off x="0" y="0"/>
              <a:ext cx="2962656" cy="2999232"/>
            </a:xfrm>
            <a:custGeom>
              <a:avLst/>
              <a:gdLst/>
              <a:ahLst/>
              <a:cxnLst/>
              <a:rect r="r" b="b" t="t" l="l"/>
              <a:pathLst>
                <a:path h="2999232" w="2962656">
                  <a:moveTo>
                    <a:pt x="0" y="118491"/>
                  </a:moveTo>
                  <a:cubicBezTo>
                    <a:pt x="0" y="53086"/>
                    <a:pt x="53086" y="0"/>
                    <a:pt x="118491" y="0"/>
                  </a:cubicBezTo>
                  <a:lnTo>
                    <a:pt x="2844165" y="0"/>
                  </a:lnTo>
                  <a:cubicBezTo>
                    <a:pt x="2909570" y="0"/>
                    <a:pt x="2962656" y="53086"/>
                    <a:pt x="2962656" y="118491"/>
                  </a:cubicBezTo>
                  <a:lnTo>
                    <a:pt x="2962656" y="2880741"/>
                  </a:lnTo>
                  <a:cubicBezTo>
                    <a:pt x="2962656" y="2946146"/>
                    <a:pt x="2909570" y="2999232"/>
                    <a:pt x="2844165" y="2999232"/>
                  </a:cubicBezTo>
                  <a:lnTo>
                    <a:pt x="118491" y="2999232"/>
                  </a:lnTo>
                  <a:cubicBezTo>
                    <a:pt x="53086" y="2999232"/>
                    <a:pt x="0" y="2946146"/>
                    <a:pt x="0" y="2880741"/>
                  </a:cubicBezTo>
                  <a:close/>
                </a:path>
              </a:pathLst>
            </a:custGeom>
            <a:solidFill>
              <a:srgbClr val="C25915"/>
            </a:solidFill>
          </p:spPr>
          <p:txBody>
            <a:bodyPr/>
            <a:p/>
          </p:txBody>
        </p:sp>
      </p:grpSp>
      <p:grpSp>
        <p:nvGrpSpPr>
          <p:cNvPr name="Group 48" id="48"/>
          <p:cNvGrpSpPr/>
          <p:nvPr/>
        </p:nvGrpSpPr>
        <p:grpSpPr>
          <a:xfrm rot="0">
            <a:off x="754380" y="7022592"/>
            <a:ext cx="2221992" cy="2249424"/>
            <a:chOff x="0" y="0"/>
            <a:chExt cx="2962656" cy="2999232"/>
          </a:xfrm>
        </p:grpSpPr>
        <p:sp>
          <p:nvSpPr>
            <p:cNvPr name="Freeform 49" id="49"/>
            <p:cNvSpPr/>
            <p:nvPr/>
          </p:nvSpPr>
          <p:spPr>
            <a:xfrm flipH="false" flipV="false" rot="0">
              <a:off x="0" y="0"/>
              <a:ext cx="2962656" cy="2999232"/>
            </a:xfrm>
            <a:custGeom>
              <a:avLst/>
              <a:gdLst/>
              <a:ahLst/>
              <a:cxnLst/>
              <a:rect r="r" b="b" t="t" l="l"/>
              <a:pathLst>
                <a:path h="2999232" w="2962656">
                  <a:moveTo>
                    <a:pt x="0" y="0"/>
                  </a:moveTo>
                  <a:lnTo>
                    <a:pt x="2962656" y="0"/>
                  </a:lnTo>
                  <a:lnTo>
                    <a:pt x="2962656" y="2999232"/>
                  </a:lnTo>
                  <a:lnTo>
                    <a:pt x="0" y="2999232"/>
                  </a:lnTo>
                  <a:close/>
                </a:path>
              </a:pathLst>
            </a:custGeom>
            <a:blipFill>
              <a:blip r:embed="rId2">
                <a:alphaModFix amt="0"/>
              </a:blip>
              <a:stretch>
                <a:fillRect l="-79887" t="0" r="-79887" b="0"/>
              </a:stretch>
            </a:blipFill>
          </p:spPr>
          <p:txBody>
            <a:bodyPr/>
            <a:p/>
          </p:txBody>
        </p:sp>
        <p:sp>
          <p:nvSpPr>
            <p:cNvPr name="TextBox 50" id="50"/>
            <p:cNvSpPr txBox="true"/>
            <p:nvPr/>
          </p:nvSpPr>
          <p:spPr>
            <a:xfrm>
              <a:off x="0" y="-19050"/>
              <a:ext cx="2962656" cy="301828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LÃI ≤10%</a:t>
              </a:r>
            </a:p>
            <a:p>
              <a:pPr algn="ctr">
                <a:lnSpc>
                  <a:spcPts val="2700"/>
                </a:lnSpc>
              </a:pPr>
              <a:r>
                <a:rPr lang="en-US" sz="2250" b="true">
                  <a:solidFill>
                    <a:srgbClr val="FFFFFF"/>
                  </a:solidFill>
                  <a:latin typeface="DejaVu Sans Bold"/>
                  <a:ea typeface="DejaVu Sans Bold"/>
                  <a:cs typeface="DejaVu Sans Bold"/>
                  <a:sym typeface="DejaVu Sans Bold"/>
                </a:rPr>
                <a:t>&amp; 20% TM</a:t>
              </a:r>
            </a:p>
          </p:txBody>
        </p:sp>
      </p:grpSp>
      <p:grpSp>
        <p:nvGrpSpPr>
          <p:cNvPr name="Group 51" id="51"/>
          <p:cNvGrpSpPr/>
          <p:nvPr/>
        </p:nvGrpSpPr>
        <p:grpSpPr>
          <a:xfrm rot="0">
            <a:off x="3114866" y="7010210"/>
            <a:ext cx="7458837" cy="2274189"/>
            <a:chOff x="0" y="0"/>
            <a:chExt cx="9945116" cy="3032252"/>
          </a:xfrm>
        </p:grpSpPr>
        <p:sp>
          <p:nvSpPr>
            <p:cNvPr name="Freeform 52" id="52"/>
            <p:cNvSpPr/>
            <p:nvPr/>
          </p:nvSpPr>
          <p:spPr>
            <a:xfrm flipH="false" flipV="false" rot="0">
              <a:off x="0" y="0"/>
              <a:ext cx="9945116" cy="3032252"/>
            </a:xfrm>
            <a:custGeom>
              <a:avLst/>
              <a:gdLst/>
              <a:ahLst/>
              <a:cxnLst/>
              <a:rect r="r" b="b" t="t" l="l"/>
              <a:pathLst>
                <a:path h="3032252" w="9945116">
                  <a:moveTo>
                    <a:pt x="0" y="121285"/>
                  </a:moveTo>
                  <a:cubicBezTo>
                    <a:pt x="0" y="54356"/>
                    <a:pt x="54356" y="0"/>
                    <a:pt x="121285" y="0"/>
                  </a:cubicBezTo>
                  <a:lnTo>
                    <a:pt x="9823831" y="0"/>
                  </a:lnTo>
                  <a:cubicBezTo>
                    <a:pt x="9890761" y="0"/>
                    <a:pt x="9945116" y="54356"/>
                    <a:pt x="9945116" y="121285"/>
                  </a:cubicBezTo>
                  <a:lnTo>
                    <a:pt x="9945116" y="2910967"/>
                  </a:lnTo>
                  <a:cubicBezTo>
                    <a:pt x="9945116" y="2977896"/>
                    <a:pt x="9890761" y="3032252"/>
                    <a:pt x="9823831" y="3032252"/>
                  </a:cubicBezTo>
                  <a:lnTo>
                    <a:pt x="121285" y="3032252"/>
                  </a:lnTo>
                  <a:cubicBezTo>
                    <a:pt x="54356" y="3032252"/>
                    <a:pt x="0" y="2977896"/>
                    <a:pt x="0" y="2910967"/>
                  </a:cubicBezTo>
                  <a:close/>
                </a:path>
              </a:pathLst>
            </a:custGeom>
            <a:solidFill>
              <a:srgbClr val="FFFFFF"/>
            </a:solidFill>
            <a:ln w="24765" cap="sq">
              <a:solidFill>
                <a:srgbClr val="C25915"/>
              </a:solidFill>
              <a:prstDash val="solid"/>
              <a:miter/>
            </a:ln>
          </p:spPr>
          <p:txBody>
            <a:bodyPr/>
            <a:p/>
          </p:txBody>
        </p:sp>
      </p:grpSp>
      <p:grpSp>
        <p:nvGrpSpPr>
          <p:cNvPr name="Group 53" id="53"/>
          <p:cNvGrpSpPr/>
          <p:nvPr/>
        </p:nvGrpSpPr>
        <p:grpSpPr>
          <a:xfrm rot="0">
            <a:off x="3346704" y="7104888"/>
            <a:ext cx="7022592" cy="2084832"/>
            <a:chOff x="0" y="0"/>
            <a:chExt cx="9363456" cy="2779776"/>
          </a:xfrm>
        </p:grpSpPr>
        <p:sp>
          <p:nvSpPr>
            <p:cNvPr name="Freeform 54" id="54"/>
            <p:cNvSpPr/>
            <p:nvPr/>
          </p:nvSpPr>
          <p:spPr>
            <a:xfrm flipH="false" flipV="false" rot="0">
              <a:off x="0" y="0"/>
              <a:ext cx="9363456" cy="2779776"/>
            </a:xfrm>
            <a:custGeom>
              <a:avLst/>
              <a:gdLst/>
              <a:ahLst/>
              <a:cxnLst/>
              <a:rect r="r" b="b" t="t" l="l"/>
              <a:pathLst>
                <a:path h="2779776" w="9363456">
                  <a:moveTo>
                    <a:pt x="0" y="0"/>
                  </a:moveTo>
                  <a:lnTo>
                    <a:pt x="9363456" y="0"/>
                  </a:lnTo>
                  <a:lnTo>
                    <a:pt x="9363456" y="2779776"/>
                  </a:lnTo>
                  <a:lnTo>
                    <a:pt x="0" y="2779776"/>
                  </a:lnTo>
                  <a:close/>
                </a:path>
              </a:pathLst>
            </a:custGeom>
            <a:blipFill>
              <a:blip r:embed="rId2">
                <a:alphaModFix amt="0"/>
              </a:blip>
              <a:stretch>
                <a:fillRect l="0" t="-15633" r="0" b="-15633"/>
              </a:stretch>
            </a:blipFill>
          </p:spPr>
          <p:txBody>
            <a:bodyPr/>
            <a:p/>
          </p:txBody>
        </p:sp>
        <p:sp>
          <p:nvSpPr>
            <p:cNvPr name="TextBox 55" id="55"/>
            <p:cNvSpPr txBox="true"/>
            <p:nvPr/>
          </p:nvSpPr>
          <p:spPr>
            <a:xfrm>
              <a:off x="0" y="-19050"/>
              <a:ext cx="9363456" cy="2798826"/>
            </a:xfrm>
            <a:prstGeom prst="rect">
              <a:avLst/>
            </a:prstGeom>
          </p:spPr>
          <p:txBody>
            <a:bodyPr anchor="ctr" rtlCol="false" tIns="0" lIns="0" bIns="0" rIns="0"/>
            <a:lstStyle/>
            <a:p>
              <a:pPr algn="l">
                <a:lnSpc>
                  <a:spcPts val="2520"/>
                </a:lnSpc>
              </a:pPr>
              <a:r>
                <a:rPr lang="en-US" sz="2100" b="true">
                  <a:solidFill>
                    <a:srgbClr val="C25915"/>
                  </a:solidFill>
                  <a:latin typeface="DejaVu Sans Bold"/>
                  <a:ea typeface="DejaVu Sans Bold"/>
                  <a:cs typeface="DejaVu Sans Bold"/>
                  <a:sym typeface="DejaVu Sans Bold"/>
                </a:rPr>
                <a:t>4. Trần lợi nhuận NOXH &amp; Bù đắp thương mại theo luật</a:t>
              </a:r>
            </a:p>
            <a:p>
              <a:pPr algn="l">
                <a:lnSpc>
                  <a:spcPts val="2520"/>
                </a:lnSpc>
              </a:pPr>
              <a:r>
                <a:rPr lang="en-US" sz="2100">
                  <a:solidFill>
                    <a:srgbClr val="1E293B"/>
                  </a:solidFill>
                  <a:latin typeface="DejaVu Sans Light"/>
                  <a:ea typeface="DejaVu Sans Light"/>
                  <a:cs typeface="DejaVu Sans Light"/>
                  <a:sym typeface="DejaVu Sans Light"/>
                </a:rPr>
                <a:t>Áp trần lợi nhuận định mức tối đa 10% cho phần diện tích xây dựng NOXH; cho phép bố trí tối đa 20% diện tích đất/sàn kinh doanh dịch vụ, thương mại theo phương án luật định.</a:t>
              </a:r>
            </a:p>
          </p:txBody>
        </p:sp>
      </p:grpSp>
      <p:grpSp>
        <p:nvGrpSpPr>
          <p:cNvPr name="Group 56" id="56"/>
          <p:cNvGrpSpPr/>
          <p:nvPr/>
        </p:nvGrpSpPr>
        <p:grpSpPr>
          <a:xfrm rot="0">
            <a:off x="10906506" y="1881378"/>
            <a:ext cx="6633972" cy="7511796"/>
            <a:chOff x="0" y="0"/>
            <a:chExt cx="8845296" cy="10015728"/>
          </a:xfrm>
        </p:grpSpPr>
        <p:sp>
          <p:nvSpPr>
            <p:cNvPr name="Freeform 57" id="57"/>
            <p:cNvSpPr/>
            <p:nvPr/>
          </p:nvSpPr>
          <p:spPr>
            <a:xfrm flipH="false" flipV="false" rot="0">
              <a:off x="0" y="0"/>
              <a:ext cx="8845296" cy="10015728"/>
            </a:xfrm>
            <a:custGeom>
              <a:avLst/>
              <a:gdLst/>
              <a:ahLst/>
              <a:cxnLst/>
              <a:rect r="r" b="b" t="t" l="l"/>
              <a:pathLst>
                <a:path h="10015728" w="8845296">
                  <a:moveTo>
                    <a:pt x="0" y="353822"/>
                  </a:moveTo>
                  <a:cubicBezTo>
                    <a:pt x="0" y="158369"/>
                    <a:pt x="158369" y="0"/>
                    <a:pt x="353822" y="0"/>
                  </a:cubicBezTo>
                  <a:lnTo>
                    <a:pt x="8491474" y="0"/>
                  </a:lnTo>
                  <a:cubicBezTo>
                    <a:pt x="8686927" y="0"/>
                    <a:pt x="8845296" y="158369"/>
                    <a:pt x="8845296" y="353822"/>
                  </a:cubicBezTo>
                  <a:lnTo>
                    <a:pt x="8845296" y="9661906"/>
                  </a:lnTo>
                  <a:cubicBezTo>
                    <a:pt x="8845296" y="9857360"/>
                    <a:pt x="8686927" y="10015728"/>
                    <a:pt x="8491474" y="10015728"/>
                  </a:cubicBezTo>
                  <a:lnTo>
                    <a:pt x="353822" y="10015728"/>
                  </a:lnTo>
                  <a:cubicBezTo>
                    <a:pt x="158369" y="10015728"/>
                    <a:pt x="0" y="9857359"/>
                    <a:pt x="0" y="9661906"/>
                  </a:cubicBezTo>
                  <a:close/>
                </a:path>
              </a:pathLst>
            </a:custGeom>
            <a:solidFill>
              <a:srgbClr val="FFFFFF"/>
            </a:solidFill>
            <a:ln w="22860" cap="sq">
              <a:solidFill>
                <a:srgbClr val="CBD5E1"/>
              </a:solidFill>
              <a:prstDash val="solid"/>
              <a:miter/>
            </a:ln>
          </p:spPr>
          <p:txBody>
            <a:bodyPr/>
            <a:p/>
          </p:txBody>
        </p:sp>
      </p:grpSp>
      <p:grpSp>
        <p:nvGrpSpPr>
          <p:cNvPr name="Group 58" id="58"/>
          <p:cNvGrpSpPr/>
          <p:nvPr/>
        </p:nvGrpSpPr>
        <p:grpSpPr>
          <a:xfrm rot="0">
            <a:off x="11000232" y="1975104"/>
            <a:ext cx="6446520" cy="6748272"/>
            <a:chOff x="0" y="0"/>
            <a:chExt cx="8595360" cy="8997696"/>
          </a:xfrm>
        </p:grpSpPr>
        <p:sp>
          <p:nvSpPr>
            <p:cNvPr name="Freeform 59" id="59" descr="image9.jpg"/>
            <p:cNvSpPr/>
            <p:nvPr/>
          </p:nvSpPr>
          <p:spPr>
            <a:xfrm flipH="false" flipV="false" rot="0">
              <a:off x="0" y="0"/>
              <a:ext cx="8595360" cy="8997696"/>
            </a:xfrm>
            <a:custGeom>
              <a:avLst/>
              <a:gdLst/>
              <a:ahLst/>
              <a:cxnLst/>
              <a:rect r="r" b="b" t="t" l="l"/>
              <a:pathLst>
                <a:path h="8997696" w="8595360">
                  <a:moveTo>
                    <a:pt x="0" y="0"/>
                  </a:moveTo>
                  <a:lnTo>
                    <a:pt x="8595360" y="0"/>
                  </a:lnTo>
                  <a:lnTo>
                    <a:pt x="8595360" y="8997696"/>
                  </a:lnTo>
                  <a:lnTo>
                    <a:pt x="0" y="8997696"/>
                  </a:lnTo>
                  <a:lnTo>
                    <a:pt x="0" y="0"/>
                  </a:lnTo>
                  <a:close/>
                </a:path>
              </a:pathLst>
            </a:custGeom>
            <a:blipFill>
              <a:blip r:embed="rId3"/>
              <a:stretch>
                <a:fillRect l="-1272" t="0" r="-1272" b="0"/>
              </a:stretch>
            </a:blipFill>
          </p:spPr>
          <p:txBody>
            <a:bodyPr/>
            <a:p/>
          </p:txBody>
        </p:sp>
      </p:grpSp>
      <p:grpSp>
        <p:nvGrpSpPr>
          <p:cNvPr name="Group 60" id="60"/>
          <p:cNvGrpSpPr/>
          <p:nvPr/>
        </p:nvGrpSpPr>
        <p:grpSpPr>
          <a:xfrm rot="0">
            <a:off x="11000232" y="8778240"/>
            <a:ext cx="6446520" cy="548640"/>
            <a:chOff x="0" y="0"/>
            <a:chExt cx="8595360" cy="731520"/>
          </a:xfrm>
        </p:grpSpPr>
        <p:sp>
          <p:nvSpPr>
            <p:cNvPr name="Freeform 61" id="61"/>
            <p:cNvSpPr/>
            <p:nvPr/>
          </p:nvSpPr>
          <p:spPr>
            <a:xfrm flipH="false" flipV="false" rot="0">
              <a:off x="0" y="0"/>
              <a:ext cx="8595360" cy="731520"/>
            </a:xfrm>
            <a:custGeom>
              <a:avLst/>
              <a:gdLst/>
              <a:ahLst/>
              <a:cxnLst/>
              <a:rect r="r" b="b" t="t" l="l"/>
              <a:pathLst>
                <a:path h="731520" w="8595360">
                  <a:moveTo>
                    <a:pt x="0" y="0"/>
                  </a:moveTo>
                  <a:lnTo>
                    <a:pt x="8595360" y="0"/>
                  </a:lnTo>
                  <a:lnTo>
                    <a:pt x="8595360" y="731520"/>
                  </a:lnTo>
                  <a:lnTo>
                    <a:pt x="0" y="731520"/>
                  </a:lnTo>
                  <a:close/>
                </a:path>
              </a:pathLst>
            </a:custGeom>
            <a:solidFill>
              <a:srgbClr val="F1F5F9"/>
            </a:solidFill>
          </p:spPr>
          <p:txBody>
            <a:bodyPr/>
            <a:p/>
          </p:txBody>
        </p:sp>
      </p:grpSp>
      <p:grpSp>
        <p:nvGrpSpPr>
          <p:cNvPr name="Group 62" id="62"/>
          <p:cNvGrpSpPr/>
          <p:nvPr/>
        </p:nvGrpSpPr>
        <p:grpSpPr>
          <a:xfrm rot="0">
            <a:off x="11082528" y="8778240"/>
            <a:ext cx="6281928" cy="548640"/>
            <a:chOff x="0" y="0"/>
            <a:chExt cx="8375904" cy="731520"/>
          </a:xfrm>
        </p:grpSpPr>
        <p:sp>
          <p:nvSpPr>
            <p:cNvPr name="Freeform 63" id="63"/>
            <p:cNvSpPr/>
            <p:nvPr/>
          </p:nvSpPr>
          <p:spPr>
            <a:xfrm flipH="false" flipV="false" rot="0">
              <a:off x="0" y="0"/>
              <a:ext cx="8375904" cy="731520"/>
            </a:xfrm>
            <a:custGeom>
              <a:avLst/>
              <a:gdLst/>
              <a:ahLst/>
              <a:cxnLst/>
              <a:rect r="r" b="b" t="t" l="l"/>
              <a:pathLst>
                <a:path h="731520" w="8375904">
                  <a:moveTo>
                    <a:pt x="0" y="0"/>
                  </a:moveTo>
                  <a:lnTo>
                    <a:pt x="8375904" y="0"/>
                  </a:lnTo>
                  <a:lnTo>
                    <a:pt x="8375904" y="731520"/>
                  </a:lnTo>
                  <a:lnTo>
                    <a:pt x="0" y="731520"/>
                  </a:lnTo>
                  <a:close/>
                </a:path>
              </a:pathLst>
            </a:custGeom>
            <a:blipFill>
              <a:blip r:embed="rId2">
                <a:alphaModFix amt="0"/>
              </a:blip>
              <a:stretch>
                <a:fillRect l="0" t="-173103" r="0" b="-173103"/>
              </a:stretch>
            </a:blipFill>
          </p:spPr>
          <p:txBody>
            <a:bodyPr/>
            <a:p/>
          </p:txBody>
        </p:sp>
        <p:sp>
          <p:nvSpPr>
            <p:cNvPr name="TextBox 64" id="64"/>
            <p:cNvSpPr txBox="true"/>
            <p:nvPr/>
          </p:nvSpPr>
          <p:spPr>
            <a:xfrm>
              <a:off x="0" y="-9525"/>
              <a:ext cx="8375904" cy="741045"/>
            </a:xfrm>
            <a:prstGeom prst="rect">
              <a:avLst/>
            </a:prstGeom>
          </p:spPr>
          <p:txBody>
            <a:bodyPr anchor="ctr" rtlCol="false" tIns="0" lIns="0" bIns="0" rIns="0"/>
            <a:lstStyle/>
            <a:p>
              <a:pPr algn="l">
                <a:lnSpc>
                  <a:spcPts val="1727"/>
                </a:lnSpc>
              </a:pPr>
              <a:r>
                <a:rPr lang="en-US" sz="1439" b="true">
                  <a:solidFill>
                    <a:srgbClr val="1E293B"/>
                  </a:solidFill>
                  <a:latin typeface="DejaVu Sans Bold"/>
                  <a:ea typeface="DejaVu Sans Bold"/>
                  <a:cs typeface="DejaVu Sans Bold"/>
                  <a:sym typeface="DejaVu Sans Bold"/>
                </a:rPr>
                <a:t>Ảnh thật: Khu NOXH tích hợp siêu thị thương mại tầng trệt (L-Mart) | Nguồn: Báo Điện tử Chính phủ</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13410867" cy="137160"/>
            <a:chOff x="0" y="0"/>
            <a:chExt cx="17881156" cy="182880"/>
          </a:xfrm>
        </p:grpSpPr>
        <p:sp>
          <p:nvSpPr>
            <p:cNvPr name="Freeform 5" id="5"/>
            <p:cNvSpPr/>
            <p:nvPr/>
          </p:nvSpPr>
          <p:spPr>
            <a:xfrm flipH="false" flipV="false" rot="0">
              <a:off x="0" y="0"/>
              <a:ext cx="17881092" cy="182880"/>
            </a:xfrm>
            <a:custGeom>
              <a:avLst/>
              <a:gdLst/>
              <a:ahLst/>
              <a:cxnLst/>
              <a:rect r="r" b="b" t="t" l="l"/>
              <a:pathLst>
                <a:path h="182880" w="17881092">
                  <a:moveTo>
                    <a:pt x="0" y="0"/>
                  </a:moveTo>
                  <a:lnTo>
                    <a:pt x="17881092" y="0"/>
                  </a:lnTo>
                  <a:lnTo>
                    <a:pt x="17881092" y="182880"/>
                  </a:lnTo>
                  <a:lnTo>
                    <a:pt x="0" y="182880"/>
                  </a:lnTo>
                  <a:close/>
                </a:path>
              </a:pathLst>
            </a:custGeom>
            <a:solidFill>
              <a:srgbClr val="0F766E"/>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AF7F5"/>
            </a:solidFill>
            <a:ln w="19050" cap="sq">
              <a:solidFill>
                <a:srgbClr val="0F766E"/>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9525"/>
              <a:ext cx="9235440" cy="631317"/>
            </a:xfrm>
            <a:prstGeom prst="rect">
              <a:avLst/>
            </a:prstGeom>
          </p:spPr>
          <p:txBody>
            <a:bodyPr anchor="ctr" rtlCol="false" tIns="0" lIns="0" bIns="0" rIns="0"/>
            <a:lstStyle/>
            <a:p>
              <a:pPr algn="l">
                <a:lnSpc>
                  <a:spcPts val="1889"/>
                </a:lnSpc>
              </a:pPr>
              <a:r>
                <a:rPr lang="en-US" sz="1575" b="true">
                  <a:solidFill>
                    <a:srgbClr val="0F766E"/>
                  </a:solidFill>
                  <a:latin typeface="DejaVu Sans Bold"/>
                  <a:ea typeface="DejaVu Sans Bold"/>
                  <a:cs typeface="DejaVu Sans Bold"/>
                  <a:sym typeface="DejaVu Sans Bold"/>
                </a:rPr>
                <a:t>TRẢ LỜI CÂU HỎI 2 • ĐÒN BẨY PHÍA CẦU (CẬP NHẬT 2026)</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9525"/>
              <a:ext cx="2432304" cy="631317"/>
            </a:xfrm>
            <a:prstGeom prst="rect">
              <a:avLst/>
            </a:prstGeom>
          </p:spPr>
          <p:txBody>
            <a:bodyPr anchor="ctr" rtlCol="false" tIns="0" lIns="0" bIns="0" rIns="0"/>
            <a:lstStyle/>
            <a:p>
              <a:pPr algn="ctr">
                <a:lnSpc>
                  <a:spcPts val="1889"/>
                </a:lnSpc>
              </a:pPr>
              <a:r>
                <a:rPr lang="en-US" sz="1575" b="true">
                  <a:solidFill>
                    <a:srgbClr val="FFFFFF"/>
                  </a:solidFill>
                  <a:latin typeface="DejaVu Sans Bold"/>
                  <a:ea typeface="DejaVu Sans Bold"/>
                  <a:cs typeface="DejaVu Sans Bold"/>
                  <a:sym typeface="DejaVu Sans Bold"/>
                </a:rPr>
                <a:t>Slide 12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Công cụ 3: Trần thu nhập mới (NĐ 136/2026) &amp; 2 kênh tín dụng ưu đãi</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9525"/>
              <a:ext cx="22366224" cy="667893"/>
            </a:xfrm>
            <a:prstGeom prst="rect">
              <a:avLst/>
            </a:prstGeom>
          </p:spPr>
          <p:txBody>
            <a:bodyPr anchor="ctr" rtlCol="false" tIns="0" lIns="0" bIns="0" rIns="0"/>
            <a:lstStyle/>
            <a:p>
              <a:pPr algn="l">
                <a:lnSpc>
                  <a:spcPts val="1764"/>
                </a:lnSpc>
              </a:pPr>
              <a:r>
                <a:rPr lang="en-US" sz="1470" i="true">
                  <a:solidFill>
                    <a:srgbClr val="475569"/>
                  </a:solidFill>
                  <a:latin typeface="DejaVu Sans Bold Italics"/>
                  <a:ea typeface="DejaVu Sans Bold Italics"/>
                  <a:cs typeface="DejaVu Sans Bold Italics"/>
                  <a:sym typeface="DejaVu Sans Bold Italics"/>
                </a:rPr>
                <a:t>Nguồn pháp lý: Nghị định 136/2026/NĐ-CP (hiệu lực 07/4/2026); Nghị định 261/2025/NĐ-CP; NHNN (CV 5340/NHNN-CSTT, H2/2026).</a:t>
              </a:r>
            </a:p>
          </p:txBody>
        </p:sp>
      </p:grpSp>
      <p:grpSp>
        <p:nvGrpSpPr>
          <p:cNvPr name="Group 26" id="26"/>
          <p:cNvGrpSpPr/>
          <p:nvPr/>
        </p:nvGrpSpPr>
        <p:grpSpPr>
          <a:xfrm rot="0">
            <a:off x="756666" y="1881378"/>
            <a:ext cx="6606540" cy="7511796"/>
            <a:chOff x="0" y="0"/>
            <a:chExt cx="8808720" cy="10015728"/>
          </a:xfrm>
        </p:grpSpPr>
        <p:sp>
          <p:nvSpPr>
            <p:cNvPr name="Freeform 27" id="27"/>
            <p:cNvSpPr/>
            <p:nvPr/>
          </p:nvSpPr>
          <p:spPr>
            <a:xfrm flipH="false" flipV="false" rot="0">
              <a:off x="0" y="0"/>
              <a:ext cx="8808720" cy="10015728"/>
            </a:xfrm>
            <a:custGeom>
              <a:avLst/>
              <a:gdLst/>
              <a:ahLst/>
              <a:cxnLst/>
              <a:rect r="r" b="b" t="t" l="l"/>
              <a:pathLst>
                <a:path h="10015728" w="8808720">
                  <a:moveTo>
                    <a:pt x="0" y="352298"/>
                  </a:moveTo>
                  <a:cubicBezTo>
                    <a:pt x="0" y="157734"/>
                    <a:pt x="157734" y="0"/>
                    <a:pt x="352298" y="0"/>
                  </a:cubicBezTo>
                  <a:lnTo>
                    <a:pt x="8456422" y="0"/>
                  </a:lnTo>
                  <a:cubicBezTo>
                    <a:pt x="8650986" y="0"/>
                    <a:pt x="8808720" y="157734"/>
                    <a:pt x="8808720" y="352298"/>
                  </a:cubicBezTo>
                  <a:lnTo>
                    <a:pt x="8808720" y="9663430"/>
                  </a:lnTo>
                  <a:cubicBezTo>
                    <a:pt x="8808720" y="9857994"/>
                    <a:pt x="8650986" y="10015728"/>
                    <a:pt x="8456422" y="10015728"/>
                  </a:cubicBezTo>
                  <a:lnTo>
                    <a:pt x="352298" y="10015728"/>
                  </a:lnTo>
                  <a:cubicBezTo>
                    <a:pt x="157734" y="10015728"/>
                    <a:pt x="0" y="9857994"/>
                    <a:pt x="0" y="9663430"/>
                  </a:cubicBezTo>
                  <a:close/>
                </a:path>
              </a:pathLst>
            </a:custGeom>
            <a:solidFill>
              <a:srgbClr val="FFFFFF"/>
            </a:solidFill>
            <a:ln w="22860" cap="sq">
              <a:solidFill>
                <a:srgbClr val="CBD5E1"/>
              </a:solidFill>
              <a:prstDash val="solid"/>
              <a:miter/>
            </a:ln>
          </p:spPr>
          <p:txBody>
            <a:bodyPr/>
            <a:p/>
          </p:txBody>
        </p:sp>
      </p:grpSp>
      <p:grpSp>
        <p:nvGrpSpPr>
          <p:cNvPr name="Group 28" id="28"/>
          <p:cNvGrpSpPr/>
          <p:nvPr/>
        </p:nvGrpSpPr>
        <p:grpSpPr>
          <a:xfrm rot="0">
            <a:off x="850392" y="1975104"/>
            <a:ext cx="6419088" cy="6748272"/>
            <a:chOff x="0" y="0"/>
            <a:chExt cx="8558784" cy="8997696"/>
          </a:xfrm>
        </p:grpSpPr>
        <p:sp>
          <p:nvSpPr>
            <p:cNvPr name="Freeform 29" id="29" descr="image10.jpg"/>
            <p:cNvSpPr/>
            <p:nvPr/>
          </p:nvSpPr>
          <p:spPr>
            <a:xfrm flipH="false" flipV="false" rot="0">
              <a:off x="0" y="0"/>
              <a:ext cx="8558784" cy="8997696"/>
            </a:xfrm>
            <a:custGeom>
              <a:avLst/>
              <a:gdLst/>
              <a:ahLst/>
              <a:cxnLst/>
              <a:rect r="r" b="b" t="t" l="l"/>
              <a:pathLst>
                <a:path h="8997696" w="8558784">
                  <a:moveTo>
                    <a:pt x="0" y="0"/>
                  </a:moveTo>
                  <a:lnTo>
                    <a:pt x="8558784" y="0"/>
                  </a:lnTo>
                  <a:lnTo>
                    <a:pt x="8558784" y="8997696"/>
                  </a:lnTo>
                  <a:lnTo>
                    <a:pt x="0" y="8997696"/>
                  </a:lnTo>
                  <a:lnTo>
                    <a:pt x="0" y="0"/>
                  </a:lnTo>
                  <a:close/>
                </a:path>
              </a:pathLst>
            </a:custGeom>
            <a:blipFill>
              <a:blip r:embed="rId3"/>
              <a:stretch>
                <a:fillRect l="-1491" t="0" r="-1491" b="0"/>
              </a:stretch>
            </a:blipFill>
          </p:spPr>
          <p:txBody>
            <a:bodyPr/>
            <a:p/>
          </p:txBody>
        </p:sp>
      </p:grpSp>
      <p:grpSp>
        <p:nvGrpSpPr>
          <p:cNvPr name="Group 30" id="30"/>
          <p:cNvGrpSpPr/>
          <p:nvPr/>
        </p:nvGrpSpPr>
        <p:grpSpPr>
          <a:xfrm rot="0">
            <a:off x="850392" y="8778240"/>
            <a:ext cx="6419088" cy="548640"/>
            <a:chOff x="0" y="0"/>
            <a:chExt cx="8558784" cy="731520"/>
          </a:xfrm>
        </p:grpSpPr>
        <p:sp>
          <p:nvSpPr>
            <p:cNvPr name="Freeform 31" id="31"/>
            <p:cNvSpPr/>
            <p:nvPr/>
          </p:nvSpPr>
          <p:spPr>
            <a:xfrm flipH="false" flipV="false" rot="0">
              <a:off x="0" y="0"/>
              <a:ext cx="8558784" cy="731520"/>
            </a:xfrm>
            <a:custGeom>
              <a:avLst/>
              <a:gdLst/>
              <a:ahLst/>
              <a:cxnLst/>
              <a:rect r="r" b="b" t="t" l="l"/>
              <a:pathLst>
                <a:path h="731520" w="8558784">
                  <a:moveTo>
                    <a:pt x="0" y="0"/>
                  </a:moveTo>
                  <a:lnTo>
                    <a:pt x="8558784" y="0"/>
                  </a:lnTo>
                  <a:lnTo>
                    <a:pt x="8558784" y="731520"/>
                  </a:lnTo>
                  <a:lnTo>
                    <a:pt x="0" y="731520"/>
                  </a:lnTo>
                  <a:close/>
                </a:path>
              </a:pathLst>
            </a:custGeom>
            <a:solidFill>
              <a:srgbClr val="F1F5F9"/>
            </a:solidFill>
          </p:spPr>
          <p:txBody>
            <a:bodyPr/>
            <a:p/>
          </p:txBody>
        </p:sp>
      </p:grpSp>
      <p:grpSp>
        <p:nvGrpSpPr>
          <p:cNvPr name="Group 32" id="32"/>
          <p:cNvGrpSpPr/>
          <p:nvPr/>
        </p:nvGrpSpPr>
        <p:grpSpPr>
          <a:xfrm rot="0">
            <a:off x="932688" y="8778240"/>
            <a:ext cx="6254496" cy="548640"/>
            <a:chOff x="0" y="0"/>
            <a:chExt cx="8339328" cy="731520"/>
          </a:xfrm>
        </p:grpSpPr>
        <p:sp>
          <p:nvSpPr>
            <p:cNvPr name="Freeform 33" id="33"/>
            <p:cNvSpPr/>
            <p:nvPr/>
          </p:nvSpPr>
          <p:spPr>
            <a:xfrm flipH="false" flipV="false" rot="0">
              <a:off x="0" y="0"/>
              <a:ext cx="8339326" cy="731520"/>
            </a:xfrm>
            <a:custGeom>
              <a:avLst/>
              <a:gdLst/>
              <a:ahLst/>
              <a:cxnLst/>
              <a:rect r="r" b="b" t="t" l="l"/>
              <a:pathLst>
                <a:path h="731520" w="8339326">
                  <a:moveTo>
                    <a:pt x="0" y="0"/>
                  </a:moveTo>
                  <a:lnTo>
                    <a:pt x="8339326" y="0"/>
                  </a:lnTo>
                  <a:lnTo>
                    <a:pt x="8339326" y="731520"/>
                  </a:lnTo>
                  <a:lnTo>
                    <a:pt x="0" y="731520"/>
                  </a:lnTo>
                  <a:close/>
                </a:path>
              </a:pathLst>
            </a:custGeom>
            <a:blipFill>
              <a:blip r:embed="rId2">
                <a:alphaModFix amt="0"/>
              </a:blip>
              <a:stretch>
                <a:fillRect l="0" t="-172129" r="0" b="-172129"/>
              </a:stretch>
            </a:blipFill>
          </p:spPr>
          <p:txBody>
            <a:bodyPr/>
            <a:p/>
          </p:txBody>
        </p:sp>
        <p:sp>
          <p:nvSpPr>
            <p:cNvPr name="TextBox 34" id="34"/>
            <p:cNvSpPr txBox="true"/>
            <p:nvPr/>
          </p:nvSpPr>
          <p:spPr>
            <a:xfrm>
              <a:off x="0" y="-9525"/>
              <a:ext cx="8339328" cy="741045"/>
            </a:xfrm>
            <a:prstGeom prst="rect">
              <a:avLst/>
            </a:prstGeom>
          </p:spPr>
          <p:txBody>
            <a:bodyPr anchor="ctr" rtlCol="false" tIns="0" lIns="0" bIns="0" rIns="0"/>
            <a:lstStyle/>
            <a:p>
              <a:pPr algn="l">
                <a:lnSpc>
                  <a:spcPts val="1727"/>
                </a:lnSpc>
              </a:pPr>
              <a:r>
                <a:rPr lang="en-US" sz="1439" b="true">
                  <a:solidFill>
                    <a:srgbClr val="1E293B"/>
                  </a:solidFill>
                  <a:latin typeface="DejaVu Sans Bold"/>
                  <a:ea typeface="DejaVu Sans Bold"/>
                  <a:cs typeface="DejaVu Sans Bold"/>
                  <a:sym typeface="DejaVu Sans Bold"/>
                </a:rPr>
                <a:t>Ảnh thật: Gia đình trẻ &amp; trường mầm non nội khu NOXH Lê Thành An Lạc, TP.HCM | Nguồn: Báo Xây dựng</a:t>
              </a:r>
            </a:p>
          </p:txBody>
        </p:sp>
      </p:grpSp>
      <p:grpSp>
        <p:nvGrpSpPr>
          <p:cNvPr name="Group 35" id="35"/>
          <p:cNvGrpSpPr/>
          <p:nvPr/>
        </p:nvGrpSpPr>
        <p:grpSpPr>
          <a:xfrm rot="0">
            <a:off x="7721536" y="1905952"/>
            <a:ext cx="9821799" cy="2250567"/>
            <a:chOff x="0" y="0"/>
            <a:chExt cx="13095732" cy="3000756"/>
          </a:xfrm>
        </p:grpSpPr>
        <p:sp>
          <p:nvSpPr>
            <p:cNvPr name="Freeform 36" id="36"/>
            <p:cNvSpPr/>
            <p:nvPr/>
          </p:nvSpPr>
          <p:spPr>
            <a:xfrm flipH="false" flipV="false" rot="0">
              <a:off x="0" y="0"/>
              <a:ext cx="13095732" cy="3000756"/>
            </a:xfrm>
            <a:custGeom>
              <a:avLst/>
              <a:gdLst/>
              <a:ahLst/>
              <a:cxnLst/>
              <a:rect r="r" b="b" t="t" l="l"/>
              <a:pathLst>
                <a:path h="3000756" w="13095732">
                  <a:moveTo>
                    <a:pt x="0" y="120015"/>
                  </a:moveTo>
                  <a:cubicBezTo>
                    <a:pt x="0" y="53721"/>
                    <a:pt x="53721" y="0"/>
                    <a:pt x="120015" y="0"/>
                  </a:cubicBezTo>
                  <a:lnTo>
                    <a:pt x="12975717" y="0"/>
                  </a:lnTo>
                  <a:cubicBezTo>
                    <a:pt x="13042012" y="0"/>
                    <a:pt x="13095732" y="53721"/>
                    <a:pt x="13095732" y="120015"/>
                  </a:cubicBezTo>
                  <a:lnTo>
                    <a:pt x="13095732" y="2880741"/>
                  </a:lnTo>
                  <a:cubicBezTo>
                    <a:pt x="13095732" y="2947035"/>
                    <a:pt x="13042012" y="3000756"/>
                    <a:pt x="12975717" y="3000756"/>
                  </a:cubicBezTo>
                  <a:lnTo>
                    <a:pt x="120015" y="3000756"/>
                  </a:lnTo>
                  <a:cubicBezTo>
                    <a:pt x="53721" y="3000756"/>
                    <a:pt x="0" y="2947035"/>
                    <a:pt x="0" y="2880741"/>
                  </a:cubicBezTo>
                  <a:close/>
                </a:path>
              </a:pathLst>
            </a:custGeom>
            <a:solidFill>
              <a:srgbClr val="EAF7F5"/>
            </a:solidFill>
            <a:ln w="28575" cap="sq">
              <a:solidFill>
                <a:srgbClr val="0F766E"/>
              </a:solidFill>
              <a:prstDash val="solid"/>
              <a:miter/>
            </a:ln>
          </p:spPr>
          <p:txBody>
            <a:bodyPr/>
            <a:p/>
          </p:txBody>
        </p:sp>
      </p:grpSp>
      <p:grpSp>
        <p:nvGrpSpPr>
          <p:cNvPr name="Group 37" id="37"/>
          <p:cNvGrpSpPr/>
          <p:nvPr/>
        </p:nvGrpSpPr>
        <p:grpSpPr>
          <a:xfrm rot="0">
            <a:off x="7955280" y="2002536"/>
            <a:ext cx="9381744" cy="2057400"/>
            <a:chOff x="0" y="0"/>
            <a:chExt cx="12508992" cy="2743200"/>
          </a:xfrm>
        </p:grpSpPr>
        <p:sp>
          <p:nvSpPr>
            <p:cNvPr name="Freeform 38" id="38"/>
            <p:cNvSpPr/>
            <p:nvPr/>
          </p:nvSpPr>
          <p:spPr>
            <a:xfrm flipH="false" flipV="false" rot="0">
              <a:off x="0" y="0"/>
              <a:ext cx="12508992" cy="2743200"/>
            </a:xfrm>
            <a:custGeom>
              <a:avLst/>
              <a:gdLst/>
              <a:ahLst/>
              <a:cxnLst/>
              <a:rect r="r" b="b" t="t" l="l"/>
              <a:pathLst>
                <a:path h="2743200" w="12508992">
                  <a:moveTo>
                    <a:pt x="0" y="0"/>
                  </a:moveTo>
                  <a:lnTo>
                    <a:pt x="12508992" y="0"/>
                  </a:lnTo>
                  <a:lnTo>
                    <a:pt x="12508992" y="2743200"/>
                  </a:lnTo>
                  <a:lnTo>
                    <a:pt x="0" y="2743200"/>
                  </a:lnTo>
                  <a:close/>
                </a:path>
              </a:pathLst>
            </a:custGeom>
            <a:blipFill>
              <a:blip r:embed="rId2">
                <a:alphaModFix amt="0"/>
              </a:blip>
              <a:stretch>
                <a:fillRect l="0" t="-38851" r="0" b="-38851"/>
              </a:stretch>
            </a:blipFill>
          </p:spPr>
          <p:txBody>
            <a:bodyPr/>
            <a:p/>
          </p:txBody>
        </p:sp>
        <p:sp>
          <p:nvSpPr>
            <p:cNvPr name="TextBox 39" id="39"/>
            <p:cNvSpPr txBox="true"/>
            <p:nvPr/>
          </p:nvSpPr>
          <p:spPr>
            <a:xfrm>
              <a:off x="0" y="-19050"/>
              <a:ext cx="12508992" cy="2762250"/>
            </a:xfrm>
            <a:prstGeom prst="rect">
              <a:avLst/>
            </a:prstGeom>
          </p:spPr>
          <p:txBody>
            <a:bodyPr anchor="ctr" rtlCol="false" tIns="0" lIns="0" bIns="0" rIns="0"/>
            <a:lstStyle/>
            <a:p>
              <a:pPr algn="l">
                <a:lnSpc>
                  <a:spcPts val="2520"/>
                </a:lnSpc>
              </a:pPr>
              <a:r>
                <a:rPr lang="en-US" sz="2100" b="true">
                  <a:solidFill>
                    <a:srgbClr val="0F766E"/>
                  </a:solidFill>
                  <a:latin typeface="DejaVu Sans Bold"/>
                  <a:ea typeface="DejaVu Sans Bold"/>
                  <a:cs typeface="DejaVu Sans Bold"/>
                  <a:sym typeface="DejaVu Sans Bold"/>
                </a:rPr>
                <a:t>1. TRẦN THU NHẬP MỚI (NGHỊ ĐỊNH 136/2026/NĐ-CP TỪ 07/4/2026):</a:t>
              </a:r>
            </a:p>
            <a:p>
              <a:pPr algn="l">
                <a:lnSpc>
                  <a:spcPts val="2520"/>
                </a:lnSpc>
              </a:pPr>
              <a:r>
                <a:rPr lang="en-US" sz="2100">
                  <a:solidFill>
                    <a:srgbClr val="0B192E"/>
                  </a:solidFill>
                  <a:latin typeface="DejaVu Sans Light"/>
                  <a:ea typeface="DejaVu Sans Light"/>
                  <a:cs typeface="DejaVu Sans Light"/>
                  <a:sym typeface="DejaVu Sans Light"/>
                </a:rPr>
                <a:t>• Độc thân: ≤ 25 triệu/tháng | Độc thân nuôi con chưa thành niên: ≤ 35 triệu | Vợ chồng: ≤ 50 triệu/tháng.</a:t>
              </a:r>
            </a:p>
            <a:p>
              <a:pPr algn="l">
                <a:lnSpc>
                  <a:spcPts val="2520"/>
                </a:lnSpc>
              </a:pPr>
              <a:r>
                <a:rPr lang="en-US" sz="2100">
                  <a:solidFill>
                    <a:srgbClr val="0B192E"/>
                  </a:solidFill>
                  <a:latin typeface="DejaVu Sans Light"/>
                  <a:ea typeface="DejaVu Sans Light"/>
                  <a:cs typeface="DejaVu Sans Light"/>
                  <a:sym typeface="DejaVu Sans Light"/>
                </a:rPr>
                <a:t>• Lưu ý: Thu nhập chỉ là 1 điều kiện; người mua còn phải thuộc nhóm đối tượng (Điều 76) &amp; chưa có nhà ở theo luật.</a:t>
              </a:r>
            </a:p>
          </p:txBody>
        </p:sp>
      </p:grpSp>
      <p:grpSp>
        <p:nvGrpSpPr>
          <p:cNvPr name="Group 40" id="40"/>
          <p:cNvGrpSpPr/>
          <p:nvPr/>
        </p:nvGrpSpPr>
        <p:grpSpPr>
          <a:xfrm rot="0">
            <a:off x="7721536" y="4292536"/>
            <a:ext cx="9821799" cy="2662047"/>
            <a:chOff x="0" y="0"/>
            <a:chExt cx="13095732" cy="3549396"/>
          </a:xfrm>
        </p:grpSpPr>
        <p:sp>
          <p:nvSpPr>
            <p:cNvPr name="Freeform 41" id="41"/>
            <p:cNvSpPr/>
            <p:nvPr/>
          </p:nvSpPr>
          <p:spPr>
            <a:xfrm flipH="false" flipV="false" rot="0">
              <a:off x="0" y="0"/>
              <a:ext cx="13095732" cy="3549396"/>
            </a:xfrm>
            <a:custGeom>
              <a:avLst/>
              <a:gdLst/>
              <a:ahLst/>
              <a:cxnLst/>
              <a:rect r="r" b="b" t="t" l="l"/>
              <a:pathLst>
                <a:path h="3549396" w="13095732">
                  <a:moveTo>
                    <a:pt x="0" y="141986"/>
                  </a:moveTo>
                  <a:cubicBezTo>
                    <a:pt x="0" y="63627"/>
                    <a:pt x="63627" y="0"/>
                    <a:pt x="141986" y="0"/>
                  </a:cubicBezTo>
                  <a:lnTo>
                    <a:pt x="12953746" y="0"/>
                  </a:lnTo>
                  <a:cubicBezTo>
                    <a:pt x="13032105" y="0"/>
                    <a:pt x="13095732" y="63627"/>
                    <a:pt x="13095732" y="141986"/>
                  </a:cubicBezTo>
                  <a:lnTo>
                    <a:pt x="13095732" y="3407410"/>
                  </a:lnTo>
                  <a:cubicBezTo>
                    <a:pt x="13095732" y="3485769"/>
                    <a:pt x="13032105" y="3549396"/>
                    <a:pt x="12953746" y="3549396"/>
                  </a:cubicBezTo>
                  <a:lnTo>
                    <a:pt x="141986" y="3549396"/>
                  </a:lnTo>
                  <a:cubicBezTo>
                    <a:pt x="63627" y="3549396"/>
                    <a:pt x="0" y="3485769"/>
                    <a:pt x="0" y="3407410"/>
                  </a:cubicBezTo>
                  <a:close/>
                </a:path>
              </a:pathLst>
            </a:custGeom>
            <a:solidFill>
              <a:srgbClr val="EEF6FC"/>
            </a:solidFill>
            <a:ln w="28575" cap="sq">
              <a:solidFill>
                <a:srgbClr val="0369A1"/>
              </a:solidFill>
              <a:prstDash val="solid"/>
              <a:miter/>
            </a:ln>
          </p:spPr>
          <p:txBody>
            <a:bodyPr/>
            <a:p/>
          </p:txBody>
        </p:sp>
      </p:grpSp>
      <p:grpSp>
        <p:nvGrpSpPr>
          <p:cNvPr name="Group 42" id="42"/>
          <p:cNvGrpSpPr/>
          <p:nvPr/>
        </p:nvGrpSpPr>
        <p:grpSpPr>
          <a:xfrm rot="0">
            <a:off x="7955280" y="4389120"/>
            <a:ext cx="9381744" cy="2468880"/>
            <a:chOff x="0" y="0"/>
            <a:chExt cx="12508992" cy="3291840"/>
          </a:xfrm>
        </p:grpSpPr>
        <p:sp>
          <p:nvSpPr>
            <p:cNvPr name="Freeform 43" id="43"/>
            <p:cNvSpPr/>
            <p:nvPr/>
          </p:nvSpPr>
          <p:spPr>
            <a:xfrm flipH="false" flipV="false" rot="0">
              <a:off x="0" y="0"/>
              <a:ext cx="12508992" cy="3291838"/>
            </a:xfrm>
            <a:custGeom>
              <a:avLst/>
              <a:gdLst/>
              <a:ahLst/>
              <a:cxnLst/>
              <a:rect r="r" b="b" t="t" l="l"/>
              <a:pathLst>
                <a:path h="3291838" w="12508992">
                  <a:moveTo>
                    <a:pt x="0" y="0"/>
                  </a:moveTo>
                  <a:lnTo>
                    <a:pt x="12508992" y="0"/>
                  </a:lnTo>
                  <a:lnTo>
                    <a:pt x="12508992" y="3291838"/>
                  </a:lnTo>
                  <a:lnTo>
                    <a:pt x="0" y="3291838"/>
                  </a:lnTo>
                  <a:close/>
                </a:path>
              </a:pathLst>
            </a:custGeom>
            <a:blipFill>
              <a:blip r:embed="rId2">
                <a:alphaModFix amt="0"/>
              </a:blip>
              <a:stretch>
                <a:fillRect l="0" t="-24043" r="0" b="-24043"/>
              </a:stretch>
            </a:blipFill>
          </p:spPr>
          <p:txBody>
            <a:bodyPr/>
            <a:p/>
          </p:txBody>
        </p:sp>
        <p:sp>
          <p:nvSpPr>
            <p:cNvPr name="TextBox 44" id="44"/>
            <p:cNvSpPr txBox="true"/>
            <p:nvPr/>
          </p:nvSpPr>
          <p:spPr>
            <a:xfrm>
              <a:off x="0" y="-19050"/>
              <a:ext cx="12508992" cy="3310890"/>
            </a:xfrm>
            <a:prstGeom prst="rect">
              <a:avLst/>
            </a:prstGeom>
          </p:spPr>
          <p:txBody>
            <a:bodyPr anchor="ctr" rtlCol="false" tIns="0" lIns="0" bIns="0" rIns="0"/>
            <a:lstStyle/>
            <a:p>
              <a:pPr algn="l">
                <a:lnSpc>
                  <a:spcPts val="2520"/>
                </a:lnSpc>
              </a:pPr>
              <a:r>
                <a:rPr lang="en-US" sz="2100" b="true">
                  <a:solidFill>
                    <a:srgbClr val="0369A1"/>
                  </a:solidFill>
                  <a:latin typeface="DejaVu Sans Bold"/>
                  <a:ea typeface="DejaVu Sans Bold"/>
                  <a:cs typeface="DejaVu Sans Bold"/>
                  <a:sym typeface="DejaVu Sans Bold"/>
                </a:rPr>
                <a:t>2. TÁCH BẠCH RÕ 2 CHƯƠNG TRÌNH TÍN DỤNG ƯU ĐÃI (NĂM 2026):</a:t>
              </a:r>
            </a:p>
            <a:p>
              <a:pPr algn="l">
                <a:lnSpc>
                  <a:spcPts val="2520"/>
                </a:lnSpc>
              </a:pPr>
              <a:r>
                <a:rPr lang="en-US" sz="2100">
                  <a:solidFill>
                    <a:srgbClr val="0B192E"/>
                  </a:solidFill>
                  <a:latin typeface="DejaVu Sans Light"/>
                  <a:ea typeface="DejaVu Sans Light"/>
                  <a:cs typeface="DejaVu Sans Light"/>
                  <a:sym typeface="DejaVu Sans Light"/>
                </a:rPr>
                <a:t>• Kênh NHCSXH (NĐ 261/2025): Lãi suất 5,4%/năm, tối đa 25 năm (cho đối tượng đủ điều kiện vay vốn chính sách).</a:t>
              </a:r>
            </a:p>
            <a:p>
              <a:pPr algn="l">
                <a:lnSpc>
                  <a:spcPts val="2520"/>
                </a:lnSpc>
              </a:pPr>
              <a:r>
                <a:rPr lang="en-US" sz="2100">
                  <a:solidFill>
                    <a:srgbClr val="0B192E"/>
                  </a:solidFill>
                  <a:latin typeface="DejaVu Sans Light"/>
                  <a:ea typeface="DejaVu Sans Light"/>
                  <a:cs typeface="DejaVu Sans Light"/>
                  <a:sym typeface="DejaVu Sans Light"/>
                </a:rPr>
                <a:t>• Kênh 9 NHTM cho người &lt;35 tuổi mua NOXH (01/7–31/12/2026, CV 5340/NHNN): 6,5%/năm (5 năm đầu) &amp; mức tham chiếu 7,5%/năm (10 năm tiếp theo, điều chỉnh định kỳ).</a:t>
              </a:r>
            </a:p>
          </p:txBody>
        </p:sp>
      </p:grpSp>
      <p:grpSp>
        <p:nvGrpSpPr>
          <p:cNvPr name="Group 45" id="45"/>
          <p:cNvGrpSpPr/>
          <p:nvPr/>
        </p:nvGrpSpPr>
        <p:grpSpPr>
          <a:xfrm rot="0">
            <a:off x="7721536" y="7090600"/>
            <a:ext cx="9821799" cy="2305431"/>
            <a:chOff x="0" y="0"/>
            <a:chExt cx="13095732" cy="3073908"/>
          </a:xfrm>
        </p:grpSpPr>
        <p:sp>
          <p:nvSpPr>
            <p:cNvPr name="Freeform 46" id="46"/>
            <p:cNvSpPr/>
            <p:nvPr/>
          </p:nvSpPr>
          <p:spPr>
            <a:xfrm flipH="false" flipV="false" rot="0">
              <a:off x="0" y="0"/>
              <a:ext cx="13095732" cy="3073908"/>
            </a:xfrm>
            <a:custGeom>
              <a:avLst/>
              <a:gdLst/>
              <a:ahLst/>
              <a:cxnLst/>
              <a:rect r="r" b="b" t="t" l="l"/>
              <a:pathLst>
                <a:path h="3073908" w="13095732">
                  <a:moveTo>
                    <a:pt x="0" y="122936"/>
                  </a:moveTo>
                  <a:cubicBezTo>
                    <a:pt x="0" y="54991"/>
                    <a:pt x="54991" y="0"/>
                    <a:pt x="122936" y="0"/>
                  </a:cubicBezTo>
                  <a:lnTo>
                    <a:pt x="12972796" y="0"/>
                  </a:lnTo>
                  <a:cubicBezTo>
                    <a:pt x="13040740" y="0"/>
                    <a:pt x="13095732" y="54991"/>
                    <a:pt x="13095732" y="122936"/>
                  </a:cubicBezTo>
                  <a:lnTo>
                    <a:pt x="13095732" y="2950972"/>
                  </a:lnTo>
                  <a:cubicBezTo>
                    <a:pt x="13095732" y="3018917"/>
                    <a:pt x="13040740" y="3073908"/>
                    <a:pt x="12972796" y="3073908"/>
                  </a:cubicBezTo>
                  <a:lnTo>
                    <a:pt x="122936" y="3073908"/>
                  </a:lnTo>
                  <a:cubicBezTo>
                    <a:pt x="54991" y="3073908"/>
                    <a:pt x="0" y="3018917"/>
                    <a:pt x="0" y="2950972"/>
                  </a:cubicBezTo>
                  <a:close/>
                </a:path>
              </a:pathLst>
            </a:custGeom>
            <a:solidFill>
              <a:srgbClr val="FFF7ED"/>
            </a:solidFill>
            <a:ln w="28575" cap="sq">
              <a:solidFill>
                <a:srgbClr val="C25915"/>
              </a:solidFill>
              <a:prstDash val="solid"/>
              <a:miter/>
            </a:ln>
          </p:spPr>
          <p:txBody>
            <a:bodyPr/>
            <a:p/>
          </p:txBody>
        </p:sp>
      </p:grpSp>
      <p:grpSp>
        <p:nvGrpSpPr>
          <p:cNvPr name="Group 47" id="47"/>
          <p:cNvGrpSpPr/>
          <p:nvPr/>
        </p:nvGrpSpPr>
        <p:grpSpPr>
          <a:xfrm rot="0">
            <a:off x="7955280" y="7187184"/>
            <a:ext cx="9381744" cy="2112264"/>
            <a:chOff x="0" y="0"/>
            <a:chExt cx="12508992" cy="2816352"/>
          </a:xfrm>
        </p:grpSpPr>
        <p:sp>
          <p:nvSpPr>
            <p:cNvPr name="Freeform 48" id="48"/>
            <p:cNvSpPr/>
            <p:nvPr/>
          </p:nvSpPr>
          <p:spPr>
            <a:xfrm flipH="false" flipV="false" rot="0">
              <a:off x="0" y="0"/>
              <a:ext cx="12508992" cy="2816352"/>
            </a:xfrm>
            <a:custGeom>
              <a:avLst/>
              <a:gdLst/>
              <a:ahLst/>
              <a:cxnLst/>
              <a:rect r="r" b="b" t="t" l="l"/>
              <a:pathLst>
                <a:path h="2816352" w="12508992">
                  <a:moveTo>
                    <a:pt x="0" y="0"/>
                  </a:moveTo>
                  <a:lnTo>
                    <a:pt x="12508992" y="0"/>
                  </a:lnTo>
                  <a:lnTo>
                    <a:pt x="12508992" y="2816352"/>
                  </a:lnTo>
                  <a:lnTo>
                    <a:pt x="0" y="2816352"/>
                  </a:lnTo>
                  <a:close/>
                </a:path>
              </a:pathLst>
            </a:custGeom>
            <a:blipFill>
              <a:blip r:embed="rId2">
                <a:alphaModFix amt="0"/>
              </a:blip>
              <a:stretch>
                <a:fillRect l="0" t="-36543" r="0" b="-36543"/>
              </a:stretch>
            </a:blipFill>
          </p:spPr>
          <p:txBody>
            <a:bodyPr/>
            <a:p/>
          </p:txBody>
        </p:sp>
        <p:sp>
          <p:nvSpPr>
            <p:cNvPr name="TextBox 49" id="49"/>
            <p:cNvSpPr txBox="true"/>
            <p:nvPr/>
          </p:nvSpPr>
          <p:spPr>
            <a:xfrm>
              <a:off x="0" y="-19050"/>
              <a:ext cx="12508992" cy="2835402"/>
            </a:xfrm>
            <a:prstGeom prst="rect">
              <a:avLst/>
            </a:prstGeom>
          </p:spPr>
          <p:txBody>
            <a:bodyPr anchor="ctr" rtlCol="false" tIns="0" lIns="0" bIns="0" rIns="0"/>
            <a:lstStyle/>
            <a:p>
              <a:pPr algn="l">
                <a:lnSpc>
                  <a:spcPts val="2520"/>
                </a:lnSpc>
              </a:pPr>
              <a:r>
                <a:rPr lang="en-US" sz="2100" b="true">
                  <a:solidFill>
                    <a:srgbClr val="C25915"/>
                  </a:solidFill>
                  <a:latin typeface="DejaVu Sans Bold"/>
                  <a:ea typeface="DejaVu Sans Bold"/>
                  <a:cs typeface="DejaVu Sans Bold"/>
                  <a:sym typeface="DejaVu Sans Bold"/>
                </a:rPr>
                <a:t>3. BÀI TOÁN DÒNG TIỀN THỰC TẾ (MINH HỌA CĂN NOXH ~1 TỶ ĐỒNG):</a:t>
              </a:r>
            </a:p>
            <a:p>
              <a:pPr algn="l">
                <a:lnSpc>
                  <a:spcPts val="3024"/>
                </a:lnSpc>
              </a:pPr>
              <a:r>
                <a:rPr lang="en-US" sz="2100">
                  <a:solidFill>
                    <a:srgbClr val="0B192E"/>
                  </a:solidFill>
                  <a:latin typeface="DejaVu Sans Light"/>
                  <a:ea typeface="DejaVu Sans Light"/>
                  <a:cs typeface="DejaVu Sans Light"/>
                  <a:sym typeface="DejaVu Sans Light"/>
                </a:rPr>
                <a:t>• Vay NHCSXH 800 triệu (5,4% – 25 năm) trả trung bình ~4,9 triệu/tháng — giảm mạnh so với vay thương mại, nhưng vẫn cần ~200 triệu vốn ban đầu &amp; chiếm 33–49% lương SV mới ra trường.</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14630038" cy="137160"/>
            <a:chOff x="0" y="0"/>
            <a:chExt cx="19506717" cy="182880"/>
          </a:xfrm>
        </p:grpSpPr>
        <p:sp>
          <p:nvSpPr>
            <p:cNvPr name="Freeform 5" id="5"/>
            <p:cNvSpPr/>
            <p:nvPr/>
          </p:nvSpPr>
          <p:spPr>
            <a:xfrm flipH="false" flipV="false" rot="0">
              <a:off x="0" y="0"/>
              <a:ext cx="19506692" cy="182880"/>
            </a:xfrm>
            <a:custGeom>
              <a:avLst/>
              <a:gdLst/>
              <a:ahLst/>
              <a:cxnLst/>
              <a:rect r="r" b="b" t="t" l="l"/>
              <a:pathLst>
                <a:path h="182880" w="19506692">
                  <a:moveTo>
                    <a:pt x="0" y="0"/>
                  </a:moveTo>
                  <a:lnTo>
                    <a:pt x="19506692" y="0"/>
                  </a:lnTo>
                  <a:lnTo>
                    <a:pt x="19506692" y="182880"/>
                  </a:lnTo>
                  <a:lnTo>
                    <a:pt x="0" y="182880"/>
                  </a:lnTo>
                  <a:close/>
                </a:path>
              </a:pathLst>
            </a:custGeom>
            <a:solidFill>
              <a:srgbClr val="0369A1"/>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EF6FC"/>
            </a:solidFill>
            <a:ln w="19050" cap="sq">
              <a:solidFill>
                <a:srgbClr val="0369A1"/>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9525"/>
              <a:ext cx="9235440" cy="631317"/>
            </a:xfrm>
            <a:prstGeom prst="rect">
              <a:avLst/>
            </a:prstGeom>
          </p:spPr>
          <p:txBody>
            <a:bodyPr anchor="ctr" rtlCol="false" tIns="0" lIns="0" bIns="0" rIns="0"/>
            <a:lstStyle/>
            <a:p>
              <a:pPr algn="l">
                <a:lnSpc>
                  <a:spcPts val="1889"/>
                </a:lnSpc>
              </a:pPr>
              <a:r>
                <a:rPr lang="en-US" sz="1575" b="true">
                  <a:solidFill>
                    <a:srgbClr val="0369A1"/>
                  </a:solidFill>
                  <a:latin typeface="DejaVu Sans Bold"/>
                  <a:ea typeface="DejaVu Sans Bold"/>
                  <a:cs typeface="DejaVu Sans Bold"/>
                  <a:sym typeface="DejaVu Sans Bold"/>
                </a:rPr>
                <a:t>TRẢ LỜI CÂU HỎI 2 • NHÀ CHO THUÊ &amp; THỂ CHẾ (MỤC 5.2)</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9525"/>
              <a:ext cx="2432304" cy="631317"/>
            </a:xfrm>
            <a:prstGeom prst="rect">
              <a:avLst/>
            </a:prstGeom>
          </p:spPr>
          <p:txBody>
            <a:bodyPr anchor="ctr" rtlCol="false" tIns="0" lIns="0" bIns="0" rIns="0"/>
            <a:lstStyle/>
            <a:p>
              <a:pPr algn="ctr">
                <a:lnSpc>
                  <a:spcPts val="1889"/>
                </a:lnSpc>
              </a:pPr>
              <a:r>
                <a:rPr lang="en-US" sz="1575" b="true">
                  <a:solidFill>
                    <a:srgbClr val="FFFFFF"/>
                  </a:solidFill>
                  <a:latin typeface="DejaVu Sans Bold"/>
                  <a:ea typeface="DejaVu Sans Bold"/>
                  <a:cs typeface="DejaVu Sans Bold"/>
                  <a:sym typeface="DejaVu Sans Bold"/>
                </a:rPr>
                <a:t>Slide 13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Công cụ 5 &amp; 6: Phát triển NOXH cho thuê, "Luồng xanh" &amp; Quy mô 2026</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19050"/>
              <a:ext cx="22366224" cy="677418"/>
            </a:xfrm>
            <a:prstGeom prst="rect">
              <a:avLst/>
            </a:prstGeom>
          </p:spPr>
          <p:txBody>
            <a:bodyPr anchor="ctr" rtlCol="false" tIns="0" lIns="0" bIns="0" rIns="0"/>
            <a:lstStyle/>
            <a:p>
              <a:pPr algn="l">
                <a:lnSpc>
                  <a:spcPts val="2520"/>
                </a:lnSpc>
              </a:pPr>
              <a:r>
                <a:rPr lang="en-US" sz="2100" i="true">
                  <a:solidFill>
                    <a:srgbClr val="475569"/>
                  </a:solidFill>
                  <a:latin typeface="DejaVu Sans Bold Italics"/>
                  <a:ea typeface="DejaVu Sans Bold Italics"/>
                  <a:cs typeface="DejaVu Sans Bold Italics"/>
                  <a:sym typeface="DejaVu Sans Bold Italics"/>
                </a:rPr>
                <a:t>Nguồn số liệu: Họp báo Quý III/2026 của Bộ Xây dựng (15/10/2026); Nghị quyết 07/NQ-CP (2026) &amp; NĐ 302/2025/NĐ-CP.</a:t>
              </a:r>
            </a:p>
          </p:txBody>
        </p:sp>
      </p:grpSp>
      <p:grpSp>
        <p:nvGrpSpPr>
          <p:cNvPr name="Group 26" id="26"/>
          <p:cNvGrpSpPr/>
          <p:nvPr/>
        </p:nvGrpSpPr>
        <p:grpSpPr>
          <a:xfrm rot="0">
            <a:off x="740093" y="1905952"/>
            <a:ext cx="9835515" cy="2497455"/>
            <a:chOff x="0" y="0"/>
            <a:chExt cx="13114020" cy="3329940"/>
          </a:xfrm>
        </p:grpSpPr>
        <p:sp>
          <p:nvSpPr>
            <p:cNvPr name="Freeform 27" id="27"/>
            <p:cNvSpPr/>
            <p:nvPr/>
          </p:nvSpPr>
          <p:spPr>
            <a:xfrm flipH="false" flipV="false" rot="0">
              <a:off x="0" y="0"/>
              <a:ext cx="13114020" cy="3329940"/>
            </a:xfrm>
            <a:custGeom>
              <a:avLst/>
              <a:gdLst/>
              <a:ahLst/>
              <a:cxnLst/>
              <a:rect r="r" b="b" t="t" l="l"/>
              <a:pathLst>
                <a:path h="3329940" w="13114020">
                  <a:moveTo>
                    <a:pt x="0" y="133223"/>
                  </a:moveTo>
                  <a:cubicBezTo>
                    <a:pt x="0" y="59690"/>
                    <a:pt x="59690" y="0"/>
                    <a:pt x="133223" y="0"/>
                  </a:cubicBezTo>
                  <a:lnTo>
                    <a:pt x="12980797" y="0"/>
                  </a:lnTo>
                  <a:cubicBezTo>
                    <a:pt x="13054330" y="0"/>
                    <a:pt x="13114020" y="59690"/>
                    <a:pt x="13114020" y="133223"/>
                  </a:cubicBezTo>
                  <a:lnTo>
                    <a:pt x="13114020" y="3196717"/>
                  </a:lnTo>
                  <a:cubicBezTo>
                    <a:pt x="13114020" y="3270250"/>
                    <a:pt x="13054330" y="3329940"/>
                    <a:pt x="12980797" y="3329940"/>
                  </a:cubicBezTo>
                  <a:lnTo>
                    <a:pt x="133223" y="3329940"/>
                  </a:lnTo>
                  <a:cubicBezTo>
                    <a:pt x="59690" y="3329940"/>
                    <a:pt x="0" y="3270250"/>
                    <a:pt x="0" y="3196717"/>
                  </a:cubicBezTo>
                  <a:close/>
                </a:path>
              </a:pathLst>
            </a:custGeom>
            <a:solidFill>
              <a:srgbClr val="EEF6FC"/>
            </a:solidFill>
            <a:ln w="28575" cap="sq">
              <a:solidFill>
                <a:srgbClr val="0369A1"/>
              </a:solidFill>
              <a:prstDash val="solid"/>
              <a:miter/>
            </a:ln>
          </p:spPr>
          <p:txBody>
            <a:bodyPr/>
            <a:p/>
          </p:txBody>
        </p:sp>
      </p:grpSp>
      <p:grpSp>
        <p:nvGrpSpPr>
          <p:cNvPr name="Group 28" id="28"/>
          <p:cNvGrpSpPr/>
          <p:nvPr/>
        </p:nvGrpSpPr>
        <p:grpSpPr>
          <a:xfrm rot="0">
            <a:off x="987552" y="2002536"/>
            <a:ext cx="9354312" cy="2304288"/>
            <a:chOff x="0" y="0"/>
            <a:chExt cx="12472416" cy="3072384"/>
          </a:xfrm>
        </p:grpSpPr>
        <p:sp>
          <p:nvSpPr>
            <p:cNvPr name="Freeform 29" id="29"/>
            <p:cNvSpPr/>
            <p:nvPr/>
          </p:nvSpPr>
          <p:spPr>
            <a:xfrm flipH="false" flipV="false" rot="0">
              <a:off x="0" y="0"/>
              <a:ext cx="12472416" cy="3072384"/>
            </a:xfrm>
            <a:custGeom>
              <a:avLst/>
              <a:gdLst/>
              <a:ahLst/>
              <a:cxnLst/>
              <a:rect r="r" b="b" t="t" l="l"/>
              <a:pathLst>
                <a:path h="3072384" w="12472416">
                  <a:moveTo>
                    <a:pt x="0" y="0"/>
                  </a:moveTo>
                  <a:lnTo>
                    <a:pt x="12472416" y="0"/>
                  </a:lnTo>
                  <a:lnTo>
                    <a:pt x="12472416" y="3072384"/>
                  </a:lnTo>
                  <a:lnTo>
                    <a:pt x="0" y="3072384"/>
                  </a:lnTo>
                  <a:close/>
                </a:path>
              </a:pathLst>
            </a:custGeom>
            <a:blipFill>
              <a:blip r:embed="rId2">
                <a:alphaModFix amt="0"/>
              </a:blip>
              <a:stretch>
                <a:fillRect l="0" t="-29099" r="0" b="-29099"/>
              </a:stretch>
            </a:blipFill>
          </p:spPr>
          <p:txBody>
            <a:bodyPr/>
            <a:p/>
          </p:txBody>
        </p:sp>
        <p:sp>
          <p:nvSpPr>
            <p:cNvPr name="TextBox 30" id="30"/>
            <p:cNvSpPr txBox="true"/>
            <p:nvPr/>
          </p:nvSpPr>
          <p:spPr>
            <a:xfrm>
              <a:off x="0" y="-9525"/>
              <a:ext cx="12472416" cy="3081909"/>
            </a:xfrm>
            <a:prstGeom prst="rect">
              <a:avLst/>
            </a:prstGeom>
          </p:spPr>
          <p:txBody>
            <a:bodyPr anchor="ctr" rtlCol="false" tIns="0" lIns="0" bIns="0" rIns="0"/>
            <a:lstStyle/>
            <a:p>
              <a:pPr algn="l">
                <a:lnSpc>
                  <a:spcPts val="2195"/>
                </a:lnSpc>
              </a:pPr>
              <a:r>
                <a:rPr lang="en-US" sz="1829" b="true">
                  <a:solidFill>
                    <a:srgbClr val="0369A1"/>
                  </a:solidFill>
                  <a:latin typeface="DejaVu Sans Bold"/>
                  <a:ea typeface="DejaVu Sans Bold"/>
                  <a:cs typeface="DejaVu Sans Bold"/>
                  <a:sym typeface="DejaVu Sans Bold"/>
                </a:rPr>
                <a:t>5. PHÁT TRIỂN NOXH CHO THUÊ (GIẢI BÀI TOÁN VỐN BAN ĐẦU):</a:t>
              </a:r>
            </a:p>
            <a:p>
              <a:pPr algn="l">
                <a:lnSpc>
                  <a:spcPts val="2481"/>
                </a:lnSpc>
              </a:pPr>
              <a:r>
                <a:rPr lang="en-US" sz="1695">
                  <a:solidFill>
                    <a:srgbClr val="1E293B"/>
                  </a:solidFill>
                  <a:latin typeface="DejaVu Sans Light"/>
                  <a:ea typeface="DejaVu Sans Light"/>
                  <a:cs typeface="DejaVu Sans Light"/>
                  <a:sym typeface="DejaVu Sans Light"/>
                </a:rPr>
                <a:t>• Đáp ứng nhu cầu chỗ ở cho lao động trẻ, công nhân chưa tích lũy đủ 20% vốn tự có ban đầu.</a:t>
              </a:r>
            </a:p>
            <a:p>
              <a:pPr algn="l">
                <a:lnSpc>
                  <a:spcPts val="2481"/>
                </a:lnSpc>
              </a:pPr>
              <a:r>
                <a:rPr lang="en-US" sz="1695">
                  <a:solidFill>
                    <a:srgbClr val="1E293B"/>
                  </a:solidFill>
                  <a:latin typeface="DejaVu Sans Light"/>
                  <a:ea typeface="DejaVu Sans Light"/>
                  <a:cs typeface="DejaVu Sans Light"/>
                  <a:sym typeface="DejaVu Sans Light"/>
                </a:rPr>
                <a:t>• Cả nước có 114 dự án NOXH có nhà ở cho thuê đang triển khai, với tổng cộng 63.970 căn (khung giá thuê do UBND cấp tỉnh ban hành phù hợp thu nhập).</a:t>
              </a:r>
            </a:p>
          </p:txBody>
        </p:sp>
      </p:grpSp>
      <p:grpSp>
        <p:nvGrpSpPr>
          <p:cNvPr name="Group 31" id="31"/>
          <p:cNvGrpSpPr/>
          <p:nvPr/>
        </p:nvGrpSpPr>
        <p:grpSpPr>
          <a:xfrm rot="0">
            <a:off x="740093" y="4539424"/>
            <a:ext cx="9835515" cy="2305431"/>
            <a:chOff x="0" y="0"/>
            <a:chExt cx="13114020" cy="3073908"/>
          </a:xfrm>
        </p:grpSpPr>
        <p:sp>
          <p:nvSpPr>
            <p:cNvPr name="Freeform 32" id="32"/>
            <p:cNvSpPr/>
            <p:nvPr/>
          </p:nvSpPr>
          <p:spPr>
            <a:xfrm flipH="false" flipV="false" rot="0">
              <a:off x="0" y="0"/>
              <a:ext cx="13114020" cy="3073908"/>
            </a:xfrm>
            <a:custGeom>
              <a:avLst/>
              <a:gdLst/>
              <a:ahLst/>
              <a:cxnLst/>
              <a:rect r="r" b="b" t="t" l="l"/>
              <a:pathLst>
                <a:path h="3073908" w="13114020">
                  <a:moveTo>
                    <a:pt x="0" y="122936"/>
                  </a:moveTo>
                  <a:cubicBezTo>
                    <a:pt x="0" y="54991"/>
                    <a:pt x="54991" y="0"/>
                    <a:pt x="122936" y="0"/>
                  </a:cubicBezTo>
                  <a:lnTo>
                    <a:pt x="12991084" y="0"/>
                  </a:lnTo>
                  <a:cubicBezTo>
                    <a:pt x="13059029" y="0"/>
                    <a:pt x="13114020" y="54991"/>
                    <a:pt x="13114020" y="122936"/>
                  </a:cubicBezTo>
                  <a:lnTo>
                    <a:pt x="13114020" y="2950972"/>
                  </a:lnTo>
                  <a:cubicBezTo>
                    <a:pt x="13114020" y="3018917"/>
                    <a:pt x="13059029" y="3073908"/>
                    <a:pt x="12991084" y="3073908"/>
                  </a:cubicBezTo>
                  <a:lnTo>
                    <a:pt x="122936" y="3073908"/>
                  </a:lnTo>
                  <a:cubicBezTo>
                    <a:pt x="54991" y="3073908"/>
                    <a:pt x="0" y="3018917"/>
                    <a:pt x="0" y="2950972"/>
                  </a:cubicBezTo>
                  <a:close/>
                </a:path>
              </a:pathLst>
            </a:custGeom>
            <a:solidFill>
              <a:srgbClr val="EAF7F5"/>
            </a:solidFill>
            <a:ln w="28575" cap="sq">
              <a:solidFill>
                <a:srgbClr val="0F766E"/>
              </a:solidFill>
              <a:prstDash val="solid"/>
              <a:miter/>
            </a:ln>
          </p:spPr>
          <p:txBody>
            <a:bodyPr/>
            <a:p/>
          </p:txBody>
        </p:sp>
      </p:grpSp>
      <p:grpSp>
        <p:nvGrpSpPr>
          <p:cNvPr name="Group 33" id="33"/>
          <p:cNvGrpSpPr/>
          <p:nvPr/>
        </p:nvGrpSpPr>
        <p:grpSpPr>
          <a:xfrm rot="0">
            <a:off x="987552" y="4636008"/>
            <a:ext cx="9354312" cy="2112264"/>
            <a:chOff x="0" y="0"/>
            <a:chExt cx="12472416" cy="2816352"/>
          </a:xfrm>
        </p:grpSpPr>
        <p:sp>
          <p:nvSpPr>
            <p:cNvPr name="Freeform 34" id="34"/>
            <p:cNvSpPr/>
            <p:nvPr/>
          </p:nvSpPr>
          <p:spPr>
            <a:xfrm flipH="false" flipV="false" rot="0">
              <a:off x="0" y="0"/>
              <a:ext cx="12472416" cy="2816352"/>
            </a:xfrm>
            <a:custGeom>
              <a:avLst/>
              <a:gdLst/>
              <a:ahLst/>
              <a:cxnLst/>
              <a:rect r="r" b="b" t="t" l="l"/>
              <a:pathLst>
                <a:path h="2816352" w="12472416">
                  <a:moveTo>
                    <a:pt x="0" y="0"/>
                  </a:moveTo>
                  <a:lnTo>
                    <a:pt x="12472416" y="0"/>
                  </a:lnTo>
                  <a:lnTo>
                    <a:pt x="12472416" y="2816352"/>
                  </a:lnTo>
                  <a:lnTo>
                    <a:pt x="0" y="2816352"/>
                  </a:lnTo>
                  <a:close/>
                </a:path>
              </a:pathLst>
            </a:custGeom>
            <a:blipFill>
              <a:blip r:embed="rId2">
                <a:alphaModFix amt="0"/>
              </a:blip>
              <a:stretch>
                <a:fillRect l="0" t="-36290" r="0" b="-36290"/>
              </a:stretch>
            </a:blipFill>
          </p:spPr>
          <p:txBody>
            <a:bodyPr/>
            <a:p/>
          </p:txBody>
        </p:sp>
        <p:sp>
          <p:nvSpPr>
            <p:cNvPr name="TextBox 35" id="35"/>
            <p:cNvSpPr txBox="true"/>
            <p:nvPr/>
          </p:nvSpPr>
          <p:spPr>
            <a:xfrm>
              <a:off x="0" y="-19050"/>
              <a:ext cx="12472416" cy="2835402"/>
            </a:xfrm>
            <a:prstGeom prst="rect">
              <a:avLst/>
            </a:prstGeom>
          </p:spPr>
          <p:txBody>
            <a:bodyPr anchor="ctr" rtlCol="false" tIns="0" lIns="0" bIns="0" rIns="0"/>
            <a:lstStyle/>
            <a:p>
              <a:pPr algn="l">
                <a:lnSpc>
                  <a:spcPts val="2520"/>
                </a:lnSpc>
              </a:pPr>
              <a:r>
                <a:rPr lang="en-US" sz="2100" b="true">
                  <a:solidFill>
                    <a:srgbClr val="0F766E"/>
                  </a:solidFill>
                  <a:latin typeface="DejaVu Sans Bold"/>
                  <a:ea typeface="DejaVu Sans Bold"/>
                  <a:cs typeface="DejaVu Sans Bold"/>
                  <a:sym typeface="DejaVu Sans Bold"/>
                </a:rPr>
                <a:t>6. THỂ CHẾ "LUỒNG XANH" &amp; HẬU KIỂM MINH BẠCH (MỤC 5.2):</a:t>
              </a:r>
            </a:p>
            <a:p>
              <a:pPr algn="l">
                <a:lnSpc>
                  <a:spcPts val="2520"/>
                </a:lnSpc>
              </a:pPr>
              <a:r>
                <a:rPr lang="en-US" sz="2100">
                  <a:solidFill>
                    <a:srgbClr val="1E293B"/>
                  </a:solidFill>
                  <a:latin typeface="DejaVu Sans Light"/>
                  <a:ea typeface="DejaVu Sans Light"/>
                  <a:cs typeface="DejaVu Sans Light"/>
                  <a:sym typeface="DejaVu Sans Light"/>
                </a:rPr>
                <a:t>• Cơ chế "luồng xanh" cắt giảm ≥50% thời gian thủ tục đầu tư → giúp DN đẩy nhanh tiến độ dự án.</a:t>
              </a:r>
            </a:p>
            <a:p>
              <a:pPr algn="l">
                <a:lnSpc>
                  <a:spcPts val="2520"/>
                </a:lnSpc>
              </a:pPr>
              <a:r>
                <a:rPr lang="en-US" sz="2100">
                  <a:solidFill>
                    <a:srgbClr val="1E293B"/>
                  </a:solidFill>
                  <a:latin typeface="DejaVu Sans Light"/>
                  <a:ea typeface="DejaVu Sans Light"/>
                  <a:cs typeface="DejaVu Sans Light"/>
                  <a:sym typeface="DejaVu Sans Light"/>
                </a:rPr>
                <a:t>• Đối soát dữ liệu dân cư – nhà đất &amp; hạn chế chuyển nhượng 5 năm nhằm ngăn chặn đầu cơ trục lợi.</a:t>
              </a:r>
            </a:p>
          </p:txBody>
        </p:sp>
      </p:grpSp>
      <p:grpSp>
        <p:nvGrpSpPr>
          <p:cNvPr name="Group 36" id="36"/>
          <p:cNvGrpSpPr/>
          <p:nvPr/>
        </p:nvGrpSpPr>
        <p:grpSpPr>
          <a:xfrm rot="0">
            <a:off x="740093" y="6980872"/>
            <a:ext cx="9835515" cy="2415159"/>
            <a:chOff x="0" y="0"/>
            <a:chExt cx="13114020" cy="3220212"/>
          </a:xfrm>
        </p:grpSpPr>
        <p:sp>
          <p:nvSpPr>
            <p:cNvPr name="Freeform 37" id="37"/>
            <p:cNvSpPr/>
            <p:nvPr/>
          </p:nvSpPr>
          <p:spPr>
            <a:xfrm flipH="false" flipV="false" rot="0">
              <a:off x="0" y="0"/>
              <a:ext cx="13114020" cy="3220212"/>
            </a:xfrm>
            <a:custGeom>
              <a:avLst/>
              <a:gdLst/>
              <a:ahLst/>
              <a:cxnLst/>
              <a:rect r="r" b="b" t="t" l="l"/>
              <a:pathLst>
                <a:path h="3220212" w="13114020">
                  <a:moveTo>
                    <a:pt x="0" y="128778"/>
                  </a:moveTo>
                  <a:cubicBezTo>
                    <a:pt x="0" y="57658"/>
                    <a:pt x="57658" y="0"/>
                    <a:pt x="128778" y="0"/>
                  </a:cubicBezTo>
                  <a:lnTo>
                    <a:pt x="12985242" y="0"/>
                  </a:lnTo>
                  <a:cubicBezTo>
                    <a:pt x="13056363" y="0"/>
                    <a:pt x="13114020" y="57658"/>
                    <a:pt x="13114020" y="128778"/>
                  </a:cubicBezTo>
                  <a:lnTo>
                    <a:pt x="13114020" y="3091434"/>
                  </a:lnTo>
                  <a:cubicBezTo>
                    <a:pt x="13114020" y="3162554"/>
                    <a:pt x="13056363" y="3220212"/>
                    <a:pt x="12985242" y="3220212"/>
                  </a:cubicBezTo>
                  <a:lnTo>
                    <a:pt x="128778" y="3220212"/>
                  </a:lnTo>
                  <a:cubicBezTo>
                    <a:pt x="57658" y="3220212"/>
                    <a:pt x="0" y="3162554"/>
                    <a:pt x="0" y="3091434"/>
                  </a:cubicBezTo>
                  <a:close/>
                </a:path>
              </a:pathLst>
            </a:custGeom>
            <a:solidFill>
              <a:srgbClr val="FFFFFF"/>
            </a:solidFill>
            <a:ln w="28575" cap="sq">
              <a:solidFill>
                <a:srgbClr val="122645"/>
              </a:solidFill>
              <a:prstDash val="solid"/>
              <a:miter/>
            </a:ln>
          </p:spPr>
          <p:txBody>
            <a:bodyPr/>
            <a:p/>
          </p:txBody>
        </p:sp>
      </p:grpSp>
      <p:grpSp>
        <p:nvGrpSpPr>
          <p:cNvPr name="Group 38" id="38"/>
          <p:cNvGrpSpPr/>
          <p:nvPr/>
        </p:nvGrpSpPr>
        <p:grpSpPr>
          <a:xfrm rot="0">
            <a:off x="987552" y="7077456"/>
            <a:ext cx="9354312" cy="2221992"/>
            <a:chOff x="0" y="0"/>
            <a:chExt cx="12472416" cy="2962656"/>
          </a:xfrm>
        </p:grpSpPr>
        <p:sp>
          <p:nvSpPr>
            <p:cNvPr name="Freeform 39" id="39"/>
            <p:cNvSpPr/>
            <p:nvPr/>
          </p:nvSpPr>
          <p:spPr>
            <a:xfrm flipH="false" flipV="false" rot="0">
              <a:off x="0" y="0"/>
              <a:ext cx="12472416" cy="2962656"/>
            </a:xfrm>
            <a:custGeom>
              <a:avLst/>
              <a:gdLst/>
              <a:ahLst/>
              <a:cxnLst/>
              <a:rect r="r" b="b" t="t" l="l"/>
              <a:pathLst>
                <a:path h="2962656" w="12472416">
                  <a:moveTo>
                    <a:pt x="0" y="0"/>
                  </a:moveTo>
                  <a:lnTo>
                    <a:pt x="12472416" y="0"/>
                  </a:lnTo>
                  <a:lnTo>
                    <a:pt x="12472416" y="2962656"/>
                  </a:lnTo>
                  <a:lnTo>
                    <a:pt x="0" y="2962656"/>
                  </a:lnTo>
                  <a:close/>
                </a:path>
              </a:pathLst>
            </a:custGeom>
            <a:blipFill>
              <a:blip r:embed="rId2">
                <a:alphaModFix amt="0"/>
              </a:blip>
              <a:stretch>
                <a:fillRect l="0" t="-32029" r="0" b="-32029"/>
              </a:stretch>
            </a:blipFill>
          </p:spPr>
          <p:txBody>
            <a:bodyPr/>
            <a:p/>
          </p:txBody>
        </p:sp>
        <p:sp>
          <p:nvSpPr>
            <p:cNvPr name="TextBox 40" id="40"/>
            <p:cNvSpPr txBox="true"/>
            <p:nvPr/>
          </p:nvSpPr>
          <p:spPr>
            <a:xfrm>
              <a:off x="0" y="-19050"/>
              <a:ext cx="12472416" cy="2981706"/>
            </a:xfrm>
            <a:prstGeom prst="rect">
              <a:avLst/>
            </a:prstGeom>
          </p:spPr>
          <p:txBody>
            <a:bodyPr anchor="ctr" rtlCol="false" tIns="0" lIns="0" bIns="0" rIns="0"/>
            <a:lstStyle/>
            <a:p>
              <a:pPr algn="l">
                <a:lnSpc>
                  <a:spcPts val="2700"/>
                </a:lnSpc>
              </a:pPr>
              <a:r>
                <a:rPr lang="en-US" sz="2250" b="true">
                  <a:solidFill>
                    <a:srgbClr val="122645"/>
                  </a:solidFill>
                  <a:latin typeface="DejaVu Sans Bold"/>
                  <a:ea typeface="DejaVu Sans Bold"/>
                  <a:cs typeface="DejaVu Sans Bold"/>
                  <a:sym typeface="DejaVu Sans Bold"/>
                </a:rPr>
                <a:t>QUY MÔ TRIỂN KHAI ĐẾN QUÝ III/2026 (BỘ XÂY DỰNG, 15/10/2026):</a:t>
              </a:r>
            </a:p>
            <a:p>
              <a:pPr algn="l">
                <a:lnSpc>
                  <a:spcPts val="3294"/>
                </a:lnSpc>
              </a:pPr>
              <a:r>
                <a:rPr lang="en-US" sz="2250">
                  <a:solidFill>
                    <a:srgbClr val="1E293B"/>
                  </a:solidFill>
                  <a:latin typeface="DejaVu Sans Light"/>
                  <a:ea typeface="DejaVu Sans Light"/>
                  <a:cs typeface="DejaVu Sans Light"/>
                  <a:sym typeface="DejaVu Sans Light"/>
                </a:rPr>
                <a:t>• Tổng cộng 947 dự án với 910.933 căn đã hoàn thành, đang xây dựng hoặc được chấp thuận chủ trương (~91% mục tiêu Đề án); trong đó 216.626 căn thuộc 363 dự án đã hoàn thành.</a:t>
              </a:r>
            </a:p>
          </p:txBody>
        </p:sp>
      </p:grpSp>
      <p:grpSp>
        <p:nvGrpSpPr>
          <p:cNvPr name="Group 41" id="41"/>
          <p:cNvGrpSpPr/>
          <p:nvPr/>
        </p:nvGrpSpPr>
        <p:grpSpPr>
          <a:xfrm rot="0">
            <a:off x="10906506" y="1881378"/>
            <a:ext cx="6633972" cy="7511796"/>
            <a:chOff x="0" y="0"/>
            <a:chExt cx="8845296" cy="10015728"/>
          </a:xfrm>
        </p:grpSpPr>
        <p:sp>
          <p:nvSpPr>
            <p:cNvPr name="Freeform 42" id="42"/>
            <p:cNvSpPr/>
            <p:nvPr/>
          </p:nvSpPr>
          <p:spPr>
            <a:xfrm flipH="false" flipV="false" rot="0">
              <a:off x="0" y="0"/>
              <a:ext cx="8845296" cy="10015728"/>
            </a:xfrm>
            <a:custGeom>
              <a:avLst/>
              <a:gdLst/>
              <a:ahLst/>
              <a:cxnLst/>
              <a:rect r="r" b="b" t="t" l="l"/>
              <a:pathLst>
                <a:path h="10015728" w="8845296">
                  <a:moveTo>
                    <a:pt x="0" y="353822"/>
                  </a:moveTo>
                  <a:cubicBezTo>
                    <a:pt x="0" y="158369"/>
                    <a:pt x="158369" y="0"/>
                    <a:pt x="353822" y="0"/>
                  </a:cubicBezTo>
                  <a:lnTo>
                    <a:pt x="8491474" y="0"/>
                  </a:lnTo>
                  <a:cubicBezTo>
                    <a:pt x="8686927" y="0"/>
                    <a:pt x="8845296" y="158369"/>
                    <a:pt x="8845296" y="353822"/>
                  </a:cubicBezTo>
                  <a:lnTo>
                    <a:pt x="8845296" y="9661906"/>
                  </a:lnTo>
                  <a:cubicBezTo>
                    <a:pt x="8845296" y="9857360"/>
                    <a:pt x="8686927" y="10015728"/>
                    <a:pt x="8491474" y="10015728"/>
                  </a:cubicBezTo>
                  <a:lnTo>
                    <a:pt x="353822" y="10015728"/>
                  </a:lnTo>
                  <a:cubicBezTo>
                    <a:pt x="158369" y="10015728"/>
                    <a:pt x="0" y="9857359"/>
                    <a:pt x="0" y="9661906"/>
                  </a:cubicBezTo>
                  <a:close/>
                </a:path>
              </a:pathLst>
            </a:custGeom>
            <a:solidFill>
              <a:srgbClr val="FFFFFF"/>
            </a:solidFill>
            <a:ln w="22860" cap="sq">
              <a:solidFill>
                <a:srgbClr val="CBD5E1"/>
              </a:solidFill>
              <a:prstDash val="solid"/>
              <a:miter/>
            </a:ln>
          </p:spPr>
          <p:txBody>
            <a:bodyPr/>
            <a:p/>
          </p:txBody>
        </p:sp>
      </p:grpSp>
      <p:grpSp>
        <p:nvGrpSpPr>
          <p:cNvPr name="Group 43" id="43"/>
          <p:cNvGrpSpPr/>
          <p:nvPr/>
        </p:nvGrpSpPr>
        <p:grpSpPr>
          <a:xfrm rot="0">
            <a:off x="11000232" y="1975104"/>
            <a:ext cx="6446520" cy="6748272"/>
            <a:chOff x="0" y="0"/>
            <a:chExt cx="8595360" cy="8997696"/>
          </a:xfrm>
        </p:grpSpPr>
        <p:sp>
          <p:nvSpPr>
            <p:cNvPr name="Freeform 44" id="44" descr="image11.jpg"/>
            <p:cNvSpPr/>
            <p:nvPr/>
          </p:nvSpPr>
          <p:spPr>
            <a:xfrm flipH="false" flipV="false" rot="0">
              <a:off x="0" y="0"/>
              <a:ext cx="8595360" cy="8997696"/>
            </a:xfrm>
            <a:custGeom>
              <a:avLst/>
              <a:gdLst/>
              <a:ahLst/>
              <a:cxnLst/>
              <a:rect r="r" b="b" t="t" l="l"/>
              <a:pathLst>
                <a:path h="8997696" w="8595360">
                  <a:moveTo>
                    <a:pt x="0" y="0"/>
                  </a:moveTo>
                  <a:lnTo>
                    <a:pt x="8595360" y="0"/>
                  </a:lnTo>
                  <a:lnTo>
                    <a:pt x="8595360" y="8997696"/>
                  </a:lnTo>
                  <a:lnTo>
                    <a:pt x="0" y="8997696"/>
                  </a:lnTo>
                  <a:lnTo>
                    <a:pt x="0" y="0"/>
                  </a:lnTo>
                  <a:close/>
                </a:path>
              </a:pathLst>
            </a:custGeom>
            <a:blipFill>
              <a:blip r:embed="rId3"/>
              <a:stretch>
                <a:fillRect l="-1272" t="0" r="-1272" b="0"/>
              </a:stretch>
            </a:blipFill>
          </p:spPr>
          <p:txBody>
            <a:bodyPr/>
            <a:p/>
          </p:txBody>
        </p:sp>
      </p:grpSp>
      <p:grpSp>
        <p:nvGrpSpPr>
          <p:cNvPr name="Group 45" id="45"/>
          <p:cNvGrpSpPr/>
          <p:nvPr/>
        </p:nvGrpSpPr>
        <p:grpSpPr>
          <a:xfrm rot="0">
            <a:off x="11000232" y="8778240"/>
            <a:ext cx="6446520" cy="548640"/>
            <a:chOff x="0" y="0"/>
            <a:chExt cx="8595360" cy="731520"/>
          </a:xfrm>
        </p:grpSpPr>
        <p:sp>
          <p:nvSpPr>
            <p:cNvPr name="Freeform 46" id="46"/>
            <p:cNvSpPr/>
            <p:nvPr/>
          </p:nvSpPr>
          <p:spPr>
            <a:xfrm flipH="false" flipV="false" rot="0">
              <a:off x="0" y="0"/>
              <a:ext cx="8595360" cy="731520"/>
            </a:xfrm>
            <a:custGeom>
              <a:avLst/>
              <a:gdLst/>
              <a:ahLst/>
              <a:cxnLst/>
              <a:rect r="r" b="b" t="t" l="l"/>
              <a:pathLst>
                <a:path h="731520" w="8595360">
                  <a:moveTo>
                    <a:pt x="0" y="0"/>
                  </a:moveTo>
                  <a:lnTo>
                    <a:pt x="8595360" y="0"/>
                  </a:lnTo>
                  <a:lnTo>
                    <a:pt x="8595360" y="731520"/>
                  </a:lnTo>
                  <a:lnTo>
                    <a:pt x="0" y="731520"/>
                  </a:lnTo>
                  <a:close/>
                </a:path>
              </a:pathLst>
            </a:custGeom>
            <a:solidFill>
              <a:srgbClr val="F1F5F9"/>
            </a:solidFill>
          </p:spPr>
          <p:txBody>
            <a:bodyPr/>
            <a:p/>
          </p:txBody>
        </p:sp>
      </p:grpSp>
      <p:grpSp>
        <p:nvGrpSpPr>
          <p:cNvPr name="Group 47" id="47"/>
          <p:cNvGrpSpPr/>
          <p:nvPr/>
        </p:nvGrpSpPr>
        <p:grpSpPr>
          <a:xfrm rot="0">
            <a:off x="11082528" y="8778240"/>
            <a:ext cx="6281928" cy="548640"/>
            <a:chOff x="0" y="0"/>
            <a:chExt cx="8375904" cy="731520"/>
          </a:xfrm>
        </p:grpSpPr>
        <p:sp>
          <p:nvSpPr>
            <p:cNvPr name="Freeform 48" id="48"/>
            <p:cNvSpPr/>
            <p:nvPr/>
          </p:nvSpPr>
          <p:spPr>
            <a:xfrm flipH="false" flipV="false" rot="0">
              <a:off x="0" y="0"/>
              <a:ext cx="8375904" cy="731520"/>
            </a:xfrm>
            <a:custGeom>
              <a:avLst/>
              <a:gdLst/>
              <a:ahLst/>
              <a:cxnLst/>
              <a:rect r="r" b="b" t="t" l="l"/>
              <a:pathLst>
                <a:path h="731520" w="8375904">
                  <a:moveTo>
                    <a:pt x="0" y="0"/>
                  </a:moveTo>
                  <a:lnTo>
                    <a:pt x="8375904" y="0"/>
                  </a:lnTo>
                  <a:lnTo>
                    <a:pt x="8375904" y="731520"/>
                  </a:lnTo>
                  <a:lnTo>
                    <a:pt x="0" y="731520"/>
                  </a:lnTo>
                  <a:close/>
                </a:path>
              </a:pathLst>
            </a:custGeom>
            <a:blipFill>
              <a:blip r:embed="rId2">
                <a:alphaModFix amt="0"/>
              </a:blip>
              <a:stretch>
                <a:fillRect l="0" t="-173103" r="0" b="-173103"/>
              </a:stretch>
            </a:blipFill>
          </p:spPr>
          <p:txBody>
            <a:bodyPr/>
            <a:p/>
          </p:txBody>
        </p:sp>
        <p:sp>
          <p:nvSpPr>
            <p:cNvPr name="TextBox 49" id="49"/>
            <p:cNvSpPr txBox="true"/>
            <p:nvPr/>
          </p:nvSpPr>
          <p:spPr>
            <a:xfrm>
              <a:off x="0" y="-9525"/>
              <a:ext cx="8375904" cy="741045"/>
            </a:xfrm>
            <a:prstGeom prst="rect">
              <a:avLst/>
            </a:prstGeom>
          </p:spPr>
          <p:txBody>
            <a:bodyPr anchor="ctr" rtlCol="false" tIns="0" lIns="0" bIns="0" rIns="0"/>
            <a:lstStyle/>
            <a:p>
              <a:pPr algn="l">
                <a:lnSpc>
                  <a:spcPts val="1727"/>
                </a:lnSpc>
              </a:pPr>
              <a:r>
                <a:rPr lang="en-US" sz="1439" b="true">
                  <a:solidFill>
                    <a:srgbClr val="1E293B"/>
                  </a:solidFill>
                  <a:latin typeface="DejaVu Sans Bold"/>
                  <a:ea typeface="DejaVu Sans Bold"/>
                  <a:cs typeface="DejaVu Sans Bold"/>
                  <a:sym typeface="DejaVu Sans Bold"/>
                </a:rPr>
                <a:t>Ảnh thật: Khu NOXH quy mô lớn cho người lao động mua &amp; thuê | Nguồn: Báo Điện tử Chính phủ</a:t>
              </a: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8FAFC"/>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15849200" cy="137160"/>
            <a:chOff x="0" y="0"/>
            <a:chExt cx="21132267" cy="182880"/>
          </a:xfrm>
        </p:grpSpPr>
        <p:sp>
          <p:nvSpPr>
            <p:cNvPr name="Freeform 5" id="5"/>
            <p:cNvSpPr/>
            <p:nvPr/>
          </p:nvSpPr>
          <p:spPr>
            <a:xfrm flipH="false" flipV="false" rot="0">
              <a:off x="0" y="0"/>
              <a:ext cx="21132292" cy="182880"/>
            </a:xfrm>
            <a:custGeom>
              <a:avLst/>
              <a:gdLst/>
              <a:ahLst/>
              <a:cxnLst/>
              <a:rect r="r" b="b" t="t" l="l"/>
              <a:pathLst>
                <a:path h="182880" w="21132292">
                  <a:moveTo>
                    <a:pt x="0" y="0"/>
                  </a:moveTo>
                  <a:lnTo>
                    <a:pt x="21132292" y="0"/>
                  </a:lnTo>
                  <a:lnTo>
                    <a:pt x="21132292" y="182880"/>
                  </a:lnTo>
                  <a:lnTo>
                    <a:pt x="0" y="182880"/>
                  </a:lnTo>
                  <a:close/>
                </a:path>
              </a:pathLst>
            </a:custGeom>
            <a:solidFill>
              <a:srgbClr val="122645"/>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EF6FC"/>
            </a:solidFill>
            <a:ln w="19050" cap="sq">
              <a:solidFill>
                <a:srgbClr val="122645"/>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9525"/>
              <a:ext cx="9235440" cy="631317"/>
            </a:xfrm>
            <a:prstGeom prst="rect">
              <a:avLst/>
            </a:prstGeom>
          </p:spPr>
          <p:txBody>
            <a:bodyPr anchor="ctr" rtlCol="false" tIns="0" lIns="0" bIns="0" rIns="0"/>
            <a:lstStyle/>
            <a:p>
              <a:pPr algn="l">
                <a:lnSpc>
                  <a:spcPts val="1889"/>
                </a:lnSpc>
              </a:pPr>
              <a:r>
                <a:rPr lang="en-US" sz="1575" b="true">
                  <a:solidFill>
                    <a:srgbClr val="122645"/>
                  </a:solidFill>
                  <a:latin typeface="DejaVu Sans Bold"/>
                  <a:ea typeface="DejaVu Sans Bold"/>
                  <a:cs typeface="DejaVu Sans Bold"/>
                  <a:sym typeface="DejaVu Sans Bold"/>
                </a:rPr>
                <a:t>CHỐT LẬP LUẬN PHÁP LÝ CÂU 2 • ĐIỀU 83 LUẬT NHÀ Ở 2023</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9525"/>
              <a:ext cx="2432304" cy="631317"/>
            </a:xfrm>
            <a:prstGeom prst="rect">
              <a:avLst/>
            </a:prstGeom>
          </p:spPr>
          <p:txBody>
            <a:bodyPr anchor="ctr" rtlCol="false" tIns="0" lIns="0" bIns="0" rIns="0"/>
            <a:lstStyle/>
            <a:p>
              <a:pPr algn="ctr">
                <a:lnSpc>
                  <a:spcPts val="1889"/>
                </a:lnSpc>
              </a:pPr>
              <a:r>
                <a:rPr lang="en-US" sz="1575" b="true">
                  <a:solidFill>
                    <a:srgbClr val="FFFFFF"/>
                  </a:solidFill>
                  <a:latin typeface="DejaVu Sans Bold"/>
                  <a:ea typeface="DejaVu Sans Bold"/>
                  <a:cs typeface="DejaVu Sans Bold"/>
                  <a:sym typeface="DejaVu Sans Bold"/>
                </a:rPr>
                <a:t>Slide 14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Nhà nước can thiệp có phải vi phạm quyền tự do kinh doanh?</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19050"/>
              <a:ext cx="22366224" cy="677418"/>
            </a:xfrm>
            <a:prstGeom prst="rect">
              <a:avLst/>
            </a:prstGeom>
          </p:spPr>
          <p:txBody>
            <a:bodyPr anchor="ctr" rtlCol="false" tIns="0" lIns="0" bIns="0" rIns="0"/>
            <a:lstStyle/>
            <a:p>
              <a:pPr algn="l">
                <a:lnSpc>
                  <a:spcPts val="2520"/>
                </a:lnSpc>
              </a:pPr>
              <a:r>
                <a:rPr lang="en-US" sz="2100" i="true">
                  <a:solidFill>
                    <a:srgbClr val="475569"/>
                  </a:solidFill>
                  <a:latin typeface="DejaVu Sans Bold Italics"/>
                  <a:ea typeface="DejaVu Sans Bold Italics"/>
                  <a:cs typeface="DejaVu Sans Bold Italics"/>
                  <a:sym typeface="DejaVu Sans Bold Italics"/>
                </a:rPr>
                <a:t>Nguồn pháp lý: Hiến pháp 2013 (Điều 33); Luật Nhà ở 2023 (khoản 2 Điều 83 &amp; Điều 85); Nghị định 100/2024/NĐ-CP.</a:t>
              </a:r>
            </a:p>
          </p:txBody>
        </p:sp>
      </p:grpSp>
      <p:grpSp>
        <p:nvGrpSpPr>
          <p:cNvPr name="Group 26" id="26"/>
          <p:cNvGrpSpPr/>
          <p:nvPr/>
        </p:nvGrpSpPr>
        <p:grpSpPr>
          <a:xfrm rot="0">
            <a:off x="735330" y="1873758"/>
            <a:ext cx="8295132" cy="5359908"/>
            <a:chOff x="0" y="0"/>
            <a:chExt cx="11060176" cy="7146544"/>
          </a:xfrm>
        </p:grpSpPr>
        <p:sp>
          <p:nvSpPr>
            <p:cNvPr name="Freeform 27" id="27"/>
            <p:cNvSpPr/>
            <p:nvPr/>
          </p:nvSpPr>
          <p:spPr>
            <a:xfrm flipH="false" flipV="false" rot="0">
              <a:off x="0" y="0"/>
              <a:ext cx="11060176" cy="7146544"/>
            </a:xfrm>
            <a:custGeom>
              <a:avLst/>
              <a:gdLst/>
              <a:ahLst/>
              <a:cxnLst/>
              <a:rect r="r" b="b" t="t" l="l"/>
              <a:pathLst>
                <a:path h="7146544" w="11060176">
                  <a:moveTo>
                    <a:pt x="0" y="285877"/>
                  </a:moveTo>
                  <a:cubicBezTo>
                    <a:pt x="0" y="128016"/>
                    <a:pt x="128016" y="0"/>
                    <a:pt x="285877" y="0"/>
                  </a:cubicBezTo>
                  <a:lnTo>
                    <a:pt x="10774299" y="0"/>
                  </a:lnTo>
                  <a:cubicBezTo>
                    <a:pt x="10932160" y="0"/>
                    <a:pt x="11060176" y="128016"/>
                    <a:pt x="11060176" y="285877"/>
                  </a:cubicBezTo>
                  <a:lnTo>
                    <a:pt x="11060176" y="6860667"/>
                  </a:lnTo>
                  <a:cubicBezTo>
                    <a:pt x="11060176" y="7018528"/>
                    <a:pt x="10932160" y="7146544"/>
                    <a:pt x="10774299" y="7146544"/>
                  </a:cubicBezTo>
                  <a:lnTo>
                    <a:pt x="285877" y="7146544"/>
                  </a:lnTo>
                  <a:cubicBezTo>
                    <a:pt x="128016" y="7146544"/>
                    <a:pt x="0" y="7018528"/>
                    <a:pt x="0" y="6860667"/>
                  </a:cubicBezTo>
                  <a:close/>
                </a:path>
              </a:pathLst>
            </a:custGeom>
            <a:solidFill>
              <a:srgbClr val="ECFDF5"/>
            </a:solidFill>
            <a:ln w="38100" cap="sq">
              <a:solidFill>
                <a:srgbClr val="047857"/>
              </a:solidFill>
              <a:prstDash val="solid"/>
              <a:miter/>
            </a:ln>
          </p:spPr>
          <p:txBody>
            <a:bodyPr/>
            <a:p/>
          </p:txBody>
        </p:sp>
      </p:grpSp>
      <p:grpSp>
        <p:nvGrpSpPr>
          <p:cNvPr name="Group 28" id="28"/>
          <p:cNvGrpSpPr/>
          <p:nvPr/>
        </p:nvGrpSpPr>
        <p:grpSpPr>
          <a:xfrm rot="0">
            <a:off x="754380" y="1892808"/>
            <a:ext cx="8257032" cy="713232"/>
            <a:chOff x="0" y="0"/>
            <a:chExt cx="11009376" cy="950976"/>
          </a:xfrm>
        </p:grpSpPr>
        <p:sp>
          <p:nvSpPr>
            <p:cNvPr name="Freeform 29" id="29"/>
            <p:cNvSpPr/>
            <p:nvPr/>
          </p:nvSpPr>
          <p:spPr>
            <a:xfrm flipH="false" flipV="false" rot="0">
              <a:off x="0" y="0"/>
              <a:ext cx="11009376" cy="950976"/>
            </a:xfrm>
            <a:custGeom>
              <a:avLst/>
              <a:gdLst/>
              <a:ahLst/>
              <a:cxnLst/>
              <a:rect r="r" b="b" t="t" l="l"/>
              <a:pathLst>
                <a:path h="950976" w="11009376">
                  <a:moveTo>
                    <a:pt x="0" y="0"/>
                  </a:moveTo>
                  <a:lnTo>
                    <a:pt x="11009376" y="0"/>
                  </a:lnTo>
                  <a:lnTo>
                    <a:pt x="11009376" y="950976"/>
                  </a:lnTo>
                  <a:lnTo>
                    <a:pt x="0" y="950976"/>
                  </a:lnTo>
                  <a:close/>
                </a:path>
              </a:pathLst>
            </a:custGeom>
            <a:solidFill>
              <a:srgbClr val="047857"/>
            </a:solidFill>
          </p:spPr>
          <p:txBody>
            <a:bodyPr/>
            <a:p/>
          </p:txBody>
        </p:sp>
      </p:grpSp>
      <p:grpSp>
        <p:nvGrpSpPr>
          <p:cNvPr name="Group 30" id="30"/>
          <p:cNvGrpSpPr/>
          <p:nvPr/>
        </p:nvGrpSpPr>
        <p:grpSpPr>
          <a:xfrm rot="0">
            <a:off x="987552" y="1920240"/>
            <a:ext cx="7818120" cy="658368"/>
            <a:chOff x="0" y="0"/>
            <a:chExt cx="10424160" cy="877824"/>
          </a:xfrm>
        </p:grpSpPr>
        <p:sp>
          <p:nvSpPr>
            <p:cNvPr name="Freeform 31" id="31"/>
            <p:cNvSpPr/>
            <p:nvPr/>
          </p:nvSpPr>
          <p:spPr>
            <a:xfrm flipH="false" flipV="false" rot="0">
              <a:off x="0" y="0"/>
              <a:ext cx="10424160" cy="877824"/>
            </a:xfrm>
            <a:custGeom>
              <a:avLst/>
              <a:gdLst/>
              <a:ahLst/>
              <a:cxnLst/>
              <a:rect r="r" b="b" t="t" l="l"/>
              <a:pathLst>
                <a:path h="877824" w="10424160">
                  <a:moveTo>
                    <a:pt x="0" y="0"/>
                  </a:moveTo>
                  <a:lnTo>
                    <a:pt x="10424160" y="0"/>
                  </a:lnTo>
                  <a:lnTo>
                    <a:pt x="10424160" y="877824"/>
                  </a:lnTo>
                  <a:lnTo>
                    <a:pt x="0" y="877824"/>
                  </a:lnTo>
                  <a:close/>
                </a:path>
              </a:pathLst>
            </a:custGeom>
            <a:blipFill>
              <a:blip r:embed="rId2">
                <a:alphaModFix amt="0"/>
              </a:blip>
              <a:stretch>
                <a:fillRect l="0" t="-181384" r="0" b="-181384"/>
              </a:stretch>
            </a:blipFill>
          </p:spPr>
          <p:txBody>
            <a:bodyPr/>
            <a:p/>
          </p:txBody>
        </p:sp>
        <p:sp>
          <p:nvSpPr>
            <p:cNvPr name="TextBox 32" id="32"/>
            <p:cNvSpPr txBox="true"/>
            <p:nvPr/>
          </p:nvSpPr>
          <p:spPr>
            <a:xfrm>
              <a:off x="0" y="-57150"/>
              <a:ext cx="10424160" cy="934974"/>
            </a:xfrm>
            <a:prstGeom prst="rect">
              <a:avLst/>
            </a:prstGeom>
          </p:spPr>
          <p:txBody>
            <a:bodyPr anchor="ctr" rtlCol="false" tIns="0" lIns="0" bIns="0" rIns="0"/>
            <a:lstStyle/>
            <a:p>
              <a:pPr algn="l">
                <a:lnSpc>
                  <a:spcPts val="2700"/>
                </a:lnSpc>
              </a:pPr>
              <a:r>
                <a:rPr lang="en-US" sz="2250" b="true">
                  <a:solidFill>
                    <a:srgbClr val="FFFFFF"/>
                  </a:solidFill>
                  <a:latin typeface="Calibri (MS) Bold"/>
                  <a:ea typeface="Calibri (MS) Bold"/>
                  <a:cs typeface="Calibri (MS) Bold"/>
                  <a:sym typeface="Calibri (MS) Bold"/>
                </a:rPr>
                <a:t>✓  CAN THIỆP HỢP PHÁP THEO LUẬT ĐỊNH</a:t>
              </a:r>
            </a:p>
          </p:txBody>
        </p:sp>
      </p:grpSp>
      <p:sp>
        <p:nvSpPr>
          <p:cNvPr name="TextBox 33" id="33"/>
          <p:cNvSpPr txBox="true"/>
          <p:nvPr/>
        </p:nvSpPr>
        <p:spPr>
          <a:xfrm rot="0">
            <a:off x="1083564" y="2695194"/>
            <a:ext cx="7639812" cy="4345686"/>
          </a:xfrm>
          <a:prstGeom prst="rect">
            <a:avLst/>
          </a:prstGeom>
        </p:spPr>
        <p:txBody>
          <a:bodyPr anchor="t" rtlCol="false" tIns="0" lIns="0" bIns="0" rIns="0">
            <a:spAutoFit/>
          </a:bodyPr>
          <a:lstStyle/>
          <a:p>
            <a:pPr algn="l">
              <a:lnSpc>
                <a:spcPts val="2633"/>
              </a:lnSpc>
            </a:pPr>
            <a:r>
              <a:rPr lang="en-US" sz="1770" b="true">
                <a:solidFill>
                  <a:srgbClr val="0B192E"/>
                </a:solidFill>
                <a:latin typeface="DejaVu Sans Bold"/>
                <a:ea typeface="DejaVu Sans Bold"/>
                <a:cs typeface="DejaVu Sans Bold"/>
                <a:sym typeface="DejaVu Sans Bold"/>
              </a:rPr>
              <a:t>• Nhà nước quy định nghĩa vụ NOXH công khai, minh bạch từ khâu quy hoạch (khoản 2 Điều 83 Luật Nhà ở 2023).</a:t>
            </a:r>
          </a:p>
          <a:p>
            <a:pPr algn="l">
              <a:lnSpc>
                <a:spcPts val="2544"/>
              </a:lnSpc>
            </a:pPr>
            <a:r>
              <a:rPr lang="en-US" sz="1710">
                <a:solidFill>
                  <a:srgbClr val="1E293B"/>
                </a:solidFill>
                <a:latin typeface="DejaVu Sans Light"/>
                <a:ea typeface="DejaVu Sans Light"/>
                <a:cs typeface="DejaVu Sans Light"/>
                <a:sym typeface="DejaVu Sans Light"/>
              </a:rPr>
              <a:t>• Tại đô thị loại đặc biệt, loại I, II, III, chủ đầu tư dự án thương mại thực hiện 1 trong 3 hình thức linh hoạt:</a:t>
            </a:r>
          </a:p>
          <a:p>
            <a:pPr algn="l">
              <a:lnSpc>
                <a:spcPts val="2544"/>
              </a:lnSpc>
            </a:pPr>
            <a:r>
              <a:rPr lang="en-US" sz="1710">
                <a:solidFill>
                  <a:srgbClr val="1E293B"/>
                </a:solidFill>
                <a:latin typeface="DejaVu Sans Light"/>
                <a:ea typeface="DejaVu Sans Light"/>
                <a:cs typeface="DejaVu Sans Light"/>
                <a:sym typeface="DejaVu Sans Light"/>
              </a:rPr>
              <a:t>   (1) Dành một phần diện tích đất dự án xây dựng NOXH;</a:t>
            </a:r>
          </a:p>
          <a:p>
            <a:pPr algn="l">
              <a:lnSpc>
                <a:spcPts val="2544"/>
              </a:lnSpc>
            </a:pPr>
            <a:r>
              <a:rPr lang="en-US" sz="1710">
                <a:solidFill>
                  <a:srgbClr val="1E293B"/>
                </a:solidFill>
                <a:latin typeface="DejaVu Sans Light"/>
                <a:ea typeface="DejaVu Sans Light"/>
                <a:cs typeface="DejaVu Sans Light"/>
                <a:sym typeface="DejaVu Sans Light"/>
              </a:rPr>
              <a:t>   (2) Bố trí quỹ đất NOXH đã đầu tư hạ tầng ở vị trí khác; hoặc</a:t>
            </a:r>
          </a:p>
          <a:p>
            <a:pPr algn="l">
              <a:lnSpc>
                <a:spcPts val="2544"/>
              </a:lnSpc>
            </a:pPr>
            <a:r>
              <a:rPr lang="en-US" sz="1710">
                <a:solidFill>
                  <a:srgbClr val="1E293B"/>
                </a:solidFill>
                <a:latin typeface="DejaVu Sans Light"/>
                <a:ea typeface="DejaVu Sans Light"/>
                <a:cs typeface="DejaVu Sans Light"/>
                <a:sym typeface="DejaVu Sans Light"/>
              </a:rPr>
              <a:t>   (3) Đóng tiền tương đương giá trị quỹ đất đã đầu tư hạ tầng.</a:t>
            </a:r>
          </a:p>
          <a:p>
            <a:pPr algn="l">
              <a:lnSpc>
                <a:spcPts val="2525"/>
              </a:lnSpc>
            </a:pPr>
            <a:r>
              <a:rPr lang="en-US" sz="1725" b="true">
                <a:solidFill>
                  <a:srgbClr val="047857"/>
                </a:solidFill>
                <a:latin typeface="DejaVu Sans Bold"/>
                <a:ea typeface="DejaVu Sans Bold"/>
                <a:cs typeface="DejaVu Sans Bold"/>
                <a:sym typeface="DejaVu Sans Bold"/>
              </a:rPr>
              <a:t>• Đi kèm ưu đãi thuế, đất đai, tín dụng — bảo đảm quyền kinh doanh hợp pháp &amp; lợi nhuận chính đáng của doanh nghiệp.</a:t>
            </a:r>
          </a:p>
        </p:txBody>
      </p:sp>
      <p:grpSp>
        <p:nvGrpSpPr>
          <p:cNvPr name="Group 34" id="34"/>
          <p:cNvGrpSpPr/>
          <p:nvPr/>
        </p:nvGrpSpPr>
        <p:grpSpPr>
          <a:xfrm rot="0">
            <a:off x="9252966" y="1873758"/>
            <a:ext cx="8295132" cy="5359908"/>
            <a:chOff x="0" y="0"/>
            <a:chExt cx="11060176" cy="7146544"/>
          </a:xfrm>
        </p:grpSpPr>
        <p:sp>
          <p:nvSpPr>
            <p:cNvPr name="Freeform 35" id="35"/>
            <p:cNvSpPr/>
            <p:nvPr/>
          </p:nvSpPr>
          <p:spPr>
            <a:xfrm flipH="false" flipV="false" rot="0">
              <a:off x="0" y="0"/>
              <a:ext cx="11060176" cy="7146544"/>
            </a:xfrm>
            <a:custGeom>
              <a:avLst/>
              <a:gdLst/>
              <a:ahLst/>
              <a:cxnLst/>
              <a:rect r="r" b="b" t="t" l="l"/>
              <a:pathLst>
                <a:path h="7146544" w="11060176">
                  <a:moveTo>
                    <a:pt x="0" y="285877"/>
                  </a:moveTo>
                  <a:cubicBezTo>
                    <a:pt x="0" y="128016"/>
                    <a:pt x="128016" y="0"/>
                    <a:pt x="285877" y="0"/>
                  </a:cubicBezTo>
                  <a:lnTo>
                    <a:pt x="10774299" y="0"/>
                  </a:lnTo>
                  <a:cubicBezTo>
                    <a:pt x="10932160" y="0"/>
                    <a:pt x="11060176" y="128016"/>
                    <a:pt x="11060176" y="285877"/>
                  </a:cubicBezTo>
                  <a:lnTo>
                    <a:pt x="11060176" y="6860667"/>
                  </a:lnTo>
                  <a:cubicBezTo>
                    <a:pt x="11060176" y="7018528"/>
                    <a:pt x="10932160" y="7146544"/>
                    <a:pt x="10774299" y="7146544"/>
                  </a:cubicBezTo>
                  <a:lnTo>
                    <a:pt x="285877" y="7146544"/>
                  </a:lnTo>
                  <a:cubicBezTo>
                    <a:pt x="128016" y="7146544"/>
                    <a:pt x="0" y="7018528"/>
                    <a:pt x="0" y="6860667"/>
                  </a:cubicBezTo>
                  <a:close/>
                </a:path>
              </a:pathLst>
            </a:custGeom>
            <a:solidFill>
              <a:srgbClr val="FEF2F2"/>
            </a:solidFill>
            <a:ln w="38100" cap="sq">
              <a:solidFill>
                <a:srgbClr val="B91C1C"/>
              </a:solidFill>
              <a:prstDash val="solid"/>
              <a:miter/>
            </a:ln>
          </p:spPr>
          <p:txBody>
            <a:bodyPr/>
            <a:p/>
          </p:txBody>
        </p:sp>
      </p:grpSp>
      <p:grpSp>
        <p:nvGrpSpPr>
          <p:cNvPr name="Group 36" id="36"/>
          <p:cNvGrpSpPr/>
          <p:nvPr/>
        </p:nvGrpSpPr>
        <p:grpSpPr>
          <a:xfrm rot="0">
            <a:off x="9272016" y="1892808"/>
            <a:ext cx="8257032" cy="713232"/>
            <a:chOff x="0" y="0"/>
            <a:chExt cx="11009376" cy="950976"/>
          </a:xfrm>
        </p:grpSpPr>
        <p:sp>
          <p:nvSpPr>
            <p:cNvPr name="Freeform 37" id="37"/>
            <p:cNvSpPr/>
            <p:nvPr/>
          </p:nvSpPr>
          <p:spPr>
            <a:xfrm flipH="false" flipV="false" rot="0">
              <a:off x="0" y="0"/>
              <a:ext cx="11009376" cy="950976"/>
            </a:xfrm>
            <a:custGeom>
              <a:avLst/>
              <a:gdLst/>
              <a:ahLst/>
              <a:cxnLst/>
              <a:rect r="r" b="b" t="t" l="l"/>
              <a:pathLst>
                <a:path h="950976" w="11009376">
                  <a:moveTo>
                    <a:pt x="0" y="0"/>
                  </a:moveTo>
                  <a:lnTo>
                    <a:pt x="11009376" y="0"/>
                  </a:lnTo>
                  <a:lnTo>
                    <a:pt x="11009376" y="950976"/>
                  </a:lnTo>
                  <a:lnTo>
                    <a:pt x="0" y="950976"/>
                  </a:lnTo>
                  <a:close/>
                </a:path>
              </a:pathLst>
            </a:custGeom>
            <a:solidFill>
              <a:srgbClr val="B91C1C"/>
            </a:solidFill>
          </p:spPr>
          <p:txBody>
            <a:bodyPr/>
            <a:p/>
          </p:txBody>
        </p:sp>
      </p:grpSp>
      <p:grpSp>
        <p:nvGrpSpPr>
          <p:cNvPr name="Group 38" id="38"/>
          <p:cNvGrpSpPr/>
          <p:nvPr/>
        </p:nvGrpSpPr>
        <p:grpSpPr>
          <a:xfrm rot="0">
            <a:off x="9491472" y="1920240"/>
            <a:ext cx="7818120" cy="658368"/>
            <a:chOff x="0" y="0"/>
            <a:chExt cx="10424160" cy="877824"/>
          </a:xfrm>
        </p:grpSpPr>
        <p:sp>
          <p:nvSpPr>
            <p:cNvPr name="Freeform 39" id="39"/>
            <p:cNvSpPr/>
            <p:nvPr/>
          </p:nvSpPr>
          <p:spPr>
            <a:xfrm flipH="false" flipV="false" rot="0">
              <a:off x="0" y="0"/>
              <a:ext cx="10424160" cy="877824"/>
            </a:xfrm>
            <a:custGeom>
              <a:avLst/>
              <a:gdLst/>
              <a:ahLst/>
              <a:cxnLst/>
              <a:rect r="r" b="b" t="t" l="l"/>
              <a:pathLst>
                <a:path h="877824" w="10424160">
                  <a:moveTo>
                    <a:pt x="0" y="0"/>
                  </a:moveTo>
                  <a:lnTo>
                    <a:pt x="10424160" y="0"/>
                  </a:lnTo>
                  <a:lnTo>
                    <a:pt x="10424160" y="877824"/>
                  </a:lnTo>
                  <a:lnTo>
                    <a:pt x="0" y="877824"/>
                  </a:lnTo>
                  <a:close/>
                </a:path>
              </a:pathLst>
            </a:custGeom>
            <a:blipFill>
              <a:blip r:embed="rId2">
                <a:alphaModFix amt="0"/>
              </a:blip>
              <a:stretch>
                <a:fillRect l="0" t="-181384" r="0" b="-181384"/>
              </a:stretch>
            </a:blipFill>
          </p:spPr>
          <p:txBody>
            <a:bodyPr/>
            <a:p/>
          </p:txBody>
        </p:sp>
        <p:sp>
          <p:nvSpPr>
            <p:cNvPr name="TextBox 40" id="40"/>
            <p:cNvSpPr txBox="true"/>
            <p:nvPr/>
          </p:nvSpPr>
          <p:spPr>
            <a:xfrm>
              <a:off x="0" y="-57150"/>
              <a:ext cx="10424160" cy="934974"/>
            </a:xfrm>
            <a:prstGeom prst="rect">
              <a:avLst/>
            </a:prstGeom>
          </p:spPr>
          <p:txBody>
            <a:bodyPr anchor="ctr" rtlCol="false" tIns="0" lIns="0" bIns="0" rIns="0"/>
            <a:lstStyle/>
            <a:p>
              <a:pPr algn="l">
                <a:lnSpc>
                  <a:spcPts val="2700"/>
                </a:lnSpc>
              </a:pPr>
              <a:r>
                <a:rPr lang="en-US" sz="2250" b="true">
                  <a:solidFill>
                    <a:srgbClr val="FFFFFF"/>
                  </a:solidFill>
                  <a:latin typeface="Calibri (MS) Bold"/>
                  <a:ea typeface="Calibri (MS) Bold"/>
                  <a:cs typeface="Calibri (MS) Bold"/>
                  <a:sym typeface="Calibri (MS) Bold"/>
                </a:rPr>
                <a:t>✕  CAN THIỆP THIẾU HỢP LÝ / TÙY TIỆN</a:t>
              </a:r>
            </a:p>
          </p:txBody>
        </p:sp>
      </p:grpSp>
      <p:sp>
        <p:nvSpPr>
          <p:cNvPr name="TextBox 41" id="41"/>
          <p:cNvSpPr txBox="true"/>
          <p:nvPr/>
        </p:nvSpPr>
        <p:spPr>
          <a:xfrm rot="0">
            <a:off x="9601200" y="2676144"/>
            <a:ext cx="7639812" cy="4364736"/>
          </a:xfrm>
          <a:prstGeom prst="rect">
            <a:avLst/>
          </a:prstGeom>
        </p:spPr>
        <p:txBody>
          <a:bodyPr anchor="t" rtlCol="false" tIns="0" lIns="0" bIns="0" rIns="0">
            <a:spAutoFit/>
          </a:bodyPr>
          <a:lstStyle/>
          <a:p>
            <a:pPr algn="l">
              <a:lnSpc>
                <a:spcPts val="3375"/>
              </a:lnSpc>
            </a:pPr>
            <a:r>
              <a:rPr lang="en-US" sz="2250" b="true">
                <a:solidFill>
                  <a:srgbClr val="B91C1C"/>
                </a:solidFill>
                <a:latin typeface="DejaVu Sans Bold"/>
                <a:ea typeface="DejaVu Sans Bold"/>
                <a:cs typeface="DejaVu Sans Bold"/>
                <a:sym typeface="DejaVu Sans Bold"/>
              </a:rPr>
              <a:t>• Tùy tiện dùng mệnh lệnh hành chính buộc doanh nghiệp bán nhà thương mại dưới chi phí sản xuất.</a:t>
            </a:r>
          </a:p>
          <a:p>
            <a:pPr algn="l">
              <a:lnSpc>
                <a:spcPts val="3375"/>
              </a:lnSpc>
            </a:pPr>
            <a:r>
              <a:rPr lang="en-US" sz="2250">
                <a:solidFill>
                  <a:srgbClr val="1E293B"/>
                </a:solidFill>
                <a:latin typeface="DejaVu Sans Light"/>
                <a:ea typeface="DejaVu Sans Light"/>
                <a:cs typeface="DejaVu Sans Light"/>
                <a:sym typeface="DejaVu Sans Light"/>
              </a:rPr>
              <a:t>• Áp đặt nghĩa vụ ngoài căn cứ pháp luật, thay đổi chính sách bất ngờ hoặc tạo cơ chế "xin – cho" thiếu công bằng.</a:t>
            </a:r>
          </a:p>
          <a:p>
            <a:pPr algn="l">
              <a:lnSpc>
                <a:spcPts val="3375"/>
              </a:lnSpc>
            </a:pPr>
            <a:r>
              <a:rPr lang="en-US" sz="2250">
                <a:solidFill>
                  <a:srgbClr val="1E293B"/>
                </a:solidFill>
                <a:latin typeface="DejaVu Sans Light"/>
                <a:ea typeface="DejaVu Sans Light"/>
                <a:cs typeface="DejaVu Sans Light"/>
                <a:sym typeface="DejaVu Sans Light"/>
              </a:rPr>
              <a:t>• Hệ lụy kinh tế: Xâm phạm quyền tự do kinh doanh, làm doanh nghiệp thu hẹp đầu tư và gây khan hiếm nguồn cung trầm trọng hơn.</a:t>
            </a:r>
          </a:p>
        </p:txBody>
      </p:sp>
      <p:grpSp>
        <p:nvGrpSpPr>
          <p:cNvPr name="Group 42" id="42"/>
          <p:cNvGrpSpPr/>
          <p:nvPr/>
        </p:nvGrpSpPr>
        <p:grpSpPr>
          <a:xfrm rot="0">
            <a:off x="735330" y="7442454"/>
            <a:ext cx="16812768" cy="2013204"/>
            <a:chOff x="0" y="0"/>
            <a:chExt cx="22417024" cy="2684272"/>
          </a:xfrm>
        </p:grpSpPr>
        <p:sp>
          <p:nvSpPr>
            <p:cNvPr name="Freeform 43" id="43"/>
            <p:cNvSpPr/>
            <p:nvPr/>
          </p:nvSpPr>
          <p:spPr>
            <a:xfrm flipH="false" flipV="false" rot="0">
              <a:off x="0" y="0"/>
              <a:ext cx="22417024" cy="2684272"/>
            </a:xfrm>
            <a:custGeom>
              <a:avLst/>
              <a:gdLst/>
              <a:ahLst/>
              <a:cxnLst/>
              <a:rect r="r" b="b" t="t" l="l"/>
              <a:pathLst>
                <a:path h="2684272" w="22417024">
                  <a:moveTo>
                    <a:pt x="0" y="107315"/>
                  </a:moveTo>
                  <a:cubicBezTo>
                    <a:pt x="0" y="48133"/>
                    <a:pt x="48133" y="0"/>
                    <a:pt x="107315" y="0"/>
                  </a:cubicBezTo>
                  <a:lnTo>
                    <a:pt x="22309710" y="0"/>
                  </a:lnTo>
                  <a:cubicBezTo>
                    <a:pt x="22369019" y="0"/>
                    <a:pt x="22417024" y="48133"/>
                    <a:pt x="22417024" y="107315"/>
                  </a:cubicBezTo>
                  <a:lnTo>
                    <a:pt x="22417024" y="2576957"/>
                  </a:lnTo>
                  <a:cubicBezTo>
                    <a:pt x="22417024" y="2636266"/>
                    <a:pt x="22368892" y="2684272"/>
                    <a:pt x="22309710" y="2684272"/>
                  </a:cubicBezTo>
                  <a:lnTo>
                    <a:pt x="107315" y="2684272"/>
                  </a:lnTo>
                  <a:cubicBezTo>
                    <a:pt x="48006" y="2684272"/>
                    <a:pt x="0" y="2636139"/>
                    <a:pt x="0" y="2576957"/>
                  </a:cubicBezTo>
                  <a:close/>
                </a:path>
              </a:pathLst>
            </a:custGeom>
            <a:solidFill>
              <a:srgbClr val="122645"/>
            </a:solidFill>
            <a:ln w="38100" cap="sq">
              <a:solidFill>
                <a:srgbClr val="F59E0B"/>
              </a:solidFill>
              <a:prstDash val="solid"/>
              <a:miter/>
            </a:ln>
          </p:spPr>
          <p:txBody>
            <a:bodyPr/>
            <a:p/>
          </p:txBody>
        </p:sp>
      </p:grpSp>
      <p:grpSp>
        <p:nvGrpSpPr>
          <p:cNvPr name="Group 44" id="44"/>
          <p:cNvGrpSpPr/>
          <p:nvPr/>
        </p:nvGrpSpPr>
        <p:grpSpPr>
          <a:xfrm rot="0">
            <a:off x="1097280" y="7543800"/>
            <a:ext cx="16116300" cy="1810512"/>
            <a:chOff x="0" y="0"/>
            <a:chExt cx="21488400" cy="2414016"/>
          </a:xfrm>
        </p:grpSpPr>
        <p:sp>
          <p:nvSpPr>
            <p:cNvPr name="Freeform 45" id="45"/>
            <p:cNvSpPr/>
            <p:nvPr/>
          </p:nvSpPr>
          <p:spPr>
            <a:xfrm flipH="false" flipV="false" rot="0">
              <a:off x="0" y="0"/>
              <a:ext cx="21488400" cy="2414016"/>
            </a:xfrm>
            <a:custGeom>
              <a:avLst/>
              <a:gdLst/>
              <a:ahLst/>
              <a:cxnLst/>
              <a:rect r="r" b="b" t="t" l="l"/>
              <a:pathLst>
                <a:path h="2414016" w="21488400">
                  <a:moveTo>
                    <a:pt x="0" y="0"/>
                  </a:moveTo>
                  <a:lnTo>
                    <a:pt x="21488400" y="0"/>
                  </a:lnTo>
                  <a:lnTo>
                    <a:pt x="21488400" y="2414016"/>
                  </a:lnTo>
                  <a:lnTo>
                    <a:pt x="0" y="2414016"/>
                  </a:lnTo>
                  <a:close/>
                </a:path>
              </a:pathLst>
            </a:custGeom>
            <a:blipFill>
              <a:blip r:embed="rId2">
                <a:alphaModFix amt="0"/>
              </a:blip>
              <a:stretch>
                <a:fillRect l="0" t="-123446" r="0" b="-123446"/>
              </a:stretch>
            </a:blipFill>
          </p:spPr>
          <p:txBody>
            <a:bodyPr/>
            <a:p/>
          </p:txBody>
        </p:sp>
        <p:sp>
          <p:nvSpPr>
            <p:cNvPr name="TextBox 46" id="46"/>
            <p:cNvSpPr txBox="true"/>
            <p:nvPr/>
          </p:nvSpPr>
          <p:spPr>
            <a:xfrm>
              <a:off x="0" y="-19050"/>
              <a:ext cx="21488400" cy="2433066"/>
            </a:xfrm>
            <a:prstGeom prst="rect">
              <a:avLst/>
            </a:prstGeom>
          </p:spPr>
          <p:txBody>
            <a:bodyPr anchor="ctr" rtlCol="false" tIns="0" lIns="0" bIns="0" rIns="0"/>
            <a:lstStyle/>
            <a:p>
              <a:pPr algn="l">
                <a:lnSpc>
                  <a:spcPts val="2520"/>
                </a:lnSpc>
              </a:pPr>
              <a:r>
                <a:rPr lang="en-US" sz="2100" b="true">
                  <a:solidFill>
                    <a:srgbClr val="F59E0B"/>
                  </a:solidFill>
                  <a:latin typeface="DejaVu Sans Bold"/>
                  <a:ea typeface="DejaVu Sans Bold"/>
                  <a:cs typeface="DejaVu Sans Bold"/>
                  <a:sym typeface="DejaVu Sans Bold"/>
                </a:rPr>
                <a:t>KẾT LUẬN TRỰC DIỆN ĐỀ BÀI CQ7:</a:t>
              </a:r>
            </a:p>
            <a:p>
              <a:pPr algn="l">
                <a:lnSpc>
                  <a:spcPts val="3175"/>
                </a:lnSpc>
              </a:pPr>
              <a:r>
                <a:rPr lang="en-US" sz="2100" b="true">
                  <a:solidFill>
                    <a:srgbClr val="FFFFFF"/>
                  </a:solidFill>
                  <a:latin typeface="DejaVu Sans Bold"/>
                  <a:ea typeface="DejaVu Sans Bold"/>
                  <a:cs typeface="DejaVu Sans Bold"/>
                  <a:sym typeface="DejaVu Sans Bold"/>
                </a:rPr>
                <a:t>"Quyền tự do kinh doanh phải được tôn trọng, nhưng không đồng nghĩa doanh nghiệp không có nghĩa vụ theo pháp luật. Nhà nước cần can thiệp bằng thể chế minh bạch và các công cụ khuyến khích kinh tế, vừa bảo đảm quyền lợi hợp pháp của doanh nghiệp, vừa thực hiện mục tiêu an sinh xã hội."</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17068371" cy="137160"/>
            <a:chOff x="0" y="0"/>
            <a:chExt cx="22757828" cy="182880"/>
          </a:xfrm>
        </p:grpSpPr>
        <p:sp>
          <p:nvSpPr>
            <p:cNvPr name="Freeform 5" id="5"/>
            <p:cNvSpPr/>
            <p:nvPr/>
          </p:nvSpPr>
          <p:spPr>
            <a:xfrm flipH="false" flipV="false" rot="0">
              <a:off x="0" y="0"/>
              <a:ext cx="22757892" cy="182880"/>
            </a:xfrm>
            <a:custGeom>
              <a:avLst/>
              <a:gdLst/>
              <a:ahLst/>
              <a:cxnLst/>
              <a:rect r="r" b="b" t="t" l="l"/>
              <a:pathLst>
                <a:path h="182880" w="22757892">
                  <a:moveTo>
                    <a:pt x="0" y="0"/>
                  </a:moveTo>
                  <a:lnTo>
                    <a:pt x="22757892" y="0"/>
                  </a:lnTo>
                  <a:lnTo>
                    <a:pt x="22757892" y="182880"/>
                  </a:lnTo>
                  <a:lnTo>
                    <a:pt x="0" y="182880"/>
                  </a:lnTo>
                  <a:close/>
                </a:path>
              </a:pathLst>
            </a:custGeom>
            <a:solidFill>
              <a:srgbClr val="C25915"/>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EF6FC"/>
            </a:solidFill>
            <a:ln w="19050" cap="sq">
              <a:solidFill>
                <a:srgbClr val="C25915"/>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19050"/>
              <a:ext cx="9235440" cy="640842"/>
            </a:xfrm>
            <a:prstGeom prst="rect">
              <a:avLst/>
            </a:prstGeom>
          </p:spPr>
          <p:txBody>
            <a:bodyPr anchor="ctr" rtlCol="false" tIns="0" lIns="0" bIns="0" rIns="0"/>
            <a:lstStyle/>
            <a:p>
              <a:pPr algn="l">
                <a:lnSpc>
                  <a:spcPts val="2700"/>
                </a:lnSpc>
              </a:pPr>
              <a:r>
                <a:rPr lang="en-US" sz="2250" b="true">
                  <a:solidFill>
                    <a:srgbClr val="C25915"/>
                  </a:solidFill>
                  <a:latin typeface="DejaVu Sans Bold"/>
                  <a:ea typeface="DejaVu Sans Bold"/>
                  <a:cs typeface="DejaVu Sans Bold"/>
                  <a:sym typeface="DejaVu Sans Bold"/>
                </a:rPr>
                <a:t>KẾT LUẬN  •  HÀI HÒA LỢI ÍCH</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19050"/>
              <a:ext cx="2432304" cy="64084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15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Kết luận: tam giác hài hòa lợi ích trong bài toán nhà ở</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19050"/>
              <a:ext cx="22366224" cy="677418"/>
            </a:xfrm>
            <a:prstGeom prst="rect">
              <a:avLst/>
            </a:prstGeom>
          </p:spPr>
          <p:txBody>
            <a:bodyPr anchor="ctr" rtlCol="false" tIns="0" lIns="0" bIns="0" rIns="0"/>
            <a:lstStyle/>
            <a:p>
              <a:pPr algn="l">
                <a:lnSpc>
                  <a:spcPts val="2700"/>
                </a:lnSpc>
              </a:pPr>
              <a:r>
                <a:rPr lang="en-US" sz="2250" i="true">
                  <a:solidFill>
                    <a:srgbClr val="475569"/>
                  </a:solidFill>
                  <a:latin typeface="DejaVu Sans Bold Italics"/>
                  <a:ea typeface="DejaVu Sans Bold Italics"/>
                  <a:cs typeface="DejaVu Sans Bold Italics"/>
                  <a:sym typeface="DejaVu Sans Bold Italics"/>
                </a:rPr>
                <a:t>Nguồn: Tài liệu ôn tập và phản biện mới nhất trong repo, bảng “Tam giác hài hòa lợi ích 3 bên”.</a:t>
              </a:r>
            </a:p>
          </p:txBody>
        </p:sp>
      </p:grpSp>
      <p:grpSp>
        <p:nvGrpSpPr>
          <p:cNvPr name="Group 26" id="26"/>
          <p:cNvGrpSpPr/>
          <p:nvPr/>
        </p:nvGrpSpPr>
        <p:grpSpPr>
          <a:xfrm rot="0">
            <a:off x="754380" y="1920240"/>
            <a:ext cx="3086100" cy="1481328"/>
            <a:chOff x="0" y="0"/>
            <a:chExt cx="4114800" cy="1975104"/>
          </a:xfrm>
        </p:grpSpPr>
        <p:sp>
          <p:nvSpPr>
            <p:cNvPr name="Freeform 27" id="27"/>
            <p:cNvSpPr/>
            <p:nvPr/>
          </p:nvSpPr>
          <p:spPr>
            <a:xfrm flipH="false" flipV="false" rot="0">
              <a:off x="0" y="0"/>
              <a:ext cx="4114800" cy="1975104"/>
            </a:xfrm>
            <a:custGeom>
              <a:avLst/>
              <a:gdLst/>
              <a:ahLst/>
              <a:cxnLst/>
              <a:rect r="r" b="b" t="t" l="l"/>
              <a:pathLst>
                <a:path h="1975104" w="4114800">
                  <a:moveTo>
                    <a:pt x="0" y="78994"/>
                  </a:moveTo>
                  <a:cubicBezTo>
                    <a:pt x="0" y="35433"/>
                    <a:pt x="35433" y="0"/>
                    <a:pt x="78994" y="0"/>
                  </a:cubicBezTo>
                  <a:lnTo>
                    <a:pt x="4035806" y="0"/>
                  </a:lnTo>
                  <a:cubicBezTo>
                    <a:pt x="4079367" y="0"/>
                    <a:pt x="4114800" y="35433"/>
                    <a:pt x="4114800" y="78994"/>
                  </a:cubicBezTo>
                  <a:lnTo>
                    <a:pt x="4114800" y="1896110"/>
                  </a:lnTo>
                  <a:cubicBezTo>
                    <a:pt x="4114800" y="1939798"/>
                    <a:pt x="4079367" y="1975104"/>
                    <a:pt x="4035806" y="1975104"/>
                  </a:cubicBezTo>
                  <a:lnTo>
                    <a:pt x="78994" y="1975104"/>
                  </a:lnTo>
                  <a:cubicBezTo>
                    <a:pt x="35306" y="1975104"/>
                    <a:pt x="0" y="1939671"/>
                    <a:pt x="0" y="1896110"/>
                  </a:cubicBezTo>
                  <a:close/>
                </a:path>
              </a:pathLst>
            </a:custGeom>
            <a:solidFill>
              <a:srgbClr val="0369A1"/>
            </a:solidFill>
          </p:spPr>
          <p:txBody>
            <a:bodyPr/>
            <a:p/>
          </p:txBody>
        </p:sp>
      </p:grpSp>
      <p:grpSp>
        <p:nvGrpSpPr>
          <p:cNvPr name="Group 28" id="28"/>
          <p:cNvGrpSpPr/>
          <p:nvPr/>
        </p:nvGrpSpPr>
        <p:grpSpPr>
          <a:xfrm rot="0">
            <a:off x="754380" y="1920240"/>
            <a:ext cx="3086100" cy="1481328"/>
            <a:chOff x="0" y="0"/>
            <a:chExt cx="4114800" cy="1975104"/>
          </a:xfrm>
        </p:grpSpPr>
        <p:sp>
          <p:nvSpPr>
            <p:cNvPr name="Freeform 29" id="29"/>
            <p:cNvSpPr/>
            <p:nvPr/>
          </p:nvSpPr>
          <p:spPr>
            <a:xfrm flipH="false" flipV="false" rot="0">
              <a:off x="0" y="0"/>
              <a:ext cx="4114800" cy="1975104"/>
            </a:xfrm>
            <a:custGeom>
              <a:avLst/>
              <a:gdLst/>
              <a:ahLst/>
              <a:cxnLst/>
              <a:rect r="r" b="b" t="t" l="l"/>
              <a:pathLst>
                <a:path h="1975104" w="4114800">
                  <a:moveTo>
                    <a:pt x="0" y="0"/>
                  </a:moveTo>
                  <a:lnTo>
                    <a:pt x="4114800" y="0"/>
                  </a:lnTo>
                  <a:lnTo>
                    <a:pt x="4114800" y="1975104"/>
                  </a:lnTo>
                  <a:lnTo>
                    <a:pt x="0" y="1975104"/>
                  </a:lnTo>
                  <a:close/>
                </a:path>
              </a:pathLst>
            </a:custGeom>
            <a:blipFill>
              <a:blip r:embed="rId2">
                <a:alphaModFix amt="0"/>
              </a:blip>
              <a:stretch>
                <a:fillRect l="-11585" t="0" r="-11585" b="0"/>
              </a:stretch>
            </a:blipFill>
          </p:spPr>
          <p:txBody>
            <a:bodyPr/>
            <a:p/>
          </p:txBody>
        </p:sp>
        <p:sp>
          <p:nvSpPr>
            <p:cNvPr name="TextBox 30" id="30"/>
            <p:cNvSpPr txBox="true"/>
            <p:nvPr/>
          </p:nvSpPr>
          <p:spPr>
            <a:xfrm>
              <a:off x="0" y="-19050"/>
              <a:ext cx="4114800" cy="1994154"/>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DOANH NGHIỆP  •  LỢI NHUẬN HỢP LÝ</a:t>
              </a:r>
            </a:p>
          </p:txBody>
        </p:sp>
      </p:grpSp>
      <p:grpSp>
        <p:nvGrpSpPr>
          <p:cNvPr name="Group 31" id="31"/>
          <p:cNvGrpSpPr/>
          <p:nvPr/>
        </p:nvGrpSpPr>
        <p:grpSpPr>
          <a:xfrm rot="0">
            <a:off x="3965258" y="1907858"/>
            <a:ext cx="6773037" cy="1506093"/>
            <a:chOff x="0" y="0"/>
            <a:chExt cx="9030716" cy="2008124"/>
          </a:xfrm>
        </p:grpSpPr>
        <p:sp>
          <p:nvSpPr>
            <p:cNvPr name="Freeform 32" id="32"/>
            <p:cNvSpPr/>
            <p:nvPr/>
          </p:nvSpPr>
          <p:spPr>
            <a:xfrm flipH="false" flipV="false" rot="0">
              <a:off x="0" y="0"/>
              <a:ext cx="9030716" cy="2008124"/>
            </a:xfrm>
            <a:custGeom>
              <a:avLst/>
              <a:gdLst/>
              <a:ahLst/>
              <a:cxnLst/>
              <a:rect r="r" b="b" t="t" l="l"/>
              <a:pathLst>
                <a:path h="2008124" w="9030716">
                  <a:moveTo>
                    <a:pt x="0" y="80264"/>
                  </a:moveTo>
                  <a:cubicBezTo>
                    <a:pt x="0" y="35941"/>
                    <a:pt x="35941" y="0"/>
                    <a:pt x="80264" y="0"/>
                  </a:cubicBezTo>
                  <a:lnTo>
                    <a:pt x="8950452" y="0"/>
                  </a:lnTo>
                  <a:cubicBezTo>
                    <a:pt x="8994775" y="0"/>
                    <a:pt x="9030716" y="35941"/>
                    <a:pt x="9030716" y="80264"/>
                  </a:cubicBezTo>
                  <a:lnTo>
                    <a:pt x="9030716" y="1927860"/>
                  </a:lnTo>
                  <a:cubicBezTo>
                    <a:pt x="9030716" y="1972183"/>
                    <a:pt x="8994775" y="2008124"/>
                    <a:pt x="8950452" y="2008124"/>
                  </a:cubicBezTo>
                  <a:lnTo>
                    <a:pt x="80264" y="2008124"/>
                  </a:lnTo>
                  <a:cubicBezTo>
                    <a:pt x="35941" y="2008124"/>
                    <a:pt x="0" y="1972183"/>
                    <a:pt x="0" y="1927860"/>
                  </a:cubicBezTo>
                  <a:close/>
                </a:path>
              </a:pathLst>
            </a:custGeom>
            <a:solidFill>
              <a:srgbClr val="FFFFFF"/>
            </a:solidFill>
            <a:ln w="24765" cap="sq">
              <a:solidFill>
                <a:srgbClr val="0369A1"/>
              </a:solidFill>
              <a:prstDash val="solid"/>
              <a:miter/>
            </a:ln>
          </p:spPr>
          <p:txBody>
            <a:bodyPr/>
            <a:p/>
          </p:txBody>
        </p:sp>
      </p:grpSp>
      <p:grpSp>
        <p:nvGrpSpPr>
          <p:cNvPr name="Group 33" id="33"/>
          <p:cNvGrpSpPr/>
          <p:nvPr/>
        </p:nvGrpSpPr>
        <p:grpSpPr>
          <a:xfrm rot="0">
            <a:off x="4169664" y="1975104"/>
            <a:ext cx="6391656" cy="1371600"/>
            <a:chOff x="0" y="0"/>
            <a:chExt cx="8522208" cy="1828800"/>
          </a:xfrm>
        </p:grpSpPr>
        <p:sp>
          <p:nvSpPr>
            <p:cNvPr name="Freeform 34" id="34"/>
            <p:cNvSpPr/>
            <p:nvPr/>
          </p:nvSpPr>
          <p:spPr>
            <a:xfrm flipH="false" flipV="false" rot="0">
              <a:off x="0" y="0"/>
              <a:ext cx="8522208" cy="1828800"/>
            </a:xfrm>
            <a:custGeom>
              <a:avLst/>
              <a:gdLst/>
              <a:ahLst/>
              <a:cxnLst/>
              <a:rect r="r" b="b" t="t" l="l"/>
              <a:pathLst>
                <a:path h="1828800" w="8522208">
                  <a:moveTo>
                    <a:pt x="0" y="0"/>
                  </a:moveTo>
                  <a:lnTo>
                    <a:pt x="8522208" y="0"/>
                  </a:lnTo>
                  <a:lnTo>
                    <a:pt x="8522208" y="1828800"/>
                  </a:lnTo>
                  <a:lnTo>
                    <a:pt x="0" y="1828800"/>
                  </a:lnTo>
                  <a:close/>
                </a:path>
              </a:pathLst>
            </a:custGeom>
            <a:blipFill>
              <a:blip r:embed="rId2">
                <a:alphaModFix amt="0"/>
              </a:blip>
              <a:stretch>
                <a:fillRect l="0" t="-40800" r="0" b="-40800"/>
              </a:stretch>
            </a:blipFill>
          </p:spPr>
          <p:txBody>
            <a:bodyPr/>
            <a:p/>
          </p:txBody>
        </p:sp>
        <p:sp>
          <p:nvSpPr>
            <p:cNvPr name="TextBox 35" id="35"/>
            <p:cNvSpPr txBox="true"/>
            <p:nvPr/>
          </p:nvSpPr>
          <p:spPr>
            <a:xfrm>
              <a:off x="0" y="-66675"/>
              <a:ext cx="8522208" cy="1895475"/>
            </a:xfrm>
            <a:prstGeom prst="rect">
              <a:avLst/>
            </a:prstGeom>
          </p:spPr>
          <p:txBody>
            <a:bodyPr anchor="ctr" rtlCol="false" tIns="0" lIns="0" bIns="0" rIns="0"/>
            <a:lstStyle/>
            <a:p>
              <a:pPr algn="l">
                <a:lnSpc>
                  <a:spcPts val="3240"/>
                </a:lnSpc>
              </a:pPr>
              <a:r>
                <a:rPr lang="en-US" sz="2250">
                  <a:solidFill>
                    <a:srgbClr val="1E293B"/>
                  </a:solidFill>
                  <a:latin typeface="DejaVu Sans Light"/>
                  <a:ea typeface="DejaVu Sans Light"/>
                  <a:cs typeface="DejaVu Sans Light"/>
                  <a:sym typeface="DejaVu Sans Light"/>
                </a:rPr>
                <a:t>Có dòng tiền, đầu ra và rủi ro pháp lý dễ dự báo; tài liệu đặt mục tiêu lợi nhuận hợp nhất khoảng 15–18%.</a:t>
              </a:r>
            </a:p>
          </p:txBody>
        </p:sp>
      </p:grpSp>
      <p:grpSp>
        <p:nvGrpSpPr>
          <p:cNvPr name="Group 36" id="36"/>
          <p:cNvGrpSpPr/>
          <p:nvPr/>
        </p:nvGrpSpPr>
        <p:grpSpPr>
          <a:xfrm rot="0">
            <a:off x="754380" y="3621024"/>
            <a:ext cx="3086100" cy="1481328"/>
            <a:chOff x="0" y="0"/>
            <a:chExt cx="4114800" cy="1975104"/>
          </a:xfrm>
        </p:grpSpPr>
        <p:sp>
          <p:nvSpPr>
            <p:cNvPr name="Freeform 37" id="37"/>
            <p:cNvSpPr/>
            <p:nvPr/>
          </p:nvSpPr>
          <p:spPr>
            <a:xfrm flipH="false" flipV="false" rot="0">
              <a:off x="0" y="0"/>
              <a:ext cx="4114800" cy="1975104"/>
            </a:xfrm>
            <a:custGeom>
              <a:avLst/>
              <a:gdLst/>
              <a:ahLst/>
              <a:cxnLst/>
              <a:rect r="r" b="b" t="t" l="l"/>
              <a:pathLst>
                <a:path h="1975104" w="4114800">
                  <a:moveTo>
                    <a:pt x="0" y="78994"/>
                  </a:moveTo>
                  <a:cubicBezTo>
                    <a:pt x="0" y="35433"/>
                    <a:pt x="35433" y="0"/>
                    <a:pt x="78994" y="0"/>
                  </a:cubicBezTo>
                  <a:lnTo>
                    <a:pt x="4035806" y="0"/>
                  </a:lnTo>
                  <a:cubicBezTo>
                    <a:pt x="4079367" y="0"/>
                    <a:pt x="4114800" y="35433"/>
                    <a:pt x="4114800" y="78994"/>
                  </a:cubicBezTo>
                  <a:lnTo>
                    <a:pt x="4114800" y="1896110"/>
                  </a:lnTo>
                  <a:cubicBezTo>
                    <a:pt x="4114800" y="1939798"/>
                    <a:pt x="4079367" y="1975104"/>
                    <a:pt x="4035806" y="1975104"/>
                  </a:cubicBezTo>
                  <a:lnTo>
                    <a:pt x="78994" y="1975104"/>
                  </a:lnTo>
                  <a:cubicBezTo>
                    <a:pt x="35306" y="1975104"/>
                    <a:pt x="0" y="1939671"/>
                    <a:pt x="0" y="1896110"/>
                  </a:cubicBezTo>
                  <a:close/>
                </a:path>
              </a:pathLst>
            </a:custGeom>
            <a:solidFill>
              <a:srgbClr val="0F766E"/>
            </a:solidFill>
          </p:spPr>
          <p:txBody>
            <a:bodyPr/>
            <a:p/>
          </p:txBody>
        </p:sp>
      </p:grpSp>
      <p:grpSp>
        <p:nvGrpSpPr>
          <p:cNvPr name="Group 38" id="38"/>
          <p:cNvGrpSpPr/>
          <p:nvPr/>
        </p:nvGrpSpPr>
        <p:grpSpPr>
          <a:xfrm rot="0">
            <a:off x="754380" y="3621024"/>
            <a:ext cx="3086100" cy="1481328"/>
            <a:chOff x="0" y="0"/>
            <a:chExt cx="4114800" cy="1975104"/>
          </a:xfrm>
        </p:grpSpPr>
        <p:sp>
          <p:nvSpPr>
            <p:cNvPr name="Freeform 39" id="39"/>
            <p:cNvSpPr/>
            <p:nvPr/>
          </p:nvSpPr>
          <p:spPr>
            <a:xfrm flipH="false" flipV="false" rot="0">
              <a:off x="0" y="0"/>
              <a:ext cx="4114800" cy="1975104"/>
            </a:xfrm>
            <a:custGeom>
              <a:avLst/>
              <a:gdLst/>
              <a:ahLst/>
              <a:cxnLst/>
              <a:rect r="r" b="b" t="t" l="l"/>
              <a:pathLst>
                <a:path h="1975104" w="4114800">
                  <a:moveTo>
                    <a:pt x="0" y="0"/>
                  </a:moveTo>
                  <a:lnTo>
                    <a:pt x="4114800" y="0"/>
                  </a:lnTo>
                  <a:lnTo>
                    <a:pt x="4114800" y="1975104"/>
                  </a:lnTo>
                  <a:lnTo>
                    <a:pt x="0" y="1975104"/>
                  </a:lnTo>
                  <a:close/>
                </a:path>
              </a:pathLst>
            </a:custGeom>
            <a:blipFill>
              <a:blip r:embed="rId2">
                <a:alphaModFix amt="0"/>
              </a:blip>
              <a:stretch>
                <a:fillRect l="-11585" t="0" r="-11585" b="0"/>
              </a:stretch>
            </a:blipFill>
          </p:spPr>
          <p:txBody>
            <a:bodyPr/>
            <a:p/>
          </p:txBody>
        </p:sp>
        <p:sp>
          <p:nvSpPr>
            <p:cNvPr name="TextBox 40" id="40"/>
            <p:cNvSpPr txBox="true"/>
            <p:nvPr/>
          </p:nvSpPr>
          <p:spPr>
            <a:xfrm>
              <a:off x="0" y="-19050"/>
              <a:ext cx="4114800" cy="1994154"/>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NGƯỜI LAO ĐỘNG  •  AN CƯ VỪA SỨC</a:t>
              </a:r>
            </a:p>
          </p:txBody>
        </p:sp>
      </p:grpSp>
      <p:grpSp>
        <p:nvGrpSpPr>
          <p:cNvPr name="Group 41" id="41"/>
          <p:cNvGrpSpPr/>
          <p:nvPr/>
        </p:nvGrpSpPr>
        <p:grpSpPr>
          <a:xfrm rot="0">
            <a:off x="3965258" y="3608642"/>
            <a:ext cx="6773037" cy="1506093"/>
            <a:chOff x="0" y="0"/>
            <a:chExt cx="9030716" cy="2008124"/>
          </a:xfrm>
        </p:grpSpPr>
        <p:sp>
          <p:nvSpPr>
            <p:cNvPr name="Freeform 42" id="42"/>
            <p:cNvSpPr/>
            <p:nvPr/>
          </p:nvSpPr>
          <p:spPr>
            <a:xfrm flipH="false" flipV="false" rot="0">
              <a:off x="0" y="0"/>
              <a:ext cx="9030716" cy="2008124"/>
            </a:xfrm>
            <a:custGeom>
              <a:avLst/>
              <a:gdLst/>
              <a:ahLst/>
              <a:cxnLst/>
              <a:rect r="r" b="b" t="t" l="l"/>
              <a:pathLst>
                <a:path h="2008124" w="9030716">
                  <a:moveTo>
                    <a:pt x="0" y="80264"/>
                  </a:moveTo>
                  <a:cubicBezTo>
                    <a:pt x="0" y="35941"/>
                    <a:pt x="35941" y="0"/>
                    <a:pt x="80264" y="0"/>
                  </a:cubicBezTo>
                  <a:lnTo>
                    <a:pt x="8950452" y="0"/>
                  </a:lnTo>
                  <a:cubicBezTo>
                    <a:pt x="8994775" y="0"/>
                    <a:pt x="9030716" y="35941"/>
                    <a:pt x="9030716" y="80264"/>
                  </a:cubicBezTo>
                  <a:lnTo>
                    <a:pt x="9030716" y="1927860"/>
                  </a:lnTo>
                  <a:cubicBezTo>
                    <a:pt x="9030716" y="1972183"/>
                    <a:pt x="8994775" y="2008124"/>
                    <a:pt x="8950452" y="2008124"/>
                  </a:cubicBezTo>
                  <a:lnTo>
                    <a:pt x="80264" y="2008124"/>
                  </a:lnTo>
                  <a:cubicBezTo>
                    <a:pt x="35941" y="2008124"/>
                    <a:pt x="0" y="1972183"/>
                    <a:pt x="0" y="1927860"/>
                  </a:cubicBezTo>
                  <a:close/>
                </a:path>
              </a:pathLst>
            </a:custGeom>
            <a:solidFill>
              <a:srgbClr val="FFFFFF"/>
            </a:solidFill>
            <a:ln w="24765" cap="sq">
              <a:solidFill>
                <a:srgbClr val="0F766E"/>
              </a:solidFill>
              <a:prstDash val="solid"/>
              <a:miter/>
            </a:ln>
          </p:spPr>
          <p:txBody>
            <a:bodyPr/>
            <a:p/>
          </p:txBody>
        </p:sp>
      </p:grpSp>
      <p:grpSp>
        <p:nvGrpSpPr>
          <p:cNvPr name="Group 43" id="43"/>
          <p:cNvGrpSpPr/>
          <p:nvPr/>
        </p:nvGrpSpPr>
        <p:grpSpPr>
          <a:xfrm rot="0">
            <a:off x="4169664" y="3675888"/>
            <a:ext cx="6391656" cy="1371600"/>
            <a:chOff x="0" y="0"/>
            <a:chExt cx="8522208" cy="1828800"/>
          </a:xfrm>
        </p:grpSpPr>
        <p:sp>
          <p:nvSpPr>
            <p:cNvPr name="Freeform 44" id="44"/>
            <p:cNvSpPr/>
            <p:nvPr/>
          </p:nvSpPr>
          <p:spPr>
            <a:xfrm flipH="false" flipV="false" rot="0">
              <a:off x="0" y="0"/>
              <a:ext cx="8522208" cy="1828800"/>
            </a:xfrm>
            <a:custGeom>
              <a:avLst/>
              <a:gdLst/>
              <a:ahLst/>
              <a:cxnLst/>
              <a:rect r="r" b="b" t="t" l="l"/>
              <a:pathLst>
                <a:path h="1828800" w="8522208">
                  <a:moveTo>
                    <a:pt x="0" y="0"/>
                  </a:moveTo>
                  <a:lnTo>
                    <a:pt x="8522208" y="0"/>
                  </a:lnTo>
                  <a:lnTo>
                    <a:pt x="8522208" y="1828800"/>
                  </a:lnTo>
                  <a:lnTo>
                    <a:pt x="0" y="1828800"/>
                  </a:lnTo>
                  <a:close/>
                </a:path>
              </a:pathLst>
            </a:custGeom>
            <a:blipFill>
              <a:blip r:embed="rId2">
                <a:alphaModFix amt="0"/>
              </a:blip>
              <a:stretch>
                <a:fillRect l="0" t="-40800" r="0" b="-40800"/>
              </a:stretch>
            </a:blipFill>
          </p:spPr>
          <p:txBody>
            <a:bodyPr/>
            <a:p/>
          </p:txBody>
        </p:sp>
        <p:sp>
          <p:nvSpPr>
            <p:cNvPr name="TextBox 45" id="45"/>
            <p:cNvSpPr txBox="true"/>
            <p:nvPr/>
          </p:nvSpPr>
          <p:spPr>
            <a:xfrm>
              <a:off x="0" y="-66675"/>
              <a:ext cx="8522208" cy="1895475"/>
            </a:xfrm>
            <a:prstGeom prst="rect">
              <a:avLst/>
            </a:prstGeom>
          </p:spPr>
          <p:txBody>
            <a:bodyPr anchor="ctr" rtlCol="false" tIns="0" lIns="0" bIns="0" rIns="0"/>
            <a:lstStyle/>
            <a:p>
              <a:pPr algn="l">
                <a:lnSpc>
                  <a:spcPts val="3240"/>
                </a:lnSpc>
              </a:pPr>
              <a:r>
                <a:rPr lang="en-US" sz="2250">
                  <a:solidFill>
                    <a:srgbClr val="1E293B"/>
                  </a:solidFill>
                  <a:latin typeface="DejaVu Sans Light"/>
                  <a:ea typeface="DejaVu Sans Light"/>
                  <a:cs typeface="DejaVu Sans Light"/>
                  <a:sym typeface="DejaVu Sans Light"/>
                </a:rPr>
                <a:t>Tiếp cận căn 600–800 triệu; tài liệu ước tính trả góp 3,5–5 triệu/tháng với thu nhập 10–15 triệu.</a:t>
              </a:r>
            </a:p>
          </p:txBody>
        </p:sp>
      </p:grpSp>
      <p:grpSp>
        <p:nvGrpSpPr>
          <p:cNvPr name="Group 46" id="46"/>
          <p:cNvGrpSpPr/>
          <p:nvPr/>
        </p:nvGrpSpPr>
        <p:grpSpPr>
          <a:xfrm rot="0">
            <a:off x="754380" y="5321808"/>
            <a:ext cx="3086100" cy="1481328"/>
            <a:chOff x="0" y="0"/>
            <a:chExt cx="4114800" cy="1975104"/>
          </a:xfrm>
        </p:grpSpPr>
        <p:sp>
          <p:nvSpPr>
            <p:cNvPr name="Freeform 47" id="47"/>
            <p:cNvSpPr/>
            <p:nvPr/>
          </p:nvSpPr>
          <p:spPr>
            <a:xfrm flipH="false" flipV="false" rot="0">
              <a:off x="0" y="0"/>
              <a:ext cx="4114800" cy="1975104"/>
            </a:xfrm>
            <a:custGeom>
              <a:avLst/>
              <a:gdLst/>
              <a:ahLst/>
              <a:cxnLst/>
              <a:rect r="r" b="b" t="t" l="l"/>
              <a:pathLst>
                <a:path h="1975104" w="4114800">
                  <a:moveTo>
                    <a:pt x="0" y="78994"/>
                  </a:moveTo>
                  <a:cubicBezTo>
                    <a:pt x="0" y="35433"/>
                    <a:pt x="35433" y="0"/>
                    <a:pt x="78994" y="0"/>
                  </a:cubicBezTo>
                  <a:lnTo>
                    <a:pt x="4035806" y="0"/>
                  </a:lnTo>
                  <a:cubicBezTo>
                    <a:pt x="4079367" y="0"/>
                    <a:pt x="4114800" y="35433"/>
                    <a:pt x="4114800" y="78994"/>
                  </a:cubicBezTo>
                  <a:lnTo>
                    <a:pt x="4114800" y="1896110"/>
                  </a:lnTo>
                  <a:cubicBezTo>
                    <a:pt x="4114800" y="1939798"/>
                    <a:pt x="4079367" y="1975104"/>
                    <a:pt x="4035806" y="1975104"/>
                  </a:cubicBezTo>
                  <a:lnTo>
                    <a:pt x="78994" y="1975104"/>
                  </a:lnTo>
                  <a:cubicBezTo>
                    <a:pt x="35306" y="1975104"/>
                    <a:pt x="0" y="1939671"/>
                    <a:pt x="0" y="1896110"/>
                  </a:cubicBezTo>
                  <a:close/>
                </a:path>
              </a:pathLst>
            </a:custGeom>
            <a:solidFill>
              <a:srgbClr val="C25915"/>
            </a:solidFill>
          </p:spPr>
          <p:txBody>
            <a:bodyPr/>
            <a:p/>
          </p:txBody>
        </p:sp>
      </p:grpSp>
      <p:grpSp>
        <p:nvGrpSpPr>
          <p:cNvPr name="Group 48" id="48"/>
          <p:cNvGrpSpPr/>
          <p:nvPr/>
        </p:nvGrpSpPr>
        <p:grpSpPr>
          <a:xfrm rot="0">
            <a:off x="754380" y="5321808"/>
            <a:ext cx="3086100" cy="1481328"/>
            <a:chOff x="0" y="0"/>
            <a:chExt cx="4114800" cy="1975104"/>
          </a:xfrm>
        </p:grpSpPr>
        <p:sp>
          <p:nvSpPr>
            <p:cNvPr name="Freeform 49" id="49"/>
            <p:cNvSpPr/>
            <p:nvPr/>
          </p:nvSpPr>
          <p:spPr>
            <a:xfrm flipH="false" flipV="false" rot="0">
              <a:off x="0" y="0"/>
              <a:ext cx="4114800" cy="1975104"/>
            </a:xfrm>
            <a:custGeom>
              <a:avLst/>
              <a:gdLst/>
              <a:ahLst/>
              <a:cxnLst/>
              <a:rect r="r" b="b" t="t" l="l"/>
              <a:pathLst>
                <a:path h="1975104" w="4114800">
                  <a:moveTo>
                    <a:pt x="0" y="0"/>
                  </a:moveTo>
                  <a:lnTo>
                    <a:pt x="4114800" y="0"/>
                  </a:lnTo>
                  <a:lnTo>
                    <a:pt x="4114800" y="1975104"/>
                  </a:lnTo>
                  <a:lnTo>
                    <a:pt x="0" y="1975104"/>
                  </a:lnTo>
                  <a:close/>
                </a:path>
              </a:pathLst>
            </a:custGeom>
            <a:blipFill>
              <a:blip r:embed="rId2">
                <a:alphaModFix amt="0"/>
              </a:blip>
              <a:stretch>
                <a:fillRect l="-11585" t="0" r="-11585" b="0"/>
              </a:stretch>
            </a:blipFill>
          </p:spPr>
          <p:txBody>
            <a:bodyPr/>
            <a:p/>
          </p:txBody>
        </p:sp>
        <p:sp>
          <p:nvSpPr>
            <p:cNvPr name="TextBox 50" id="50"/>
            <p:cNvSpPr txBox="true"/>
            <p:nvPr/>
          </p:nvSpPr>
          <p:spPr>
            <a:xfrm>
              <a:off x="0" y="-19050"/>
              <a:ext cx="4114800" cy="1994154"/>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NHÀ NƯỚC &amp; XÃ HỘI  •  LỢI ÍCH DÀI HẠN</a:t>
              </a:r>
            </a:p>
          </p:txBody>
        </p:sp>
      </p:grpSp>
      <p:grpSp>
        <p:nvGrpSpPr>
          <p:cNvPr name="Group 51" id="51"/>
          <p:cNvGrpSpPr/>
          <p:nvPr/>
        </p:nvGrpSpPr>
        <p:grpSpPr>
          <a:xfrm rot="0">
            <a:off x="3965258" y="5309425"/>
            <a:ext cx="6773037" cy="1506093"/>
            <a:chOff x="0" y="0"/>
            <a:chExt cx="9030716" cy="2008124"/>
          </a:xfrm>
        </p:grpSpPr>
        <p:sp>
          <p:nvSpPr>
            <p:cNvPr name="Freeform 52" id="52"/>
            <p:cNvSpPr/>
            <p:nvPr/>
          </p:nvSpPr>
          <p:spPr>
            <a:xfrm flipH="false" flipV="false" rot="0">
              <a:off x="0" y="0"/>
              <a:ext cx="9030716" cy="2008124"/>
            </a:xfrm>
            <a:custGeom>
              <a:avLst/>
              <a:gdLst/>
              <a:ahLst/>
              <a:cxnLst/>
              <a:rect r="r" b="b" t="t" l="l"/>
              <a:pathLst>
                <a:path h="2008124" w="9030716">
                  <a:moveTo>
                    <a:pt x="0" y="80264"/>
                  </a:moveTo>
                  <a:cubicBezTo>
                    <a:pt x="0" y="35941"/>
                    <a:pt x="35941" y="0"/>
                    <a:pt x="80264" y="0"/>
                  </a:cubicBezTo>
                  <a:lnTo>
                    <a:pt x="8950452" y="0"/>
                  </a:lnTo>
                  <a:cubicBezTo>
                    <a:pt x="8994775" y="0"/>
                    <a:pt x="9030716" y="35941"/>
                    <a:pt x="9030716" y="80264"/>
                  </a:cubicBezTo>
                  <a:lnTo>
                    <a:pt x="9030716" y="1927860"/>
                  </a:lnTo>
                  <a:cubicBezTo>
                    <a:pt x="9030716" y="1972183"/>
                    <a:pt x="8994775" y="2008124"/>
                    <a:pt x="8950452" y="2008124"/>
                  </a:cubicBezTo>
                  <a:lnTo>
                    <a:pt x="80264" y="2008124"/>
                  </a:lnTo>
                  <a:cubicBezTo>
                    <a:pt x="35941" y="2008124"/>
                    <a:pt x="0" y="1972183"/>
                    <a:pt x="0" y="1927860"/>
                  </a:cubicBezTo>
                  <a:close/>
                </a:path>
              </a:pathLst>
            </a:custGeom>
            <a:solidFill>
              <a:srgbClr val="FFFFFF"/>
            </a:solidFill>
            <a:ln w="24765" cap="sq">
              <a:solidFill>
                <a:srgbClr val="C25915"/>
              </a:solidFill>
              <a:prstDash val="solid"/>
              <a:miter/>
            </a:ln>
          </p:spPr>
          <p:txBody>
            <a:bodyPr/>
            <a:p/>
          </p:txBody>
        </p:sp>
      </p:grpSp>
      <p:grpSp>
        <p:nvGrpSpPr>
          <p:cNvPr name="Group 53" id="53"/>
          <p:cNvGrpSpPr/>
          <p:nvPr/>
        </p:nvGrpSpPr>
        <p:grpSpPr>
          <a:xfrm rot="0">
            <a:off x="4169664" y="5376672"/>
            <a:ext cx="6391656" cy="1371600"/>
            <a:chOff x="0" y="0"/>
            <a:chExt cx="8522208" cy="1828800"/>
          </a:xfrm>
        </p:grpSpPr>
        <p:sp>
          <p:nvSpPr>
            <p:cNvPr name="Freeform 54" id="54"/>
            <p:cNvSpPr/>
            <p:nvPr/>
          </p:nvSpPr>
          <p:spPr>
            <a:xfrm flipH="false" flipV="false" rot="0">
              <a:off x="0" y="0"/>
              <a:ext cx="8522208" cy="1828800"/>
            </a:xfrm>
            <a:custGeom>
              <a:avLst/>
              <a:gdLst/>
              <a:ahLst/>
              <a:cxnLst/>
              <a:rect r="r" b="b" t="t" l="l"/>
              <a:pathLst>
                <a:path h="1828800" w="8522208">
                  <a:moveTo>
                    <a:pt x="0" y="0"/>
                  </a:moveTo>
                  <a:lnTo>
                    <a:pt x="8522208" y="0"/>
                  </a:lnTo>
                  <a:lnTo>
                    <a:pt x="8522208" y="1828800"/>
                  </a:lnTo>
                  <a:lnTo>
                    <a:pt x="0" y="1828800"/>
                  </a:lnTo>
                  <a:close/>
                </a:path>
              </a:pathLst>
            </a:custGeom>
            <a:blipFill>
              <a:blip r:embed="rId2">
                <a:alphaModFix amt="0"/>
              </a:blip>
              <a:stretch>
                <a:fillRect l="0" t="-40800" r="0" b="-40800"/>
              </a:stretch>
            </a:blipFill>
          </p:spPr>
          <p:txBody>
            <a:bodyPr/>
            <a:p/>
          </p:txBody>
        </p:sp>
        <p:sp>
          <p:nvSpPr>
            <p:cNvPr name="TextBox 55" id="55"/>
            <p:cNvSpPr txBox="true"/>
            <p:nvPr/>
          </p:nvSpPr>
          <p:spPr>
            <a:xfrm>
              <a:off x="0" y="-66675"/>
              <a:ext cx="8522208" cy="1895475"/>
            </a:xfrm>
            <a:prstGeom prst="rect">
              <a:avLst/>
            </a:prstGeom>
          </p:spPr>
          <p:txBody>
            <a:bodyPr anchor="ctr" rtlCol="false" tIns="0" lIns="0" bIns="0" rIns="0"/>
            <a:lstStyle/>
            <a:p>
              <a:pPr algn="l">
                <a:lnSpc>
                  <a:spcPts val="3240"/>
                </a:lnSpc>
              </a:pPr>
              <a:r>
                <a:rPr lang="en-US" sz="2250">
                  <a:solidFill>
                    <a:srgbClr val="1E293B"/>
                  </a:solidFill>
                  <a:latin typeface="DejaVu Sans Light"/>
                  <a:ea typeface="DejaVu Sans Light"/>
                  <a:cs typeface="DejaVu Sans Light"/>
                  <a:sym typeface="DejaVu Sans Light"/>
                </a:rPr>
                <a:t>An sinh, việc làm, ổn định xã hội và phát triển bền vững nguồn nhân lực trẻ.</a:t>
              </a:r>
            </a:p>
          </p:txBody>
        </p:sp>
      </p:grpSp>
      <p:grpSp>
        <p:nvGrpSpPr>
          <p:cNvPr name="Group 56" id="56"/>
          <p:cNvGrpSpPr/>
          <p:nvPr/>
        </p:nvGrpSpPr>
        <p:grpSpPr>
          <a:xfrm rot="0">
            <a:off x="739140" y="7089648"/>
            <a:ext cx="10002012" cy="2334768"/>
            <a:chOff x="0" y="0"/>
            <a:chExt cx="13336016" cy="3113024"/>
          </a:xfrm>
        </p:grpSpPr>
        <p:sp>
          <p:nvSpPr>
            <p:cNvPr name="Freeform 57" id="57"/>
            <p:cNvSpPr/>
            <p:nvPr/>
          </p:nvSpPr>
          <p:spPr>
            <a:xfrm flipH="false" flipV="false" rot="0">
              <a:off x="0" y="0"/>
              <a:ext cx="13336017" cy="3113024"/>
            </a:xfrm>
            <a:custGeom>
              <a:avLst/>
              <a:gdLst/>
              <a:ahLst/>
              <a:cxnLst/>
              <a:rect r="r" b="b" t="t" l="l"/>
              <a:pathLst>
                <a:path h="3113024" w="13336017">
                  <a:moveTo>
                    <a:pt x="0" y="124460"/>
                  </a:moveTo>
                  <a:cubicBezTo>
                    <a:pt x="0" y="55753"/>
                    <a:pt x="55753" y="0"/>
                    <a:pt x="124460" y="0"/>
                  </a:cubicBezTo>
                  <a:lnTo>
                    <a:pt x="13211556" y="0"/>
                  </a:lnTo>
                  <a:cubicBezTo>
                    <a:pt x="13280391" y="0"/>
                    <a:pt x="13336017" y="55753"/>
                    <a:pt x="13336017" y="124460"/>
                  </a:cubicBezTo>
                  <a:lnTo>
                    <a:pt x="13336017" y="2988564"/>
                  </a:lnTo>
                  <a:cubicBezTo>
                    <a:pt x="13336017" y="3057398"/>
                    <a:pt x="13280264" y="3113024"/>
                    <a:pt x="13211556" y="3113024"/>
                  </a:cubicBezTo>
                  <a:lnTo>
                    <a:pt x="124460" y="3113024"/>
                  </a:lnTo>
                  <a:cubicBezTo>
                    <a:pt x="55626" y="3113024"/>
                    <a:pt x="0" y="3057271"/>
                    <a:pt x="0" y="2988564"/>
                  </a:cubicBezTo>
                  <a:close/>
                </a:path>
              </a:pathLst>
            </a:custGeom>
            <a:solidFill>
              <a:srgbClr val="FFF7ED"/>
            </a:solidFill>
            <a:ln w="30480" cap="sq">
              <a:solidFill>
                <a:srgbClr val="C25915"/>
              </a:solidFill>
              <a:prstDash val="solid"/>
              <a:miter/>
            </a:ln>
          </p:spPr>
          <p:txBody>
            <a:bodyPr/>
            <a:p/>
          </p:txBody>
        </p:sp>
      </p:grpSp>
      <p:grpSp>
        <p:nvGrpSpPr>
          <p:cNvPr name="Group 58" id="58"/>
          <p:cNvGrpSpPr/>
          <p:nvPr/>
        </p:nvGrpSpPr>
        <p:grpSpPr>
          <a:xfrm rot="0">
            <a:off x="987552" y="7187184"/>
            <a:ext cx="9532620" cy="2139696"/>
            <a:chOff x="0" y="0"/>
            <a:chExt cx="12710160" cy="2852928"/>
          </a:xfrm>
        </p:grpSpPr>
        <p:sp>
          <p:nvSpPr>
            <p:cNvPr name="Freeform 59" id="59"/>
            <p:cNvSpPr/>
            <p:nvPr/>
          </p:nvSpPr>
          <p:spPr>
            <a:xfrm flipH="false" flipV="false" rot="0">
              <a:off x="0" y="0"/>
              <a:ext cx="12710160" cy="2852928"/>
            </a:xfrm>
            <a:custGeom>
              <a:avLst/>
              <a:gdLst/>
              <a:ahLst/>
              <a:cxnLst/>
              <a:rect r="r" b="b" t="t" l="l"/>
              <a:pathLst>
                <a:path h="2852928" w="12710160">
                  <a:moveTo>
                    <a:pt x="0" y="0"/>
                  </a:moveTo>
                  <a:lnTo>
                    <a:pt x="12710160" y="0"/>
                  </a:lnTo>
                  <a:lnTo>
                    <a:pt x="12710160" y="2852928"/>
                  </a:lnTo>
                  <a:lnTo>
                    <a:pt x="0" y="2852928"/>
                  </a:lnTo>
                  <a:close/>
                </a:path>
              </a:pathLst>
            </a:custGeom>
            <a:blipFill>
              <a:blip r:embed="rId2">
                <a:alphaModFix amt="0"/>
              </a:blip>
              <a:stretch>
                <a:fillRect l="0" t="-36808" r="0" b="-36808"/>
              </a:stretch>
            </a:blipFill>
          </p:spPr>
          <p:txBody>
            <a:bodyPr/>
            <a:p/>
          </p:txBody>
        </p:sp>
        <p:sp>
          <p:nvSpPr>
            <p:cNvPr name="TextBox 60" id="60"/>
            <p:cNvSpPr txBox="true"/>
            <p:nvPr/>
          </p:nvSpPr>
          <p:spPr>
            <a:xfrm>
              <a:off x="0" y="-19050"/>
              <a:ext cx="12710160" cy="2871978"/>
            </a:xfrm>
            <a:prstGeom prst="rect">
              <a:avLst/>
            </a:prstGeom>
          </p:spPr>
          <p:txBody>
            <a:bodyPr anchor="ctr" rtlCol="false" tIns="0" lIns="0" bIns="0" rIns="0"/>
            <a:lstStyle/>
            <a:p>
              <a:pPr algn="l">
                <a:lnSpc>
                  <a:spcPts val="2700"/>
                </a:lnSpc>
              </a:pPr>
              <a:r>
                <a:rPr lang="en-US" sz="2250" b="true">
                  <a:solidFill>
                    <a:srgbClr val="C25915"/>
                  </a:solidFill>
                  <a:latin typeface="DejaVu Sans Bold"/>
                  <a:ea typeface="DejaVu Sans Bold"/>
                  <a:cs typeface="DejaVu Sans Bold"/>
                  <a:sym typeface="DejaVu Sans Bold"/>
                </a:rPr>
                <a:t>KẾT LUẬN:</a:t>
              </a:r>
            </a:p>
            <a:p>
              <a:pPr algn="l">
                <a:lnSpc>
                  <a:spcPts val="3347"/>
                </a:lnSpc>
              </a:pPr>
              <a:r>
                <a:rPr lang="en-US" sz="2250">
                  <a:solidFill>
                    <a:srgbClr val="0B192E"/>
                  </a:solidFill>
                  <a:latin typeface="DejaVu Sans Light"/>
                  <a:ea typeface="DejaVu Sans Light"/>
                  <a:cs typeface="DejaVu Sans Light"/>
                  <a:sym typeface="DejaVu Sans Light"/>
                </a:rPr>
                <a:t>Nhà nước dùng công cụ kinh tế và thể chế minh bạch để hài hòa ba lợi ích — không thay cơ chế thị trường bằng mệnh lệnh.</a:t>
              </a:r>
            </a:p>
          </p:txBody>
        </p:sp>
      </p:grpSp>
      <p:grpSp>
        <p:nvGrpSpPr>
          <p:cNvPr name="Group 61" id="61"/>
          <p:cNvGrpSpPr/>
          <p:nvPr/>
        </p:nvGrpSpPr>
        <p:grpSpPr>
          <a:xfrm rot="0">
            <a:off x="11043666" y="1881378"/>
            <a:ext cx="6496812" cy="7511796"/>
            <a:chOff x="0" y="0"/>
            <a:chExt cx="8662416" cy="10015728"/>
          </a:xfrm>
        </p:grpSpPr>
        <p:sp>
          <p:nvSpPr>
            <p:cNvPr name="Freeform 62" id="62"/>
            <p:cNvSpPr/>
            <p:nvPr/>
          </p:nvSpPr>
          <p:spPr>
            <a:xfrm flipH="false" flipV="false" rot="0">
              <a:off x="0" y="0"/>
              <a:ext cx="8662416" cy="10015728"/>
            </a:xfrm>
            <a:custGeom>
              <a:avLst/>
              <a:gdLst/>
              <a:ahLst/>
              <a:cxnLst/>
              <a:rect r="r" b="b" t="t" l="l"/>
              <a:pathLst>
                <a:path h="10015728" w="8662416">
                  <a:moveTo>
                    <a:pt x="0" y="346456"/>
                  </a:moveTo>
                  <a:cubicBezTo>
                    <a:pt x="0" y="155194"/>
                    <a:pt x="155194" y="0"/>
                    <a:pt x="346456" y="0"/>
                  </a:cubicBezTo>
                  <a:lnTo>
                    <a:pt x="8315960" y="0"/>
                  </a:lnTo>
                  <a:cubicBezTo>
                    <a:pt x="8507349" y="0"/>
                    <a:pt x="8662416" y="155194"/>
                    <a:pt x="8662416" y="346456"/>
                  </a:cubicBezTo>
                  <a:lnTo>
                    <a:pt x="8662416" y="9669272"/>
                  </a:lnTo>
                  <a:cubicBezTo>
                    <a:pt x="8662416" y="9860661"/>
                    <a:pt x="8507222" y="10015728"/>
                    <a:pt x="8315960" y="10015728"/>
                  </a:cubicBezTo>
                  <a:lnTo>
                    <a:pt x="346456" y="10015728"/>
                  </a:lnTo>
                  <a:cubicBezTo>
                    <a:pt x="155194" y="10015728"/>
                    <a:pt x="0" y="9860534"/>
                    <a:pt x="0" y="9669272"/>
                  </a:cubicBezTo>
                  <a:close/>
                </a:path>
              </a:pathLst>
            </a:custGeom>
            <a:solidFill>
              <a:srgbClr val="FFFFFF"/>
            </a:solidFill>
            <a:ln w="22860" cap="sq">
              <a:solidFill>
                <a:srgbClr val="CBD5E1"/>
              </a:solidFill>
              <a:prstDash val="solid"/>
              <a:miter/>
            </a:ln>
          </p:spPr>
          <p:txBody>
            <a:bodyPr/>
            <a:p/>
          </p:txBody>
        </p:sp>
      </p:grpSp>
      <p:grpSp>
        <p:nvGrpSpPr>
          <p:cNvPr name="Group 63" id="63"/>
          <p:cNvGrpSpPr/>
          <p:nvPr/>
        </p:nvGrpSpPr>
        <p:grpSpPr>
          <a:xfrm rot="0">
            <a:off x="11137392" y="1975104"/>
            <a:ext cx="6309360" cy="6748272"/>
            <a:chOff x="0" y="0"/>
            <a:chExt cx="8412480" cy="8997696"/>
          </a:xfrm>
        </p:grpSpPr>
        <p:sp>
          <p:nvSpPr>
            <p:cNvPr name="Freeform 64" id="64" descr="image12.jpg"/>
            <p:cNvSpPr/>
            <p:nvPr/>
          </p:nvSpPr>
          <p:spPr>
            <a:xfrm flipH="false" flipV="false" rot="0">
              <a:off x="0" y="0"/>
              <a:ext cx="8412480" cy="8997696"/>
            </a:xfrm>
            <a:custGeom>
              <a:avLst/>
              <a:gdLst/>
              <a:ahLst/>
              <a:cxnLst/>
              <a:rect r="r" b="b" t="t" l="l"/>
              <a:pathLst>
                <a:path h="8997696" w="8412480">
                  <a:moveTo>
                    <a:pt x="0" y="0"/>
                  </a:moveTo>
                  <a:lnTo>
                    <a:pt x="8412480" y="0"/>
                  </a:lnTo>
                  <a:lnTo>
                    <a:pt x="8412480" y="8997696"/>
                  </a:lnTo>
                  <a:lnTo>
                    <a:pt x="0" y="8997696"/>
                  </a:lnTo>
                  <a:lnTo>
                    <a:pt x="0" y="0"/>
                  </a:lnTo>
                  <a:close/>
                </a:path>
              </a:pathLst>
            </a:custGeom>
            <a:blipFill>
              <a:blip r:embed="rId3"/>
              <a:stretch>
                <a:fillRect l="-749" t="0" r="-749" b="0"/>
              </a:stretch>
            </a:blipFill>
          </p:spPr>
          <p:txBody>
            <a:bodyPr/>
            <a:p/>
          </p:txBody>
        </p:sp>
      </p:grpSp>
      <p:grpSp>
        <p:nvGrpSpPr>
          <p:cNvPr name="Group 65" id="65"/>
          <p:cNvGrpSpPr/>
          <p:nvPr/>
        </p:nvGrpSpPr>
        <p:grpSpPr>
          <a:xfrm rot="0">
            <a:off x="11137392" y="8778240"/>
            <a:ext cx="6309360" cy="548640"/>
            <a:chOff x="0" y="0"/>
            <a:chExt cx="8412480" cy="731520"/>
          </a:xfrm>
        </p:grpSpPr>
        <p:sp>
          <p:nvSpPr>
            <p:cNvPr name="Freeform 66" id="66"/>
            <p:cNvSpPr/>
            <p:nvPr/>
          </p:nvSpPr>
          <p:spPr>
            <a:xfrm flipH="false" flipV="false" rot="0">
              <a:off x="0" y="0"/>
              <a:ext cx="8412480" cy="731520"/>
            </a:xfrm>
            <a:custGeom>
              <a:avLst/>
              <a:gdLst/>
              <a:ahLst/>
              <a:cxnLst/>
              <a:rect r="r" b="b" t="t" l="l"/>
              <a:pathLst>
                <a:path h="731520" w="8412480">
                  <a:moveTo>
                    <a:pt x="0" y="0"/>
                  </a:moveTo>
                  <a:lnTo>
                    <a:pt x="8412480" y="0"/>
                  </a:lnTo>
                  <a:lnTo>
                    <a:pt x="8412480" y="731520"/>
                  </a:lnTo>
                  <a:lnTo>
                    <a:pt x="0" y="731520"/>
                  </a:lnTo>
                  <a:close/>
                </a:path>
              </a:pathLst>
            </a:custGeom>
            <a:solidFill>
              <a:srgbClr val="F1F5F9"/>
            </a:solidFill>
          </p:spPr>
          <p:txBody>
            <a:bodyPr/>
            <a:p/>
          </p:txBody>
        </p:sp>
      </p:grpSp>
      <p:grpSp>
        <p:nvGrpSpPr>
          <p:cNvPr name="Group 67" id="67"/>
          <p:cNvGrpSpPr/>
          <p:nvPr/>
        </p:nvGrpSpPr>
        <p:grpSpPr>
          <a:xfrm rot="0">
            <a:off x="11219688" y="8778240"/>
            <a:ext cx="6144768" cy="548640"/>
            <a:chOff x="0" y="0"/>
            <a:chExt cx="8193024" cy="731520"/>
          </a:xfrm>
        </p:grpSpPr>
        <p:sp>
          <p:nvSpPr>
            <p:cNvPr name="Freeform 68" id="68"/>
            <p:cNvSpPr/>
            <p:nvPr/>
          </p:nvSpPr>
          <p:spPr>
            <a:xfrm flipH="false" flipV="false" rot="0">
              <a:off x="0" y="0"/>
              <a:ext cx="8193022" cy="731520"/>
            </a:xfrm>
            <a:custGeom>
              <a:avLst/>
              <a:gdLst/>
              <a:ahLst/>
              <a:cxnLst/>
              <a:rect r="r" b="b" t="t" l="l"/>
              <a:pathLst>
                <a:path h="731520" w="8193022">
                  <a:moveTo>
                    <a:pt x="0" y="0"/>
                  </a:moveTo>
                  <a:lnTo>
                    <a:pt x="8193022" y="0"/>
                  </a:lnTo>
                  <a:lnTo>
                    <a:pt x="8193022" y="731520"/>
                  </a:lnTo>
                  <a:lnTo>
                    <a:pt x="0" y="731520"/>
                  </a:lnTo>
                  <a:close/>
                </a:path>
              </a:pathLst>
            </a:custGeom>
            <a:blipFill>
              <a:blip r:embed="rId2">
                <a:alphaModFix amt="0"/>
              </a:blip>
              <a:stretch>
                <a:fillRect l="0" t="-168232" r="0" b="-168232"/>
              </a:stretch>
            </a:blipFill>
          </p:spPr>
          <p:txBody>
            <a:bodyPr/>
            <a:p/>
          </p:txBody>
        </p:sp>
        <p:sp>
          <p:nvSpPr>
            <p:cNvPr name="TextBox 69" id="69"/>
            <p:cNvSpPr txBox="true"/>
            <p:nvPr/>
          </p:nvSpPr>
          <p:spPr>
            <a:xfrm>
              <a:off x="0" y="-9525"/>
              <a:ext cx="8193024" cy="741045"/>
            </a:xfrm>
            <a:prstGeom prst="rect">
              <a:avLst/>
            </a:prstGeom>
          </p:spPr>
          <p:txBody>
            <a:bodyPr anchor="ctr" rtlCol="false" tIns="0" lIns="0" bIns="0" rIns="0"/>
            <a:lstStyle/>
            <a:p>
              <a:pPr algn="l">
                <a:lnSpc>
                  <a:spcPts val="1727"/>
                </a:lnSpc>
              </a:pPr>
              <a:r>
                <a:rPr lang="en-US" sz="1439" b="true">
                  <a:solidFill>
                    <a:srgbClr val="1E293B"/>
                  </a:solidFill>
                  <a:latin typeface="DejaVu Sans Bold"/>
                  <a:ea typeface="DejaVu Sans Bold"/>
                  <a:cs typeface="DejaVu Sans Bold"/>
                  <a:sym typeface="DejaVu Sans Bold"/>
                </a:rPr>
                <a:t>Ảnh tư liệu: Thi công dự án NOXH Viglacera | Nguồn: Thời báo VTV</a:t>
              </a:r>
            </a:p>
          </p:txBody>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18287543" cy="137160"/>
            <a:chOff x="0" y="0"/>
            <a:chExt cx="24383390" cy="182880"/>
          </a:xfrm>
        </p:grpSpPr>
        <p:sp>
          <p:nvSpPr>
            <p:cNvPr name="Freeform 5" id="5"/>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EF6FC"/>
            </a:solidFill>
            <a:ln w="19050" cap="sq">
              <a:solidFill>
                <a:srgbClr val="122645"/>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19050"/>
              <a:ext cx="9235440" cy="640842"/>
            </a:xfrm>
            <a:prstGeom prst="rect">
              <a:avLst/>
            </a:prstGeom>
          </p:spPr>
          <p:txBody>
            <a:bodyPr anchor="ctr" rtlCol="false" tIns="0" lIns="0" bIns="0" rIns="0"/>
            <a:lstStyle/>
            <a:p>
              <a:pPr algn="l">
                <a:lnSpc>
                  <a:spcPts val="2700"/>
                </a:lnSpc>
              </a:pPr>
              <a:r>
                <a:rPr lang="en-US" sz="2250" b="true">
                  <a:solidFill>
                    <a:srgbClr val="122645"/>
                  </a:solidFill>
                  <a:latin typeface="DejaVu Sans Bold"/>
                  <a:ea typeface="DejaVu Sans Bold"/>
                  <a:cs typeface="DejaVu Sans Bold"/>
                  <a:sym typeface="DejaVu Sans Bold"/>
                </a:rPr>
                <a:t>PHỤ LỤC  •  TÀI LIỆU THAM KHẢO</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19050"/>
              <a:ext cx="2432304" cy="64084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16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Nguồn dữ liệu, văn bản pháp lý và ảnh tư liệu</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9525"/>
              <a:ext cx="22366224" cy="667893"/>
            </a:xfrm>
            <a:prstGeom prst="rect">
              <a:avLst/>
            </a:prstGeom>
          </p:spPr>
          <p:txBody>
            <a:bodyPr anchor="ctr" rtlCol="false" tIns="0" lIns="0" bIns="0" rIns="0"/>
            <a:lstStyle/>
            <a:p>
              <a:pPr algn="l">
                <a:lnSpc>
                  <a:spcPts val="2340"/>
                </a:lnSpc>
              </a:pPr>
              <a:r>
                <a:rPr lang="en-US" sz="1950" i="true">
                  <a:solidFill>
                    <a:srgbClr val="475569"/>
                  </a:solidFill>
                  <a:latin typeface="DejaVu Sans Bold Italics"/>
                  <a:ea typeface="DejaVu Sans Bold Italics"/>
                  <a:cs typeface="DejaVu Sans Bold Italics"/>
                  <a:sym typeface="DejaVu Sans Bold Italics"/>
                </a:rPr>
                <a:t>Số liệu cập nhật theo nguồn ghi trên slide đến 30/10/2026; đối chiếu văn bản hiện hành trước khi sử dụng lại.</a:t>
              </a:r>
            </a:p>
          </p:txBody>
        </p:sp>
      </p:grpSp>
      <p:grpSp>
        <p:nvGrpSpPr>
          <p:cNvPr name="Group 26" id="26"/>
          <p:cNvGrpSpPr/>
          <p:nvPr/>
        </p:nvGrpSpPr>
        <p:grpSpPr>
          <a:xfrm rot="0">
            <a:off x="741045" y="1934337"/>
            <a:ext cx="8187690" cy="7460742"/>
            <a:chOff x="0" y="0"/>
            <a:chExt cx="10916920" cy="9947656"/>
          </a:xfrm>
        </p:grpSpPr>
        <p:sp>
          <p:nvSpPr>
            <p:cNvPr name="Freeform 27" id="27"/>
            <p:cNvSpPr/>
            <p:nvPr/>
          </p:nvSpPr>
          <p:spPr>
            <a:xfrm flipH="false" flipV="false" rot="0">
              <a:off x="0" y="0"/>
              <a:ext cx="10916920" cy="9947656"/>
            </a:xfrm>
            <a:custGeom>
              <a:avLst/>
              <a:gdLst/>
              <a:ahLst/>
              <a:cxnLst/>
              <a:rect r="r" b="b" t="t" l="l"/>
              <a:pathLst>
                <a:path h="9947656" w="10916920">
                  <a:moveTo>
                    <a:pt x="0" y="397891"/>
                  </a:moveTo>
                  <a:cubicBezTo>
                    <a:pt x="0" y="178181"/>
                    <a:pt x="178181" y="0"/>
                    <a:pt x="397891" y="0"/>
                  </a:cubicBezTo>
                  <a:lnTo>
                    <a:pt x="10519029" y="0"/>
                  </a:lnTo>
                  <a:cubicBezTo>
                    <a:pt x="10738739" y="0"/>
                    <a:pt x="10916920" y="178181"/>
                    <a:pt x="10916920" y="397891"/>
                  </a:cubicBezTo>
                  <a:lnTo>
                    <a:pt x="10916920" y="9549765"/>
                  </a:lnTo>
                  <a:cubicBezTo>
                    <a:pt x="10916920" y="9769475"/>
                    <a:pt x="10738739" y="9947656"/>
                    <a:pt x="10519029" y="9947656"/>
                  </a:cubicBezTo>
                  <a:lnTo>
                    <a:pt x="397891" y="9947656"/>
                  </a:lnTo>
                  <a:cubicBezTo>
                    <a:pt x="178181" y="9947656"/>
                    <a:pt x="0" y="9769475"/>
                    <a:pt x="0" y="9549765"/>
                  </a:cubicBezTo>
                  <a:close/>
                </a:path>
              </a:pathLst>
            </a:custGeom>
            <a:solidFill>
              <a:srgbClr val="FFFFFF"/>
            </a:solidFill>
            <a:ln w="26670" cap="sq">
              <a:solidFill>
                <a:srgbClr val="122645"/>
              </a:solidFill>
              <a:prstDash val="solid"/>
              <a:miter/>
            </a:ln>
          </p:spPr>
          <p:txBody>
            <a:bodyPr/>
            <a:p/>
          </p:txBody>
        </p:sp>
      </p:grpSp>
      <p:sp>
        <p:nvSpPr>
          <p:cNvPr name="TextBox 28" id="28"/>
          <p:cNvSpPr txBox="true"/>
          <p:nvPr/>
        </p:nvSpPr>
        <p:spPr>
          <a:xfrm rot="0">
            <a:off x="1083564" y="2102358"/>
            <a:ext cx="7516368" cy="7105650"/>
          </a:xfrm>
          <a:prstGeom prst="rect">
            <a:avLst/>
          </a:prstGeom>
        </p:spPr>
        <p:txBody>
          <a:bodyPr anchor="t" rtlCol="false" tIns="0" lIns="0" bIns="0" rIns="0">
            <a:spAutoFit/>
          </a:bodyPr>
          <a:lstStyle/>
          <a:p>
            <a:pPr algn="l">
              <a:lnSpc>
                <a:spcPts val="2700"/>
              </a:lnSpc>
            </a:pPr>
            <a:r>
              <a:rPr lang="en-US" sz="2250" b="true">
                <a:solidFill>
                  <a:srgbClr val="122645"/>
                </a:solidFill>
                <a:latin typeface="DejaVu Sans Bold"/>
                <a:ea typeface="DejaVu Sans Bold"/>
                <a:cs typeface="DejaVu Sans Bold"/>
                <a:sym typeface="DejaVu Sans Bold"/>
              </a:rPr>
              <a:t>1. GIÁO TRÌNH, VĂN BẢN PHÁP LUẬT &amp; BÁO CÁO</a:t>
            </a:r>
          </a:p>
          <a:p>
            <a:pPr algn="l">
              <a:lnSpc>
                <a:spcPts val="3294"/>
              </a:lnSpc>
            </a:pPr>
            <a:r>
              <a:rPr lang="en-US" sz="2250">
                <a:solidFill>
                  <a:srgbClr val="1E293B"/>
                </a:solidFill>
                <a:latin typeface="DejaVu Sans Light"/>
                <a:ea typeface="DejaVu Sans Light"/>
                <a:cs typeface="DejaVu Sans Light"/>
                <a:sym typeface="DejaVu Sans Light"/>
              </a:rPr>
              <a:t>• Tài liệu ôn tập và phản biện KTTT trong repo (bản cập nhật mới nhất).</a:t>
            </a:r>
          </a:p>
          <a:p>
            <a:pPr algn="l">
              <a:lnSpc>
                <a:spcPts val="3294"/>
              </a:lnSpc>
            </a:pPr>
            <a:r>
              <a:rPr lang="en-US" sz="2250">
                <a:solidFill>
                  <a:srgbClr val="1E293B"/>
                </a:solidFill>
                <a:latin typeface="DejaVu Sans Light"/>
                <a:ea typeface="DejaVu Sans Light"/>
                <a:cs typeface="DejaVu Sans Light"/>
                <a:sym typeface="DejaVu Sans Light"/>
              </a:rPr>
              <a:t>• Giáo trình KTCT Mác – Lênin (Bộ GD&amp;ĐT, 2021), Chương 5.1–5.2, tr. 169–196.</a:t>
            </a:r>
          </a:p>
          <a:p>
            <a:pPr algn="l">
              <a:lnSpc>
                <a:spcPts val="3294"/>
              </a:lnSpc>
            </a:pPr>
            <a:r>
              <a:rPr lang="en-US" sz="2250">
                <a:solidFill>
                  <a:srgbClr val="1E293B"/>
                </a:solidFill>
                <a:latin typeface="DejaVu Sans Light"/>
                <a:ea typeface="DejaVu Sans Light"/>
                <a:cs typeface="DejaVu Sans Light"/>
                <a:sym typeface="DejaVu Sans Light"/>
              </a:rPr>
              <a:t>• Luật Nhà ở 2023 (Điều 76, 83, 85, 89); Luật Đất đai 2024; Luật Kinh doanh BĐS 2023.</a:t>
            </a:r>
          </a:p>
          <a:p>
            <a:pPr algn="l">
              <a:lnSpc>
                <a:spcPts val="3294"/>
              </a:lnSpc>
            </a:pPr>
            <a:r>
              <a:rPr lang="en-US" sz="2250">
                <a:solidFill>
                  <a:srgbClr val="1E293B"/>
                </a:solidFill>
                <a:latin typeface="DejaVu Sans Light"/>
                <a:ea typeface="DejaVu Sans Light"/>
                <a:cs typeface="DejaVu Sans Light"/>
                <a:sym typeface="DejaVu Sans Light"/>
              </a:rPr>
              <a:t>• NQ 201/2025/QH15; NĐ 192/2025, 261/2025, 302/2025; NĐ 136/2026.</a:t>
            </a:r>
          </a:p>
          <a:p>
            <a:pPr algn="l">
              <a:lnSpc>
                <a:spcPts val="3294"/>
              </a:lnSpc>
            </a:pPr>
            <a:r>
              <a:rPr lang="en-US" sz="2250">
                <a:solidFill>
                  <a:srgbClr val="1E293B"/>
                </a:solidFill>
                <a:latin typeface="DejaVu Sans Light"/>
                <a:ea typeface="DejaVu Sans Light"/>
                <a:cs typeface="DejaVu Sans Light"/>
                <a:sym typeface="DejaVu Sans Light"/>
              </a:rPr>
              <a:t>• NQ 303/NQ-CP (30/09/2026) thay NQ 07/NQ-CP; NHNN CV 5340/NHNN-CSTT (19/06/2026).</a:t>
            </a:r>
          </a:p>
          <a:p>
            <a:pPr algn="l">
              <a:lnSpc>
                <a:spcPts val="3240"/>
              </a:lnSpc>
            </a:pPr>
            <a:r>
              <a:rPr lang="en-US" sz="2700">
                <a:solidFill>
                  <a:srgbClr val="000000"/>
                </a:solidFill>
                <a:latin typeface="Calibri (MS)"/>
                <a:ea typeface="Calibri (MS)"/>
                <a:cs typeface="Calibri (MS)"/>
                <a:sym typeface="Calibri (MS)"/>
              </a:rPr>
              <a:t>• Bộ Xây dựng: báo cáo Q2/2026, họp báo Q3/2026; Cục Thống kê: báo cáo 9T/2026.</a:t>
            </a:r>
          </a:p>
        </p:txBody>
      </p:sp>
      <p:grpSp>
        <p:nvGrpSpPr>
          <p:cNvPr name="Group 29" id="29"/>
          <p:cNvGrpSpPr/>
          <p:nvPr/>
        </p:nvGrpSpPr>
        <p:grpSpPr>
          <a:xfrm rot="0">
            <a:off x="9354693" y="1934337"/>
            <a:ext cx="8187690" cy="7460742"/>
            <a:chOff x="0" y="0"/>
            <a:chExt cx="10916920" cy="9947656"/>
          </a:xfrm>
        </p:grpSpPr>
        <p:sp>
          <p:nvSpPr>
            <p:cNvPr name="Freeform 30" id="30"/>
            <p:cNvSpPr/>
            <p:nvPr/>
          </p:nvSpPr>
          <p:spPr>
            <a:xfrm flipH="false" flipV="false" rot="0">
              <a:off x="0" y="0"/>
              <a:ext cx="10916920" cy="9947656"/>
            </a:xfrm>
            <a:custGeom>
              <a:avLst/>
              <a:gdLst/>
              <a:ahLst/>
              <a:cxnLst/>
              <a:rect r="r" b="b" t="t" l="l"/>
              <a:pathLst>
                <a:path h="9947656" w="10916920">
                  <a:moveTo>
                    <a:pt x="0" y="397891"/>
                  </a:moveTo>
                  <a:cubicBezTo>
                    <a:pt x="0" y="178181"/>
                    <a:pt x="178181" y="0"/>
                    <a:pt x="397891" y="0"/>
                  </a:cubicBezTo>
                  <a:lnTo>
                    <a:pt x="10519029" y="0"/>
                  </a:lnTo>
                  <a:cubicBezTo>
                    <a:pt x="10738739" y="0"/>
                    <a:pt x="10916920" y="178181"/>
                    <a:pt x="10916920" y="397891"/>
                  </a:cubicBezTo>
                  <a:lnTo>
                    <a:pt x="10916920" y="9549765"/>
                  </a:lnTo>
                  <a:cubicBezTo>
                    <a:pt x="10916920" y="9769475"/>
                    <a:pt x="10738739" y="9947656"/>
                    <a:pt x="10519029" y="9947656"/>
                  </a:cubicBezTo>
                  <a:lnTo>
                    <a:pt x="397891" y="9947656"/>
                  </a:lnTo>
                  <a:cubicBezTo>
                    <a:pt x="178181" y="9947656"/>
                    <a:pt x="0" y="9769475"/>
                    <a:pt x="0" y="9549765"/>
                  </a:cubicBezTo>
                  <a:close/>
                </a:path>
              </a:pathLst>
            </a:custGeom>
            <a:solidFill>
              <a:srgbClr val="EAF7F5"/>
            </a:solidFill>
            <a:ln w="26670" cap="sq">
              <a:solidFill>
                <a:srgbClr val="0F766E"/>
              </a:solidFill>
              <a:prstDash val="solid"/>
              <a:miter/>
            </a:ln>
          </p:spPr>
          <p:txBody>
            <a:bodyPr/>
            <a:p/>
          </p:txBody>
        </p:sp>
      </p:grpSp>
      <p:sp>
        <p:nvSpPr>
          <p:cNvPr name="TextBox 31" id="31"/>
          <p:cNvSpPr txBox="true"/>
          <p:nvPr/>
        </p:nvSpPr>
        <p:spPr>
          <a:xfrm rot="0">
            <a:off x="9697212" y="2102358"/>
            <a:ext cx="7516368" cy="7105650"/>
          </a:xfrm>
          <a:prstGeom prst="rect">
            <a:avLst/>
          </a:prstGeom>
        </p:spPr>
        <p:txBody>
          <a:bodyPr anchor="t" rtlCol="false" tIns="0" lIns="0" bIns="0" rIns="0">
            <a:spAutoFit/>
          </a:bodyPr>
          <a:lstStyle/>
          <a:p>
            <a:pPr algn="l">
              <a:lnSpc>
                <a:spcPts val="2700"/>
              </a:lnSpc>
            </a:pPr>
            <a:r>
              <a:rPr lang="en-US" sz="2250" b="true">
                <a:solidFill>
                  <a:srgbClr val="0F766E"/>
                </a:solidFill>
                <a:latin typeface="DejaVu Sans Bold"/>
                <a:ea typeface="DejaVu Sans Bold"/>
                <a:cs typeface="DejaVu Sans Bold"/>
                <a:sym typeface="DejaVu Sans Bold"/>
              </a:rPr>
              <a:t>2. NGUỒN ẢNH TƯ LIỆU</a:t>
            </a:r>
          </a:p>
          <a:p>
            <a:pPr algn="l">
              <a:lnSpc>
                <a:spcPts val="3347"/>
              </a:lnSpc>
            </a:pPr>
            <a:r>
              <a:rPr lang="en-US" sz="2250">
                <a:solidFill>
                  <a:srgbClr val="0B192E"/>
                </a:solidFill>
                <a:latin typeface="DejaVu Sans Light"/>
                <a:ea typeface="DejaVu Sans Light"/>
                <a:cs typeface="DejaVu Sans Light"/>
                <a:sym typeface="DejaVu Sans Light"/>
              </a:rPr>
              <a:t>• Slide 1, 3, 4: Wikimedia Commons (CC BY-SA); từng ảnh có chú thích nguồn trên slide.</a:t>
            </a:r>
          </a:p>
          <a:p>
            <a:pPr algn="l">
              <a:lnSpc>
                <a:spcPts val="3347"/>
              </a:lnSpc>
            </a:pPr>
            <a:r>
              <a:rPr lang="en-US" sz="2250">
                <a:solidFill>
                  <a:srgbClr val="0B192E"/>
                </a:solidFill>
                <a:latin typeface="DejaVu Sans Light"/>
                <a:ea typeface="DejaVu Sans Light"/>
                <a:cs typeface="DejaVu Sans Light"/>
                <a:sym typeface="DejaVu Sans Light"/>
              </a:rPr>
              <a:t>• Slide 2: Pexels; slide 6: Báo Tuổi Trẻ và Viglacera.</a:t>
            </a:r>
          </a:p>
          <a:p>
            <a:pPr algn="l">
              <a:lnSpc>
                <a:spcPts val="3347"/>
              </a:lnSpc>
            </a:pPr>
            <a:r>
              <a:rPr lang="en-US" sz="2250">
                <a:solidFill>
                  <a:srgbClr val="0B192E"/>
                </a:solidFill>
                <a:latin typeface="DejaVu Sans Light"/>
                <a:ea typeface="DejaVu Sans Light"/>
                <a:cs typeface="DejaVu Sans Light"/>
                <a:sym typeface="DejaVu Sans Light"/>
              </a:rPr>
              <a:t>• Slide 8, 10, 12: Báo Điện tử Chính phủ; slide 11: Báo Xây dựng.</a:t>
            </a:r>
          </a:p>
          <a:p>
            <a:pPr algn="l">
              <a:lnSpc>
                <a:spcPts val="3347"/>
              </a:lnSpc>
            </a:pPr>
            <a:r>
              <a:rPr lang="en-US" sz="2250">
                <a:solidFill>
                  <a:srgbClr val="0B192E"/>
                </a:solidFill>
                <a:latin typeface="DejaVu Sans Light"/>
                <a:ea typeface="DejaVu Sans Light"/>
                <a:cs typeface="DejaVu Sans Light"/>
                <a:sym typeface="DejaVu Sans Light"/>
              </a:rPr>
              <a:t>• Slide 14: Thời báo VTV. Ảnh được giữ dưới dạng đối tượng riêng có thể thay, di chuyển hoặc cắt.</a:t>
            </a:r>
          </a:p>
          <a:p>
            <a:pPr algn="l">
              <a:lnSpc>
                <a:spcPts val="3347"/>
              </a:lnSpc>
            </a:pPr>
            <a:r>
              <a:rPr lang="en-US" sz="2250">
                <a:solidFill>
                  <a:srgbClr val="0B192E"/>
                </a:solidFill>
                <a:latin typeface="DejaVu Sans Light"/>
                <a:ea typeface="DejaVu Sans Light"/>
                <a:cs typeface="DejaVu Sans Light"/>
                <a:sym typeface="DejaVu Sans Light"/>
              </a:rPr>
              <a:t>• Kiểm tra giấy phép/điều kiện tái sử dụng ảnh trước khi phát hành công khai.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name="Group 2" id="2"/>
          <p:cNvGrpSpPr/>
          <p:nvPr/>
        </p:nvGrpSpPr>
        <p:grpSpPr>
          <a:xfrm rot="0">
            <a:off x="0" y="0"/>
            <a:ext cx="18287543" cy="137160"/>
            <a:chOff x="0" y="0"/>
            <a:chExt cx="24383390" cy="182880"/>
          </a:xfrm>
        </p:grpSpPr>
        <p:sp>
          <p:nvSpPr>
            <p:cNvPr name="Freeform 3" id="3"/>
            <p:cNvSpPr/>
            <p:nvPr/>
          </p:nvSpPr>
          <p:spPr>
            <a:xfrm flipH="false" flipV="false" rot="0">
              <a:off x="0" y="0"/>
              <a:ext cx="24383364" cy="182880"/>
            </a:xfrm>
            <a:custGeom>
              <a:avLst/>
              <a:gdLst/>
              <a:ahLst/>
              <a:cxnLst/>
              <a:rect r="r" b="b" t="t" l="l"/>
              <a:pathLst>
                <a:path h="182880" w="24383364">
                  <a:moveTo>
                    <a:pt x="0" y="0"/>
                  </a:moveTo>
                  <a:lnTo>
                    <a:pt x="24383364" y="0"/>
                  </a:lnTo>
                  <a:lnTo>
                    <a:pt x="24383364" y="182880"/>
                  </a:lnTo>
                  <a:lnTo>
                    <a:pt x="0" y="182880"/>
                  </a:lnTo>
                  <a:close/>
                </a:path>
              </a:pathLst>
            </a:custGeom>
            <a:solidFill>
              <a:srgbClr val="122645"/>
            </a:solidFill>
          </p:spPr>
          <p:txBody>
            <a:bodyPr/>
            <a:p/>
          </p:txBody>
        </p:sp>
      </p:grpSp>
      <p:grpSp>
        <p:nvGrpSpPr>
          <p:cNvPr name="Group 4" id="4"/>
          <p:cNvGrpSpPr/>
          <p:nvPr/>
        </p:nvGrpSpPr>
        <p:grpSpPr>
          <a:xfrm rot="0">
            <a:off x="0" y="0"/>
            <a:ext cx="8534181" cy="137160"/>
            <a:chOff x="0" y="0"/>
            <a:chExt cx="11378908" cy="182880"/>
          </a:xfrm>
        </p:grpSpPr>
        <p:sp>
          <p:nvSpPr>
            <p:cNvPr name="Freeform 5" id="5"/>
            <p:cNvSpPr/>
            <p:nvPr/>
          </p:nvSpPr>
          <p:spPr>
            <a:xfrm flipH="false" flipV="false" rot="0">
              <a:off x="0" y="0"/>
              <a:ext cx="11378946" cy="182880"/>
            </a:xfrm>
            <a:custGeom>
              <a:avLst/>
              <a:gdLst/>
              <a:ahLst/>
              <a:cxnLst/>
              <a:rect r="r" b="b" t="t" l="l"/>
              <a:pathLst>
                <a:path h="182880" w="11378946">
                  <a:moveTo>
                    <a:pt x="0" y="0"/>
                  </a:moveTo>
                  <a:lnTo>
                    <a:pt x="11378946" y="0"/>
                  </a:lnTo>
                  <a:lnTo>
                    <a:pt x="11378946" y="182880"/>
                  </a:lnTo>
                  <a:lnTo>
                    <a:pt x="0" y="182880"/>
                  </a:lnTo>
                  <a:close/>
                </a:path>
              </a:pathLst>
            </a:custGeom>
            <a:solidFill>
              <a:srgbClr val="0369A1"/>
            </a:solidFill>
          </p:spPr>
          <p:txBody>
            <a:bodyPr/>
            <a:p/>
          </p:txBody>
        </p:sp>
      </p:grpSp>
      <p:grpSp>
        <p:nvGrpSpPr>
          <p:cNvPr name="Group 6" id="6"/>
          <p:cNvGrpSpPr/>
          <p:nvPr/>
        </p:nvGrpSpPr>
        <p:grpSpPr>
          <a:xfrm rot="0">
            <a:off x="744855" y="292227"/>
            <a:ext cx="7151370" cy="485394"/>
            <a:chOff x="0" y="0"/>
            <a:chExt cx="9535160" cy="647192"/>
          </a:xfrm>
        </p:grpSpPr>
        <p:sp>
          <p:nvSpPr>
            <p:cNvPr name="Freeform 7" id="7"/>
            <p:cNvSpPr/>
            <p:nvPr/>
          </p:nvSpPr>
          <p:spPr>
            <a:xfrm flipH="false" flipV="false" rot="0">
              <a:off x="0" y="0"/>
              <a:ext cx="9535160" cy="647192"/>
            </a:xfrm>
            <a:custGeom>
              <a:avLst/>
              <a:gdLst/>
              <a:ahLst/>
              <a:cxnLst/>
              <a:rect r="r" b="b" t="t" l="l"/>
              <a:pathLst>
                <a:path h="647192" w="9535160">
                  <a:moveTo>
                    <a:pt x="0" y="25908"/>
                  </a:moveTo>
                  <a:cubicBezTo>
                    <a:pt x="0" y="11557"/>
                    <a:pt x="11557" y="0"/>
                    <a:pt x="25908" y="0"/>
                  </a:cubicBezTo>
                  <a:lnTo>
                    <a:pt x="9509252" y="0"/>
                  </a:lnTo>
                  <a:cubicBezTo>
                    <a:pt x="9523603" y="0"/>
                    <a:pt x="9535160" y="11557"/>
                    <a:pt x="9535160" y="25908"/>
                  </a:cubicBezTo>
                  <a:lnTo>
                    <a:pt x="9535160" y="621284"/>
                  </a:lnTo>
                  <a:cubicBezTo>
                    <a:pt x="9535160" y="635635"/>
                    <a:pt x="9523603" y="647192"/>
                    <a:pt x="9509252" y="647192"/>
                  </a:cubicBezTo>
                  <a:lnTo>
                    <a:pt x="25908" y="647192"/>
                  </a:lnTo>
                  <a:cubicBezTo>
                    <a:pt x="11557" y="647192"/>
                    <a:pt x="0" y="635635"/>
                    <a:pt x="0" y="621284"/>
                  </a:cubicBezTo>
                  <a:close/>
                </a:path>
              </a:pathLst>
            </a:custGeom>
            <a:solidFill>
              <a:srgbClr val="EEF6FC"/>
            </a:solidFill>
            <a:ln w="19050" cap="sq">
              <a:solidFill>
                <a:srgbClr val="0369A1"/>
              </a:solidFill>
              <a:prstDash val="solid"/>
              <a:miter/>
            </a:ln>
          </p:spPr>
          <p:txBody>
            <a:bodyPr/>
            <a:p/>
          </p:txBody>
        </p:sp>
      </p:grpSp>
      <p:grpSp>
        <p:nvGrpSpPr>
          <p:cNvPr name="Group 8" id="8"/>
          <p:cNvGrpSpPr/>
          <p:nvPr/>
        </p:nvGrpSpPr>
        <p:grpSpPr>
          <a:xfrm rot="0">
            <a:off x="850392" y="301752"/>
            <a:ext cx="6926580" cy="466344"/>
            <a:chOff x="0" y="0"/>
            <a:chExt cx="9235440" cy="621792"/>
          </a:xfrm>
        </p:grpSpPr>
        <p:sp>
          <p:nvSpPr>
            <p:cNvPr name="Freeform 9" id="9"/>
            <p:cNvSpPr/>
            <p:nvPr/>
          </p:nvSpPr>
          <p:spPr>
            <a:xfrm flipH="false" flipV="false" rot="0">
              <a:off x="0" y="0"/>
              <a:ext cx="9235440" cy="621792"/>
            </a:xfrm>
            <a:custGeom>
              <a:avLst/>
              <a:gdLst/>
              <a:ahLst/>
              <a:cxnLst/>
              <a:rect r="r" b="b" t="t" l="l"/>
              <a:pathLst>
                <a:path h="621792" w="9235440">
                  <a:moveTo>
                    <a:pt x="0" y="0"/>
                  </a:moveTo>
                  <a:lnTo>
                    <a:pt x="9235440" y="0"/>
                  </a:lnTo>
                  <a:lnTo>
                    <a:pt x="9235440" y="621792"/>
                  </a:lnTo>
                  <a:lnTo>
                    <a:pt x="0" y="621792"/>
                  </a:lnTo>
                  <a:close/>
                </a:path>
              </a:pathLst>
            </a:custGeom>
            <a:blipFill>
              <a:blip r:embed="rId2">
                <a:alphaModFix amt="0"/>
              </a:blip>
              <a:stretch>
                <a:fillRect l="0" t="-239410" r="0" b="-239410"/>
              </a:stretch>
            </a:blipFill>
          </p:spPr>
          <p:txBody>
            <a:bodyPr/>
            <a:p/>
          </p:txBody>
        </p:sp>
        <p:sp>
          <p:nvSpPr>
            <p:cNvPr name="TextBox 10" id="10"/>
            <p:cNvSpPr txBox="true"/>
            <p:nvPr/>
          </p:nvSpPr>
          <p:spPr>
            <a:xfrm>
              <a:off x="0" y="-9525"/>
              <a:ext cx="9235440" cy="631317"/>
            </a:xfrm>
            <a:prstGeom prst="rect">
              <a:avLst/>
            </a:prstGeom>
          </p:spPr>
          <p:txBody>
            <a:bodyPr anchor="ctr" rtlCol="false" tIns="0" lIns="0" bIns="0" rIns="0"/>
            <a:lstStyle/>
            <a:p>
              <a:pPr algn="l">
                <a:lnSpc>
                  <a:spcPts val="1889"/>
                </a:lnSpc>
              </a:pPr>
              <a:r>
                <a:rPr lang="en-US" sz="1575" b="true">
                  <a:solidFill>
                    <a:srgbClr val="0369A1"/>
                  </a:solidFill>
                  <a:latin typeface="DejaVu Sans Bold"/>
                  <a:ea typeface="DejaVu Sans Bold"/>
                  <a:cs typeface="DejaVu Sans Bold"/>
                  <a:sym typeface="DejaVu Sans Bold"/>
                </a:rPr>
                <a:t>LÝ LUẬN NỀN TẢNG • MỤC 5.2.1 (TR. 187–190)</a:t>
              </a:r>
            </a:p>
          </p:txBody>
        </p:sp>
      </p:grpSp>
      <p:grpSp>
        <p:nvGrpSpPr>
          <p:cNvPr name="Group 11" id="11"/>
          <p:cNvGrpSpPr/>
          <p:nvPr/>
        </p:nvGrpSpPr>
        <p:grpSpPr>
          <a:xfrm rot="0">
            <a:off x="15704820" y="301752"/>
            <a:ext cx="1824228" cy="466344"/>
            <a:chOff x="0" y="0"/>
            <a:chExt cx="2432304" cy="621792"/>
          </a:xfrm>
        </p:grpSpPr>
        <p:sp>
          <p:nvSpPr>
            <p:cNvPr name="Freeform 12" id="12"/>
            <p:cNvSpPr/>
            <p:nvPr/>
          </p:nvSpPr>
          <p:spPr>
            <a:xfrm flipH="false" flipV="false" rot="0">
              <a:off x="0" y="0"/>
              <a:ext cx="2432304" cy="621792"/>
            </a:xfrm>
            <a:custGeom>
              <a:avLst/>
              <a:gdLst/>
              <a:ahLst/>
              <a:cxnLst/>
              <a:rect r="r" b="b" t="t" l="l"/>
              <a:pathLst>
                <a:path h="621792" w="2432304">
                  <a:moveTo>
                    <a:pt x="0" y="24892"/>
                  </a:moveTo>
                  <a:cubicBezTo>
                    <a:pt x="0" y="11176"/>
                    <a:pt x="11176" y="0"/>
                    <a:pt x="24892" y="0"/>
                  </a:cubicBezTo>
                  <a:lnTo>
                    <a:pt x="2407412" y="0"/>
                  </a:lnTo>
                  <a:cubicBezTo>
                    <a:pt x="2421128" y="0"/>
                    <a:pt x="2432304" y="11176"/>
                    <a:pt x="2432304" y="24892"/>
                  </a:cubicBezTo>
                  <a:lnTo>
                    <a:pt x="2432304" y="596900"/>
                  </a:lnTo>
                  <a:cubicBezTo>
                    <a:pt x="2432304" y="610616"/>
                    <a:pt x="2421128" y="621792"/>
                    <a:pt x="2407412" y="621792"/>
                  </a:cubicBezTo>
                  <a:lnTo>
                    <a:pt x="24892" y="621792"/>
                  </a:lnTo>
                  <a:cubicBezTo>
                    <a:pt x="11176" y="621792"/>
                    <a:pt x="0" y="610616"/>
                    <a:pt x="0" y="596900"/>
                  </a:cubicBezTo>
                  <a:close/>
                </a:path>
              </a:pathLst>
            </a:custGeom>
            <a:solidFill>
              <a:srgbClr val="122645"/>
            </a:solidFill>
          </p:spPr>
          <p:txBody>
            <a:bodyPr/>
            <a:p/>
          </p:txBody>
        </p:sp>
      </p:grpSp>
      <p:grpSp>
        <p:nvGrpSpPr>
          <p:cNvPr name="Group 13" id="13"/>
          <p:cNvGrpSpPr/>
          <p:nvPr/>
        </p:nvGrpSpPr>
        <p:grpSpPr>
          <a:xfrm rot="0">
            <a:off x="15704820" y="301752"/>
            <a:ext cx="1824228" cy="466344"/>
            <a:chOff x="0" y="0"/>
            <a:chExt cx="2432304" cy="621792"/>
          </a:xfrm>
        </p:grpSpPr>
        <p:sp>
          <p:nvSpPr>
            <p:cNvPr name="Freeform 14" id="14"/>
            <p:cNvSpPr/>
            <p:nvPr/>
          </p:nvSpPr>
          <p:spPr>
            <a:xfrm flipH="false" flipV="false" rot="0">
              <a:off x="0" y="0"/>
              <a:ext cx="2432304" cy="621792"/>
            </a:xfrm>
            <a:custGeom>
              <a:avLst/>
              <a:gdLst/>
              <a:ahLst/>
              <a:cxnLst/>
              <a:rect r="r" b="b" t="t" l="l"/>
              <a:pathLst>
                <a:path h="621792" w="2432304">
                  <a:moveTo>
                    <a:pt x="0" y="0"/>
                  </a:moveTo>
                  <a:lnTo>
                    <a:pt x="2432304" y="0"/>
                  </a:lnTo>
                  <a:lnTo>
                    <a:pt x="2432304" y="621792"/>
                  </a:lnTo>
                  <a:lnTo>
                    <a:pt x="0" y="621792"/>
                  </a:lnTo>
                  <a:close/>
                </a:path>
              </a:pathLst>
            </a:custGeom>
            <a:blipFill>
              <a:blip r:embed="rId2">
                <a:alphaModFix amt="0"/>
              </a:blip>
              <a:stretch>
                <a:fillRect l="0" t="-26220" r="0" b="-26220"/>
              </a:stretch>
            </a:blipFill>
          </p:spPr>
          <p:txBody>
            <a:bodyPr/>
            <a:p/>
          </p:txBody>
        </p:sp>
        <p:sp>
          <p:nvSpPr>
            <p:cNvPr name="TextBox 15" id="15"/>
            <p:cNvSpPr txBox="true"/>
            <p:nvPr/>
          </p:nvSpPr>
          <p:spPr>
            <a:xfrm>
              <a:off x="0" y="-19050"/>
              <a:ext cx="2432304" cy="640842"/>
            </a:xfrm>
            <a:prstGeom prst="rect">
              <a:avLst/>
            </a:prstGeom>
          </p:spPr>
          <p:txBody>
            <a:bodyPr anchor="ctr" rtlCol="false" tIns="0" lIns="0" bIns="0" rIns="0"/>
            <a:lstStyle/>
            <a:p>
              <a:pPr algn="ctr">
                <a:lnSpc>
                  <a:spcPts val="2700"/>
                </a:lnSpc>
              </a:pPr>
              <a:r>
                <a:rPr lang="en-US" sz="2250" b="true">
                  <a:solidFill>
                    <a:srgbClr val="FFFFFF"/>
                  </a:solidFill>
                  <a:latin typeface="DejaVu Sans Bold"/>
                  <a:ea typeface="DejaVu Sans Bold"/>
                  <a:cs typeface="DejaVu Sans Bold"/>
                  <a:sym typeface="DejaVu Sans Bold"/>
                </a:rPr>
                <a:t>Slide 8 / 16</a:t>
              </a:r>
            </a:p>
          </p:txBody>
        </p:sp>
      </p:grpSp>
      <p:grpSp>
        <p:nvGrpSpPr>
          <p:cNvPr name="Group 16" id="16"/>
          <p:cNvGrpSpPr/>
          <p:nvPr/>
        </p:nvGrpSpPr>
        <p:grpSpPr>
          <a:xfrm rot="0">
            <a:off x="754380" y="850392"/>
            <a:ext cx="16774668" cy="740664"/>
            <a:chOff x="0" y="0"/>
            <a:chExt cx="22366224" cy="987552"/>
          </a:xfrm>
        </p:grpSpPr>
        <p:sp>
          <p:nvSpPr>
            <p:cNvPr name="Freeform 17" id="17"/>
            <p:cNvSpPr/>
            <p:nvPr/>
          </p:nvSpPr>
          <p:spPr>
            <a:xfrm flipH="false" flipV="false" rot="0">
              <a:off x="0" y="0"/>
              <a:ext cx="22366224" cy="987552"/>
            </a:xfrm>
            <a:custGeom>
              <a:avLst/>
              <a:gdLst/>
              <a:ahLst/>
              <a:cxnLst/>
              <a:rect r="r" b="b" t="t" l="l"/>
              <a:pathLst>
                <a:path h="987552" w="22366224">
                  <a:moveTo>
                    <a:pt x="0" y="0"/>
                  </a:moveTo>
                  <a:lnTo>
                    <a:pt x="22366224" y="0"/>
                  </a:lnTo>
                  <a:lnTo>
                    <a:pt x="22366224" y="987552"/>
                  </a:lnTo>
                  <a:lnTo>
                    <a:pt x="0" y="987552"/>
                  </a:lnTo>
                  <a:close/>
                </a:path>
              </a:pathLst>
            </a:custGeom>
            <a:blipFill>
              <a:blip r:embed="rId2">
                <a:alphaModFix amt="0"/>
              </a:blip>
              <a:stretch>
                <a:fillRect l="0" t="-391300" r="0" b="-391300"/>
              </a:stretch>
            </a:blipFill>
          </p:spPr>
          <p:txBody>
            <a:bodyPr/>
            <a:p/>
          </p:txBody>
        </p:sp>
        <p:sp>
          <p:nvSpPr>
            <p:cNvPr name="TextBox 18" id="18"/>
            <p:cNvSpPr txBox="true"/>
            <p:nvPr/>
          </p:nvSpPr>
          <p:spPr>
            <a:xfrm>
              <a:off x="0" y="-9525"/>
              <a:ext cx="22366224" cy="997077"/>
            </a:xfrm>
            <a:prstGeom prst="rect">
              <a:avLst/>
            </a:prstGeom>
          </p:spPr>
          <p:txBody>
            <a:bodyPr anchor="ctr" rtlCol="false" tIns="0" lIns="0" bIns="0" rIns="0"/>
            <a:lstStyle/>
            <a:p>
              <a:pPr algn="l">
                <a:lnSpc>
                  <a:spcPts val="3869"/>
                </a:lnSpc>
              </a:pPr>
              <a:r>
                <a:rPr lang="en-US" sz="3225" b="true">
                  <a:solidFill>
                    <a:srgbClr val="122645"/>
                  </a:solidFill>
                  <a:latin typeface="DejaVu Sans Bold"/>
                  <a:ea typeface="DejaVu Sans Bold"/>
                  <a:cs typeface="DejaVu Sans Bold"/>
                  <a:sym typeface="DejaVu Sans Bold"/>
                </a:rPr>
                <a:t>3 điểm nghẽn về Thể chế KTTT định hướng XHCN ở Việt Nam</a:t>
              </a:r>
            </a:p>
          </p:txBody>
        </p:sp>
      </p:grpSp>
      <p:grpSp>
        <p:nvGrpSpPr>
          <p:cNvPr name="Group 19" id="19"/>
          <p:cNvGrpSpPr/>
          <p:nvPr/>
        </p:nvGrpSpPr>
        <p:grpSpPr>
          <a:xfrm rot="0">
            <a:off x="754380" y="1645920"/>
            <a:ext cx="16774668" cy="41148"/>
            <a:chOff x="0" y="0"/>
            <a:chExt cx="22366224" cy="54864"/>
          </a:xfrm>
        </p:grpSpPr>
        <p:sp>
          <p:nvSpPr>
            <p:cNvPr name="Freeform 20" id="20"/>
            <p:cNvSpPr/>
            <p:nvPr/>
          </p:nvSpPr>
          <p:spPr>
            <a:xfrm flipH="false" flipV="false" rot="0">
              <a:off x="0" y="0"/>
              <a:ext cx="22366224" cy="54864"/>
            </a:xfrm>
            <a:custGeom>
              <a:avLst/>
              <a:gdLst/>
              <a:ahLst/>
              <a:cxnLst/>
              <a:rect r="r" b="b" t="t" l="l"/>
              <a:pathLst>
                <a:path h="54864" w="22366224">
                  <a:moveTo>
                    <a:pt x="0" y="0"/>
                  </a:moveTo>
                  <a:lnTo>
                    <a:pt x="22366224" y="0"/>
                  </a:lnTo>
                  <a:lnTo>
                    <a:pt x="22366224" y="54864"/>
                  </a:lnTo>
                  <a:lnTo>
                    <a:pt x="0" y="54864"/>
                  </a:lnTo>
                  <a:close/>
                </a:path>
              </a:pathLst>
            </a:custGeom>
            <a:solidFill>
              <a:srgbClr val="CBD5E1"/>
            </a:solidFill>
          </p:spPr>
          <p:txBody>
            <a:bodyPr/>
            <a:p/>
          </p:txBody>
        </p:sp>
      </p:grpSp>
      <p:grpSp>
        <p:nvGrpSpPr>
          <p:cNvPr name="Group 21" id="21"/>
          <p:cNvGrpSpPr/>
          <p:nvPr/>
        </p:nvGrpSpPr>
        <p:grpSpPr>
          <a:xfrm rot="0">
            <a:off x="-7144" y="9662636"/>
            <a:ext cx="18301830" cy="631507"/>
            <a:chOff x="0" y="0"/>
            <a:chExt cx="24402440" cy="842010"/>
          </a:xfrm>
        </p:grpSpPr>
        <p:sp>
          <p:nvSpPr>
            <p:cNvPr name="Freeform 22" id="22"/>
            <p:cNvSpPr/>
            <p:nvPr/>
          </p:nvSpPr>
          <p:spPr>
            <a:xfrm flipH="false" flipV="false" rot="0">
              <a:off x="0" y="0"/>
              <a:ext cx="24402414" cy="842010"/>
            </a:xfrm>
            <a:custGeom>
              <a:avLst/>
              <a:gdLst/>
              <a:ahLst/>
              <a:cxnLst/>
              <a:rect r="r" b="b" t="t" l="l"/>
              <a:pathLst>
                <a:path h="842010" w="24402414">
                  <a:moveTo>
                    <a:pt x="0" y="0"/>
                  </a:moveTo>
                  <a:lnTo>
                    <a:pt x="24402414" y="0"/>
                  </a:lnTo>
                  <a:lnTo>
                    <a:pt x="24402414" y="842010"/>
                  </a:lnTo>
                  <a:lnTo>
                    <a:pt x="0" y="842010"/>
                  </a:lnTo>
                  <a:close/>
                </a:path>
              </a:pathLst>
            </a:custGeom>
            <a:solidFill>
              <a:srgbClr val="FFFFFF"/>
            </a:solidFill>
            <a:ln w="14288" cap="sq">
              <a:solidFill>
                <a:srgbClr val="CBD5E1"/>
              </a:solidFill>
              <a:prstDash val="solid"/>
              <a:miter/>
            </a:ln>
          </p:spPr>
          <p:txBody>
            <a:bodyPr/>
            <a:p/>
          </p:txBody>
        </p:sp>
      </p:grpSp>
      <p:grpSp>
        <p:nvGrpSpPr>
          <p:cNvPr name="Group 23" id="23"/>
          <p:cNvGrpSpPr/>
          <p:nvPr/>
        </p:nvGrpSpPr>
        <p:grpSpPr>
          <a:xfrm rot="0">
            <a:off x="754380" y="9710928"/>
            <a:ext cx="16774668" cy="493776"/>
            <a:chOff x="0" y="0"/>
            <a:chExt cx="22366224" cy="658368"/>
          </a:xfrm>
        </p:grpSpPr>
        <p:sp>
          <p:nvSpPr>
            <p:cNvPr name="Freeform 24" id="24"/>
            <p:cNvSpPr/>
            <p:nvPr/>
          </p:nvSpPr>
          <p:spPr>
            <a:xfrm flipH="false" flipV="false" rot="0">
              <a:off x="0" y="0"/>
              <a:ext cx="22366224" cy="658368"/>
            </a:xfrm>
            <a:custGeom>
              <a:avLst/>
              <a:gdLst/>
              <a:ahLst/>
              <a:cxnLst/>
              <a:rect r="r" b="b" t="t" l="l"/>
              <a:pathLst>
                <a:path h="658368" w="22366224">
                  <a:moveTo>
                    <a:pt x="0" y="0"/>
                  </a:moveTo>
                  <a:lnTo>
                    <a:pt x="22366224" y="0"/>
                  </a:lnTo>
                  <a:lnTo>
                    <a:pt x="22366224" y="658368"/>
                  </a:lnTo>
                  <a:lnTo>
                    <a:pt x="0" y="658368"/>
                  </a:lnTo>
                  <a:close/>
                </a:path>
              </a:pathLst>
            </a:custGeom>
            <a:blipFill>
              <a:blip r:embed="rId2">
                <a:alphaModFix amt="0"/>
              </a:blip>
              <a:stretch>
                <a:fillRect l="0" t="-611950" r="0" b="-611950"/>
              </a:stretch>
            </a:blipFill>
          </p:spPr>
          <p:txBody>
            <a:bodyPr/>
            <a:p/>
          </p:txBody>
        </p:sp>
        <p:sp>
          <p:nvSpPr>
            <p:cNvPr name="TextBox 25" id="25"/>
            <p:cNvSpPr txBox="true"/>
            <p:nvPr/>
          </p:nvSpPr>
          <p:spPr>
            <a:xfrm>
              <a:off x="0" y="-19050"/>
              <a:ext cx="22366224" cy="677418"/>
            </a:xfrm>
            <a:prstGeom prst="rect">
              <a:avLst/>
            </a:prstGeom>
          </p:spPr>
          <p:txBody>
            <a:bodyPr anchor="ctr" rtlCol="false" tIns="0" lIns="0" bIns="0" rIns="0"/>
            <a:lstStyle/>
            <a:p>
              <a:pPr algn="l">
                <a:lnSpc>
                  <a:spcPts val="1500"/>
                </a:lnSpc>
              </a:pPr>
              <a:r>
                <a:rPr lang="en-US" sz="1250" i="true">
                  <a:solidFill>
                    <a:srgbClr val="475569"/>
                  </a:solidFill>
                  <a:latin typeface="DejaVu Sans Bold Italics"/>
                  <a:ea typeface="DejaVu Sans Bold Italics"/>
                  <a:cs typeface="DejaVu Sans Bold Italics"/>
                  <a:sym typeface="DejaVu Sans Bold Italics"/>
                </a:rPr>
                <a:t>Nguồn lý luận: Giáo trình Kinh tế chính trị Mác – Lênin (Bộ GD&amp;ĐT, 2021, Mục 5.2.1, tr. 187–190).</a:t>
              </a:r>
            </a:p>
          </p:txBody>
        </p:sp>
      </p:grpSp>
      <p:sp>
        <p:nvSpPr>
          <p:cNvPr id="26" name="Rounded Rectangle 25"/>
          <p:cNvSpPr/>
          <p:nvPr/>
        </p:nvSpPr>
        <p:spPr>
          <a:xfrm>
            <a:off x="749808" y="1901952"/>
            <a:ext cx="5321808" cy="7516368"/>
          </a:xfrm>
          <a:prstGeom prst="roundRect">
            <a:avLst>
              <a:gd name="adj" fmla="val 4000"/>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49808" y="1901952"/>
            <a:ext cx="5321808" cy="1325880"/>
          </a:xfrm>
          <a:prstGeom prst="roundRect">
            <a:avLst>
              <a:gd name="adj" fmla="val 8000"/>
            </a:avLst>
          </a:prstGeom>
          <a:solidFill>
            <a:srgbClr val="1226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7" y="2011680"/>
            <a:ext cx="4864608" cy="1143000"/>
          </a:xfrm>
          <a:prstGeom prst="rect">
            <a:avLst/>
          </a:prstGeom>
          <a:noFill/>
        </p:spPr>
        <p:txBody>
          <a:bodyPr wrap="square" lIns="0" tIns="0" rIns="0" bIns="0">
            <a:spAutoFit/>
          </a:bodyPr>
          <a:lstStyle/>
          <a:p>
            <a:pPr>
              <a:spcAft>
                <a:spcPts val="300"/>
              </a:spcAft>
            </a:pPr>
            <a:r>
              <a:rPr sz="1200" b="1">
                <a:solidFill>
                  <a:srgbClr val="BAE6FD"/>
                </a:solidFill>
                <a:latin typeface="DejaVu Sans Bold"/>
              </a:rPr>
              <a:t>ĐIỂM NGHẼN 01</a:t>
            </a:r>
          </a:p>
          <a:p>
            <a:r>
              <a:rPr sz="1550" b="1">
                <a:solidFill>
                  <a:srgbClr val="FFFFFF"/>
                </a:solidFill>
                <a:latin typeface="DejaVu Sans Bold"/>
              </a:rPr>
              <a:t>Hệ thống Pháp luật &amp; Các loại Thị trường chưa Đồng bộ</a:t>
            </a:r>
          </a:p>
        </p:txBody>
      </p:sp>
      <p:sp>
        <p:nvSpPr>
          <p:cNvPr id="29" name="Rounded Rectangle 28"/>
          <p:cNvSpPr/>
          <p:nvPr/>
        </p:nvSpPr>
        <p:spPr>
          <a:xfrm>
            <a:off x="950976" y="3410712"/>
            <a:ext cx="4919472" cy="1554480"/>
          </a:xfrm>
          <a:prstGeom prst="roundRect">
            <a:avLst>
              <a:gd name="adj" fmla="val 5000"/>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976" y="3410712"/>
            <a:ext cx="109728" cy="1554480"/>
          </a:xfrm>
          <a:prstGeom prst="rect">
            <a:avLst/>
          </a:prstGeom>
          <a:solidFill>
            <a:srgbClr val="0369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52144" y="3520440"/>
            <a:ext cx="4599432" cy="1335024"/>
          </a:xfrm>
          <a:prstGeom prst="rect">
            <a:avLst/>
          </a:prstGeom>
          <a:noFill/>
        </p:spPr>
        <p:txBody>
          <a:bodyPr wrap="square" lIns="0" tIns="0" rIns="0" bIns="0">
            <a:spAutoFit/>
          </a:bodyPr>
          <a:lstStyle/>
          <a:p>
            <a:pPr>
              <a:spcAft>
                <a:spcPts val="300"/>
              </a:spcAft>
            </a:pPr>
            <a:r>
              <a:rPr sz="1200" b="1">
                <a:solidFill>
                  <a:srgbClr val="0369A1"/>
                </a:solidFill>
                <a:latin typeface="DejaVu Sans Bold"/>
              </a:rPr>
              <a:t>NỘI DUNG TRỌNG TÂM:</a:t>
            </a:r>
          </a:p>
          <a:p>
            <a:r>
              <a:rPr sz="1300">
                <a:solidFill>
                  <a:srgbClr val="1E293B"/>
                </a:solidFill>
                <a:latin typeface="DejaVu Sans Light"/>
              </a:rPr>
              <a:t>Hệ thống pháp luật, cơ chế, chính sách điều tiết kinh tế còn vướng mắc, chưa thực sự đồng bộ và nhất quán[1][2].</a:t>
            </a:r>
          </a:p>
        </p:txBody>
      </p:sp>
      <p:sp>
        <p:nvSpPr>
          <p:cNvPr id="32" name="TextBox 31"/>
          <p:cNvSpPr txBox="1"/>
          <p:nvPr/>
        </p:nvSpPr>
        <p:spPr>
          <a:xfrm>
            <a:off x="932688" y="5166360"/>
            <a:ext cx="4956048" cy="4114800"/>
          </a:xfrm>
          <a:prstGeom prst="rect">
            <a:avLst/>
          </a:prstGeom>
          <a:noFill/>
        </p:spPr>
        <p:txBody>
          <a:bodyPr wrap="square" lIns="0" tIns="0" rIns="0" bIns="0">
            <a:spAutoFit/>
          </a:bodyPr>
          <a:lstStyle/>
          <a:p>
            <a:pPr>
              <a:spcAft>
                <a:spcPts val="1000"/>
              </a:spcAft>
            </a:pPr>
            <a:r>
              <a:rPr sz="1350" b="1">
                <a:solidFill>
                  <a:srgbClr val="122645"/>
                </a:solidFill>
                <a:latin typeface="DejaVu Sans Bold"/>
              </a:rPr>
              <a:t>BIỂU HIỆN CỤ THỂ:</a:t>
            </a:r>
          </a:p>
          <a:p>
            <a:pPr>
              <a:spcAft>
                <a:spcPts val="1600"/>
              </a:spcAft>
            </a:pPr>
            <a:r>
              <a:rPr sz="1350" b="1">
                <a:solidFill>
                  <a:srgbClr val="0F172A"/>
                </a:solidFill>
                <a:latin typeface="DejaVu Sans Bold"/>
              </a:rPr>
              <a:t>• Sở hữu và quyền tài sản: </a:t>
            </a:r>
            <a:r>
              <a:rPr sz="1250">
                <a:solidFill>
                  <a:srgbClr val="334155"/>
                </a:solidFill>
                <a:latin typeface="DejaVu Sans Light"/>
              </a:rPr>
              <a:t>Thể chế hóa quyền tài sản (quyền sở hữu, quyền sử dụng, quyền định đoạt và hưởng lợi từ tài sản) chưa thật sự rõ ràng, công khai và bảo vệ hiệu quả[3][4].</a:t>
            </a:r>
          </a:p>
          <a:p>
            <a:pPr>
              <a:spcAft>
                <a:spcPts val="1600"/>
              </a:spcAft>
            </a:pPr>
            <a:r>
              <a:rPr sz="1350" b="1">
                <a:solidFill>
                  <a:srgbClr val="0F172A"/>
                </a:solidFill>
                <a:latin typeface="DejaVu Sans Bold"/>
              </a:rPr>
              <a:t>• Sự vận hành của các loại thị trường: </a:t>
            </a:r>
            <a:r>
              <a:rPr sz="1250">
                <a:solidFill>
                  <a:srgbClr val="334155"/>
                </a:solidFill>
                <a:latin typeface="DejaVu Sans Light"/>
              </a:rPr>
              <a:t>Các thị trường yếu tố đầu vào như thị trường đất đai/bất động sản, thị trường vốn/tài chính, thị trường khoa học - công nghệ và thị trường lao động phát triển chưa đồng bộ, chưa hoàn toàn vận hành trôi chảy theo nguyên tắc thị trường[5].</a:t>
            </a:r>
          </a:p>
        </p:txBody>
      </p:sp>
      <p:sp>
        <p:nvSpPr>
          <p:cNvPr id="33" name="Rounded Rectangle 32"/>
          <p:cNvSpPr/>
          <p:nvPr/>
        </p:nvSpPr>
        <p:spPr>
          <a:xfrm>
            <a:off x="6483096" y="1901952"/>
            <a:ext cx="5321808" cy="7516368"/>
          </a:xfrm>
          <a:prstGeom prst="roundRect">
            <a:avLst>
              <a:gd name="adj" fmla="val 4000"/>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83096" y="1901952"/>
            <a:ext cx="5321808" cy="1325880"/>
          </a:xfrm>
          <a:prstGeom prst="roundRect">
            <a:avLst>
              <a:gd name="adj" fmla="val 8000"/>
            </a:avLst>
          </a:prstGeom>
          <a:solidFill>
            <a:srgbClr val="0B4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11696" y="2011680"/>
            <a:ext cx="4864608" cy="1143000"/>
          </a:xfrm>
          <a:prstGeom prst="rect">
            <a:avLst/>
          </a:prstGeom>
          <a:noFill/>
        </p:spPr>
        <p:txBody>
          <a:bodyPr wrap="square" lIns="0" tIns="0" rIns="0" bIns="0">
            <a:spAutoFit/>
          </a:bodyPr>
          <a:lstStyle/>
          <a:p>
            <a:pPr>
              <a:spcAft>
                <a:spcPts val="300"/>
              </a:spcAft>
            </a:pPr>
            <a:r>
              <a:rPr sz="1200" b="1">
                <a:solidFill>
                  <a:srgbClr val="BAE6FD"/>
                </a:solidFill>
                <a:latin typeface="DejaVu Sans Bold"/>
              </a:rPr>
              <a:t>ĐIỂM NGHẼN 02</a:t>
            </a:r>
          </a:p>
          <a:p>
            <a:r>
              <a:rPr sz="1550" b="1">
                <a:solidFill>
                  <a:srgbClr val="FFFFFF"/>
                </a:solidFill>
                <a:latin typeface="DejaVu Sans Bold"/>
              </a:rPr>
              <a:t>Môi trường Cạnh tranh &amp; Phát triển các Thành phần Kinh tế</a:t>
            </a:r>
          </a:p>
        </p:txBody>
      </p:sp>
      <p:sp>
        <p:nvSpPr>
          <p:cNvPr id="36" name="Rounded Rectangle 35"/>
          <p:cNvSpPr/>
          <p:nvPr/>
        </p:nvSpPr>
        <p:spPr>
          <a:xfrm>
            <a:off x="6684264" y="3410712"/>
            <a:ext cx="4919472" cy="1554480"/>
          </a:xfrm>
          <a:prstGeom prst="roundRect">
            <a:avLst>
              <a:gd name="adj" fmla="val 5000"/>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84264" y="3410712"/>
            <a:ext cx="109728" cy="155448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85432" y="3520440"/>
            <a:ext cx="4599432" cy="1335024"/>
          </a:xfrm>
          <a:prstGeom prst="rect">
            <a:avLst/>
          </a:prstGeom>
          <a:noFill/>
        </p:spPr>
        <p:txBody>
          <a:bodyPr wrap="square" lIns="0" tIns="0" rIns="0" bIns="0">
            <a:spAutoFit/>
          </a:bodyPr>
          <a:lstStyle/>
          <a:p>
            <a:pPr>
              <a:spcAft>
                <a:spcPts val="300"/>
              </a:spcAft>
            </a:pPr>
            <a:r>
              <a:rPr sz="1200" b="1">
                <a:solidFill>
                  <a:srgbClr val="0284C7"/>
                </a:solidFill>
                <a:latin typeface="DejaVu Sans Bold"/>
              </a:rPr>
              <a:t>NỘI DUNG TRỌNG TÂM:</a:t>
            </a:r>
          </a:p>
          <a:p>
            <a:r>
              <a:rPr sz="1300">
                <a:solidFill>
                  <a:srgbClr val="1E293B"/>
                </a:solidFill>
                <a:latin typeface="DejaVu Sans Light"/>
              </a:rPr>
              <a:t>Môi trường đầu tư - kinh doanh vẫn còn nhiều rào cản; bình đẳng trong tiếp cận các nguồn lực giữa các thành phần kinh tế chưa được bảo đảm triệt để[7][8].</a:t>
            </a:r>
          </a:p>
        </p:txBody>
      </p:sp>
      <p:sp>
        <p:nvSpPr>
          <p:cNvPr id="39" name="TextBox 38"/>
          <p:cNvSpPr txBox="1"/>
          <p:nvPr/>
        </p:nvSpPr>
        <p:spPr>
          <a:xfrm>
            <a:off x="6665976" y="5166360"/>
            <a:ext cx="4956048" cy="4114800"/>
          </a:xfrm>
          <a:prstGeom prst="rect">
            <a:avLst/>
          </a:prstGeom>
          <a:noFill/>
        </p:spPr>
        <p:txBody>
          <a:bodyPr wrap="square" lIns="0" tIns="0" rIns="0" bIns="0">
            <a:spAutoFit/>
          </a:bodyPr>
          <a:lstStyle/>
          <a:p>
            <a:pPr>
              <a:spcAft>
                <a:spcPts val="1000"/>
              </a:spcAft>
            </a:pPr>
            <a:r>
              <a:rPr sz="1350" b="1">
                <a:solidFill>
                  <a:srgbClr val="122645"/>
                </a:solidFill>
                <a:latin typeface="DejaVu Sans Bold"/>
              </a:rPr>
              <a:t>BIỂU HIỆN CỤ THỂ:</a:t>
            </a:r>
          </a:p>
          <a:p>
            <a:pPr>
              <a:spcAft>
                <a:spcPts val="1100"/>
              </a:spcAft>
            </a:pPr>
            <a:r>
              <a:rPr sz="1350" b="1">
                <a:solidFill>
                  <a:srgbClr val="0F172A"/>
                </a:solidFill>
                <a:latin typeface="DejaVu Sans Bold"/>
              </a:rPr>
              <a:t>• Khu vực kinh tế tư nhân: </a:t>
            </a:r>
            <a:r>
              <a:rPr sz="1250">
                <a:solidFill>
                  <a:srgbClr val="334155"/>
                </a:solidFill>
                <a:latin typeface="DejaVu Sans Light"/>
              </a:rPr>
              <a:t>Dù được xác định là một động lực quan trọng, kinh tế tư nhân vẫn gặp khó khăn trong việc tiếp cận đất đai, vốn, tín dụng và cơ hội đầu tư công[7][9].</a:t>
            </a:r>
          </a:p>
          <a:p>
            <a:pPr>
              <a:spcAft>
                <a:spcPts val="1100"/>
              </a:spcAft>
            </a:pPr>
            <a:r>
              <a:rPr sz="1350" b="1">
                <a:solidFill>
                  <a:srgbClr val="0F172A"/>
                </a:solidFill>
                <a:latin typeface="DejaVu Sans Bold"/>
              </a:rPr>
              <a:t>• Doanh nghiệp nhà nước: </a:t>
            </a:r>
            <a:r>
              <a:rPr sz="1250">
                <a:solidFill>
                  <a:srgbClr val="334155"/>
                </a:solidFill>
                <a:latin typeface="DejaVu Sans Light"/>
              </a:rPr>
              <a:t>Quá trình cơ cấu lại, cổ phần hóa và đổi mới quản trị còn chậm, hiệu quả sử dụng nguồn lực nhà nước chưa tương xứng với tiềm năng[2][9].</a:t>
            </a:r>
          </a:p>
          <a:p>
            <a:pPr>
              <a:spcAft>
                <a:spcPts val="1100"/>
              </a:spcAft>
            </a:pPr>
            <a:r>
              <a:rPr sz="1350" b="1">
                <a:solidFill>
                  <a:srgbClr val="0F172A"/>
                </a:solidFill>
                <a:latin typeface="DejaVu Sans Bold"/>
              </a:rPr>
              <a:t>• Thủ tục hành chính: </a:t>
            </a:r>
            <a:r>
              <a:rPr sz="1250">
                <a:solidFill>
                  <a:srgbClr val="334155"/>
                </a:solidFill>
                <a:latin typeface="DejaVu Sans Light"/>
              </a:rPr>
              <a:t>Chi phí tuân thủ, chi phí trung gian bất hợp lý và thủ tục hành chính rắc rối vẫn là gánh nặng lớn đối với doanh nghiệp[10].</a:t>
            </a:r>
          </a:p>
        </p:txBody>
      </p:sp>
      <p:sp>
        <p:nvSpPr>
          <p:cNvPr id="40" name="Rounded Rectangle 39"/>
          <p:cNvSpPr/>
          <p:nvPr/>
        </p:nvSpPr>
        <p:spPr>
          <a:xfrm>
            <a:off x="12216384" y="1901952"/>
            <a:ext cx="5321808" cy="7516368"/>
          </a:xfrm>
          <a:prstGeom prst="roundRect">
            <a:avLst>
              <a:gd name="adj" fmla="val 4000"/>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2216384" y="1901952"/>
            <a:ext cx="5321808" cy="1325880"/>
          </a:xfrm>
          <a:prstGeom prst="roundRect">
            <a:avLst>
              <a:gd name="adj" fmla="val 8000"/>
            </a:avLst>
          </a:prstGeom>
          <a:solidFill>
            <a:srgbClr val="9A34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444984" y="2011680"/>
            <a:ext cx="4864608" cy="1143000"/>
          </a:xfrm>
          <a:prstGeom prst="rect">
            <a:avLst/>
          </a:prstGeom>
          <a:noFill/>
        </p:spPr>
        <p:txBody>
          <a:bodyPr wrap="square" lIns="0" tIns="0" rIns="0" bIns="0">
            <a:spAutoFit/>
          </a:bodyPr>
          <a:lstStyle/>
          <a:p>
            <a:pPr>
              <a:spcAft>
                <a:spcPts val="300"/>
              </a:spcAft>
            </a:pPr>
            <a:r>
              <a:rPr sz="1200" b="1">
                <a:solidFill>
                  <a:srgbClr val="FED7AA"/>
                </a:solidFill>
                <a:latin typeface="DejaVu Sans Bold"/>
              </a:rPr>
              <a:t>ĐIỂM NGHẼN 03</a:t>
            </a:r>
          </a:p>
          <a:p>
            <a:r>
              <a:rPr sz="1550" b="1">
                <a:solidFill>
                  <a:srgbClr val="FFFFFF"/>
                </a:solidFill>
                <a:latin typeface="DejaVu Sans Bold"/>
              </a:rPr>
              <a:t>Năng lực Quản lý Nhà nước &amp; Hiệu lực Thực thi Thể chế</a:t>
            </a:r>
          </a:p>
        </p:txBody>
      </p:sp>
      <p:sp>
        <p:nvSpPr>
          <p:cNvPr id="43" name="Rounded Rectangle 42"/>
          <p:cNvSpPr/>
          <p:nvPr/>
        </p:nvSpPr>
        <p:spPr>
          <a:xfrm>
            <a:off x="12417552" y="3410712"/>
            <a:ext cx="4919472" cy="1554480"/>
          </a:xfrm>
          <a:prstGeom prst="roundRect">
            <a:avLst>
              <a:gd name="adj" fmla="val 5000"/>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2417552" y="3410712"/>
            <a:ext cx="109728" cy="155448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618720" y="3520440"/>
            <a:ext cx="4599432" cy="1335024"/>
          </a:xfrm>
          <a:prstGeom prst="rect">
            <a:avLst/>
          </a:prstGeom>
          <a:noFill/>
        </p:spPr>
        <p:txBody>
          <a:bodyPr wrap="square" lIns="0" tIns="0" rIns="0" bIns="0">
            <a:spAutoFit/>
          </a:bodyPr>
          <a:lstStyle/>
          <a:p>
            <a:pPr>
              <a:spcAft>
                <a:spcPts val="300"/>
              </a:spcAft>
            </a:pPr>
            <a:r>
              <a:rPr sz="1200" b="1">
                <a:solidFill>
                  <a:srgbClr val="EA580C"/>
                </a:solidFill>
                <a:latin typeface="DejaVu Sans Bold"/>
              </a:rPr>
              <a:t>NỘI DUNG TRỌNG TÂM:</a:t>
            </a:r>
          </a:p>
          <a:p>
            <a:r>
              <a:rPr sz="1300">
                <a:solidFill>
                  <a:srgbClr val="1E293B"/>
                </a:solidFill>
                <a:latin typeface="DejaVu Sans Light"/>
              </a:rPr>
              <a:t>Khâu tổ chức thực thi pháp luật và năng lực quản lý vĩ mô của bộ máy nhà nước chưa đáp ứng kịp yêu cầu phát triển của nền kinh tế thị trường hiện đại[1][11].</a:t>
            </a:r>
          </a:p>
        </p:txBody>
      </p:sp>
      <p:sp>
        <p:nvSpPr>
          <p:cNvPr id="46" name="TextBox 45"/>
          <p:cNvSpPr txBox="1"/>
          <p:nvPr/>
        </p:nvSpPr>
        <p:spPr>
          <a:xfrm>
            <a:off x="12399264" y="5166360"/>
            <a:ext cx="4956048" cy="4114800"/>
          </a:xfrm>
          <a:prstGeom prst="rect">
            <a:avLst/>
          </a:prstGeom>
          <a:noFill/>
        </p:spPr>
        <p:txBody>
          <a:bodyPr wrap="square" lIns="0" tIns="0" rIns="0" bIns="0">
            <a:spAutoFit/>
          </a:bodyPr>
          <a:lstStyle/>
          <a:p>
            <a:pPr>
              <a:spcAft>
                <a:spcPts val="1000"/>
              </a:spcAft>
            </a:pPr>
            <a:r>
              <a:rPr sz="1350" b="1">
                <a:solidFill>
                  <a:srgbClr val="122645"/>
                </a:solidFill>
                <a:latin typeface="DejaVu Sans Bold"/>
              </a:rPr>
              <a:t>BIỂU HIỆN CỤ THỂ:</a:t>
            </a:r>
          </a:p>
          <a:p>
            <a:pPr>
              <a:spcAft>
                <a:spcPts val="1100"/>
              </a:spcAft>
            </a:pPr>
            <a:r>
              <a:rPr sz="1350" b="1">
                <a:solidFill>
                  <a:srgbClr val="0F172A"/>
                </a:solidFill>
                <a:latin typeface="DejaVu Sans Bold"/>
              </a:rPr>
              <a:t>• Thể chế hóa đường lối, chính sách: </a:t>
            </a:r>
            <a:r>
              <a:rPr sz="1250">
                <a:solidFill>
                  <a:srgbClr val="334155"/>
                </a:solidFill>
                <a:latin typeface="DejaVu Sans Light"/>
              </a:rPr>
              <a:t>Việc thể chế hóa đường lối, chính sách thành luật pháp đôi khi còn chậm, thiếu tính dự báo chiến lược[12][13].</a:t>
            </a:r>
          </a:p>
          <a:p>
            <a:pPr>
              <a:spcAft>
                <a:spcPts val="1100"/>
              </a:spcAft>
            </a:pPr>
            <a:r>
              <a:rPr sz="1350" b="1">
                <a:solidFill>
                  <a:srgbClr val="0F172A"/>
                </a:solidFill>
                <a:latin typeface="DejaVu Sans Bold"/>
              </a:rPr>
              <a:t>• Phân cấp, phân quyền: </a:t>
            </a:r>
            <a:r>
              <a:rPr sz="1250">
                <a:solidFill>
                  <a:srgbClr val="334155"/>
                </a:solidFill>
                <a:latin typeface="DejaVu Sans Light"/>
              </a:rPr>
              <a:t>Phân cấp, phân quyền giữa trung ương và địa phương có lúc chưa rõ ràng; năng lực, trách nhiệm và tính năng động của một bộ phận cán bộ, công chức còn hạn chế[1][14].</a:t>
            </a:r>
          </a:p>
          <a:p>
            <a:pPr>
              <a:spcAft>
                <a:spcPts val="1100"/>
              </a:spcAft>
            </a:pPr>
            <a:r>
              <a:rPr sz="1350" b="1">
                <a:solidFill>
                  <a:srgbClr val="0F172A"/>
                </a:solidFill>
                <a:latin typeface="DejaVu Sans Bold"/>
              </a:rPr>
              <a:t>• Sự phối hợp giữa các cơ quan: </a:t>
            </a:r>
            <a:r>
              <a:rPr sz="1250">
                <a:solidFill>
                  <a:srgbClr val="334155"/>
                </a:solidFill>
                <a:latin typeface="DejaVu Sans Light"/>
              </a:rPr>
              <a:t>Sự phối hợp giữa các cơ quan quản lý chưa chặt chẽ; công tác kiểm tra, giám sát và giải quyết tranh chấp kinh tế còn chậm[11][15].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DAHZe59FIMM</dc:identifier>
  <dcterms:modified xsi:type="dcterms:W3CDTF">2011-08-01T06:04:30Z</dcterms:modified>
  <cp:revision>1</cp:revision>
  <dc:title>MLN122_Nom4_KTTT_DinhHuong_XHCN.pptx</dc:title>
</cp:coreProperties>
</file>