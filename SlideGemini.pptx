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92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530352"/>
            <a:ext cx="5349240" cy="365760"/>
          </a:xfrm>
          <a:prstGeom prst="roundRect">
            <a:avLst>
              <a:gd name="adj" fmla="val 4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530352"/>
            <a:ext cx="5166360" cy="365760"/>
          </a:xfrm>
          <a:prstGeom prst="rect">
            <a:avLst/>
          </a:prstGeom>
          <a:noFill/>
        </p:spPr>
        <p:txBody>
          <a:bodyPr wrap="square" anchor="ctr" lIns="54864" tIns="36576" rIns="54864" bIns="36576">
            <a:spAutoFit/>
          </a:bodyPr>
          <a:lstStyle/>
          <a:p>
            <a:pPr algn="l">
              <a:spcBef>
                <a:spcPts val="0"/>
              </a:spcBef>
              <a:spcAft>
                <a:spcPts val="0"/>
              </a:spcAft>
            </a:pPr>
            <a:r>
              <a:rPr sz="1120" b="1" i="0">
                <a:solidFill>
                  <a:srgbClr val="FFFFFF"/>
                </a:solidFill>
                <a:latin typeface="DejaVu Sans"/>
              </a:rPr>
              <a:t>KINH TẾ CHÍNH TRỊ MÁC – LÊNIN (MLN122)  •  MỤC 5.1 &amp; 5.2</a:t>
            </a:r>
          </a:p>
        </p:txBody>
      </p:sp>
      <p:sp>
        <p:nvSpPr>
          <p:cNvPr id="5" name="TextBox 4"/>
          <p:cNvSpPr txBox="1"/>
          <p:nvPr/>
        </p:nvSpPr>
        <p:spPr>
          <a:xfrm>
            <a:off x="502920" y="1115568"/>
            <a:ext cx="6080760" cy="2606040"/>
          </a:xfrm>
          <a:prstGeom prst="rect">
            <a:avLst/>
          </a:prstGeom>
          <a:noFill/>
        </p:spPr>
        <p:txBody>
          <a:bodyPr wrap="square" anchor="t" lIns="54864" tIns="36576" rIns="54864" bIns="36576">
            <a:spAutoFit/>
          </a:bodyPr>
          <a:lstStyle/>
          <a:p>
            <a:pPr algn="l">
              <a:spcBef>
                <a:spcPts val="0"/>
              </a:spcBef>
              <a:spcAft>
                <a:spcPts val="200"/>
              </a:spcAft>
            </a:pPr>
            <a:r>
              <a:rPr sz="3000" b="1" i="0">
                <a:solidFill>
                  <a:srgbClr val="FFFFFF"/>
                </a:solidFill>
                <a:latin typeface="DejaVu Sans"/>
              </a:rPr>
              <a:t>KINH TẾ THỊ TRƯỜNG</a:t>
            </a:r>
          </a:p>
          <a:p>
            <a:pPr algn="l">
              <a:spcBef>
                <a:spcPts val="0"/>
              </a:spcBef>
              <a:spcAft>
                <a:spcPts val="200"/>
              </a:spcAft>
            </a:pPr>
            <a:r>
              <a:rPr sz="3000" b="1" i="0">
                <a:solidFill>
                  <a:srgbClr val="F59E0B"/>
                </a:solidFill>
                <a:latin typeface="DejaVu Sans"/>
              </a:rPr>
              <a:t>ĐỊNH HƯỚNG XHCN &amp;</a:t>
            </a:r>
          </a:p>
          <a:p>
            <a:pPr algn="l">
              <a:spcBef>
                <a:spcPts val="0"/>
              </a:spcBef>
              <a:spcAft>
                <a:spcPts val="1200"/>
              </a:spcAft>
            </a:pPr>
            <a:r>
              <a:rPr sz="3000" b="1" i="0">
                <a:solidFill>
                  <a:srgbClr val="FFFFFF"/>
                </a:solidFill>
                <a:latin typeface="DejaVu Sans"/>
              </a:rPr>
              <a:t>BÀI TOÁN NHÀ Ở ĐÔ THỊ</a:t>
            </a:r>
          </a:p>
          <a:p>
            <a:pPr algn="l">
              <a:lnSpc>
                <a:spcPct val="128000"/>
              </a:lnSpc>
              <a:spcBef>
                <a:spcPts val="0"/>
              </a:spcBef>
              <a:spcAft>
                <a:spcPts val="400"/>
              </a:spcAft>
            </a:pPr>
            <a:r>
              <a:rPr sz="1380" b="0" i="0">
                <a:solidFill>
                  <a:srgbClr val="E2E8F0"/>
                </a:solidFill>
                <a:latin typeface="DejaVu Sans"/>
              </a:rPr>
              <a:t>Giải quyết Tình huống CQ7: Bản chất mô hình Việt Nam, ranh giới can thiệp hợp pháp &amp; hệ công cụ kinh tế điều hòa lợi ích</a:t>
            </a:r>
          </a:p>
        </p:txBody>
      </p:sp>
      <p:sp>
        <p:nvSpPr>
          <p:cNvPr id="6" name="Rounded Rectangle 5"/>
          <p:cNvSpPr/>
          <p:nvPr/>
        </p:nvSpPr>
        <p:spPr>
          <a:xfrm>
            <a:off x="502920" y="4005072"/>
            <a:ext cx="5897880" cy="1755648"/>
          </a:xfrm>
          <a:prstGeom prst="roundRect">
            <a:avLst>
              <a:gd name="adj" fmla="val 4000"/>
            </a:avLst>
          </a:prstGeom>
          <a:solidFill>
            <a:srgbClr val="162E52"/>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4096512"/>
            <a:ext cx="5623560" cy="1591056"/>
          </a:xfrm>
          <a:prstGeom prst="rect">
            <a:avLst/>
          </a:prstGeom>
          <a:noFill/>
        </p:spPr>
        <p:txBody>
          <a:bodyPr wrap="square" anchor="ctr" lIns="54864" tIns="36576" rIns="54864" bIns="36576">
            <a:spAutoFit/>
          </a:bodyPr>
          <a:lstStyle/>
          <a:p>
            <a:pPr algn="l">
              <a:spcBef>
                <a:spcPts val="0"/>
              </a:spcBef>
              <a:spcAft>
                <a:spcPts val="600"/>
              </a:spcAft>
            </a:pPr>
            <a:r>
              <a:rPr sz="1220" b="1" i="0">
                <a:solidFill>
                  <a:srgbClr val="FFFFFF"/>
                </a:solidFill>
                <a:latin typeface="DejaVu Sans"/>
              </a:rPr>
              <a:t>• Phạm vi lý luận: Mục 5.1 &amp; 5.2 (Giáo trình 2021, tr. 169–196)</a:t>
            </a:r>
          </a:p>
          <a:p>
            <a:pPr algn="l">
              <a:lnSpc>
                <a:spcPct val="122000"/>
              </a:lnSpc>
              <a:spcBef>
                <a:spcPts val="0"/>
              </a:spcBef>
              <a:spcAft>
                <a:spcPts val="600"/>
              </a:spcAft>
            </a:pPr>
            <a:r>
              <a:rPr sz="1160" b="0" i="0">
                <a:solidFill>
                  <a:srgbClr val="CBD5E1"/>
                </a:solidFill>
                <a:latin typeface="DejaVu Sans"/>
              </a:rPr>
              <a:t>• Cập nhật pháp lý mới nhất: Luật Nhà ở 2023 (Điều 83, 85), Nghị định 136/2026/NĐ-CP (07/4/2026) &amp; CV 5340/NHNN-CSTT (H2/2026)</a:t>
            </a:r>
          </a:p>
          <a:p>
            <a:pPr algn="l">
              <a:spcBef>
                <a:spcPts val="0"/>
              </a:spcBef>
              <a:spcAft>
                <a:spcPts val="0"/>
              </a:spcAft>
            </a:pPr>
            <a:r>
              <a:rPr sz="1180" b="1" i="0">
                <a:solidFill>
                  <a:srgbClr val="F59E0B"/>
                </a:solidFill>
                <a:latin typeface="DejaVu Sans"/>
              </a:rPr>
              <a:t>• Nhóm thực hiện: [Điền tên Nhóm / Lớp]  •  Thời lượng: 20 – 25 phút</a:t>
            </a:r>
          </a:p>
        </p:txBody>
      </p:sp>
      <p:sp>
        <p:nvSpPr>
          <p:cNvPr id="8" name="Rounded Rectangle 7"/>
          <p:cNvSpPr/>
          <p:nvPr/>
        </p:nvSpPr>
        <p:spPr>
          <a:xfrm>
            <a:off x="6784848" y="566928"/>
            <a:ext cx="4882896" cy="5650992"/>
          </a:xfrm>
          <a:prstGeom prst="roundRect">
            <a:avLst>
              <a:gd name="adj" fmla="val 4000"/>
            </a:avLst>
          </a:prstGeom>
          <a:solidFill>
            <a:srgbClr val="162E5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1.jpg"/>
          <p:cNvPicPr>
            <a:picLocks noChangeAspect="1"/>
          </p:cNvPicPr>
          <p:nvPr/>
        </p:nvPicPr>
        <p:blipFill>
          <a:blip r:embed="rId2"/>
          <a:stretch>
            <a:fillRect/>
          </a:stretch>
        </p:blipFill>
        <p:spPr>
          <a:xfrm>
            <a:off x="6876288" y="658368"/>
            <a:ext cx="4700016" cy="5047488"/>
          </a:xfrm>
          <a:prstGeom prst="rect">
            <a:avLst/>
          </a:prstGeom>
        </p:spPr>
      </p:pic>
      <p:sp>
        <p:nvSpPr>
          <p:cNvPr id="10" name="TextBox 9"/>
          <p:cNvSpPr txBox="1"/>
          <p:nvPr/>
        </p:nvSpPr>
        <p:spPr>
          <a:xfrm>
            <a:off x="6876288" y="5742432"/>
            <a:ext cx="4700016" cy="402336"/>
          </a:xfrm>
          <a:prstGeom prst="rect">
            <a:avLst/>
          </a:prstGeom>
          <a:noFill/>
        </p:spPr>
        <p:txBody>
          <a:bodyPr wrap="square" anchor="ctr" lIns="54864" tIns="36576" rIns="54864" bIns="36576">
            <a:spAutoFit/>
          </a:bodyPr>
          <a:lstStyle/>
          <a:p>
            <a:pPr algn="ctr">
              <a:spcBef>
                <a:spcPts val="0"/>
              </a:spcBef>
              <a:spcAft>
                <a:spcPts val="0"/>
              </a:spcAft>
            </a:pPr>
            <a:r>
              <a:rPr sz="950" b="1" i="0">
                <a:solidFill>
                  <a:srgbClr val="E2E8F0"/>
                </a:solidFill>
                <a:latin typeface="DejaVu Sans"/>
              </a:rPr>
              <a:t>Ảnh thật: Khu cao ốc ven sông Sài Gòn, TP.HCM | Nguồn: Wikimedia Commons (CC BY-SA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91440"/>
          </a:xfrm>
          <a:prstGeom prst="rect">
            <a:avLst/>
          </a:prstGeom>
          <a:solidFill>
            <a:srgbClr val="C25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EF6FC"/>
          </a:solidFill>
          <a:ln w="12700">
            <a:solidFill>
              <a:srgbClr val="C259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C25915"/>
                </a:solidFill>
                <a:latin typeface="DejaVu Sans"/>
              </a:rPr>
              <a:t>MỞ ĐẦU &amp; KHẢO SÁT MỞ (30 GIÂY)</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2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Tình huống CQ7: Giấc mơ an cư người trẻ — Phép tính tĩnh 67 năm?</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Cục Thống kê – Bộ Tài chính (BC 9T/2026); Bộ Xây dựng (Giá bình quân thị trường thứ cấp, BC Q2/2026).</a:t>
            </a:r>
          </a:p>
        </p:txBody>
      </p:sp>
      <p:sp>
        <p:nvSpPr>
          <p:cNvPr id="12" name="Rounded Rectangle 11"/>
          <p:cNvSpPr/>
          <p:nvPr/>
        </p:nvSpPr>
        <p:spPr>
          <a:xfrm>
            <a:off x="502920" y="1261872"/>
            <a:ext cx="6629400" cy="1261872"/>
          </a:xfrm>
          <a:prstGeom prst="roundRect">
            <a:avLst>
              <a:gd name="adj" fmla="val 4000"/>
            </a:avLst>
          </a:prstGeom>
          <a:solidFill>
            <a:srgbClr val="FFF7ED"/>
          </a:solidFill>
          <a:ln w="22860">
            <a:solidFill>
              <a:srgbClr val="C259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316736"/>
            <a:ext cx="6355080" cy="1152144"/>
          </a:xfrm>
          <a:prstGeom prst="rect">
            <a:avLst/>
          </a:prstGeom>
          <a:noFill/>
        </p:spPr>
        <p:txBody>
          <a:bodyPr wrap="square" anchor="ctr" lIns="54864" tIns="36576" rIns="54864" bIns="36576">
            <a:spAutoFit/>
          </a:bodyPr>
          <a:lstStyle/>
          <a:p>
            <a:pPr algn="l">
              <a:spcBef>
                <a:spcPts val="0"/>
              </a:spcBef>
              <a:spcAft>
                <a:spcPts val="300"/>
              </a:spcAft>
            </a:pPr>
            <a:r>
              <a:rPr sz="1260" b="1" i="0">
                <a:solidFill>
                  <a:srgbClr val="C25915"/>
                </a:solidFill>
                <a:latin typeface="DejaVu Sans"/>
              </a:rPr>
              <a:t>KHẢO SÁT GIƠ TAY 30 GIÂY (PHÉP TÍNH TĨNH MINH HỌA):</a:t>
            </a:r>
          </a:p>
          <a:p>
            <a:pPr algn="l">
              <a:spcBef>
                <a:spcPts val="0"/>
              </a:spcBef>
              <a:spcAft>
                <a:spcPts val="300"/>
              </a:spcAft>
            </a:pPr>
            <a:r>
              <a:rPr sz="1260" b="1" i="0">
                <a:solidFill>
                  <a:srgbClr val="122645"/>
                </a:solidFill>
                <a:latin typeface="DejaVu Sans"/>
              </a:rPr>
              <a:t>Giả định lương 10–15 triệu, tiết kiệm đều 5 triệu/tháng mua căn hộ 4 tỷ → Mất ~67 năm!</a:t>
            </a:r>
          </a:p>
          <a:p>
            <a:pPr algn="l">
              <a:spcBef>
                <a:spcPts val="0"/>
              </a:spcBef>
              <a:spcAft>
                <a:spcPts val="0"/>
              </a:spcAft>
            </a:pPr>
            <a:r>
              <a:rPr sz="1060" b="0" i="1">
                <a:solidFill>
                  <a:srgbClr val="475569"/>
                </a:solidFill>
                <a:latin typeface="DejaVu Sans"/>
              </a:rPr>
              <a:t>(Lưu ý học thuật: Phép tính tĩnh minh họa khoảng cách giá – thu nhập; chưa tính tăng lương, biến động giá nhà, lạm phát &amp; lãi tiết kiệm).</a:t>
            </a:r>
          </a:p>
        </p:txBody>
      </p:sp>
      <p:sp>
        <p:nvSpPr>
          <p:cNvPr id="14" name="Rounded Rectangle 13"/>
          <p:cNvSpPr/>
          <p:nvPr/>
        </p:nvSpPr>
        <p:spPr>
          <a:xfrm>
            <a:off x="502920" y="2688336"/>
            <a:ext cx="1965960" cy="1078992"/>
          </a:xfrm>
          <a:prstGeom prst="roundRect">
            <a:avLst>
              <a:gd name="adj" fmla="val 4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688336"/>
            <a:ext cx="1965960" cy="1078992"/>
          </a:xfrm>
          <a:prstGeom prst="rect">
            <a:avLst/>
          </a:prstGeom>
          <a:noFill/>
        </p:spPr>
        <p:txBody>
          <a:bodyPr wrap="square" anchor="ctr" lIns="54864" tIns="36576" rIns="54864" bIns="36576">
            <a:spAutoFit/>
          </a:bodyPr>
          <a:lstStyle/>
          <a:p>
            <a:pPr algn="ctr">
              <a:spcBef>
                <a:spcPts val="0"/>
              </a:spcBef>
              <a:spcAft>
                <a:spcPts val="0"/>
              </a:spcAft>
            </a:pPr>
            <a:r>
              <a:rPr sz="1550" b="1" i="0">
                <a:solidFill>
                  <a:srgbClr val="FFFFFF"/>
                </a:solidFill>
                <a:latin typeface="DejaVu Sans"/>
              </a:rPr>
              <a:t>10 – 15 tr</a:t>
            </a:r>
          </a:p>
        </p:txBody>
      </p:sp>
      <p:sp>
        <p:nvSpPr>
          <p:cNvPr id="16" name="Rounded Rectangle 15"/>
          <p:cNvSpPr/>
          <p:nvPr/>
        </p:nvSpPr>
        <p:spPr>
          <a:xfrm>
            <a:off x="2578608" y="2688336"/>
            <a:ext cx="4553712" cy="1078992"/>
          </a:xfrm>
          <a:prstGeom prst="roundRect">
            <a:avLst>
              <a:gd name="adj" fmla="val 4000"/>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06624" y="2743200"/>
            <a:ext cx="4315968" cy="969264"/>
          </a:xfrm>
          <a:prstGeom prst="rect">
            <a:avLst/>
          </a:prstGeom>
          <a:noFill/>
        </p:spPr>
        <p:txBody>
          <a:bodyPr wrap="square" anchor="ctr" lIns="54864" tIns="36576" rIns="54864" bIns="36576">
            <a:spAutoFit/>
          </a:bodyPr>
          <a:lstStyle/>
          <a:p>
            <a:pPr algn="l">
              <a:spcBef>
                <a:spcPts val="0"/>
              </a:spcBef>
              <a:spcAft>
                <a:spcPts val="300"/>
              </a:spcAft>
            </a:pPr>
            <a:r>
              <a:rPr sz="1300" b="1" i="0">
                <a:solidFill>
                  <a:srgbClr val="122645"/>
                </a:solidFill>
                <a:latin typeface="DejaVu Sans"/>
              </a:rPr>
              <a:t>Thu nhập SV mới ra trường tại đô thị</a:t>
            </a:r>
          </a:p>
          <a:p>
            <a:pPr algn="l">
              <a:lnSpc>
                <a:spcPct val="122000"/>
              </a:lnSpc>
              <a:spcBef>
                <a:spcPts val="0"/>
              </a:spcBef>
              <a:spcAft>
                <a:spcPts val="0"/>
              </a:spcAft>
            </a:pPr>
            <a:r>
              <a:rPr sz="1140" b="0" i="0">
                <a:solidFill>
                  <a:srgbClr val="1E293B"/>
                </a:solidFill>
                <a:latin typeface="DejaVu Sans"/>
              </a:rPr>
              <a:t>Thu nhập BQ lao động cả nước 9T/2026 đạt 9,1 triệu/tháng (Cục Thống kê). Trừ tiền thuê trọ &amp; sinh hoạt, tích lũy ban đầu mỏng.</a:t>
            </a:r>
          </a:p>
        </p:txBody>
      </p:sp>
      <p:sp>
        <p:nvSpPr>
          <p:cNvPr id="18" name="Rounded Rectangle 17"/>
          <p:cNvSpPr/>
          <p:nvPr/>
        </p:nvSpPr>
        <p:spPr>
          <a:xfrm>
            <a:off x="502920" y="3913632"/>
            <a:ext cx="1965960" cy="1078992"/>
          </a:xfrm>
          <a:prstGeom prst="roundRect">
            <a:avLst>
              <a:gd name="adj" fmla="val 4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913632"/>
            <a:ext cx="1965960" cy="1078992"/>
          </a:xfrm>
          <a:prstGeom prst="rect">
            <a:avLst/>
          </a:prstGeom>
          <a:noFill/>
        </p:spPr>
        <p:txBody>
          <a:bodyPr wrap="square" anchor="ctr" lIns="54864" tIns="36576" rIns="54864" bIns="36576">
            <a:spAutoFit/>
          </a:bodyPr>
          <a:lstStyle/>
          <a:p>
            <a:pPr algn="ctr">
              <a:spcBef>
                <a:spcPts val="0"/>
              </a:spcBef>
              <a:spcAft>
                <a:spcPts val="0"/>
              </a:spcAft>
            </a:pPr>
            <a:r>
              <a:rPr sz="1550" b="1" i="0">
                <a:solidFill>
                  <a:srgbClr val="FFFFFF"/>
                </a:solidFill>
                <a:latin typeface="DejaVu Sans"/>
              </a:rPr>
              <a:t>108 – 123
tr/m²</a:t>
            </a:r>
          </a:p>
        </p:txBody>
      </p:sp>
      <p:sp>
        <p:nvSpPr>
          <p:cNvPr id="20" name="Rounded Rectangle 19"/>
          <p:cNvSpPr/>
          <p:nvPr/>
        </p:nvSpPr>
        <p:spPr>
          <a:xfrm>
            <a:off x="2578608" y="3913632"/>
            <a:ext cx="4553712" cy="1078992"/>
          </a:xfrm>
          <a:prstGeom prst="roundRect">
            <a:avLst>
              <a:gd name="adj" fmla="val 4000"/>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06624" y="3968496"/>
            <a:ext cx="4315968" cy="969264"/>
          </a:xfrm>
          <a:prstGeom prst="rect">
            <a:avLst/>
          </a:prstGeom>
          <a:noFill/>
        </p:spPr>
        <p:txBody>
          <a:bodyPr wrap="square" anchor="ctr" lIns="54864" tIns="36576" rIns="54864" bIns="36576">
            <a:spAutoFit/>
          </a:bodyPr>
          <a:lstStyle/>
          <a:p>
            <a:pPr algn="l">
              <a:spcBef>
                <a:spcPts val="0"/>
              </a:spcBef>
              <a:spcAft>
                <a:spcPts val="300"/>
              </a:spcAft>
            </a:pPr>
            <a:r>
              <a:rPr sz="1300" b="1" i="0">
                <a:solidFill>
                  <a:srgbClr val="122645"/>
                </a:solidFill>
                <a:latin typeface="DejaVu Sans"/>
              </a:rPr>
              <a:t>Giá chung cư thứ cấp neo ở mức rất cao</a:t>
            </a:r>
          </a:p>
          <a:p>
            <a:pPr algn="l">
              <a:lnSpc>
                <a:spcPct val="122000"/>
              </a:lnSpc>
              <a:spcBef>
                <a:spcPts val="0"/>
              </a:spcBef>
              <a:spcAft>
                <a:spcPts val="0"/>
              </a:spcAft>
            </a:pPr>
            <a:r>
              <a:rPr sz="1140" b="0" i="0">
                <a:solidFill>
                  <a:srgbClr val="1E293B"/>
                </a:solidFill>
                <a:latin typeface="DejaVu Sans"/>
              </a:rPr>
              <a:t>Theo số liệu thị trường thứ cấp Q2/2026 (Bộ Xây dựng): bình quân TP.HCM ~108 tr/m², Hà Nội ~123 tr/m²; vượt xa sức mua người trẻ.</a:t>
            </a:r>
          </a:p>
        </p:txBody>
      </p:sp>
      <p:sp>
        <p:nvSpPr>
          <p:cNvPr id="22" name="Rounded Rectangle 21"/>
          <p:cNvSpPr/>
          <p:nvPr/>
        </p:nvSpPr>
        <p:spPr>
          <a:xfrm>
            <a:off x="502920" y="5138928"/>
            <a:ext cx="1965960" cy="1078992"/>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138928"/>
            <a:ext cx="1965960" cy="1078992"/>
          </a:xfrm>
          <a:prstGeom prst="rect">
            <a:avLst/>
          </a:prstGeom>
          <a:noFill/>
        </p:spPr>
        <p:txBody>
          <a:bodyPr wrap="square" anchor="ctr" lIns="54864" tIns="36576" rIns="54864" bIns="36576">
            <a:spAutoFit/>
          </a:bodyPr>
          <a:lstStyle/>
          <a:p>
            <a:pPr algn="ctr">
              <a:spcBef>
                <a:spcPts val="0"/>
              </a:spcBef>
              <a:spcAft>
                <a:spcPts val="0"/>
              </a:spcAft>
            </a:pPr>
            <a:r>
              <a:rPr sz="1550" b="1" i="0">
                <a:solidFill>
                  <a:srgbClr val="FFFFFF"/>
                </a:solidFill>
                <a:latin typeface="DejaVu Sans"/>
              </a:rPr>
              <a:t>Lưỡng nan
Chính sách</a:t>
            </a:r>
          </a:p>
        </p:txBody>
      </p:sp>
      <p:sp>
        <p:nvSpPr>
          <p:cNvPr id="24" name="Rounded Rectangle 23"/>
          <p:cNvSpPr/>
          <p:nvPr/>
        </p:nvSpPr>
        <p:spPr>
          <a:xfrm>
            <a:off x="2578608" y="5138928"/>
            <a:ext cx="4553712" cy="1078992"/>
          </a:xfrm>
          <a:prstGeom prst="roundRect">
            <a:avLst>
              <a:gd name="adj" fmla="val 4000"/>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06624" y="5193792"/>
            <a:ext cx="4315968" cy="969264"/>
          </a:xfrm>
          <a:prstGeom prst="rect">
            <a:avLst/>
          </a:prstGeom>
          <a:noFill/>
        </p:spPr>
        <p:txBody>
          <a:bodyPr wrap="square" anchor="ctr" lIns="54864" tIns="36576" rIns="54864" bIns="36576">
            <a:spAutoFit/>
          </a:bodyPr>
          <a:lstStyle/>
          <a:p>
            <a:pPr algn="l">
              <a:spcBef>
                <a:spcPts val="0"/>
              </a:spcBef>
              <a:spcAft>
                <a:spcPts val="300"/>
              </a:spcAft>
            </a:pPr>
            <a:r>
              <a:rPr sz="1300" b="1" i="0">
                <a:solidFill>
                  <a:srgbClr val="122645"/>
                </a:solidFill>
                <a:latin typeface="DejaVu Sans"/>
              </a:rPr>
              <a:t>Bài toán điều tiết của Nhà nước</a:t>
            </a:r>
          </a:p>
          <a:p>
            <a:pPr algn="l">
              <a:lnSpc>
                <a:spcPct val="122000"/>
              </a:lnSpc>
              <a:spcBef>
                <a:spcPts val="0"/>
              </a:spcBef>
              <a:spcAft>
                <a:spcPts val="0"/>
              </a:spcAft>
            </a:pPr>
            <a:r>
              <a:rPr sz="1140" b="0" i="0">
                <a:solidFill>
                  <a:srgbClr val="1E293B"/>
                </a:solidFill>
                <a:latin typeface="DejaVu Sans"/>
              </a:rPr>
              <a:t>Thiếu điều tiết thì vốn dồn vào phân khúc lãi cao; nhưng tùy tiện ép DN bán dưới chi phí lại vi phạm quy luật thị trường &amp; pháp luật!</a:t>
            </a:r>
          </a:p>
        </p:txBody>
      </p:sp>
      <p:sp>
        <p:nvSpPr>
          <p:cNvPr id="26" name="Rounded Rectangle 25"/>
          <p:cNvSpPr/>
          <p:nvPr/>
        </p:nvSpPr>
        <p:spPr>
          <a:xfrm>
            <a:off x="7370063" y="1261872"/>
            <a:ext cx="4315968" cy="4992624"/>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2.jpg"/>
          <p:cNvPicPr>
            <a:picLocks noChangeAspect="1"/>
          </p:cNvPicPr>
          <p:nvPr/>
        </p:nvPicPr>
        <p:blipFill>
          <a:blip r:embed="rId2"/>
          <a:stretch>
            <a:fillRect/>
          </a:stretch>
        </p:blipFill>
        <p:spPr>
          <a:xfrm>
            <a:off x="7424927" y="1316736"/>
            <a:ext cx="4206240" cy="4498848"/>
          </a:xfrm>
          <a:prstGeom prst="rect">
            <a:avLst/>
          </a:prstGeom>
        </p:spPr>
      </p:pic>
      <p:sp>
        <p:nvSpPr>
          <p:cNvPr id="28" name="Rectangle 27"/>
          <p:cNvSpPr/>
          <p:nvPr/>
        </p:nvSpPr>
        <p:spPr>
          <a:xfrm>
            <a:off x="7424927" y="5852159"/>
            <a:ext cx="420624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5852159"/>
            <a:ext cx="4096511" cy="365760"/>
          </a:xfrm>
          <a:prstGeom prst="rect">
            <a:avLst/>
          </a:prstGeom>
          <a:noFill/>
        </p:spPr>
        <p:txBody>
          <a:bodyPr wrap="square" anchor="ctr" lIns="18288" tIns="0" rIns="18288" bIns="0">
            <a:spAutoFit/>
          </a:bodyPr>
          <a:lstStyle/>
          <a:p>
            <a:pPr algn="l">
              <a:spcBef>
                <a:spcPts val="0"/>
              </a:spcBef>
              <a:spcAft>
                <a:spcPts val="0"/>
              </a:spcAft>
            </a:pPr>
            <a:r>
              <a:rPr sz="960" b="1" i="0">
                <a:solidFill>
                  <a:srgbClr val="1E293B"/>
                </a:solidFill>
                <a:latin typeface="DejaVu Sans"/>
              </a:rPr>
              <a:t>Ảnh thật: Tân cử nhân tốt nghiệp tại ĐH Luật Hà Nội | Nguồn: Pexels Documentary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AF7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0F766E"/>
                </a:solidFill>
                <a:latin typeface="DejaVu Sans"/>
              </a:rPr>
              <a:t>LÝ LUẬN NỀN TẢNG • MỤC 5.1.1 (TR. 169–171)</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3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Khái niệm Kinh tế thị trường định hướng XHCN ở Việt Nam</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lý luận: Giáo trình Kinh tế chính trị Mác – Lênin (Bộ GD&amp;ĐT, 2021, Mục 5.1.1, tr. 169–171).</a:t>
            </a:r>
          </a:p>
        </p:txBody>
      </p:sp>
      <p:sp>
        <p:nvSpPr>
          <p:cNvPr id="12" name="Rounded Rectangle 11"/>
          <p:cNvSpPr/>
          <p:nvPr/>
        </p:nvSpPr>
        <p:spPr>
          <a:xfrm>
            <a:off x="502920" y="1316736"/>
            <a:ext cx="6446520" cy="1517904"/>
          </a:xfrm>
          <a:prstGeom prst="roundRect">
            <a:avLst>
              <a:gd name="adj" fmla="val 4000"/>
            </a:avLst>
          </a:prstGeom>
          <a:solidFill>
            <a:srgbClr val="FFFFFF"/>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316736"/>
            <a:ext cx="128016" cy="1517904"/>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389888"/>
            <a:ext cx="6080760" cy="1371600"/>
          </a:xfrm>
          <a:prstGeom prst="rect">
            <a:avLst/>
          </a:prstGeom>
          <a:noFill/>
        </p:spPr>
        <p:txBody>
          <a:bodyPr wrap="square" anchor="ctr" lIns="54864" tIns="36576" rIns="54864" bIns="36576">
            <a:spAutoFit/>
          </a:bodyPr>
          <a:lstStyle/>
          <a:p>
            <a:pPr algn="l">
              <a:spcBef>
                <a:spcPts val="0"/>
              </a:spcBef>
              <a:spcAft>
                <a:spcPts val="500"/>
              </a:spcAft>
            </a:pPr>
            <a:r>
              <a:rPr sz="1340" b="1" i="0">
                <a:solidFill>
                  <a:srgbClr val="0369A1"/>
                </a:solidFill>
                <a:latin typeface="DejaVu Sans"/>
              </a:rPr>
              <a:t>1. VẾ 'KINH TẾ THỊ TRƯỜNG' (CÁI CHUNG CỦA NHÂN LOẠI)</a:t>
            </a:r>
          </a:p>
          <a:p>
            <a:pPr algn="l">
              <a:lnSpc>
                <a:spcPct val="128000"/>
              </a:lnSpc>
              <a:spcBef>
                <a:spcPts val="0"/>
              </a:spcBef>
              <a:spcAft>
                <a:spcPts val="0"/>
              </a:spcAft>
            </a:pPr>
            <a:r>
              <a:rPr sz="1220" b="0" i="0">
                <a:solidFill>
                  <a:srgbClr val="1E293B"/>
                </a:solidFill>
                <a:latin typeface="DejaVu Sans"/>
              </a:rPr>
              <a:t>• Vận hành đầy đủ, đồng bộ theo các quy luật khách quan của kinh tế thị trường:
   Quy luật giá trị  •  Quy luật cung – cầu  •  Quy luật cạnh tranh.
• Thị trường giữ vai trò trực tiếp phân bổ nguồn lực sản xuất kinh doanh.</a:t>
            </a:r>
          </a:p>
        </p:txBody>
      </p:sp>
      <p:sp>
        <p:nvSpPr>
          <p:cNvPr id="15" name="Rounded Rectangle 14"/>
          <p:cNvSpPr/>
          <p:nvPr/>
        </p:nvSpPr>
        <p:spPr>
          <a:xfrm>
            <a:off x="502920" y="2999232"/>
            <a:ext cx="6446520" cy="1517904"/>
          </a:xfrm>
          <a:prstGeom prst="roundRect">
            <a:avLst>
              <a:gd name="adj" fmla="val 4000"/>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2999232"/>
            <a:ext cx="128016" cy="1517904"/>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072384"/>
            <a:ext cx="6080760" cy="1371600"/>
          </a:xfrm>
          <a:prstGeom prst="rect">
            <a:avLst/>
          </a:prstGeom>
          <a:noFill/>
        </p:spPr>
        <p:txBody>
          <a:bodyPr wrap="square" anchor="ctr" lIns="54864" tIns="36576" rIns="54864" bIns="36576">
            <a:spAutoFit/>
          </a:bodyPr>
          <a:lstStyle/>
          <a:p>
            <a:pPr algn="l">
              <a:spcBef>
                <a:spcPts val="0"/>
              </a:spcBef>
              <a:spcAft>
                <a:spcPts val="500"/>
              </a:spcAft>
            </a:pPr>
            <a:r>
              <a:rPr sz="1340" b="1" i="0">
                <a:solidFill>
                  <a:srgbClr val="0F766E"/>
                </a:solidFill>
                <a:latin typeface="DejaVu Sans"/>
              </a:rPr>
              <a:t>2. VẾ 'ĐỊNH HƯỚNG XÃ HỘI CHỦ NGHĨA' (CÁI RIÊNG ĐẶC SẮC)</a:t>
            </a:r>
          </a:p>
          <a:p>
            <a:pPr algn="l">
              <a:lnSpc>
                <a:spcPct val="128000"/>
              </a:lnSpc>
              <a:spcBef>
                <a:spcPts val="0"/>
              </a:spcBef>
              <a:spcAft>
                <a:spcPts val="0"/>
              </a:spcAft>
            </a:pPr>
            <a:r>
              <a:rPr sz="1220" b="0" i="0">
                <a:solidFill>
                  <a:srgbClr val="1E293B"/>
                </a:solidFill>
                <a:latin typeface="DejaVu Sans"/>
              </a:rPr>
              <a:t>• Có sự quản lý của Nhà nước pháp quyền XHCN, dưới sự lãnh đạo của Đảng Cộng sản Việt Nam.
• Chủ động khắc phục khuyết tật thị trường tự phát, không để phân hóa cực đoan.</a:t>
            </a:r>
          </a:p>
        </p:txBody>
      </p:sp>
      <p:sp>
        <p:nvSpPr>
          <p:cNvPr id="18" name="Rounded Rectangle 17"/>
          <p:cNvSpPr/>
          <p:nvPr/>
        </p:nvSpPr>
        <p:spPr>
          <a:xfrm>
            <a:off x="502920" y="4681728"/>
            <a:ext cx="6446520" cy="1517904"/>
          </a:xfrm>
          <a:prstGeom prst="roundRect">
            <a:avLst>
              <a:gd name="adj" fmla="val 4000"/>
            </a:avLst>
          </a:prstGeom>
          <a:solidFill>
            <a:srgbClr val="FFFFFF"/>
          </a:solidFill>
          <a:ln w="19050">
            <a:solidFill>
              <a:srgbClr val="C259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4681728"/>
            <a:ext cx="128016" cy="1517904"/>
          </a:xfrm>
          <a:prstGeom prst="rect">
            <a:avLst/>
          </a:prstGeom>
          <a:solidFill>
            <a:srgbClr val="C25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754880"/>
            <a:ext cx="6080760" cy="1371600"/>
          </a:xfrm>
          <a:prstGeom prst="rect">
            <a:avLst/>
          </a:prstGeom>
          <a:noFill/>
        </p:spPr>
        <p:txBody>
          <a:bodyPr wrap="square" anchor="ctr" lIns="54864" tIns="36576" rIns="54864" bIns="36576">
            <a:spAutoFit/>
          </a:bodyPr>
          <a:lstStyle/>
          <a:p>
            <a:pPr algn="l">
              <a:spcBef>
                <a:spcPts val="0"/>
              </a:spcBef>
              <a:spcAft>
                <a:spcPts val="500"/>
              </a:spcAft>
            </a:pPr>
            <a:r>
              <a:rPr sz="1340" b="1" i="0">
                <a:solidFill>
                  <a:srgbClr val="C25915"/>
                </a:solidFill>
                <a:latin typeface="DejaVu Sans"/>
              </a:rPr>
              <a:t>MỤC TIÊU ĐÍCH ĐẾN &amp; HÌNH ẢNH GỢI NHỚ</a:t>
            </a:r>
          </a:p>
          <a:p>
            <a:pPr algn="l">
              <a:lnSpc>
                <a:spcPct val="128000"/>
              </a:lnSpc>
              <a:spcBef>
                <a:spcPts val="0"/>
              </a:spcBef>
              <a:spcAft>
                <a:spcPts val="0"/>
              </a:spcAft>
            </a:pPr>
            <a:r>
              <a:rPr sz="1220" b="0" i="0">
                <a:solidFill>
                  <a:srgbClr val="1E293B"/>
                </a:solidFill>
                <a:latin typeface="DejaVu Sans"/>
              </a:rPr>
              <a:t>• Xác lập mục tiêu: "Dân giàu, nước mạnh, dân chủ, công bằng, văn minh".
→ Ẩn dụ: Lắp "Động cơ thị trường" mạnh mẽ + "Vô-lăng &amp; hệ thống phanh XHCN" nhân văn!</a:t>
            </a:r>
          </a:p>
        </p:txBody>
      </p:sp>
      <p:sp>
        <p:nvSpPr>
          <p:cNvPr id="21" name="Rounded Rectangle 20"/>
          <p:cNvSpPr/>
          <p:nvPr/>
        </p:nvSpPr>
        <p:spPr>
          <a:xfrm>
            <a:off x="7214616" y="1261872"/>
            <a:ext cx="4480560" cy="4992624"/>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3.jpg"/>
          <p:cNvPicPr>
            <a:picLocks noChangeAspect="1"/>
          </p:cNvPicPr>
          <p:nvPr/>
        </p:nvPicPr>
        <p:blipFill>
          <a:blip r:embed="rId2"/>
          <a:stretch>
            <a:fillRect/>
          </a:stretch>
        </p:blipFill>
        <p:spPr>
          <a:xfrm>
            <a:off x="7269480" y="1316736"/>
            <a:ext cx="4370832" cy="4498848"/>
          </a:xfrm>
          <a:prstGeom prst="rect">
            <a:avLst/>
          </a:prstGeom>
        </p:spPr>
      </p:pic>
      <p:sp>
        <p:nvSpPr>
          <p:cNvPr id="23" name="Rectangle 22"/>
          <p:cNvSpPr/>
          <p:nvPr/>
        </p:nvSpPr>
        <p:spPr>
          <a:xfrm>
            <a:off x="7269480" y="5852159"/>
            <a:ext cx="4370832"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24344" y="5852159"/>
            <a:ext cx="4261104" cy="365760"/>
          </a:xfrm>
          <a:prstGeom prst="rect">
            <a:avLst/>
          </a:prstGeom>
          <a:noFill/>
        </p:spPr>
        <p:txBody>
          <a:bodyPr wrap="square" anchor="ctr" lIns="18288" tIns="0" rIns="18288" bIns="0">
            <a:spAutoFit/>
          </a:bodyPr>
          <a:lstStyle/>
          <a:p>
            <a:pPr algn="l">
              <a:spcBef>
                <a:spcPts val="0"/>
              </a:spcBef>
              <a:spcAft>
                <a:spcPts val="0"/>
              </a:spcAft>
            </a:pPr>
            <a:r>
              <a:rPr sz="960" b="1" i="0">
                <a:solidFill>
                  <a:srgbClr val="1E293B"/>
                </a:solidFill>
                <a:latin typeface="DejaVu Sans"/>
              </a:rPr>
              <a:t>Ảnh thật: Đoàn tàu Metro số 1 Bến Thành – Suối Tiên tại TP.HCM (02/2025) | Nguồn: Wikimedia Commons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AF7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0F766E"/>
                </a:solidFill>
                <a:latin typeface="DejaVu Sans"/>
              </a:rPr>
              <a:t>LÝ LUẬN NỀN TẢNG • MỤC 5.1.2 (TR. 171–177)</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4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Vì sao phát triển KTTT định hướng XHCN là tất yếu khách quan?</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lý luận: Giáo trình Kinh tế chính trị Mác – Lênin (Bộ GD&amp;ĐT, 2021, Mục 5.1.2, tr. 171–177).</a:t>
            </a:r>
          </a:p>
        </p:txBody>
      </p:sp>
      <p:sp>
        <p:nvSpPr>
          <p:cNvPr id="12" name="Rounded Rectangle 11"/>
          <p:cNvSpPr/>
          <p:nvPr/>
        </p:nvSpPr>
        <p:spPr>
          <a:xfrm>
            <a:off x="502920" y="1316736"/>
            <a:ext cx="6446520" cy="1517904"/>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316736"/>
            <a:ext cx="6446520" cy="384048"/>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335024"/>
            <a:ext cx="6172200" cy="347472"/>
          </a:xfrm>
          <a:prstGeom prst="rect">
            <a:avLst/>
          </a:prstGeom>
          <a:noFill/>
        </p:spPr>
        <p:txBody>
          <a:bodyPr wrap="square" anchor="ctr" lIns="54864" tIns="36576" rIns="54864" bIns="36576">
            <a:spAutoFit/>
          </a:bodyPr>
          <a:lstStyle/>
          <a:p>
            <a:pPr algn="l">
              <a:spcBef>
                <a:spcPts val="0"/>
              </a:spcBef>
              <a:spcAft>
                <a:spcPts val="0"/>
              </a:spcAft>
            </a:pPr>
            <a:r>
              <a:rPr sz="1300" b="1" i="0">
                <a:solidFill>
                  <a:srgbClr val="FFFFFF"/>
                </a:solidFill>
                <a:latin typeface="DejaVu Sans"/>
              </a:rPr>
              <a:t>1. Phù hợp với tính quy luật phát triển khách quan</a:t>
            </a:r>
          </a:p>
        </p:txBody>
      </p:sp>
      <p:sp>
        <p:nvSpPr>
          <p:cNvPr id="15" name="TextBox 14"/>
          <p:cNvSpPr txBox="1"/>
          <p:nvPr/>
        </p:nvSpPr>
        <p:spPr>
          <a:xfrm>
            <a:off x="658368" y="1737360"/>
            <a:ext cx="6144768" cy="1042415"/>
          </a:xfrm>
          <a:prstGeom prst="rect">
            <a:avLst/>
          </a:prstGeom>
          <a:noFill/>
        </p:spPr>
        <p:txBody>
          <a:bodyPr wrap="square" anchor="ctr" lIns="54864" tIns="36576" rIns="54864" bIns="36576">
            <a:spAutoFit/>
          </a:bodyPr>
          <a:lstStyle/>
          <a:p>
            <a:pPr algn="l">
              <a:lnSpc>
                <a:spcPct val="126000"/>
              </a:lnSpc>
              <a:spcBef>
                <a:spcPts val="0"/>
              </a:spcBef>
              <a:spcAft>
                <a:spcPts val="0"/>
              </a:spcAft>
            </a:pPr>
            <a:r>
              <a:rPr sz="1200" b="0" i="0">
                <a:solidFill>
                  <a:srgbClr val="1E293B"/>
                </a:solidFill>
                <a:latin typeface="DejaVu Sans"/>
              </a:rPr>
              <a:t>• Việt Nam có sẵn điều kiện khách quan của kinh tế hàng hóa: phân công lao động xã hội &amp; đa dạng hình thức sở hữu.
• Phù hợp xu thế hội nhập quốc tế; không thể duy ý chí xóa bỏ thị trường.</a:t>
            </a:r>
          </a:p>
        </p:txBody>
      </p:sp>
      <p:sp>
        <p:nvSpPr>
          <p:cNvPr id="16" name="Rounded Rectangle 15"/>
          <p:cNvSpPr/>
          <p:nvPr/>
        </p:nvSpPr>
        <p:spPr>
          <a:xfrm>
            <a:off x="502920" y="2999232"/>
            <a:ext cx="6446520" cy="1517904"/>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999232"/>
            <a:ext cx="6446520" cy="38404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3017520"/>
            <a:ext cx="6172200" cy="347472"/>
          </a:xfrm>
          <a:prstGeom prst="rect">
            <a:avLst/>
          </a:prstGeom>
          <a:noFill/>
        </p:spPr>
        <p:txBody>
          <a:bodyPr wrap="square" anchor="ctr" lIns="54864" tIns="36576" rIns="54864" bIns="36576">
            <a:spAutoFit/>
          </a:bodyPr>
          <a:lstStyle/>
          <a:p>
            <a:pPr algn="l">
              <a:spcBef>
                <a:spcPts val="0"/>
              </a:spcBef>
              <a:spcAft>
                <a:spcPts val="0"/>
              </a:spcAft>
            </a:pPr>
            <a:r>
              <a:rPr sz="1300" b="1" i="0">
                <a:solidFill>
                  <a:srgbClr val="FFFFFF"/>
                </a:solidFill>
                <a:latin typeface="DejaVu Sans"/>
              </a:rPr>
              <a:t>2. Tính ưu việt của KTTT trong thúc đẩy sản xuất</a:t>
            </a:r>
          </a:p>
        </p:txBody>
      </p:sp>
      <p:sp>
        <p:nvSpPr>
          <p:cNvPr id="19" name="TextBox 18"/>
          <p:cNvSpPr txBox="1"/>
          <p:nvPr/>
        </p:nvSpPr>
        <p:spPr>
          <a:xfrm>
            <a:off x="658368" y="3419856"/>
            <a:ext cx="6144768" cy="1042415"/>
          </a:xfrm>
          <a:prstGeom prst="rect">
            <a:avLst/>
          </a:prstGeom>
          <a:noFill/>
        </p:spPr>
        <p:txBody>
          <a:bodyPr wrap="square" anchor="ctr" lIns="54864" tIns="36576" rIns="54864" bIns="36576">
            <a:spAutoFit/>
          </a:bodyPr>
          <a:lstStyle/>
          <a:p>
            <a:pPr algn="l">
              <a:lnSpc>
                <a:spcPct val="126000"/>
              </a:lnSpc>
              <a:spcBef>
                <a:spcPts val="0"/>
              </a:spcBef>
              <a:spcAft>
                <a:spcPts val="0"/>
              </a:spcAft>
            </a:pPr>
            <a:r>
              <a:rPr sz="1200" b="0" i="0">
                <a:solidFill>
                  <a:srgbClr val="1E293B"/>
                </a:solidFill>
                <a:latin typeface="DejaVu Sans"/>
              </a:rPr>
              <a:t>• Cơ chế cạnh tranh kích thích đổi mới công nghệ, phân bổ nguồn lực hiệu quả.
• Thực chứng sau Đổi mới 1986: Việt Nam thoát khủng hoảng thiếu lương thực, quy mô GDP vượt 470 tỷ USD.</a:t>
            </a:r>
          </a:p>
        </p:txBody>
      </p:sp>
      <p:sp>
        <p:nvSpPr>
          <p:cNvPr id="20" name="Rounded Rectangle 19"/>
          <p:cNvSpPr/>
          <p:nvPr/>
        </p:nvSpPr>
        <p:spPr>
          <a:xfrm>
            <a:off x="502920" y="4681728"/>
            <a:ext cx="6446520" cy="1517904"/>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681728"/>
            <a:ext cx="6446520" cy="384048"/>
          </a:xfrm>
          <a:prstGeom prst="rect">
            <a:avLst/>
          </a:prstGeom>
          <a:solidFill>
            <a:srgbClr val="C25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4700016"/>
            <a:ext cx="6172200" cy="347472"/>
          </a:xfrm>
          <a:prstGeom prst="rect">
            <a:avLst/>
          </a:prstGeom>
          <a:noFill/>
        </p:spPr>
        <p:txBody>
          <a:bodyPr wrap="square" anchor="ctr" lIns="54864" tIns="36576" rIns="54864" bIns="36576">
            <a:spAutoFit/>
          </a:bodyPr>
          <a:lstStyle/>
          <a:p>
            <a:pPr algn="l">
              <a:spcBef>
                <a:spcPts val="0"/>
              </a:spcBef>
              <a:spcAft>
                <a:spcPts val="0"/>
              </a:spcAft>
            </a:pPr>
            <a:r>
              <a:rPr sz="1300" b="1" i="0">
                <a:solidFill>
                  <a:srgbClr val="FFFFFF"/>
                </a:solidFill>
                <a:latin typeface="DejaVu Sans"/>
              </a:rPr>
              <a:t>3. Phù hợp với nguyện vọng của Nhân dân Việt Nam</a:t>
            </a:r>
          </a:p>
        </p:txBody>
      </p:sp>
      <p:sp>
        <p:nvSpPr>
          <p:cNvPr id="23" name="TextBox 22"/>
          <p:cNvSpPr txBox="1"/>
          <p:nvPr/>
        </p:nvSpPr>
        <p:spPr>
          <a:xfrm>
            <a:off x="658368" y="5102352"/>
            <a:ext cx="6144768" cy="1042415"/>
          </a:xfrm>
          <a:prstGeom prst="rect">
            <a:avLst/>
          </a:prstGeom>
          <a:noFill/>
        </p:spPr>
        <p:txBody>
          <a:bodyPr wrap="square" anchor="ctr" lIns="54864" tIns="36576" rIns="54864" bIns="36576">
            <a:spAutoFit/>
          </a:bodyPr>
          <a:lstStyle/>
          <a:p>
            <a:pPr algn="l">
              <a:lnSpc>
                <a:spcPct val="126000"/>
              </a:lnSpc>
              <a:spcBef>
                <a:spcPts val="0"/>
              </a:spcBef>
              <a:spcAft>
                <a:spcPts val="0"/>
              </a:spcAft>
            </a:pPr>
            <a:r>
              <a:rPr sz="1200" b="0" i="0">
                <a:solidFill>
                  <a:srgbClr val="1E293B"/>
                </a:solidFill>
                <a:latin typeface="DejaVu Sans"/>
              </a:rPr>
              <a:t>• Đáp ứng khát vọng làm giàu hợp pháp, tự do kinh doanh năng động của người dân và doanh nghiệp.
• Đồng thời bảo đảm an sinh xã hội, không bỏ rơi người lao động thu nhập thấp.</a:t>
            </a:r>
          </a:p>
        </p:txBody>
      </p:sp>
      <p:sp>
        <p:nvSpPr>
          <p:cNvPr id="24" name="Rounded Rectangle 23"/>
          <p:cNvSpPr/>
          <p:nvPr/>
        </p:nvSpPr>
        <p:spPr>
          <a:xfrm>
            <a:off x="7214616" y="1261872"/>
            <a:ext cx="4480560" cy="4992624"/>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4.jpg"/>
          <p:cNvPicPr>
            <a:picLocks noChangeAspect="1"/>
          </p:cNvPicPr>
          <p:nvPr/>
        </p:nvPicPr>
        <p:blipFill>
          <a:blip r:embed="rId2"/>
          <a:stretch>
            <a:fillRect/>
          </a:stretch>
        </p:blipFill>
        <p:spPr>
          <a:xfrm>
            <a:off x="7269480" y="1316736"/>
            <a:ext cx="4370832" cy="4498848"/>
          </a:xfrm>
          <a:prstGeom prst="rect">
            <a:avLst/>
          </a:prstGeom>
        </p:spPr>
      </p:pic>
      <p:sp>
        <p:nvSpPr>
          <p:cNvPr id="26" name="Rectangle 25"/>
          <p:cNvSpPr/>
          <p:nvPr/>
        </p:nvSpPr>
        <p:spPr>
          <a:xfrm>
            <a:off x="7269480" y="5852159"/>
            <a:ext cx="4370832"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24344" y="5852159"/>
            <a:ext cx="4261104" cy="365760"/>
          </a:xfrm>
          <a:prstGeom prst="rect">
            <a:avLst/>
          </a:prstGeom>
          <a:noFill/>
        </p:spPr>
        <p:txBody>
          <a:bodyPr wrap="square" anchor="ctr" lIns="18288" tIns="0" rIns="18288" bIns="0">
            <a:spAutoFit/>
          </a:bodyPr>
          <a:lstStyle/>
          <a:p>
            <a:pPr algn="l">
              <a:spcBef>
                <a:spcPts val="0"/>
              </a:spcBef>
              <a:spcAft>
                <a:spcPts val="0"/>
              </a:spcAft>
            </a:pPr>
            <a:r>
              <a:rPr sz="960" b="1" i="0">
                <a:solidFill>
                  <a:srgbClr val="1E293B"/>
                </a:solidFill>
                <a:latin typeface="DejaVu Sans"/>
              </a:rPr>
              <a:t>Ảnh thật: Cầu Ba Son &amp; diện mạo hạ tầng đô thị hiện đại TP.HCM | Nguồn: Wikimedia Commons (CC BY-SA)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AF7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0F766E"/>
                </a:solidFill>
                <a:latin typeface="DejaVu Sans"/>
              </a:rPr>
              <a:t>TRẢ LỜI CÂU HỎI 1 • MỤC 5.1.3 (TR. 177–187)</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5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So sánh 5 đặc trưng: KTTT Tư bản chủ nghĩa vs. KTTT Định hướng XHCN</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Giáo trình KTCT Mác – Lênin (2021, tr. 177–187); đối chiếu khách quan chính sách phúc lợi các nước OECD.</a:t>
            </a:r>
          </a:p>
        </p:txBody>
      </p:sp>
      <p:sp>
        <p:nvSpPr>
          <p:cNvPr id="12" name="Rounded Rectangle 11"/>
          <p:cNvSpPr/>
          <p:nvPr/>
        </p:nvSpPr>
        <p:spPr>
          <a:xfrm>
            <a:off x="502920" y="1188720"/>
            <a:ext cx="11183112" cy="402336"/>
          </a:xfrm>
          <a:prstGeom prst="roundRect">
            <a:avLst>
              <a:gd name="adj" fmla="val 4000"/>
            </a:avLst>
          </a:prstGeom>
          <a:solidFill>
            <a:srgbClr val="EEF6FC"/>
          </a:solidFill>
          <a:ln w="1524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188720"/>
            <a:ext cx="10927080" cy="402336"/>
          </a:xfrm>
          <a:prstGeom prst="rect">
            <a:avLst/>
          </a:prstGeom>
          <a:noFill/>
        </p:spPr>
        <p:txBody>
          <a:bodyPr wrap="square" anchor="ctr" lIns="54864" tIns="36576" rIns="54864" bIns="36576">
            <a:spAutoFit/>
          </a:bodyPr>
          <a:lstStyle/>
          <a:p>
            <a:pPr algn="l">
              <a:spcBef>
                <a:spcPts val="0"/>
              </a:spcBef>
              <a:spcAft>
                <a:spcPts val="0"/>
              </a:spcAft>
            </a:pPr>
            <a:r>
              <a:rPr sz="1180" b="1" i="0">
                <a:solidFill>
                  <a:srgbClr val="0369A1"/>
                </a:solidFill>
                <a:latin typeface="DejaVu Sans"/>
              </a:rPr>
              <a:t>ĐIỂM TƯƠNG ĐỒNG: Cả hai đều vận hành theo quy luật giá trị, cung – cầu, cạnh tranh và tôn trọng quyền tự do kinh doanh hợp pháp.</a:t>
            </a:r>
          </a:p>
        </p:txBody>
      </p:sp>
      <p:sp>
        <p:nvSpPr>
          <p:cNvPr id="14" name="Rounded Rectangle 13"/>
          <p:cNvSpPr/>
          <p:nvPr/>
        </p:nvSpPr>
        <p:spPr>
          <a:xfrm>
            <a:off x="502920" y="1664208"/>
            <a:ext cx="2148840" cy="420624"/>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664208"/>
            <a:ext cx="2148840" cy="420624"/>
          </a:xfrm>
          <a:prstGeom prst="rect">
            <a:avLst/>
          </a:prstGeom>
          <a:noFill/>
        </p:spPr>
        <p:txBody>
          <a:bodyPr wrap="square" anchor="ctr" lIns="54864" tIns="36576" rIns="54864" bIns="36576">
            <a:spAutoFit/>
          </a:bodyPr>
          <a:lstStyle/>
          <a:p>
            <a:pPr algn="ctr">
              <a:spcBef>
                <a:spcPts val="0"/>
              </a:spcBef>
              <a:spcAft>
                <a:spcPts val="0"/>
              </a:spcAft>
            </a:pPr>
            <a:r>
              <a:rPr sz="1140" b="1" i="0">
                <a:solidFill>
                  <a:srgbClr val="FFFFFF"/>
                </a:solidFill>
                <a:latin typeface="DejaVu Sans"/>
              </a:rPr>
              <a:t>5 TIÊU CHÍ (M-S-Q-P-G)</a:t>
            </a:r>
          </a:p>
        </p:txBody>
      </p:sp>
      <p:sp>
        <p:nvSpPr>
          <p:cNvPr id="16" name="Rounded Rectangle 15"/>
          <p:cNvSpPr/>
          <p:nvPr/>
        </p:nvSpPr>
        <p:spPr>
          <a:xfrm>
            <a:off x="2724912" y="1664208"/>
            <a:ext cx="4315968" cy="420624"/>
          </a:xfrm>
          <a:prstGeom prst="roundRect">
            <a:avLst>
              <a:gd name="adj" fmla="val 4000"/>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24912" y="1664208"/>
            <a:ext cx="4315968" cy="420624"/>
          </a:xfrm>
          <a:prstGeom prst="rect">
            <a:avLst/>
          </a:prstGeom>
          <a:noFill/>
        </p:spPr>
        <p:txBody>
          <a:bodyPr wrap="square" anchor="ctr" lIns="54864" tIns="36576" rIns="54864" bIns="36576">
            <a:spAutoFit/>
          </a:bodyPr>
          <a:lstStyle/>
          <a:p>
            <a:pPr algn="ctr">
              <a:spcBef>
                <a:spcPts val="0"/>
              </a:spcBef>
              <a:spcAft>
                <a:spcPts val="0"/>
              </a:spcAft>
            </a:pPr>
            <a:r>
              <a:rPr sz="1180" b="1" i="0">
                <a:solidFill>
                  <a:srgbClr val="FFFFFF"/>
                </a:solidFill>
                <a:latin typeface="DejaVu Sans"/>
              </a:rPr>
              <a:t>KTTT TƯ BẢN CHỦ NGHĨA</a:t>
            </a:r>
          </a:p>
        </p:txBody>
      </p:sp>
      <p:sp>
        <p:nvSpPr>
          <p:cNvPr id="18" name="Rounded Rectangle 17"/>
          <p:cNvSpPr/>
          <p:nvPr/>
        </p:nvSpPr>
        <p:spPr>
          <a:xfrm>
            <a:off x="7114032" y="1664208"/>
            <a:ext cx="4572000" cy="420624"/>
          </a:xfrm>
          <a:prstGeom prst="roundRect">
            <a:avLst>
              <a:gd name="adj" fmla="val 4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14032" y="1664208"/>
            <a:ext cx="4572000" cy="420624"/>
          </a:xfrm>
          <a:prstGeom prst="rect">
            <a:avLst/>
          </a:prstGeom>
          <a:noFill/>
        </p:spPr>
        <p:txBody>
          <a:bodyPr wrap="square" anchor="ctr" lIns="54864" tIns="36576" rIns="54864" bIns="36576">
            <a:spAutoFit/>
          </a:bodyPr>
          <a:lstStyle/>
          <a:p>
            <a:pPr algn="ctr">
              <a:spcBef>
                <a:spcPts val="0"/>
              </a:spcBef>
              <a:spcAft>
                <a:spcPts val="0"/>
              </a:spcAft>
            </a:pPr>
            <a:r>
              <a:rPr sz="1180" b="1" i="0">
                <a:solidFill>
                  <a:srgbClr val="FFFFFF"/>
                </a:solidFill>
                <a:latin typeface="DejaVu Sans"/>
              </a:rPr>
              <a:t>KTTT ĐỊNH HƯỚNG XHCN (VIỆT NAM)</a:t>
            </a:r>
          </a:p>
        </p:txBody>
      </p:sp>
      <p:sp>
        <p:nvSpPr>
          <p:cNvPr id="20" name="Rounded Rectangle 19"/>
          <p:cNvSpPr/>
          <p:nvPr/>
        </p:nvSpPr>
        <p:spPr>
          <a:xfrm>
            <a:off x="502920" y="2139696"/>
            <a:ext cx="2148840" cy="777240"/>
          </a:xfrm>
          <a:prstGeom prst="roundRect">
            <a:avLst>
              <a:gd name="adj" fmla="val 4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2139696"/>
            <a:ext cx="2020824" cy="777240"/>
          </a:xfrm>
          <a:prstGeom prst="rect">
            <a:avLst/>
          </a:prstGeom>
          <a:noFill/>
        </p:spPr>
        <p:txBody>
          <a:bodyPr wrap="square" anchor="ctr" lIns="54864" tIns="36576" rIns="54864" bIns="36576">
            <a:spAutoFit/>
          </a:bodyPr>
          <a:lstStyle/>
          <a:p>
            <a:pPr algn="ctr">
              <a:spcBef>
                <a:spcPts val="0"/>
              </a:spcBef>
              <a:spcAft>
                <a:spcPts val="0"/>
              </a:spcAft>
            </a:pPr>
            <a:r>
              <a:rPr sz="1160" b="1" i="0">
                <a:solidFill>
                  <a:srgbClr val="122645"/>
                </a:solidFill>
                <a:latin typeface="DejaVu Sans"/>
              </a:rPr>
              <a:t>1. Mục tiêu</a:t>
            </a:r>
          </a:p>
        </p:txBody>
      </p:sp>
      <p:sp>
        <p:nvSpPr>
          <p:cNvPr id="22" name="Rounded Rectangle 21"/>
          <p:cNvSpPr/>
          <p:nvPr/>
        </p:nvSpPr>
        <p:spPr>
          <a:xfrm>
            <a:off x="2724912" y="2139696"/>
            <a:ext cx="4315968" cy="77724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4640" y="2139696"/>
            <a:ext cx="4096512" cy="777240"/>
          </a:xfrm>
          <a:prstGeom prst="rect">
            <a:avLst/>
          </a:prstGeom>
          <a:noFill/>
        </p:spPr>
        <p:txBody>
          <a:bodyPr wrap="square" anchor="ctr" lIns="54864" tIns="36576" rIns="54864" bIns="36576">
            <a:spAutoFit/>
          </a:bodyPr>
          <a:lstStyle/>
          <a:p>
            <a:pPr algn="l">
              <a:lnSpc>
                <a:spcPct val="118000"/>
              </a:lnSpc>
              <a:spcBef>
                <a:spcPts val="0"/>
              </a:spcBef>
              <a:spcAft>
                <a:spcPts val="0"/>
              </a:spcAft>
            </a:pPr>
            <a:r>
              <a:rPr sz="1120" b="0" i="0">
                <a:solidFill>
                  <a:srgbClr val="1E293B"/>
                </a:solidFill>
                <a:latin typeface="DejaVu Sans"/>
              </a:rPr>
              <a:t>Lợi nhuận và tích lũy tư bản là động lực quan trọng trong hoạt động sản xuất, kinh doanh.</a:t>
            </a:r>
          </a:p>
        </p:txBody>
      </p:sp>
      <p:sp>
        <p:nvSpPr>
          <p:cNvPr id="24" name="Rounded Rectangle 23"/>
          <p:cNvSpPr/>
          <p:nvPr/>
        </p:nvSpPr>
        <p:spPr>
          <a:xfrm>
            <a:off x="7114032" y="2139696"/>
            <a:ext cx="4572000" cy="777240"/>
          </a:xfrm>
          <a:prstGeom prst="roundRect">
            <a:avLst>
              <a:gd name="adj" fmla="val 4000"/>
            </a:avLst>
          </a:prstGeom>
          <a:solidFill>
            <a:srgbClr val="EAF7F5"/>
          </a:solidFill>
          <a:ln w="1524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0" y="2139696"/>
            <a:ext cx="4352544" cy="777240"/>
          </a:xfrm>
          <a:prstGeom prst="rect">
            <a:avLst/>
          </a:prstGeom>
          <a:noFill/>
        </p:spPr>
        <p:txBody>
          <a:bodyPr wrap="square" anchor="ctr" lIns="54864" tIns="36576" rIns="54864" bIns="36576">
            <a:spAutoFit/>
          </a:bodyPr>
          <a:lstStyle/>
          <a:p>
            <a:pPr algn="l">
              <a:lnSpc>
                <a:spcPct val="118000"/>
              </a:lnSpc>
              <a:spcBef>
                <a:spcPts val="0"/>
              </a:spcBef>
              <a:spcAft>
                <a:spcPts val="0"/>
              </a:spcAft>
            </a:pPr>
            <a:r>
              <a:rPr sz="1120" b="0" i="0">
                <a:solidFill>
                  <a:srgbClr val="0B192E"/>
                </a:solidFill>
                <a:latin typeface="DejaVu Sans"/>
              </a:rPr>
              <a:t>"Dân giàu, nước mạnh, dân chủ, công bằng, văn minh" — lấy CON NGƯỜI làm trung tâm của phát triển.</a:t>
            </a:r>
          </a:p>
        </p:txBody>
      </p:sp>
      <p:sp>
        <p:nvSpPr>
          <p:cNvPr id="26" name="Rounded Rectangle 25"/>
          <p:cNvSpPr/>
          <p:nvPr/>
        </p:nvSpPr>
        <p:spPr>
          <a:xfrm>
            <a:off x="502920" y="2980944"/>
            <a:ext cx="2148840" cy="777240"/>
          </a:xfrm>
          <a:prstGeom prst="roundRect">
            <a:avLst>
              <a:gd name="adj" fmla="val 4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2980944"/>
            <a:ext cx="2020824" cy="777240"/>
          </a:xfrm>
          <a:prstGeom prst="rect">
            <a:avLst/>
          </a:prstGeom>
          <a:noFill/>
        </p:spPr>
        <p:txBody>
          <a:bodyPr wrap="square" anchor="ctr" lIns="54864" tIns="36576" rIns="54864" bIns="36576">
            <a:spAutoFit/>
          </a:bodyPr>
          <a:lstStyle/>
          <a:p>
            <a:pPr algn="ctr">
              <a:spcBef>
                <a:spcPts val="0"/>
              </a:spcBef>
              <a:spcAft>
                <a:spcPts val="0"/>
              </a:spcAft>
            </a:pPr>
            <a:r>
              <a:rPr sz="1160" b="1" i="0">
                <a:solidFill>
                  <a:srgbClr val="122645"/>
                </a:solidFill>
                <a:latin typeface="DejaVu Sans"/>
              </a:rPr>
              <a:t>2. Sở hữu &amp;
Thành phần KT</a:t>
            </a:r>
          </a:p>
        </p:txBody>
      </p:sp>
      <p:sp>
        <p:nvSpPr>
          <p:cNvPr id="28" name="Rounded Rectangle 27"/>
          <p:cNvSpPr/>
          <p:nvPr/>
        </p:nvSpPr>
        <p:spPr>
          <a:xfrm>
            <a:off x="2724912" y="2980944"/>
            <a:ext cx="4315968" cy="77724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40" y="2980944"/>
            <a:ext cx="4096512" cy="777240"/>
          </a:xfrm>
          <a:prstGeom prst="rect">
            <a:avLst/>
          </a:prstGeom>
          <a:noFill/>
        </p:spPr>
        <p:txBody>
          <a:bodyPr wrap="square" anchor="ctr" lIns="54864" tIns="36576" rIns="54864" bIns="36576">
            <a:spAutoFit/>
          </a:bodyPr>
          <a:lstStyle/>
          <a:p>
            <a:pPr algn="l">
              <a:lnSpc>
                <a:spcPct val="118000"/>
              </a:lnSpc>
              <a:spcBef>
                <a:spcPts val="0"/>
              </a:spcBef>
              <a:spcAft>
                <a:spcPts val="0"/>
              </a:spcAft>
            </a:pPr>
            <a:r>
              <a:rPr sz="1120" b="0" i="0">
                <a:solidFill>
                  <a:srgbClr val="1E293B"/>
                </a:solidFill>
                <a:latin typeface="DejaVu Sans"/>
              </a:rPr>
              <a:t>Sở hữu tư nhân tư bản giữ vai trò chi phối.</a:t>
            </a:r>
          </a:p>
        </p:txBody>
      </p:sp>
      <p:sp>
        <p:nvSpPr>
          <p:cNvPr id="30" name="Rounded Rectangle 29"/>
          <p:cNvSpPr/>
          <p:nvPr/>
        </p:nvSpPr>
        <p:spPr>
          <a:xfrm>
            <a:off x="7114032" y="2980944"/>
            <a:ext cx="4572000" cy="777240"/>
          </a:xfrm>
          <a:prstGeom prst="roundRect">
            <a:avLst>
              <a:gd name="adj" fmla="val 4000"/>
            </a:avLst>
          </a:prstGeom>
          <a:solidFill>
            <a:srgbClr val="EAF7F5"/>
          </a:solidFill>
          <a:ln w="1524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0" y="2980944"/>
            <a:ext cx="4352544" cy="777240"/>
          </a:xfrm>
          <a:prstGeom prst="rect">
            <a:avLst/>
          </a:prstGeom>
          <a:noFill/>
        </p:spPr>
        <p:txBody>
          <a:bodyPr wrap="square" anchor="ctr" lIns="54864" tIns="36576" rIns="54864" bIns="36576">
            <a:spAutoFit/>
          </a:bodyPr>
          <a:lstStyle/>
          <a:p>
            <a:pPr algn="l">
              <a:lnSpc>
                <a:spcPct val="118000"/>
              </a:lnSpc>
              <a:spcBef>
                <a:spcPts val="0"/>
              </a:spcBef>
              <a:spcAft>
                <a:spcPts val="0"/>
              </a:spcAft>
            </a:pPr>
            <a:r>
              <a:rPr sz="1120" b="0" i="0">
                <a:solidFill>
                  <a:srgbClr val="0B192E"/>
                </a:solidFill>
                <a:latin typeface="DejaVu Sans"/>
              </a:rPr>
              <a:t>Đa dạng hình thức sở hữu bình đẳng; KT nhà nước giữ vai trò CHỦ ĐẠO, KT tư nhân là ĐỘNG LỰC QUAN TRỌNG.</a:t>
            </a:r>
          </a:p>
        </p:txBody>
      </p:sp>
      <p:sp>
        <p:nvSpPr>
          <p:cNvPr id="32" name="Rounded Rectangle 31"/>
          <p:cNvSpPr/>
          <p:nvPr/>
        </p:nvSpPr>
        <p:spPr>
          <a:xfrm>
            <a:off x="502920" y="3822191"/>
            <a:ext cx="2148840" cy="777240"/>
          </a:xfrm>
          <a:prstGeom prst="roundRect">
            <a:avLst>
              <a:gd name="adj" fmla="val 4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3822191"/>
            <a:ext cx="2020824" cy="777240"/>
          </a:xfrm>
          <a:prstGeom prst="rect">
            <a:avLst/>
          </a:prstGeom>
          <a:noFill/>
        </p:spPr>
        <p:txBody>
          <a:bodyPr wrap="square" anchor="ctr" lIns="54864" tIns="36576" rIns="54864" bIns="36576">
            <a:spAutoFit/>
          </a:bodyPr>
          <a:lstStyle/>
          <a:p>
            <a:pPr algn="ctr">
              <a:spcBef>
                <a:spcPts val="0"/>
              </a:spcBef>
              <a:spcAft>
                <a:spcPts val="0"/>
              </a:spcAft>
            </a:pPr>
            <a:r>
              <a:rPr sz="1160" b="1" i="0">
                <a:solidFill>
                  <a:srgbClr val="122645"/>
                </a:solidFill>
                <a:latin typeface="DejaVu Sans"/>
              </a:rPr>
              <a:t>3. Quan hệ
Quản lý</a:t>
            </a:r>
          </a:p>
        </p:txBody>
      </p:sp>
      <p:sp>
        <p:nvSpPr>
          <p:cNvPr id="34" name="Rounded Rectangle 33"/>
          <p:cNvSpPr/>
          <p:nvPr/>
        </p:nvSpPr>
        <p:spPr>
          <a:xfrm>
            <a:off x="2724912" y="3822191"/>
            <a:ext cx="4315968" cy="77724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34640" y="3822191"/>
            <a:ext cx="4096512" cy="777240"/>
          </a:xfrm>
          <a:prstGeom prst="rect">
            <a:avLst/>
          </a:prstGeom>
          <a:noFill/>
        </p:spPr>
        <p:txBody>
          <a:bodyPr wrap="square" anchor="ctr" lIns="54864" tIns="36576" rIns="54864" bIns="36576">
            <a:spAutoFit/>
          </a:bodyPr>
          <a:lstStyle/>
          <a:p>
            <a:pPr algn="l">
              <a:lnSpc>
                <a:spcPct val="118000"/>
              </a:lnSpc>
              <a:spcBef>
                <a:spcPts val="0"/>
              </a:spcBef>
              <a:spcAft>
                <a:spcPts val="0"/>
              </a:spcAft>
            </a:pPr>
            <a:r>
              <a:rPr sz="1120" b="0" i="0">
                <a:solidFill>
                  <a:srgbClr val="1E293B"/>
                </a:solidFill>
                <a:latin typeface="DejaVu Sans"/>
              </a:rPr>
              <a:t>Nhà nước điều tiết nền kinh tế theo thể chế và chính sách của từng quốc gia.</a:t>
            </a:r>
          </a:p>
        </p:txBody>
      </p:sp>
      <p:sp>
        <p:nvSpPr>
          <p:cNvPr id="36" name="Rounded Rectangle 35"/>
          <p:cNvSpPr/>
          <p:nvPr/>
        </p:nvSpPr>
        <p:spPr>
          <a:xfrm>
            <a:off x="7114032" y="3822191"/>
            <a:ext cx="4572000" cy="777240"/>
          </a:xfrm>
          <a:prstGeom prst="roundRect">
            <a:avLst>
              <a:gd name="adj" fmla="val 4000"/>
            </a:avLst>
          </a:prstGeom>
          <a:solidFill>
            <a:srgbClr val="EAF7F5"/>
          </a:solidFill>
          <a:ln w="1524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60" y="3822191"/>
            <a:ext cx="4352544" cy="777240"/>
          </a:xfrm>
          <a:prstGeom prst="rect">
            <a:avLst/>
          </a:prstGeom>
          <a:noFill/>
        </p:spPr>
        <p:txBody>
          <a:bodyPr wrap="square" anchor="ctr" lIns="54864" tIns="36576" rIns="54864" bIns="36576">
            <a:spAutoFit/>
          </a:bodyPr>
          <a:lstStyle/>
          <a:p>
            <a:pPr algn="l">
              <a:lnSpc>
                <a:spcPct val="118000"/>
              </a:lnSpc>
              <a:spcBef>
                <a:spcPts val="0"/>
              </a:spcBef>
              <a:spcAft>
                <a:spcPts val="0"/>
              </a:spcAft>
            </a:pPr>
            <a:r>
              <a:rPr sz="1120" b="0" i="0">
                <a:solidFill>
                  <a:srgbClr val="0B192E"/>
                </a:solidFill>
                <a:latin typeface="DejaVu Sans"/>
              </a:rPr>
              <a:t>Nhà nước pháp quyền XHCN (của dân, do dân, vì dân) quản lý dưới sự lãnh đạo của Đảng Cộng sản Việt Nam.</a:t>
            </a:r>
          </a:p>
        </p:txBody>
      </p:sp>
      <p:sp>
        <p:nvSpPr>
          <p:cNvPr id="38" name="Rounded Rectangle 37"/>
          <p:cNvSpPr/>
          <p:nvPr/>
        </p:nvSpPr>
        <p:spPr>
          <a:xfrm>
            <a:off x="502920" y="4663440"/>
            <a:ext cx="2148840" cy="777240"/>
          </a:xfrm>
          <a:prstGeom prst="roundRect">
            <a:avLst>
              <a:gd name="adj" fmla="val 4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 y="4663440"/>
            <a:ext cx="2020824" cy="777240"/>
          </a:xfrm>
          <a:prstGeom prst="rect">
            <a:avLst/>
          </a:prstGeom>
          <a:noFill/>
        </p:spPr>
        <p:txBody>
          <a:bodyPr wrap="square" anchor="ctr" lIns="54864" tIns="36576" rIns="54864" bIns="36576">
            <a:spAutoFit/>
          </a:bodyPr>
          <a:lstStyle/>
          <a:p>
            <a:pPr algn="ctr">
              <a:spcBef>
                <a:spcPts val="0"/>
              </a:spcBef>
              <a:spcAft>
                <a:spcPts val="0"/>
              </a:spcAft>
            </a:pPr>
            <a:r>
              <a:rPr sz="1160" b="1" i="0">
                <a:solidFill>
                  <a:srgbClr val="122645"/>
                </a:solidFill>
                <a:latin typeface="DejaVu Sans"/>
              </a:rPr>
              <a:t>4. Quan hệ
Phân phối</a:t>
            </a:r>
          </a:p>
        </p:txBody>
      </p:sp>
      <p:sp>
        <p:nvSpPr>
          <p:cNvPr id="40" name="Rounded Rectangle 39"/>
          <p:cNvSpPr/>
          <p:nvPr/>
        </p:nvSpPr>
        <p:spPr>
          <a:xfrm>
            <a:off x="2724912" y="4663440"/>
            <a:ext cx="4315968" cy="77724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34640" y="4663440"/>
            <a:ext cx="4096512" cy="777240"/>
          </a:xfrm>
          <a:prstGeom prst="rect">
            <a:avLst/>
          </a:prstGeom>
          <a:noFill/>
        </p:spPr>
        <p:txBody>
          <a:bodyPr wrap="square" anchor="ctr" lIns="54864" tIns="36576" rIns="54864" bIns="36576">
            <a:spAutoFit/>
          </a:bodyPr>
          <a:lstStyle/>
          <a:p>
            <a:pPr algn="l">
              <a:lnSpc>
                <a:spcPct val="118000"/>
              </a:lnSpc>
              <a:spcBef>
                <a:spcPts val="0"/>
              </a:spcBef>
              <a:spcAft>
                <a:spcPts val="0"/>
              </a:spcAft>
            </a:pPr>
            <a:r>
              <a:rPr sz="1120" b="0" i="0">
                <a:solidFill>
                  <a:srgbClr val="1E293B"/>
                </a:solidFill>
                <a:latin typeface="DejaVu Sans"/>
              </a:rPr>
              <a:t>Phân phối theo lao động, vốn, tài sản và cơ chế thị trường; có tái phân phối thông qua thuế, phúc lợi.</a:t>
            </a:r>
          </a:p>
        </p:txBody>
      </p:sp>
      <p:sp>
        <p:nvSpPr>
          <p:cNvPr id="42" name="Rounded Rectangle 41"/>
          <p:cNvSpPr/>
          <p:nvPr/>
        </p:nvSpPr>
        <p:spPr>
          <a:xfrm>
            <a:off x="7114032" y="4663440"/>
            <a:ext cx="4572000" cy="777240"/>
          </a:xfrm>
          <a:prstGeom prst="roundRect">
            <a:avLst>
              <a:gd name="adj" fmla="val 4000"/>
            </a:avLst>
          </a:prstGeom>
          <a:solidFill>
            <a:srgbClr val="EAF7F5"/>
          </a:solidFill>
          <a:ln w="1524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23760" y="4663440"/>
            <a:ext cx="4352544" cy="777240"/>
          </a:xfrm>
          <a:prstGeom prst="rect">
            <a:avLst/>
          </a:prstGeom>
          <a:noFill/>
        </p:spPr>
        <p:txBody>
          <a:bodyPr wrap="square" anchor="ctr" lIns="54864" tIns="36576" rIns="54864" bIns="36576">
            <a:spAutoFit/>
          </a:bodyPr>
          <a:lstStyle/>
          <a:p>
            <a:pPr algn="l">
              <a:lnSpc>
                <a:spcPct val="118000"/>
              </a:lnSpc>
              <a:spcBef>
                <a:spcPts val="0"/>
              </a:spcBef>
              <a:spcAft>
                <a:spcPts val="0"/>
              </a:spcAft>
            </a:pPr>
            <a:r>
              <a:rPr sz="1120" b="0" i="0">
                <a:solidFill>
                  <a:srgbClr val="0B192E"/>
                </a:solidFill>
                <a:latin typeface="DejaVu Sans"/>
              </a:rPr>
              <a:t>Theo kết quả lao động &amp; hiệu quả kinh tế là CHỦ YẾU; kết hợp theo mức đóng góp vốn và hệ thống AN SINH, PHÚC LỢI.</a:t>
            </a:r>
          </a:p>
        </p:txBody>
      </p:sp>
      <p:sp>
        <p:nvSpPr>
          <p:cNvPr id="44" name="Rounded Rectangle 43"/>
          <p:cNvSpPr/>
          <p:nvPr/>
        </p:nvSpPr>
        <p:spPr>
          <a:xfrm>
            <a:off x="502920" y="5504688"/>
            <a:ext cx="2148840" cy="777240"/>
          </a:xfrm>
          <a:prstGeom prst="roundRect">
            <a:avLst>
              <a:gd name="adj" fmla="val 4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5504688"/>
            <a:ext cx="2020824" cy="777240"/>
          </a:xfrm>
          <a:prstGeom prst="rect">
            <a:avLst/>
          </a:prstGeom>
          <a:noFill/>
        </p:spPr>
        <p:txBody>
          <a:bodyPr wrap="square" anchor="ctr" lIns="54864" tIns="36576" rIns="54864" bIns="36576">
            <a:spAutoFit/>
          </a:bodyPr>
          <a:lstStyle/>
          <a:p>
            <a:pPr algn="ctr">
              <a:spcBef>
                <a:spcPts val="0"/>
              </a:spcBef>
              <a:spcAft>
                <a:spcPts val="0"/>
              </a:spcAft>
            </a:pPr>
            <a:r>
              <a:rPr sz="1160" b="1" i="0">
                <a:solidFill>
                  <a:srgbClr val="122645"/>
                </a:solidFill>
                <a:latin typeface="DejaVu Sans"/>
              </a:rPr>
              <a:t>5. Tăng trưởng &amp;
Công bằng XH</a:t>
            </a:r>
          </a:p>
        </p:txBody>
      </p:sp>
      <p:sp>
        <p:nvSpPr>
          <p:cNvPr id="46" name="Rounded Rectangle 45"/>
          <p:cNvSpPr/>
          <p:nvPr/>
        </p:nvSpPr>
        <p:spPr>
          <a:xfrm>
            <a:off x="2724912" y="5504688"/>
            <a:ext cx="4315968" cy="77724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34640" y="5504688"/>
            <a:ext cx="4096512" cy="777240"/>
          </a:xfrm>
          <a:prstGeom prst="rect">
            <a:avLst/>
          </a:prstGeom>
          <a:noFill/>
        </p:spPr>
        <p:txBody>
          <a:bodyPr wrap="square" anchor="ctr" lIns="54864" tIns="36576" rIns="54864" bIns="36576">
            <a:spAutoFit/>
          </a:bodyPr>
          <a:lstStyle/>
          <a:p>
            <a:pPr algn="l">
              <a:lnSpc>
                <a:spcPct val="118000"/>
              </a:lnSpc>
              <a:spcBef>
                <a:spcPts val="0"/>
              </a:spcBef>
              <a:spcAft>
                <a:spcPts val="0"/>
              </a:spcAft>
            </a:pPr>
            <a:r>
              <a:rPr sz="1120" b="0" i="0">
                <a:solidFill>
                  <a:srgbClr val="1E293B"/>
                </a:solidFill>
                <a:latin typeface="DejaVu Sans"/>
              </a:rPr>
              <a:t>Mức độ kết hợp tăng trưởng với công bằng xã hội phụ thuộc vào chính sách từng quốc gia.</a:t>
            </a:r>
          </a:p>
        </p:txBody>
      </p:sp>
      <p:sp>
        <p:nvSpPr>
          <p:cNvPr id="48" name="Rounded Rectangle 47"/>
          <p:cNvSpPr/>
          <p:nvPr/>
        </p:nvSpPr>
        <p:spPr>
          <a:xfrm>
            <a:off x="7114032" y="5504688"/>
            <a:ext cx="4572000" cy="777240"/>
          </a:xfrm>
          <a:prstGeom prst="roundRect">
            <a:avLst>
              <a:gd name="adj" fmla="val 4000"/>
            </a:avLst>
          </a:prstGeom>
          <a:solidFill>
            <a:srgbClr val="EAF7F5"/>
          </a:solidFill>
          <a:ln w="1524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23760" y="5504688"/>
            <a:ext cx="4352544" cy="777240"/>
          </a:xfrm>
          <a:prstGeom prst="rect">
            <a:avLst/>
          </a:prstGeom>
          <a:noFill/>
        </p:spPr>
        <p:txBody>
          <a:bodyPr wrap="square" anchor="ctr" lIns="54864" tIns="36576" rIns="54864" bIns="36576">
            <a:spAutoFit/>
          </a:bodyPr>
          <a:lstStyle/>
          <a:p>
            <a:pPr algn="l">
              <a:lnSpc>
                <a:spcPct val="118000"/>
              </a:lnSpc>
              <a:spcBef>
                <a:spcPts val="0"/>
              </a:spcBef>
              <a:spcAft>
                <a:spcPts val="0"/>
              </a:spcAft>
            </a:pPr>
            <a:r>
              <a:rPr sz="1120" b="0" i="0">
                <a:solidFill>
                  <a:srgbClr val="0B192E"/>
                </a:solidFill>
                <a:latin typeface="DejaVu Sans"/>
              </a:rPr>
              <a:t>Gắn tăng trưởng kinh tế với tiến bộ và công bằng xã hội NGAY TRONG TỪNG BƯỚC, TỪNG CHÍNH SÁCH phát triển.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AF7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0F766E"/>
                </a:solidFill>
                <a:latin typeface="DejaVu Sans"/>
              </a:rPr>
              <a:t>TRẢ LỜI CÂU HỎI 1 • LIÊN HỆ TRỰC TIẾP TÌNH HUỐNG CQ7</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6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Khác biệt bản chất nhìn từ bài toán điều tiết nhà ở đô thị</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đối chiếu: Vận dụng Mục 5.1.3 Giáo trình KTCT Mác – Lênin (2021) vào chính sách nhà ở đô thị Việt Nam.</a:t>
            </a:r>
          </a:p>
        </p:txBody>
      </p:sp>
      <p:sp>
        <p:nvSpPr>
          <p:cNvPr id="12" name="Rounded Rectangle 11"/>
          <p:cNvSpPr/>
          <p:nvPr/>
        </p:nvSpPr>
        <p:spPr>
          <a:xfrm>
            <a:off x="502920" y="1261872"/>
            <a:ext cx="5440680" cy="5047488"/>
          </a:xfrm>
          <a:prstGeom prst="roundRect">
            <a:avLst>
              <a:gd name="adj" fmla="val 4000"/>
            </a:avLst>
          </a:prstGeom>
          <a:solidFill>
            <a:srgbClr val="FFFFFF"/>
          </a:solidFill>
          <a:ln w="20320">
            <a:solidFill>
              <a:srgbClr val="C259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5.jpg"/>
          <p:cNvPicPr>
            <a:picLocks noChangeAspect="1"/>
          </p:cNvPicPr>
          <p:nvPr/>
        </p:nvPicPr>
        <p:blipFill>
          <a:blip r:embed="rId2"/>
          <a:stretch>
            <a:fillRect/>
          </a:stretch>
        </p:blipFill>
        <p:spPr>
          <a:xfrm>
            <a:off x="630936" y="1371600"/>
            <a:ext cx="5184648" cy="2231136"/>
          </a:xfrm>
          <a:prstGeom prst="rect">
            <a:avLst/>
          </a:prstGeom>
        </p:spPr>
      </p:pic>
      <p:sp>
        <p:nvSpPr>
          <p:cNvPr id="14" name="Rectangle 13"/>
          <p:cNvSpPr/>
          <p:nvPr/>
        </p:nvSpPr>
        <p:spPr>
          <a:xfrm>
            <a:off x="630936" y="3621024"/>
            <a:ext cx="5184648" cy="31089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621024"/>
            <a:ext cx="5074920" cy="310896"/>
          </a:xfrm>
          <a:prstGeom prst="rect">
            <a:avLst/>
          </a:prstGeom>
          <a:noFill/>
        </p:spPr>
        <p:txBody>
          <a:bodyPr wrap="square" anchor="ctr" lIns="54864" tIns="36576" rIns="54864" bIns="36576">
            <a:spAutoFit/>
          </a:bodyPr>
          <a:lstStyle/>
          <a:p>
            <a:pPr algn="l">
              <a:spcBef>
                <a:spcPts val="0"/>
              </a:spcBef>
              <a:spcAft>
                <a:spcPts val="0"/>
              </a:spcAft>
            </a:pPr>
            <a:r>
              <a:rPr sz="940" b="1" i="0">
                <a:solidFill>
                  <a:srgbClr val="1E293B"/>
                </a:solidFill>
                <a:latin typeface="DejaVu Sans"/>
              </a:rPr>
              <a:t>Ảnh thật: Cụm chung cư thương mại cao tầng tại Hà Nội | Nguồn: Báo Tuổi Trẻ</a:t>
            </a:r>
          </a:p>
        </p:txBody>
      </p:sp>
      <p:sp>
        <p:nvSpPr>
          <p:cNvPr id="16" name="TextBox 15"/>
          <p:cNvSpPr txBox="1"/>
          <p:nvPr/>
        </p:nvSpPr>
        <p:spPr>
          <a:xfrm>
            <a:off x="685800" y="3986784"/>
            <a:ext cx="5102352" cy="2249424"/>
          </a:xfrm>
          <a:prstGeom prst="rect">
            <a:avLst/>
          </a:prstGeom>
          <a:noFill/>
        </p:spPr>
        <p:txBody>
          <a:bodyPr wrap="square" anchor="t" lIns="54864" tIns="36576" rIns="54864" bIns="36576">
            <a:spAutoFit/>
          </a:bodyPr>
          <a:lstStyle/>
          <a:p>
            <a:pPr algn="l">
              <a:spcBef>
                <a:spcPts val="0"/>
              </a:spcBef>
              <a:spcAft>
                <a:spcPts val="600"/>
              </a:spcAft>
            </a:pPr>
            <a:r>
              <a:rPr sz="1260" b="1" i="0">
                <a:solidFill>
                  <a:srgbClr val="C25915"/>
                </a:solidFill>
                <a:latin typeface="DejaVu Sans"/>
              </a:rPr>
              <a:t>KỊCH BẢN CHỈ DỰA VÀO TÍN HIỆU LỢI NHUẬN THỊ TRƯỜNG:</a:t>
            </a:r>
          </a:p>
          <a:p>
            <a:pPr algn="l">
              <a:lnSpc>
                <a:spcPct val="124000"/>
              </a:lnSpc>
              <a:spcBef>
                <a:spcPts val="0"/>
              </a:spcBef>
              <a:spcAft>
                <a:spcPts val="500"/>
              </a:spcAft>
            </a:pPr>
            <a:r>
              <a:rPr sz="1180" b="0" i="0">
                <a:solidFill>
                  <a:srgbClr val="1E293B"/>
                </a:solidFill>
                <a:latin typeface="DejaVu Sans"/>
              </a:rPr>
              <a:t>• Khi thiếu chính sách điều tiết, nguồn vốn có xu hướng ưu tiên phân khúc thương mại có tỷ suất lợi nhuận cao.</a:t>
            </a:r>
          </a:p>
          <a:p>
            <a:pPr algn="l">
              <a:lnSpc>
                <a:spcPct val="124000"/>
              </a:lnSpc>
              <a:spcBef>
                <a:spcPts val="0"/>
              </a:spcBef>
              <a:spcAft>
                <a:spcPts val="500"/>
              </a:spcAft>
            </a:pPr>
            <a:r>
              <a:rPr sz="1180" b="0" i="0">
                <a:solidFill>
                  <a:srgbClr val="1E293B"/>
                </a:solidFill>
                <a:latin typeface="DejaVu Sans"/>
              </a:rPr>
              <a:t>• Nhu cầu nhà ở thực của nhóm người có khả năng thanh toán thấp chưa được đáp ứng đầy đủ.</a:t>
            </a:r>
          </a:p>
          <a:p>
            <a:pPr algn="l">
              <a:lnSpc>
                <a:spcPct val="124000"/>
              </a:lnSpc>
              <a:spcBef>
                <a:spcPts val="0"/>
              </a:spcBef>
              <a:spcAft>
                <a:spcPts val="0"/>
              </a:spcAft>
            </a:pPr>
            <a:r>
              <a:rPr sz="1180" b="0" i="0">
                <a:solidFill>
                  <a:srgbClr val="1E293B"/>
                </a:solidFill>
                <a:latin typeface="DejaVu Sans"/>
              </a:rPr>
              <a:t>• Khoảng cách giữa giá nhà thương mại và thu nhập người trẻ ngày càng nới rộng.</a:t>
            </a:r>
          </a:p>
        </p:txBody>
      </p:sp>
      <p:sp>
        <p:nvSpPr>
          <p:cNvPr id="17" name="Rounded Rectangle 16"/>
          <p:cNvSpPr/>
          <p:nvPr/>
        </p:nvSpPr>
        <p:spPr>
          <a:xfrm>
            <a:off x="6245352" y="1261872"/>
            <a:ext cx="5440680" cy="5047488"/>
          </a:xfrm>
          <a:prstGeom prst="roundRect">
            <a:avLst>
              <a:gd name="adj" fmla="val 4000"/>
            </a:avLst>
          </a:prstGeom>
          <a:solidFill>
            <a:srgbClr val="EAF7F5"/>
          </a:solidFill>
          <a:ln w="2286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6.jpg"/>
          <p:cNvPicPr>
            <a:picLocks noChangeAspect="1"/>
          </p:cNvPicPr>
          <p:nvPr/>
        </p:nvPicPr>
        <p:blipFill>
          <a:blip r:embed="rId3"/>
          <a:stretch>
            <a:fillRect/>
          </a:stretch>
        </p:blipFill>
        <p:spPr>
          <a:xfrm>
            <a:off x="6373368" y="1371600"/>
            <a:ext cx="5184648" cy="2231136"/>
          </a:xfrm>
          <a:prstGeom prst="rect">
            <a:avLst/>
          </a:prstGeom>
        </p:spPr>
      </p:pic>
      <p:sp>
        <p:nvSpPr>
          <p:cNvPr id="19" name="Rectangle 18"/>
          <p:cNvSpPr/>
          <p:nvPr/>
        </p:nvSpPr>
        <p:spPr>
          <a:xfrm>
            <a:off x="6373368" y="3621024"/>
            <a:ext cx="5184648"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3621024"/>
            <a:ext cx="5074920" cy="310896"/>
          </a:xfrm>
          <a:prstGeom prst="rect">
            <a:avLst/>
          </a:prstGeom>
          <a:noFill/>
        </p:spPr>
        <p:txBody>
          <a:bodyPr wrap="square" anchor="ctr" lIns="54864" tIns="36576" rIns="54864" bIns="36576">
            <a:spAutoFit/>
          </a:bodyPr>
          <a:lstStyle/>
          <a:p>
            <a:pPr algn="l">
              <a:spcBef>
                <a:spcPts val="0"/>
              </a:spcBef>
              <a:spcAft>
                <a:spcPts val="0"/>
              </a:spcAft>
            </a:pPr>
            <a:r>
              <a:rPr sz="940" b="1" i="0">
                <a:solidFill>
                  <a:srgbClr val="1E293B"/>
                </a:solidFill>
                <a:latin typeface="DejaVu Sans"/>
              </a:rPr>
              <a:t>Ảnh thật: Khu đô thị NOXH Đặng Xá – Gia Lâm, Hà Nội | Nguồn: Viglacera – Bộ Xây dựng</a:t>
            </a:r>
          </a:p>
        </p:txBody>
      </p:sp>
      <p:sp>
        <p:nvSpPr>
          <p:cNvPr id="21" name="TextBox 20"/>
          <p:cNvSpPr txBox="1"/>
          <p:nvPr/>
        </p:nvSpPr>
        <p:spPr>
          <a:xfrm>
            <a:off x="6428232" y="3986784"/>
            <a:ext cx="5102352" cy="2249424"/>
          </a:xfrm>
          <a:prstGeom prst="rect">
            <a:avLst/>
          </a:prstGeom>
          <a:noFill/>
        </p:spPr>
        <p:txBody>
          <a:bodyPr wrap="square" anchor="t" lIns="54864" tIns="36576" rIns="54864" bIns="36576">
            <a:spAutoFit/>
          </a:bodyPr>
          <a:lstStyle/>
          <a:p>
            <a:pPr algn="l">
              <a:spcBef>
                <a:spcPts val="0"/>
              </a:spcBef>
              <a:spcAft>
                <a:spcPts val="600"/>
              </a:spcAft>
            </a:pPr>
            <a:r>
              <a:rPr sz="1260" b="1" i="0">
                <a:solidFill>
                  <a:srgbClr val="0F766E"/>
                </a:solidFill>
                <a:latin typeface="DejaVu Sans"/>
              </a:rPr>
              <a:t>MÔ HÌNH KTTT ĐỊNH HƯỚNG XHCN Ở VIỆT NAM:</a:t>
            </a:r>
          </a:p>
          <a:p>
            <a:pPr algn="l">
              <a:lnSpc>
                <a:spcPct val="124000"/>
              </a:lnSpc>
              <a:spcBef>
                <a:spcPts val="0"/>
              </a:spcBef>
              <a:spcAft>
                <a:spcPts val="500"/>
              </a:spcAft>
            </a:pPr>
            <a:r>
              <a:rPr sz="1180" b="0" i="0">
                <a:solidFill>
                  <a:srgbClr val="0B192E"/>
                </a:solidFill>
                <a:latin typeface="DejaVu Sans"/>
              </a:rPr>
              <a:t>• Tôn trọng cơ chế thị trường ở phân khúc thương mại; đồng thời xác định chỗ ở cơ bản là trụ cột an sinh xã hội.</a:t>
            </a:r>
          </a:p>
          <a:p>
            <a:pPr algn="l">
              <a:lnSpc>
                <a:spcPct val="124000"/>
              </a:lnSpc>
              <a:spcBef>
                <a:spcPts val="0"/>
              </a:spcBef>
              <a:spcAft>
                <a:spcPts val="500"/>
              </a:spcAft>
            </a:pPr>
            <a:r>
              <a:rPr sz="1180" b="0" i="0">
                <a:solidFill>
                  <a:srgbClr val="0B192E"/>
                </a:solidFill>
                <a:latin typeface="DejaVu Sans"/>
              </a:rPr>
              <a:t>• Không tùy tiện ép doanh nghiệp bán dưới chi phí; kết hợp nghĩa vụ luật định với đòn bẩy khuyến khích kinh tế.</a:t>
            </a:r>
          </a:p>
          <a:p>
            <a:pPr algn="l">
              <a:lnSpc>
                <a:spcPct val="124000"/>
              </a:lnSpc>
              <a:spcBef>
                <a:spcPts val="0"/>
              </a:spcBef>
              <a:spcAft>
                <a:spcPts val="0"/>
              </a:spcAft>
            </a:pPr>
            <a:r>
              <a:rPr sz="1180" b="0" i="0">
                <a:solidFill>
                  <a:srgbClr val="0B192E"/>
                </a:solidFill>
                <a:latin typeface="DejaVu Sans"/>
              </a:rPr>
              <a:t>• Nhà nước chủ động kiến tạo thể chế, tín dụng ưu đãi &amp; quỹ NOXH cho người lao động.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EF6FC"/>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0369A1"/>
                </a:solidFill>
                <a:latin typeface="DejaVu Sans"/>
              </a:rPr>
              <a:t>LÝ LUẬN NỀN TẢNG • MỤC 5.2.1 (TR. 187–190)</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7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Thể chế KTTT định hướng XHCN: "Bộ luật chơi" &amp; 3 điểm nghẽn</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lý luận: Giáo trình Kinh tế chính trị Mác – Lênin (Bộ GD&amp;ĐT, 2021, Mục 5.2.1, tr. 187–190).</a:t>
            </a:r>
          </a:p>
        </p:txBody>
      </p:sp>
      <p:sp>
        <p:nvSpPr>
          <p:cNvPr id="12" name="Rounded Rectangle 11"/>
          <p:cNvSpPr/>
          <p:nvPr/>
        </p:nvSpPr>
        <p:spPr>
          <a:xfrm>
            <a:off x="512064" y="1261872"/>
            <a:ext cx="4480560" cy="4992624"/>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7.jpg"/>
          <p:cNvPicPr>
            <a:picLocks noChangeAspect="1"/>
          </p:cNvPicPr>
          <p:nvPr/>
        </p:nvPicPr>
        <p:blipFill>
          <a:blip r:embed="rId2"/>
          <a:stretch>
            <a:fillRect/>
          </a:stretch>
        </p:blipFill>
        <p:spPr>
          <a:xfrm>
            <a:off x="566928" y="1316736"/>
            <a:ext cx="4370832" cy="4498848"/>
          </a:xfrm>
          <a:prstGeom prst="rect">
            <a:avLst/>
          </a:prstGeom>
        </p:spPr>
      </p:pic>
      <p:sp>
        <p:nvSpPr>
          <p:cNvPr id="14" name="Rectangle 13"/>
          <p:cNvSpPr/>
          <p:nvPr/>
        </p:nvSpPr>
        <p:spPr>
          <a:xfrm>
            <a:off x="566928" y="5852159"/>
            <a:ext cx="4370832"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5852159"/>
            <a:ext cx="4261104" cy="365760"/>
          </a:xfrm>
          <a:prstGeom prst="rect">
            <a:avLst/>
          </a:prstGeom>
          <a:noFill/>
        </p:spPr>
        <p:txBody>
          <a:bodyPr wrap="square" anchor="ctr" lIns="18288" tIns="0" rIns="18288" bIns="0">
            <a:spAutoFit/>
          </a:bodyPr>
          <a:lstStyle/>
          <a:p>
            <a:pPr algn="l">
              <a:spcBef>
                <a:spcPts val="0"/>
              </a:spcBef>
              <a:spcAft>
                <a:spcPts val="0"/>
              </a:spcAft>
            </a:pPr>
            <a:r>
              <a:rPr sz="960" b="1" i="0">
                <a:solidFill>
                  <a:srgbClr val="1E293B"/>
                </a:solidFill>
                <a:latin typeface="DejaVu Sans"/>
              </a:rPr>
              <a:t>Ảnh thật: Quốc hội khóa XV biểu quyết thông qua Luật Đất đai 2024 | Nguồn: Báo Điện tử Chính phủ</a:t>
            </a:r>
          </a:p>
        </p:txBody>
      </p:sp>
      <p:sp>
        <p:nvSpPr>
          <p:cNvPr id="16" name="Rounded Rectangle 15"/>
          <p:cNvSpPr/>
          <p:nvPr/>
        </p:nvSpPr>
        <p:spPr>
          <a:xfrm>
            <a:off x="5257800" y="1280160"/>
            <a:ext cx="6419088" cy="1426464"/>
          </a:xfrm>
          <a:prstGeom prst="roundRect">
            <a:avLst>
              <a:gd name="adj" fmla="val 4000"/>
            </a:avLst>
          </a:prstGeom>
          <a:solidFill>
            <a:srgbClr val="EEF6FC"/>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13248" y="1335024"/>
            <a:ext cx="6126480" cy="1316736"/>
          </a:xfrm>
          <a:prstGeom prst="rect">
            <a:avLst/>
          </a:prstGeom>
          <a:noFill/>
        </p:spPr>
        <p:txBody>
          <a:bodyPr wrap="square" anchor="ctr" lIns="54864" tIns="36576" rIns="54864" bIns="36576">
            <a:spAutoFit/>
          </a:bodyPr>
          <a:lstStyle/>
          <a:p>
            <a:pPr algn="l">
              <a:spcBef>
                <a:spcPts val="0"/>
              </a:spcBef>
              <a:spcAft>
                <a:spcPts val="500"/>
              </a:spcAft>
            </a:pPr>
            <a:r>
              <a:rPr sz="1320" b="1" i="0">
                <a:solidFill>
                  <a:srgbClr val="0369A1"/>
                </a:solidFill>
                <a:latin typeface="DejaVu Sans"/>
              </a:rPr>
              <a:t>THỂ CHẾ KINH TẾ LÀ GÌ? (ẨN DỤ GIẢI BÓNG ĐÁ):</a:t>
            </a:r>
          </a:p>
          <a:p>
            <a:pPr algn="l">
              <a:lnSpc>
                <a:spcPct val="126000"/>
              </a:lnSpc>
              <a:spcBef>
                <a:spcPts val="0"/>
              </a:spcBef>
              <a:spcAft>
                <a:spcPts val="0"/>
              </a:spcAft>
            </a:pPr>
            <a:r>
              <a:rPr sz="1220" b="0" i="0">
                <a:solidFill>
                  <a:srgbClr val="0B192E"/>
                </a:solidFill>
                <a:latin typeface="DejaVu Sans"/>
              </a:rPr>
              <a:t>Hệ thống Luật chơi (Quy tắc pháp luật) + Trọng tài (Bộ máy quản lý Nhà nước) + Cầu thủ (Doanh nghiệp, người dân) + Mặt sân (Hệ thống các loại thị trường).</a:t>
            </a:r>
          </a:p>
        </p:txBody>
      </p:sp>
      <p:sp>
        <p:nvSpPr>
          <p:cNvPr id="18" name="Rounded Rectangle 17"/>
          <p:cNvSpPr/>
          <p:nvPr/>
        </p:nvSpPr>
        <p:spPr>
          <a:xfrm>
            <a:off x="5257800" y="2889504"/>
            <a:ext cx="6419088" cy="1024128"/>
          </a:xfrm>
          <a:prstGeom prst="roundRect">
            <a:avLst>
              <a:gd name="adj" fmla="val 4000"/>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57800" y="2889504"/>
            <a:ext cx="109728" cy="1024128"/>
          </a:xfrm>
          <a:prstGeom prst="rect">
            <a:avLst/>
          </a:prstGeom>
          <a:solidFill>
            <a:srgbClr val="C25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68112" y="2935224"/>
            <a:ext cx="6080760" cy="932688"/>
          </a:xfrm>
          <a:prstGeom prst="rect">
            <a:avLst/>
          </a:prstGeom>
          <a:noFill/>
        </p:spPr>
        <p:txBody>
          <a:bodyPr wrap="square" anchor="ctr" lIns="54864" tIns="36576" rIns="54864" bIns="36576">
            <a:spAutoFit/>
          </a:bodyPr>
          <a:lstStyle/>
          <a:p>
            <a:pPr algn="l">
              <a:spcBef>
                <a:spcPts val="0"/>
              </a:spcBef>
              <a:spcAft>
                <a:spcPts val="300"/>
              </a:spcAft>
            </a:pPr>
            <a:r>
              <a:rPr sz="1260" b="1" i="0">
                <a:solidFill>
                  <a:srgbClr val="122645"/>
                </a:solidFill>
                <a:latin typeface="DejaVu Sans"/>
              </a:rPr>
              <a:t>1. Hệ thống thể chế chưa đồng bộ</a:t>
            </a:r>
          </a:p>
          <a:p>
            <a:pPr algn="l">
              <a:lnSpc>
                <a:spcPct val="120000"/>
              </a:lnSpc>
              <a:spcBef>
                <a:spcPts val="0"/>
              </a:spcBef>
              <a:spcAft>
                <a:spcPts val="0"/>
              </a:spcAft>
            </a:pPr>
            <a:r>
              <a:rPr sz="1150" b="0" i="0">
                <a:solidFill>
                  <a:srgbClr val="1E293B"/>
                </a:solidFill>
                <a:latin typeface="DejaVu Sans"/>
              </a:rPr>
              <a:t>Các đạo luật ban hành ở thời điểm khác nhau dễ chồng chéo (ví dụ vướng mắc quy hoạch giữa Luật Đất đai – Nhà ở – Đầu tư trước đây).</a:t>
            </a:r>
          </a:p>
        </p:txBody>
      </p:sp>
      <p:sp>
        <p:nvSpPr>
          <p:cNvPr id="21" name="Rounded Rectangle 20"/>
          <p:cNvSpPr/>
          <p:nvPr/>
        </p:nvSpPr>
        <p:spPr>
          <a:xfrm>
            <a:off x="5257800" y="4041648"/>
            <a:ext cx="6419088" cy="1024128"/>
          </a:xfrm>
          <a:prstGeom prst="roundRect">
            <a:avLst>
              <a:gd name="adj" fmla="val 4000"/>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57800" y="4041648"/>
            <a:ext cx="109728" cy="1024128"/>
          </a:xfrm>
          <a:prstGeom prst="rect">
            <a:avLst/>
          </a:prstGeom>
          <a:solidFill>
            <a:srgbClr val="C25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68112" y="4087368"/>
            <a:ext cx="6080760" cy="932688"/>
          </a:xfrm>
          <a:prstGeom prst="rect">
            <a:avLst/>
          </a:prstGeom>
          <a:noFill/>
        </p:spPr>
        <p:txBody>
          <a:bodyPr wrap="square" anchor="ctr" lIns="54864" tIns="36576" rIns="54864" bIns="36576">
            <a:spAutoFit/>
          </a:bodyPr>
          <a:lstStyle/>
          <a:p>
            <a:pPr algn="l">
              <a:spcBef>
                <a:spcPts val="0"/>
              </a:spcBef>
              <a:spcAft>
                <a:spcPts val="300"/>
              </a:spcAft>
            </a:pPr>
            <a:r>
              <a:rPr sz="1260" b="1" i="0">
                <a:solidFill>
                  <a:srgbClr val="122645"/>
                </a:solidFill>
                <a:latin typeface="DejaVu Sans"/>
              </a:rPr>
              <a:t>2. Hệ thống thể chế chưa đầy đủ</a:t>
            </a:r>
          </a:p>
          <a:p>
            <a:pPr algn="l">
              <a:lnSpc>
                <a:spcPct val="120000"/>
              </a:lnSpc>
              <a:spcBef>
                <a:spcPts val="0"/>
              </a:spcBef>
              <a:spcAft>
                <a:spcPts val="0"/>
              </a:spcAft>
            </a:pPr>
            <a:r>
              <a:rPr sz="1150" b="0" i="0">
                <a:solidFill>
                  <a:srgbClr val="1E293B"/>
                </a:solidFill>
                <a:latin typeface="DejaVu Sans"/>
              </a:rPr>
              <a:t>Thực tiễn phát sinh nhiều quan hệ kinh tế mới đòi hỏi khung pháp lý kịp thời (tài sản số, tín chỉ carbon, Quỹ nhà ở quốc gia cho thuê...).</a:t>
            </a:r>
          </a:p>
        </p:txBody>
      </p:sp>
      <p:sp>
        <p:nvSpPr>
          <p:cNvPr id="24" name="Rounded Rectangle 23"/>
          <p:cNvSpPr/>
          <p:nvPr/>
        </p:nvSpPr>
        <p:spPr>
          <a:xfrm>
            <a:off x="5257800" y="5193792"/>
            <a:ext cx="6419088" cy="1024128"/>
          </a:xfrm>
          <a:prstGeom prst="roundRect">
            <a:avLst>
              <a:gd name="adj" fmla="val 4000"/>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57800" y="5193792"/>
            <a:ext cx="109728" cy="1024128"/>
          </a:xfrm>
          <a:prstGeom prst="rect">
            <a:avLst/>
          </a:prstGeom>
          <a:solidFill>
            <a:srgbClr val="C25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68112" y="5239512"/>
            <a:ext cx="6080760" cy="932688"/>
          </a:xfrm>
          <a:prstGeom prst="rect">
            <a:avLst/>
          </a:prstGeom>
          <a:noFill/>
        </p:spPr>
        <p:txBody>
          <a:bodyPr wrap="square" anchor="ctr" lIns="54864" tIns="36576" rIns="54864" bIns="36576">
            <a:spAutoFit/>
          </a:bodyPr>
          <a:lstStyle/>
          <a:p>
            <a:pPr algn="l">
              <a:spcBef>
                <a:spcPts val="0"/>
              </a:spcBef>
              <a:spcAft>
                <a:spcPts val="300"/>
              </a:spcAft>
            </a:pPr>
            <a:r>
              <a:rPr sz="1260" b="1" i="0">
                <a:solidFill>
                  <a:srgbClr val="122645"/>
                </a:solidFill>
                <a:latin typeface="DejaVu Sans"/>
              </a:rPr>
              <a:t>3. Hiệu lực, hiệu quả thực thi chưa cao</a:t>
            </a:r>
          </a:p>
          <a:p>
            <a:pPr algn="l">
              <a:lnSpc>
                <a:spcPct val="120000"/>
              </a:lnSpc>
              <a:spcBef>
                <a:spcPts val="0"/>
              </a:spcBef>
              <a:spcAft>
                <a:spcPts val="0"/>
              </a:spcAft>
            </a:pPr>
            <a:r>
              <a:rPr sz="1150" b="0" i="0">
                <a:solidFill>
                  <a:srgbClr val="1E293B"/>
                </a:solidFill>
                <a:latin typeface="DejaVu Sans"/>
              </a:rPr>
              <a:t>Thủ tục hành chính còn nhiều khâu trung gian; thị trường vốn dài hạn và phân khúc nhà ở vừa túi tiền phát triển chưa tương xứng.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EF6FC"/>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0369A1"/>
                </a:solidFill>
                <a:latin typeface="DejaVu Sans"/>
              </a:rPr>
              <a:t>LÝ LUẬN NỀN TẢNG • MỤC 5.2.2 (TR. 190–196)</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8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5 nội dung trọng tâm hoàn thiện Thể chế KTTT định hướng XHCN</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Giáo trình KTCT Mác – Lênin (2021, tr. 190–196); Cổng Thông tin điện tử Quốc hội &amp; Chính phủ.</a:t>
            </a:r>
          </a:p>
        </p:txBody>
      </p:sp>
      <p:sp>
        <p:nvSpPr>
          <p:cNvPr id="12" name="Rounded Rectangle 11"/>
          <p:cNvSpPr/>
          <p:nvPr/>
        </p:nvSpPr>
        <p:spPr>
          <a:xfrm>
            <a:off x="502920" y="1316736"/>
            <a:ext cx="3621024" cy="2304288"/>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7512" y="1481328"/>
            <a:ext cx="603504" cy="420624"/>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1481328"/>
            <a:ext cx="603504" cy="420624"/>
          </a:xfrm>
          <a:prstGeom prst="rect">
            <a:avLst/>
          </a:prstGeom>
          <a:noFill/>
        </p:spPr>
        <p:txBody>
          <a:bodyPr wrap="square" anchor="ctr" lIns="54864" tIns="36576" rIns="54864" bIns="36576">
            <a:spAutoFit/>
          </a:bodyPr>
          <a:lstStyle/>
          <a:p>
            <a:pPr algn="ctr">
              <a:spcBef>
                <a:spcPts val="0"/>
              </a:spcBef>
              <a:spcAft>
                <a:spcPts val="0"/>
              </a:spcAft>
            </a:pPr>
            <a:r>
              <a:rPr sz="1300" b="1" i="0">
                <a:solidFill>
                  <a:srgbClr val="FFFFFF"/>
                </a:solidFill>
                <a:latin typeface="DejaVu Sans"/>
              </a:rPr>
              <a:t>01</a:t>
            </a:r>
          </a:p>
        </p:txBody>
      </p:sp>
      <p:sp>
        <p:nvSpPr>
          <p:cNvPr id="15" name="TextBox 14"/>
          <p:cNvSpPr txBox="1"/>
          <p:nvPr/>
        </p:nvSpPr>
        <p:spPr>
          <a:xfrm>
            <a:off x="667512" y="1993391"/>
            <a:ext cx="3291840" cy="1517904"/>
          </a:xfrm>
          <a:prstGeom prst="rect">
            <a:avLst/>
          </a:prstGeom>
          <a:noFill/>
        </p:spPr>
        <p:txBody>
          <a:bodyPr wrap="square" anchor="t" lIns="54864" tIns="36576" rIns="54864" bIns="36576">
            <a:spAutoFit/>
          </a:bodyPr>
          <a:lstStyle/>
          <a:p>
            <a:pPr algn="l">
              <a:spcBef>
                <a:spcPts val="0"/>
              </a:spcBef>
              <a:spcAft>
                <a:spcPts val="600"/>
              </a:spcAft>
            </a:pPr>
            <a:r>
              <a:rPr sz="1300" b="1" i="0">
                <a:solidFill>
                  <a:srgbClr val="122645"/>
                </a:solidFill>
                <a:latin typeface="DejaVu Sans"/>
              </a:rPr>
              <a:t>Quyền sở hữu &amp; Thành phần kinh tế</a:t>
            </a:r>
          </a:p>
          <a:p>
            <a:pPr algn="l">
              <a:lnSpc>
                <a:spcPct val="124000"/>
              </a:lnSpc>
              <a:spcBef>
                <a:spcPts val="0"/>
              </a:spcBef>
              <a:spcAft>
                <a:spcPts val="0"/>
              </a:spcAft>
            </a:pPr>
            <a:r>
              <a:rPr sz="1160" b="0" i="0">
                <a:solidFill>
                  <a:srgbClr val="1E293B"/>
                </a:solidFill>
                <a:latin typeface="DejaVu Sans"/>
              </a:rPr>
              <a:t>Thể chế hóa đầy đủ quyền tài sản; bảo đảm mọi thành phần kinh tế hợp tác, cạnh tranh bình đẳng theo pháp luật.</a:t>
            </a:r>
          </a:p>
        </p:txBody>
      </p:sp>
      <p:sp>
        <p:nvSpPr>
          <p:cNvPr id="16" name="Rounded Rectangle 15"/>
          <p:cNvSpPr/>
          <p:nvPr/>
        </p:nvSpPr>
        <p:spPr>
          <a:xfrm>
            <a:off x="4279392" y="1316736"/>
            <a:ext cx="3621024" cy="2304288"/>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43983" y="1481328"/>
            <a:ext cx="603504" cy="420624"/>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3983" y="1481328"/>
            <a:ext cx="603504" cy="420624"/>
          </a:xfrm>
          <a:prstGeom prst="rect">
            <a:avLst/>
          </a:prstGeom>
          <a:noFill/>
        </p:spPr>
        <p:txBody>
          <a:bodyPr wrap="square" anchor="ctr" lIns="54864" tIns="36576" rIns="54864" bIns="36576">
            <a:spAutoFit/>
          </a:bodyPr>
          <a:lstStyle/>
          <a:p>
            <a:pPr algn="ctr">
              <a:spcBef>
                <a:spcPts val="0"/>
              </a:spcBef>
              <a:spcAft>
                <a:spcPts val="0"/>
              </a:spcAft>
            </a:pPr>
            <a:r>
              <a:rPr sz="1300" b="1" i="0">
                <a:solidFill>
                  <a:srgbClr val="FFFFFF"/>
                </a:solidFill>
                <a:latin typeface="DejaVu Sans"/>
              </a:rPr>
              <a:t>02</a:t>
            </a:r>
          </a:p>
        </p:txBody>
      </p:sp>
      <p:sp>
        <p:nvSpPr>
          <p:cNvPr id="19" name="TextBox 18"/>
          <p:cNvSpPr txBox="1"/>
          <p:nvPr/>
        </p:nvSpPr>
        <p:spPr>
          <a:xfrm>
            <a:off x="4443983" y="1993391"/>
            <a:ext cx="3291840" cy="1517904"/>
          </a:xfrm>
          <a:prstGeom prst="rect">
            <a:avLst/>
          </a:prstGeom>
          <a:noFill/>
        </p:spPr>
        <p:txBody>
          <a:bodyPr wrap="square" anchor="t" lIns="54864" tIns="36576" rIns="54864" bIns="36576">
            <a:spAutoFit/>
          </a:bodyPr>
          <a:lstStyle/>
          <a:p>
            <a:pPr algn="l">
              <a:spcBef>
                <a:spcPts val="0"/>
              </a:spcBef>
              <a:spcAft>
                <a:spcPts val="600"/>
              </a:spcAft>
            </a:pPr>
            <a:r>
              <a:rPr sz="1300" b="1" i="0">
                <a:solidFill>
                  <a:srgbClr val="122645"/>
                </a:solidFill>
                <a:latin typeface="DejaVu Sans"/>
              </a:rPr>
              <a:t>Đồng bộ yếu tố &amp; các loại thị trường</a:t>
            </a:r>
          </a:p>
          <a:p>
            <a:pPr algn="l">
              <a:lnSpc>
                <a:spcPct val="124000"/>
              </a:lnSpc>
              <a:spcBef>
                <a:spcPts val="0"/>
              </a:spcBef>
              <a:spcAft>
                <a:spcPts val="0"/>
              </a:spcAft>
            </a:pPr>
            <a:r>
              <a:rPr sz="1160" b="0" i="0">
                <a:solidFill>
                  <a:srgbClr val="1E293B"/>
                </a:solidFill>
                <a:latin typeface="DejaVu Sans"/>
              </a:rPr>
              <a:t>Vận hành thông suốt thị trường hàng hóa, vốn – tín dụng, đất đai – bất động sản, lao động và KH&amp;CN.</a:t>
            </a:r>
          </a:p>
        </p:txBody>
      </p:sp>
      <p:sp>
        <p:nvSpPr>
          <p:cNvPr id="20" name="Rounded Rectangle 19"/>
          <p:cNvSpPr/>
          <p:nvPr/>
        </p:nvSpPr>
        <p:spPr>
          <a:xfrm>
            <a:off x="8055864" y="1316736"/>
            <a:ext cx="3621024" cy="2304288"/>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20456" y="1481328"/>
            <a:ext cx="603504" cy="420624"/>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0456" y="1481328"/>
            <a:ext cx="603504" cy="420624"/>
          </a:xfrm>
          <a:prstGeom prst="rect">
            <a:avLst/>
          </a:prstGeom>
          <a:noFill/>
        </p:spPr>
        <p:txBody>
          <a:bodyPr wrap="square" anchor="ctr" lIns="54864" tIns="36576" rIns="54864" bIns="36576">
            <a:spAutoFit/>
          </a:bodyPr>
          <a:lstStyle/>
          <a:p>
            <a:pPr algn="ctr">
              <a:spcBef>
                <a:spcPts val="0"/>
              </a:spcBef>
              <a:spcAft>
                <a:spcPts val="0"/>
              </a:spcAft>
            </a:pPr>
            <a:r>
              <a:rPr sz="1300" b="1" i="0">
                <a:solidFill>
                  <a:srgbClr val="FFFFFF"/>
                </a:solidFill>
                <a:latin typeface="DejaVu Sans"/>
              </a:rPr>
              <a:t>03</a:t>
            </a:r>
          </a:p>
        </p:txBody>
      </p:sp>
      <p:sp>
        <p:nvSpPr>
          <p:cNvPr id="23" name="TextBox 22"/>
          <p:cNvSpPr txBox="1"/>
          <p:nvPr/>
        </p:nvSpPr>
        <p:spPr>
          <a:xfrm>
            <a:off x="8220456" y="1993391"/>
            <a:ext cx="3291840" cy="1517904"/>
          </a:xfrm>
          <a:prstGeom prst="rect">
            <a:avLst/>
          </a:prstGeom>
          <a:noFill/>
        </p:spPr>
        <p:txBody>
          <a:bodyPr wrap="square" anchor="t" lIns="54864" tIns="36576" rIns="54864" bIns="36576">
            <a:spAutoFit/>
          </a:bodyPr>
          <a:lstStyle/>
          <a:p>
            <a:pPr algn="l">
              <a:spcBef>
                <a:spcPts val="0"/>
              </a:spcBef>
              <a:spcAft>
                <a:spcPts val="600"/>
              </a:spcAft>
            </a:pPr>
            <a:r>
              <a:rPr sz="1300" b="1" i="0">
                <a:solidFill>
                  <a:srgbClr val="122645"/>
                </a:solidFill>
                <a:latin typeface="DejaVu Sans"/>
              </a:rPr>
              <a:t>Gắn tăng trưởng với Công bằng XH</a:t>
            </a:r>
          </a:p>
          <a:p>
            <a:pPr algn="l">
              <a:lnSpc>
                <a:spcPct val="124000"/>
              </a:lnSpc>
              <a:spcBef>
                <a:spcPts val="0"/>
              </a:spcBef>
              <a:spcAft>
                <a:spcPts val="0"/>
              </a:spcAft>
            </a:pPr>
            <a:r>
              <a:rPr sz="1160" b="0" i="0">
                <a:solidFill>
                  <a:srgbClr val="1E293B"/>
                </a:solidFill>
                <a:latin typeface="DejaVu Sans"/>
              </a:rPr>
              <a:t>Hoàn thiện thể chế phân phối, thuế, an sinh xã hội đa tầng, tín dụng ưu đãi và chính sách Nhà ở xã hội.</a:t>
            </a:r>
          </a:p>
        </p:txBody>
      </p:sp>
      <p:sp>
        <p:nvSpPr>
          <p:cNvPr id="24" name="Rounded Rectangle 23"/>
          <p:cNvSpPr/>
          <p:nvPr/>
        </p:nvSpPr>
        <p:spPr>
          <a:xfrm>
            <a:off x="502920" y="3858768"/>
            <a:ext cx="3621024" cy="2304288"/>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7512" y="4023359"/>
            <a:ext cx="603504" cy="420624"/>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023359"/>
            <a:ext cx="603504" cy="420624"/>
          </a:xfrm>
          <a:prstGeom prst="rect">
            <a:avLst/>
          </a:prstGeom>
          <a:noFill/>
        </p:spPr>
        <p:txBody>
          <a:bodyPr wrap="square" anchor="ctr" lIns="54864" tIns="36576" rIns="54864" bIns="36576">
            <a:spAutoFit/>
          </a:bodyPr>
          <a:lstStyle/>
          <a:p>
            <a:pPr algn="ctr">
              <a:spcBef>
                <a:spcPts val="0"/>
              </a:spcBef>
              <a:spcAft>
                <a:spcPts val="0"/>
              </a:spcAft>
            </a:pPr>
            <a:r>
              <a:rPr sz="1300" b="1" i="0">
                <a:solidFill>
                  <a:srgbClr val="FFFFFF"/>
                </a:solidFill>
                <a:latin typeface="DejaVu Sans"/>
              </a:rPr>
              <a:t>04</a:t>
            </a:r>
          </a:p>
        </p:txBody>
      </p:sp>
      <p:sp>
        <p:nvSpPr>
          <p:cNvPr id="27" name="TextBox 26"/>
          <p:cNvSpPr txBox="1"/>
          <p:nvPr/>
        </p:nvSpPr>
        <p:spPr>
          <a:xfrm>
            <a:off x="667512" y="4535424"/>
            <a:ext cx="3291840" cy="1517904"/>
          </a:xfrm>
          <a:prstGeom prst="rect">
            <a:avLst/>
          </a:prstGeom>
          <a:noFill/>
        </p:spPr>
        <p:txBody>
          <a:bodyPr wrap="square" anchor="t" lIns="54864" tIns="36576" rIns="54864" bIns="36576">
            <a:spAutoFit/>
          </a:bodyPr>
          <a:lstStyle/>
          <a:p>
            <a:pPr algn="l">
              <a:spcBef>
                <a:spcPts val="0"/>
              </a:spcBef>
              <a:spcAft>
                <a:spcPts val="600"/>
              </a:spcAft>
            </a:pPr>
            <a:r>
              <a:rPr sz="1300" b="1" i="0">
                <a:solidFill>
                  <a:srgbClr val="122645"/>
                </a:solidFill>
                <a:latin typeface="DejaVu Sans"/>
              </a:rPr>
              <a:t>Thúc đẩy hội nhập kinh tế quốc tế</a:t>
            </a:r>
          </a:p>
          <a:p>
            <a:pPr algn="l">
              <a:lnSpc>
                <a:spcPct val="124000"/>
              </a:lnSpc>
              <a:spcBef>
                <a:spcPts val="0"/>
              </a:spcBef>
              <a:spcAft>
                <a:spcPts val="0"/>
              </a:spcAft>
            </a:pPr>
            <a:r>
              <a:rPr sz="1160" b="0" i="0">
                <a:solidFill>
                  <a:srgbClr val="1E293B"/>
                </a:solidFill>
                <a:latin typeface="DejaVu Sans"/>
              </a:rPr>
              <a:t>Thực thi cam kết các FTA thế hệ mới gắn với nâng cao năng lực tự chủ của doanh nghiệp trong nước.</a:t>
            </a:r>
          </a:p>
        </p:txBody>
      </p:sp>
      <p:sp>
        <p:nvSpPr>
          <p:cNvPr id="28" name="Rounded Rectangle 27"/>
          <p:cNvSpPr/>
          <p:nvPr/>
        </p:nvSpPr>
        <p:spPr>
          <a:xfrm>
            <a:off x="4279392" y="3858768"/>
            <a:ext cx="3621024" cy="2304288"/>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43983" y="4023359"/>
            <a:ext cx="603504" cy="420624"/>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43983" y="4023359"/>
            <a:ext cx="603504" cy="420624"/>
          </a:xfrm>
          <a:prstGeom prst="rect">
            <a:avLst/>
          </a:prstGeom>
          <a:noFill/>
        </p:spPr>
        <p:txBody>
          <a:bodyPr wrap="square" anchor="ctr" lIns="54864" tIns="36576" rIns="54864" bIns="36576">
            <a:spAutoFit/>
          </a:bodyPr>
          <a:lstStyle/>
          <a:p>
            <a:pPr algn="ctr">
              <a:spcBef>
                <a:spcPts val="0"/>
              </a:spcBef>
              <a:spcAft>
                <a:spcPts val="0"/>
              </a:spcAft>
            </a:pPr>
            <a:r>
              <a:rPr sz="1300" b="1" i="0">
                <a:solidFill>
                  <a:srgbClr val="FFFFFF"/>
                </a:solidFill>
                <a:latin typeface="DejaVu Sans"/>
              </a:rPr>
              <a:t>05</a:t>
            </a:r>
          </a:p>
        </p:txBody>
      </p:sp>
      <p:sp>
        <p:nvSpPr>
          <p:cNvPr id="31" name="TextBox 30"/>
          <p:cNvSpPr txBox="1"/>
          <p:nvPr/>
        </p:nvSpPr>
        <p:spPr>
          <a:xfrm>
            <a:off x="4443983" y="4535424"/>
            <a:ext cx="3291840" cy="1517904"/>
          </a:xfrm>
          <a:prstGeom prst="rect">
            <a:avLst/>
          </a:prstGeom>
          <a:noFill/>
        </p:spPr>
        <p:txBody>
          <a:bodyPr wrap="square" anchor="t" lIns="54864" tIns="36576" rIns="54864" bIns="36576">
            <a:spAutoFit/>
          </a:bodyPr>
          <a:lstStyle/>
          <a:p>
            <a:pPr algn="l">
              <a:spcBef>
                <a:spcPts val="0"/>
              </a:spcBef>
              <a:spcAft>
                <a:spcPts val="600"/>
              </a:spcAft>
            </a:pPr>
            <a:r>
              <a:rPr sz="1300" b="1" i="0">
                <a:solidFill>
                  <a:srgbClr val="122645"/>
                </a:solidFill>
                <a:latin typeface="DejaVu Sans"/>
              </a:rPr>
              <a:t>Nâng cao năng lực hệ thống chính trị</a:t>
            </a:r>
          </a:p>
          <a:p>
            <a:pPr algn="l">
              <a:lnSpc>
                <a:spcPct val="124000"/>
              </a:lnSpc>
              <a:spcBef>
                <a:spcPts val="0"/>
              </a:spcBef>
              <a:spcAft>
                <a:spcPts val="0"/>
              </a:spcAft>
            </a:pPr>
            <a:r>
              <a:rPr sz="1160" b="0" i="0">
                <a:solidFill>
                  <a:srgbClr val="1E293B"/>
                </a:solidFill>
                <a:latin typeface="DejaVu Sans"/>
              </a:rPr>
              <a:t>Đổi mới phương thức lãnh đạo của Đảng; xây dựng Nhà nước pháp quyền kiến tạo, minh bạch, cắt giảm thủ tục.</a:t>
            </a:r>
          </a:p>
        </p:txBody>
      </p:sp>
      <p:sp>
        <p:nvSpPr>
          <p:cNvPr id="32" name="Rounded Rectangle 31"/>
          <p:cNvSpPr/>
          <p:nvPr/>
        </p:nvSpPr>
        <p:spPr>
          <a:xfrm>
            <a:off x="8055864" y="3858768"/>
            <a:ext cx="3621024" cy="2304288"/>
          </a:xfrm>
          <a:prstGeom prst="roundRect">
            <a:avLst>
              <a:gd name="adj" fmla="val 4000"/>
            </a:avLst>
          </a:prstGeom>
          <a:solidFill>
            <a:srgbClr val="EAF7F5"/>
          </a:solidFill>
          <a:ln w="2286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1312" y="3950208"/>
            <a:ext cx="3328416" cy="2121408"/>
          </a:xfrm>
          <a:prstGeom prst="rect">
            <a:avLst/>
          </a:prstGeom>
          <a:noFill/>
        </p:spPr>
        <p:txBody>
          <a:bodyPr wrap="square" anchor="ctr" lIns="54864" tIns="36576" rIns="54864" bIns="36576">
            <a:spAutoFit/>
          </a:bodyPr>
          <a:lstStyle/>
          <a:p>
            <a:pPr algn="l">
              <a:spcBef>
                <a:spcPts val="0"/>
              </a:spcBef>
              <a:spcAft>
                <a:spcPts val="600"/>
              </a:spcAft>
            </a:pPr>
            <a:r>
              <a:rPr sz="1280" b="1" i="0">
                <a:solidFill>
                  <a:srgbClr val="0F766E"/>
                </a:solidFill>
                <a:latin typeface="DejaVu Sans"/>
              </a:rPr>
              <a:t>ĐỘT PHÁ THỂ CHẾ CHO CQ7:</a:t>
            </a:r>
          </a:p>
          <a:p>
            <a:pPr algn="l">
              <a:lnSpc>
                <a:spcPct val="124000"/>
              </a:lnSpc>
              <a:spcBef>
                <a:spcPts val="0"/>
              </a:spcBef>
              <a:spcAft>
                <a:spcPts val="0"/>
              </a:spcAft>
            </a:pPr>
            <a:r>
              <a:rPr sz="1160" b="1" i="0">
                <a:solidFill>
                  <a:srgbClr val="0B192E"/>
                </a:solidFill>
                <a:latin typeface="DejaVu Sans"/>
              </a:rPr>
              <a:t>Đồng bộ bộ 3 đạo luật từ 01/8/2024:
• Luật Đất đai 2024
• Luật Nhà ở 2023
• Luật Kinh doanh BĐS 2023
+ Nghị định 136/2026/NĐ-CP
→ Khơi thông 'luật chơi' NOXH!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914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EF6FC"/>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B91C1C"/>
                </a:solidFill>
                <a:latin typeface="DejaVu Sans"/>
              </a:rPr>
              <a:t>TRẢ LỜI CÂU HỎI 2 • CHẨN ĐOÁN KHUYẾT TẬT THỊ TRƯỜNG</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9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Lệch pha cung – cầu nhà ở đô thị &amp; Thực tế khả năng chi trả</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Bộ Xây dựng (BC Thị trường BĐS Q2/2026); Cục Thống kê (BC 9T/2026); Nghị định 261/2025/NĐ-CP.</a:t>
            </a:r>
          </a:p>
        </p:txBody>
      </p:sp>
      <p:sp>
        <p:nvSpPr>
          <p:cNvPr id="12" name="Rounded Rectangle 11"/>
          <p:cNvSpPr/>
          <p:nvPr/>
        </p:nvSpPr>
        <p:spPr>
          <a:xfrm>
            <a:off x="502920" y="1261872"/>
            <a:ext cx="6876288" cy="5029200"/>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art_housing_projector.png"/>
          <p:cNvPicPr>
            <a:picLocks noChangeAspect="1"/>
          </p:cNvPicPr>
          <p:nvPr/>
        </p:nvPicPr>
        <p:blipFill>
          <a:blip r:embed="rId2"/>
          <a:stretch>
            <a:fillRect/>
          </a:stretch>
        </p:blipFill>
        <p:spPr>
          <a:xfrm>
            <a:off x="603504" y="1335024"/>
            <a:ext cx="6675120" cy="4334256"/>
          </a:xfrm>
          <a:prstGeom prst="rect">
            <a:avLst/>
          </a:prstGeom>
        </p:spPr>
      </p:pic>
      <p:sp>
        <p:nvSpPr>
          <p:cNvPr id="14" name="TextBox 13"/>
          <p:cNvSpPr txBox="1"/>
          <p:nvPr/>
        </p:nvSpPr>
        <p:spPr>
          <a:xfrm>
            <a:off x="640080" y="5705856"/>
            <a:ext cx="6601968" cy="512064"/>
          </a:xfrm>
          <a:prstGeom prst="rect">
            <a:avLst/>
          </a:prstGeom>
          <a:noFill/>
        </p:spPr>
        <p:txBody>
          <a:bodyPr wrap="square" anchor="ctr" lIns="54864" tIns="36576" rIns="54864" bIns="36576">
            <a:spAutoFit/>
          </a:bodyPr>
          <a:lstStyle/>
          <a:p>
            <a:pPr algn="l">
              <a:spcBef>
                <a:spcPts val="0"/>
              </a:spcBef>
              <a:spcAft>
                <a:spcPts val="0"/>
              </a:spcAft>
            </a:pPr>
            <a:r>
              <a:rPr sz="960" b="1" i="0">
                <a:solidFill>
                  <a:srgbClr val="475569"/>
                </a:solidFill>
                <a:latin typeface="DejaVu Sans"/>
              </a:rPr>
              <a:t>Biểu đồ: Khoảng cách thu nhập – trả góp thương mại và mức giảm áp lực khi vay NOXH (Nguồn: Cục Thống kê 9T/2026, Bộ Xây dựng Q2/2026 &amp; NĐ 261/2025).</a:t>
            </a:r>
          </a:p>
        </p:txBody>
      </p:sp>
      <p:sp>
        <p:nvSpPr>
          <p:cNvPr id="15" name="Rounded Rectangle 14"/>
          <p:cNvSpPr/>
          <p:nvPr/>
        </p:nvSpPr>
        <p:spPr>
          <a:xfrm>
            <a:off x="7571231" y="1261872"/>
            <a:ext cx="4114800" cy="1591056"/>
          </a:xfrm>
          <a:prstGeom prst="roundRect">
            <a:avLst>
              <a:gd name="adj" fmla="val 4000"/>
            </a:avLst>
          </a:prstGeom>
          <a:solidFill>
            <a:srgbClr val="FFFFFF"/>
          </a:solidFill>
          <a:ln w="17780">
            <a:solidFill>
              <a:srgbClr val="12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7536" y="1335024"/>
            <a:ext cx="3840480" cy="1444752"/>
          </a:xfrm>
          <a:prstGeom prst="rect">
            <a:avLst/>
          </a:prstGeom>
          <a:noFill/>
        </p:spPr>
        <p:txBody>
          <a:bodyPr wrap="square" anchor="ctr" lIns="54864" tIns="36576" rIns="54864" bIns="36576">
            <a:spAutoFit/>
          </a:bodyPr>
          <a:lstStyle/>
          <a:p>
            <a:pPr algn="l">
              <a:spcBef>
                <a:spcPts val="0"/>
              </a:spcBef>
              <a:spcAft>
                <a:spcPts val="400"/>
              </a:spcAft>
            </a:pPr>
            <a:r>
              <a:rPr sz="1240" b="1" i="0">
                <a:solidFill>
                  <a:srgbClr val="122645"/>
                </a:solidFill>
                <a:latin typeface="DejaVu Sans"/>
              </a:rPr>
              <a:t>1. Tồn kho tăng nhưng cơ cấu lệch pha</a:t>
            </a:r>
          </a:p>
          <a:p>
            <a:pPr algn="l">
              <a:lnSpc>
                <a:spcPct val="120000"/>
              </a:lnSpc>
              <a:spcBef>
                <a:spcPts val="0"/>
              </a:spcBef>
              <a:spcAft>
                <a:spcPts val="0"/>
              </a:spcAft>
            </a:pPr>
            <a:r>
              <a:rPr sz="1120" b="0" i="0">
                <a:solidFill>
                  <a:srgbClr val="1E293B"/>
                </a:solidFill>
                <a:latin typeface="DejaVu Sans"/>
              </a:rPr>
              <a:t>Quý II/2026 tồn kho 12.823 căn chung cư (+22,2% so với Q1/2026 – Bộ Xây dựng); nguồn cung mới trên thị trường nghiêng mạnh về trung – cao cấp.</a:t>
            </a:r>
          </a:p>
        </p:txBody>
      </p:sp>
      <p:sp>
        <p:nvSpPr>
          <p:cNvPr id="17" name="Rounded Rectangle 16"/>
          <p:cNvSpPr/>
          <p:nvPr/>
        </p:nvSpPr>
        <p:spPr>
          <a:xfrm>
            <a:off x="7571231" y="2980944"/>
            <a:ext cx="4114800" cy="1591056"/>
          </a:xfrm>
          <a:prstGeom prst="roundRect">
            <a:avLst>
              <a:gd name="adj" fmla="val 4000"/>
            </a:avLst>
          </a:prstGeom>
          <a:solidFill>
            <a:srgbClr val="EAF7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7536" y="3054096"/>
            <a:ext cx="3840480" cy="1444752"/>
          </a:xfrm>
          <a:prstGeom prst="rect">
            <a:avLst/>
          </a:prstGeom>
          <a:noFill/>
        </p:spPr>
        <p:txBody>
          <a:bodyPr wrap="square" anchor="ctr" lIns="54864" tIns="36576" rIns="54864" bIns="36576">
            <a:spAutoFit/>
          </a:bodyPr>
          <a:lstStyle/>
          <a:p>
            <a:pPr algn="l">
              <a:spcBef>
                <a:spcPts val="0"/>
              </a:spcBef>
              <a:spcAft>
                <a:spcPts val="400"/>
              </a:spcAft>
            </a:pPr>
            <a:r>
              <a:rPr sz="1240" b="1" i="0">
                <a:solidFill>
                  <a:srgbClr val="0F766E"/>
                </a:solidFill>
                <a:latin typeface="DejaVu Sans"/>
              </a:rPr>
              <a:t>2. Đánh giá khách quan tác động của NOXH</a:t>
            </a:r>
          </a:p>
          <a:p>
            <a:pPr algn="l">
              <a:lnSpc>
                <a:spcPct val="120000"/>
              </a:lnSpc>
              <a:spcBef>
                <a:spcPts val="0"/>
              </a:spcBef>
              <a:spcAft>
                <a:spcPts val="0"/>
              </a:spcAft>
            </a:pPr>
            <a:r>
              <a:rPr sz="1120" b="0" i="0">
                <a:solidFill>
                  <a:srgbClr val="1E293B"/>
                </a:solidFill>
                <a:latin typeface="DejaVu Sans"/>
              </a:rPr>
              <a:t>NOXH giúp giảm đáng kể gánh nặng trả góp (~4,9tr so với 26–32tr/tháng), nhưng chưa giải quyết hoàn toàn bài toán chi trả (chiếm 33–49% lương SV &amp; cần ~200tr vốn đầu).</a:t>
            </a:r>
          </a:p>
        </p:txBody>
      </p:sp>
      <p:sp>
        <p:nvSpPr>
          <p:cNvPr id="19" name="Rounded Rectangle 18"/>
          <p:cNvSpPr/>
          <p:nvPr/>
        </p:nvSpPr>
        <p:spPr>
          <a:xfrm>
            <a:off x="7571231" y="4700016"/>
            <a:ext cx="4114800" cy="1591056"/>
          </a:xfrm>
          <a:prstGeom prst="roundRect">
            <a:avLst>
              <a:gd name="adj" fmla="val 4000"/>
            </a:avLst>
          </a:prstGeom>
          <a:solidFill>
            <a:srgbClr val="FEF2F2"/>
          </a:solidFill>
          <a:ln w="1778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7536" y="4773168"/>
            <a:ext cx="3840480" cy="1444752"/>
          </a:xfrm>
          <a:prstGeom prst="rect">
            <a:avLst/>
          </a:prstGeom>
          <a:noFill/>
        </p:spPr>
        <p:txBody>
          <a:bodyPr wrap="square" anchor="ctr" lIns="54864" tIns="36576" rIns="54864" bIns="36576">
            <a:spAutoFit/>
          </a:bodyPr>
          <a:lstStyle/>
          <a:p>
            <a:pPr algn="l">
              <a:spcBef>
                <a:spcPts val="0"/>
              </a:spcBef>
              <a:spcAft>
                <a:spcPts val="400"/>
              </a:spcAft>
            </a:pPr>
            <a:r>
              <a:rPr sz="1240" b="1" i="0">
                <a:solidFill>
                  <a:srgbClr val="B91C1C"/>
                </a:solidFill>
                <a:latin typeface="DejaVu Sans"/>
              </a:rPr>
              <a:t>3. Câu hỏi mở 15 giây cùng cả lớp</a:t>
            </a:r>
          </a:p>
          <a:p>
            <a:pPr algn="l">
              <a:lnSpc>
                <a:spcPct val="120000"/>
              </a:lnSpc>
              <a:spcBef>
                <a:spcPts val="0"/>
              </a:spcBef>
              <a:spcAft>
                <a:spcPts val="0"/>
              </a:spcAft>
            </a:pPr>
            <a:r>
              <a:rPr sz="1120" b="0" i="0">
                <a:solidFill>
                  <a:srgbClr val="1E293B"/>
                </a:solidFill>
                <a:latin typeface="DejaVu Sans"/>
              </a:rPr>
              <a:t>Nhà nước tùy tiện ép DN bán dưới chi phí được không?
→ KHÔNG! Phải dùng nghĩa vụ luật định minh bạch kết hợp đòn bẩy kinh tế!</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AF7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0F766E"/>
                </a:solidFill>
                <a:latin typeface="DejaVu Sans"/>
              </a:rPr>
              <a:t>TRẢ LỜI CÂU HỎI 2 • ĐÒN BẨY KINH TẾ PHÍA CUNG</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10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Công cụ 1 – 2 – 4: Giảm chi phí đầu vào &amp; bù đắp lợi nhuận hợp pháp</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pháp lý: Điều 85 Luật Nhà ở 2023; Luật Thuế GTGT 2024; Luật Thuế TNDN 2025.</a:t>
            </a:r>
          </a:p>
        </p:txBody>
      </p:sp>
      <p:sp>
        <p:nvSpPr>
          <p:cNvPr id="12" name="Rounded Rectangle 11"/>
          <p:cNvSpPr/>
          <p:nvPr/>
        </p:nvSpPr>
        <p:spPr>
          <a:xfrm>
            <a:off x="502920" y="1316736"/>
            <a:ext cx="1481328" cy="1499616"/>
          </a:xfrm>
          <a:prstGeom prst="roundRect">
            <a:avLst>
              <a:gd name="adj" fmla="val 4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316736"/>
            <a:ext cx="1481328" cy="1499616"/>
          </a:xfrm>
          <a:prstGeom prst="rect">
            <a:avLst/>
          </a:prstGeom>
          <a:noFill/>
        </p:spPr>
        <p:txBody>
          <a:bodyPr wrap="square" anchor="ctr" lIns="54864" tIns="36576" rIns="54864" bIns="36576">
            <a:spAutoFit/>
          </a:bodyPr>
          <a:lstStyle/>
          <a:p>
            <a:pPr algn="ctr">
              <a:spcBef>
                <a:spcPts val="0"/>
              </a:spcBef>
              <a:spcAft>
                <a:spcPts val="0"/>
              </a:spcAft>
            </a:pPr>
            <a:r>
              <a:rPr sz="1400" b="1" i="0">
                <a:solidFill>
                  <a:srgbClr val="FFFFFF"/>
                </a:solidFill>
                <a:latin typeface="DejaVu Sans"/>
              </a:rPr>
              <a:t>MIỄN
TIỀN ĐẤT</a:t>
            </a:r>
          </a:p>
        </p:txBody>
      </p:sp>
      <p:sp>
        <p:nvSpPr>
          <p:cNvPr id="14" name="Rounded Rectangle 13"/>
          <p:cNvSpPr/>
          <p:nvPr/>
        </p:nvSpPr>
        <p:spPr>
          <a:xfrm>
            <a:off x="2084831" y="1316736"/>
            <a:ext cx="4956048" cy="1499616"/>
          </a:xfrm>
          <a:prstGeom prst="roundRect">
            <a:avLst>
              <a:gd name="adj" fmla="val 4000"/>
            </a:avLst>
          </a:prstGeom>
          <a:solidFill>
            <a:srgbClr val="FFFFFF"/>
          </a:solidFill>
          <a:ln w="1651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31136" y="1371600"/>
            <a:ext cx="4681728" cy="1389888"/>
          </a:xfrm>
          <a:prstGeom prst="rect">
            <a:avLst/>
          </a:prstGeom>
          <a:noFill/>
        </p:spPr>
        <p:txBody>
          <a:bodyPr wrap="square" anchor="ctr" lIns="54864" tIns="36576" rIns="54864" bIns="36576">
            <a:spAutoFit/>
          </a:bodyPr>
          <a:lstStyle/>
          <a:p>
            <a:pPr algn="l">
              <a:spcBef>
                <a:spcPts val="0"/>
              </a:spcBef>
              <a:spcAft>
                <a:spcPts val="400"/>
              </a:spcAft>
            </a:pPr>
            <a:r>
              <a:rPr sz="1260" b="1" i="0">
                <a:solidFill>
                  <a:srgbClr val="0F766E"/>
                </a:solidFill>
                <a:latin typeface="DejaVu Sans"/>
              </a:rPr>
              <a:t>1. Đất đai &amp; Hạ tầng (Điều 85 Luật Nhà ở 2023)</a:t>
            </a:r>
          </a:p>
          <a:p>
            <a:pPr algn="l">
              <a:lnSpc>
                <a:spcPct val="122000"/>
              </a:lnSpc>
              <a:spcBef>
                <a:spcPts val="0"/>
              </a:spcBef>
              <a:spcAft>
                <a:spcPts val="0"/>
              </a:spcAft>
            </a:pPr>
            <a:r>
              <a:rPr sz="1130" b="0" i="0">
                <a:solidFill>
                  <a:srgbClr val="1E293B"/>
                </a:solidFill>
                <a:latin typeface="DejaVu Sans"/>
              </a:rPr>
              <a:t>Miễn tiền sử dụng đất, tiền thuê đất (không phải làm thủ tục tính giá đất); chủ đầu tư có thể được hỗ trợ kết nối hạ tầng kỹ thuật theo quy định và điều kiện cụ thể.</a:t>
            </a:r>
          </a:p>
        </p:txBody>
      </p:sp>
      <p:sp>
        <p:nvSpPr>
          <p:cNvPr id="16" name="Rounded Rectangle 15"/>
          <p:cNvSpPr/>
          <p:nvPr/>
        </p:nvSpPr>
        <p:spPr>
          <a:xfrm>
            <a:off x="502920" y="2999232"/>
            <a:ext cx="1481328" cy="1499616"/>
          </a:xfrm>
          <a:prstGeom prst="roundRect">
            <a:avLst>
              <a:gd name="adj" fmla="val 4000"/>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999232"/>
            <a:ext cx="1481328" cy="1499616"/>
          </a:xfrm>
          <a:prstGeom prst="rect">
            <a:avLst/>
          </a:prstGeom>
          <a:noFill/>
        </p:spPr>
        <p:txBody>
          <a:bodyPr wrap="square" anchor="ctr" lIns="54864" tIns="36576" rIns="54864" bIns="36576">
            <a:spAutoFit/>
          </a:bodyPr>
          <a:lstStyle/>
          <a:p>
            <a:pPr algn="ctr">
              <a:spcBef>
                <a:spcPts val="0"/>
              </a:spcBef>
              <a:spcAft>
                <a:spcPts val="0"/>
              </a:spcAft>
            </a:pPr>
            <a:r>
              <a:rPr sz="1400" b="1" i="0">
                <a:solidFill>
                  <a:srgbClr val="FFFFFF"/>
                </a:solidFill>
                <a:latin typeface="DejaVu Sans"/>
              </a:rPr>
              <a:t>5% GTGT
10% TNDN</a:t>
            </a:r>
          </a:p>
        </p:txBody>
      </p:sp>
      <p:sp>
        <p:nvSpPr>
          <p:cNvPr id="18" name="Rounded Rectangle 17"/>
          <p:cNvSpPr/>
          <p:nvPr/>
        </p:nvSpPr>
        <p:spPr>
          <a:xfrm>
            <a:off x="2084831" y="2999232"/>
            <a:ext cx="4956048" cy="1499616"/>
          </a:xfrm>
          <a:prstGeom prst="roundRect">
            <a:avLst>
              <a:gd name="adj" fmla="val 4000"/>
            </a:avLst>
          </a:prstGeom>
          <a:solidFill>
            <a:srgbClr val="FFFFFF"/>
          </a:solidFill>
          <a:ln w="1651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1136" y="3054096"/>
            <a:ext cx="4681728" cy="1389888"/>
          </a:xfrm>
          <a:prstGeom prst="rect">
            <a:avLst/>
          </a:prstGeom>
          <a:noFill/>
        </p:spPr>
        <p:txBody>
          <a:bodyPr wrap="square" anchor="ctr" lIns="54864" tIns="36576" rIns="54864" bIns="36576">
            <a:spAutoFit/>
          </a:bodyPr>
          <a:lstStyle/>
          <a:p>
            <a:pPr algn="l">
              <a:spcBef>
                <a:spcPts val="0"/>
              </a:spcBef>
              <a:spcAft>
                <a:spcPts val="400"/>
              </a:spcAft>
            </a:pPr>
            <a:r>
              <a:rPr sz="1260" b="1" i="0">
                <a:solidFill>
                  <a:srgbClr val="0369A1"/>
                </a:solidFill>
                <a:latin typeface="DejaVu Sans"/>
              </a:rPr>
              <a:t>2. Ưu đãi Thuế đúng phạm vi (Luật Thuế 2024 – 2025)</a:t>
            </a:r>
          </a:p>
          <a:p>
            <a:pPr algn="l">
              <a:lnSpc>
                <a:spcPct val="122000"/>
              </a:lnSpc>
              <a:spcBef>
                <a:spcPts val="0"/>
              </a:spcBef>
              <a:spcAft>
                <a:spcPts val="0"/>
              </a:spcAft>
            </a:pPr>
            <a:r>
              <a:rPr sz="1130" b="0" i="0">
                <a:solidFill>
                  <a:srgbClr val="1E293B"/>
                </a:solidFill>
                <a:latin typeface="DejaVu Sans"/>
              </a:rPr>
              <a:t>Áp thuế GTGT 5% đối với bán, cho thuê, cho thuê mua NOXH; áp thuế suất TNDN ưu đãi 10% đối với phần thu nhập từ đầu tư NOXH đủ điều kiện.</a:t>
            </a:r>
          </a:p>
        </p:txBody>
      </p:sp>
      <p:sp>
        <p:nvSpPr>
          <p:cNvPr id="20" name="Rounded Rectangle 19"/>
          <p:cNvSpPr/>
          <p:nvPr/>
        </p:nvSpPr>
        <p:spPr>
          <a:xfrm>
            <a:off x="502920" y="4681728"/>
            <a:ext cx="1481328" cy="1499616"/>
          </a:xfrm>
          <a:prstGeom prst="roundRect">
            <a:avLst>
              <a:gd name="adj" fmla="val 4000"/>
            </a:avLst>
          </a:prstGeom>
          <a:solidFill>
            <a:srgbClr val="C25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681728"/>
            <a:ext cx="1481328" cy="1499616"/>
          </a:xfrm>
          <a:prstGeom prst="rect">
            <a:avLst/>
          </a:prstGeom>
          <a:noFill/>
        </p:spPr>
        <p:txBody>
          <a:bodyPr wrap="square" anchor="ctr" lIns="54864" tIns="36576" rIns="54864" bIns="36576">
            <a:spAutoFit/>
          </a:bodyPr>
          <a:lstStyle/>
          <a:p>
            <a:pPr algn="ctr">
              <a:spcBef>
                <a:spcPts val="0"/>
              </a:spcBef>
              <a:spcAft>
                <a:spcPts val="0"/>
              </a:spcAft>
            </a:pPr>
            <a:r>
              <a:rPr sz="1400" b="1" i="0">
                <a:solidFill>
                  <a:srgbClr val="FFFFFF"/>
                </a:solidFill>
                <a:latin typeface="DejaVu Sans"/>
              </a:rPr>
              <a:t>LÃI ≤10%
&amp; 20% TM</a:t>
            </a:r>
          </a:p>
        </p:txBody>
      </p:sp>
      <p:sp>
        <p:nvSpPr>
          <p:cNvPr id="22" name="Rounded Rectangle 21"/>
          <p:cNvSpPr/>
          <p:nvPr/>
        </p:nvSpPr>
        <p:spPr>
          <a:xfrm>
            <a:off x="2084831" y="4681728"/>
            <a:ext cx="4956048" cy="1499616"/>
          </a:xfrm>
          <a:prstGeom prst="roundRect">
            <a:avLst>
              <a:gd name="adj" fmla="val 4000"/>
            </a:avLst>
          </a:prstGeom>
          <a:solidFill>
            <a:srgbClr val="FFFFFF"/>
          </a:solidFill>
          <a:ln w="16510">
            <a:solidFill>
              <a:srgbClr val="C259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31136" y="4736592"/>
            <a:ext cx="4681728" cy="1389888"/>
          </a:xfrm>
          <a:prstGeom prst="rect">
            <a:avLst/>
          </a:prstGeom>
          <a:noFill/>
        </p:spPr>
        <p:txBody>
          <a:bodyPr wrap="square" anchor="ctr" lIns="54864" tIns="36576" rIns="54864" bIns="36576">
            <a:spAutoFit/>
          </a:bodyPr>
          <a:lstStyle/>
          <a:p>
            <a:pPr algn="l">
              <a:spcBef>
                <a:spcPts val="0"/>
              </a:spcBef>
              <a:spcAft>
                <a:spcPts val="400"/>
              </a:spcAft>
            </a:pPr>
            <a:r>
              <a:rPr sz="1260" b="1" i="0">
                <a:solidFill>
                  <a:srgbClr val="C25915"/>
                </a:solidFill>
                <a:latin typeface="DejaVu Sans"/>
              </a:rPr>
              <a:t>4. Trần lợi nhuận NOXH &amp; Bù đắp thương mại theo luật</a:t>
            </a:r>
          </a:p>
          <a:p>
            <a:pPr algn="l">
              <a:lnSpc>
                <a:spcPct val="122000"/>
              </a:lnSpc>
              <a:spcBef>
                <a:spcPts val="0"/>
              </a:spcBef>
              <a:spcAft>
                <a:spcPts val="0"/>
              </a:spcAft>
            </a:pPr>
            <a:r>
              <a:rPr sz="1130" b="0" i="0">
                <a:solidFill>
                  <a:srgbClr val="1E293B"/>
                </a:solidFill>
                <a:latin typeface="DejaVu Sans"/>
              </a:rPr>
              <a:t>Áp trần lợi nhuận định mức tối đa 10% cho phần diện tích xây dựng NOXH; cho phép bố trí tối đa 20% diện tích đất/sàn kinh doanh dịch vụ, thương mại theo phương án luật định.</a:t>
            </a:r>
          </a:p>
        </p:txBody>
      </p:sp>
      <p:sp>
        <p:nvSpPr>
          <p:cNvPr id="24" name="Rounded Rectangle 23"/>
          <p:cNvSpPr/>
          <p:nvPr/>
        </p:nvSpPr>
        <p:spPr>
          <a:xfrm>
            <a:off x="7278624" y="1261872"/>
            <a:ext cx="4407408" cy="4992624"/>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9.jpg"/>
          <p:cNvPicPr>
            <a:picLocks noChangeAspect="1"/>
          </p:cNvPicPr>
          <p:nvPr/>
        </p:nvPicPr>
        <p:blipFill>
          <a:blip r:embed="rId2"/>
          <a:stretch>
            <a:fillRect/>
          </a:stretch>
        </p:blipFill>
        <p:spPr>
          <a:xfrm>
            <a:off x="7333488" y="1316736"/>
            <a:ext cx="4297680" cy="4498848"/>
          </a:xfrm>
          <a:prstGeom prst="rect">
            <a:avLst/>
          </a:prstGeom>
        </p:spPr>
      </p:pic>
      <p:sp>
        <p:nvSpPr>
          <p:cNvPr id="26" name="Rectangle 25"/>
          <p:cNvSpPr/>
          <p:nvPr/>
        </p:nvSpPr>
        <p:spPr>
          <a:xfrm>
            <a:off x="7333488" y="5852159"/>
            <a:ext cx="429768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88352" y="5852159"/>
            <a:ext cx="4187952" cy="365760"/>
          </a:xfrm>
          <a:prstGeom prst="rect">
            <a:avLst/>
          </a:prstGeom>
          <a:noFill/>
        </p:spPr>
        <p:txBody>
          <a:bodyPr wrap="square" anchor="ctr" lIns="18288" tIns="0" rIns="18288" bIns="0">
            <a:spAutoFit/>
          </a:bodyPr>
          <a:lstStyle/>
          <a:p>
            <a:pPr algn="l">
              <a:spcBef>
                <a:spcPts val="0"/>
              </a:spcBef>
              <a:spcAft>
                <a:spcPts val="0"/>
              </a:spcAft>
            </a:pPr>
            <a:r>
              <a:rPr sz="960" b="1" i="0">
                <a:solidFill>
                  <a:srgbClr val="1E293B"/>
                </a:solidFill>
                <a:latin typeface="DejaVu Sans"/>
              </a:rPr>
              <a:t>Ảnh thật: Khu NOXH tích hợp siêu thị thương mại tầng trệt (L-Mart) | Nguồn: Báo Điện tử Chính phủ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914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AF7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0F766E"/>
                </a:solidFill>
                <a:latin typeface="DejaVu Sans"/>
              </a:rPr>
              <a:t>TRẢ LỜI CÂU HỎI 2 • ĐÒN BẨY PHÍA CẦU (CẬP NHẬT 2026)</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11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Công cụ 3: Trần thu nhập mới (NĐ 136/2026) &amp; 2 kênh tín dụng ưu đãi</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pháp lý: Nghị định 136/2026/NĐ-CP (hiệu lực 07/4/2026); Nghị định 261/2025/NĐ-CP; NHNN (CV 5340/NHNN-CSTT, H2/2026).</a:t>
            </a:r>
          </a:p>
        </p:txBody>
      </p:sp>
      <p:sp>
        <p:nvSpPr>
          <p:cNvPr id="12" name="Rounded Rectangle 11"/>
          <p:cNvSpPr/>
          <p:nvPr/>
        </p:nvSpPr>
        <p:spPr>
          <a:xfrm>
            <a:off x="512064" y="1261872"/>
            <a:ext cx="4389120" cy="4992624"/>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10.jpg"/>
          <p:cNvPicPr>
            <a:picLocks noChangeAspect="1"/>
          </p:cNvPicPr>
          <p:nvPr/>
        </p:nvPicPr>
        <p:blipFill>
          <a:blip r:embed="rId2"/>
          <a:stretch>
            <a:fillRect/>
          </a:stretch>
        </p:blipFill>
        <p:spPr>
          <a:xfrm>
            <a:off x="566928" y="1316736"/>
            <a:ext cx="4279392" cy="4498848"/>
          </a:xfrm>
          <a:prstGeom prst="rect">
            <a:avLst/>
          </a:prstGeom>
        </p:spPr>
      </p:pic>
      <p:sp>
        <p:nvSpPr>
          <p:cNvPr id="14" name="Rectangle 13"/>
          <p:cNvSpPr/>
          <p:nvPr/>
        </p:nvSpPr>
        <p:spPr>
          <a:xfrm>
            <a:off x="566928" y="5852159"/>
            <a:ext cx="4279392"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5852159"/>
            <a:ext cx="4169663" cy="365760"/>
          </a:xfrm>
          <a:prstGeom prst="rect">
            <a:avLst/>
          </a:prstGeom>
          <a:noFill/>
        </p:spPr>
        <p:txBody>
          <a:bodyPr wrap="square" anchor="ctr" lIns="18288" tIns="0" rIns="18288" bIns="0">
            <a:spAutoFit/>
          </a:bodyPr>
          <a:lstStyle/>
          <a:p>
            <a:pPr algn="l">
              <a:spcBef>
                <a:spcPts val="0"/>
              </a:spcBef>
              <a:spcAft>
                <a:spcPts val="0"/>
              </a:spcAft>
            </a:pPr>
            <a:r>
              <a:rPr sz="960" b="1" i="0">
                <a:solidFill>
                  <a:srgbClr val="1E293B"/>
                </a:solidFill>
                <a:latin typeface="DejaVu Sans"/>
              </a:rPr>
              <a:t>Ảnh thật: Gia đình trẻ &amp; trường mầm non nội khu NOXH Lê Thành An Lạc, TP.HCM | Nguồn: Báo Xây dựng</a:t>
            </a:r>
          </a:p>
        </p:txBody>
      </p:sp>
      <p:sp>
        <p:nvSpPr>
          <p:cNvPr id="16" name="Rounded Rectangle 15"/>
          <p:cNvSpPr/>
          <p:nvPr/>
        </p:nvSpPr>
        <p:spPr>
          <a:xfrm>
            <a:off x="5157216" y="1280160"/>
            <a:ext cx="6528816" cy="1481328"/>
          </a:xfrm>
          <a:prstGeom prst="roundRect">
            <a:avLst>
              <a:gd name="adj" fmla="val 4000"/>
            </a:avLst>
          </a:prstGeom>
          <a:solidFill>
            <a:srgbClr val="EAF7F5"/>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0" y="1335024"/>
            <a:ext cx="6254496" cy="1371600"/>
          </a:xfrm>
          <a:prstGeom prst="rect">
            <a:avLst/>
          </a:prstGeom>
          <a:noFill/>
        </p:spPr>
        <p:txBody>
          <a:bodyPr wrap="square" anchor="ctr" lIns="54864" tIns="36576" rIns="54864" bIns="36576">
            <a:spAutoFit/>
          </a:bodyPr>
          <a:lstStyle/>
          <a:p>
            <a:pPr algn="l">
              <a:spcBef>
                <a:spcPts val="0"/>
              </a:spcBef>
              <a:spcAft>
                <a:spcPts val="400"/>
              </a:spcAft>
            </a:pPr>
            <a:r>
              <a:rPr sz="1220" b="1" i="0">
                <a:solidFill>
                  <a:srgbClr val="0F766E"/>
                </a:solidFill>
                <a:latin typeface="DejaVu Sans"/>
              </a:rPr>
              <a:t>1. TRẦN THU NHẬP MỚI (NGHỊ ĐỊNH 136/2026/NĐ-CP TỪ 07/4/2026):</a:t>
            </a:r>
          </a:p>
          <a:p>
            <a:pPr algn="l">
              <a:lnSpc>
                <a:spcPct val="120000"/>
              </a:lnSpc>
              <a:spcBef>
                <a:spcPts val="0"/>
              </a:spcBef>
              <a:spcAft>
                <a:spcPts val="0"/>
              </a:spcAft>
            </a:pPr>
            <a:r>
              <a:rPr sz="1120" b="0" i="0">
                <a:solidFill>
                  <a:srgbClr val="0B192E"/>
                </a:solidFill>
                <a:latin typeface="DejaVu Sans"/>
              </a:rPr>
              <a:t>• Độc thân: ≤ 25 triệu/tháng | Độc thân nuôi con chưa thành niên: ≤ 35 triệu | Vợ chồng: ≤ 50 triệu/tháng.
• Lưu ý: Thu nhập chỉ là 1 điều kiện; người mua còn phải thuộc nhóm đối tượng (Điều 76) &amp; chưa có nhà ở theo luật.</a:t>
            </a:r>
          </a:p>
        </p:txBody>
      </p:sp>
      <p:sp>
        <p:nvSpPr>
          <p:cNvPr id="18" name="Rounded Rectangle 17"/>
          <p:cNvSpPr/>
          <p:nvPr/>
        </p:nvSpPr>
        <p:spPr>
          <a:xfrm>
            <a:off x="5157216" y="2871216"/>
            <a:ext cx="6528816" cy="1755648"/>
          </a:xfrm>
          <a:prstGeom prst="roundRect">
            <a:avLst>
              <a:gd name="adj" fmla="val 4000"/>
            </a:avLst>
          </a:prstGeom>
          <a:solidFill>
            <a:srgbClr val="EEF6FC"/>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0" y="2926080"/>
            <a:ext cx="6254496" cy="1645919"/>
          </a:xfrm>
          <a:prstGeom prst="rect">
            <a:avLst/>
          </a:prstGeom>
          <a:noFill/>
        </p:spPr>
        <p:txBody>
          <a:bodyPr wrap="square" anchor="ctr" lIns="54864" tIns="36576" rIns="54864" bIns="36576">
            <a:spAutoFit/>
          </a:bodyPr>
          <a:lstStyle/>
          <a:p>
            <a:pPr algn="l">
              <a:spcBef>
                <a:spcPts val="0"/>
              </a:spcBef>
              <a:spcAft>
                <a:spcPts val="400"/>
              </a:spcAft>
            </a:pPr>
            <a:r>
              <a:rPr sz="1220" b="1" i="0">
                <a:solidFill>
                  <a:srgbClr val="0369A1"/>
                </a:solidFill>
                <a:latin typeface="DejaVu Sans"/>
              </a:rPr>
              <a:t>2. TÁCH BẠCH RÕ 2 CHƯƠNG TRÌNH TÍN DỤNG ƯU ĐÃI (NĂM 2026):</a:t>
            </a:r>
          </a:p>
          <a:p>
            <a:pPr algn="l">
              <a:lnSpc>
                <a:spcPct val="120000"/>
              </a:lnSpc>
              <a:spcBef>
                <a:spcPts val="0"/>
              </a:spcBef>
              <a:spcAft>
                <a:spcPts val="0"/>
              </a:spcAft>
            </a:pPr>
            <a:r>
              <a:rPr sz="1120" b="0" i="0">
                <a:solidFill>
                  <a:srgbClr val="0B192E"/>
                </a:solidFill>
                <a:latin typeface="DejaVu Sans"/>
              </a:rPr>
              <a:t>• Kênh NHCSXH (NĐ 261/2025): Lãi suất 5,4%/năm, tối đa 25 năm (cho đối tượng đủ điều kiện vay vốn chính sách).
• Kênh 9 NHTM cho người &lt;35 tuổi mua NOXH (01/7–31/12/2026, CV 5340/NHNN): 6,5%/năm (5 năm đầu) &amp; mức tham chiếu 7,5%/năm (10 năm tiếp theo, điều chỉnh định kỳ).</a:t>
            </a:r>
          </a:p>
        </p:txBody>
      </p:sp>
      <p:sp>
        <p:nvSpPr>
          <p:cNvPr id="20" name="Rounded Rectangle 19"/>
          <p:cNvSpPr/>
          <p:nvPr/>
        </p:nvSpPr>
        <p:spPr>
          <a:xfrm>
            <a:off x="5157216" y="4736592"/>
            <a:ext cx="6528816" cy="1517904"/>
          </a:xfrm>
          <a:prstGeom prst="roundRect">
            <a:avLst>
              <a:gd name="adj" fmla="val 4000"/>
            </a:avLst>
          </a:prstGeom>
          <a:solidFill>
            <a:srgbClr val="FFF7ED"/>
          </a:solidFill>
          <a:ln w="19050">
            <a:solidFill>
              <a:srgbClr val="C259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0" y="4791455"/>
            <a:ext cx="6254496" cy="1408176"/>
          </a:xfrm>
          <a:prstGeom prst="rect">
            <a:avLst/>
          </a:prstGeom>
          <a:noFill/>
        </p:spPr>
        <p:txBody>
          <a:bodyPr wrap="square" anchor="ctr" lIns="54864" tIns="36576" rIns="54864" bIns="36576">
            <a:spAutoFit/>
          </a:bodyPr>
          <a:lstStyle/>
          <a:p>
            <a:pPr algn="l">
              <a:spcBef>
                <a:spcPts val="0"/>
              </a:spcBef>
              <a:spcAft>
                <a:spcPts val="400"/>
              </a:spcAft>
            </a:pPr>
            <a:r>
              <a:rPr sz="1220" b="1" i="0">
                <a:solidFill>
                  <a:srgbClr val="C25915"/>
                </a:solidFill>
                <a:latin typeface="DejaVu Sans"/>
              </a:rPr>
              <a:t>3. BÀI TOÁN DÒNG TIỀN THỰC TẾ (MINH HỌA CĂN NOXH ~1 TỶ ĐỒNG):</a:t>
            </a:r>
          </a:p>
          <a:p>
            <a:pPr algn="l">
              <a:lnSpc>
                <a:spcPct val="120000"/>
              </a:lnSpc>
              <a:spcBef>
                <a:spcPts val="0"/>
              </a:spcBef>
              <a:spcAft>
                <a:spcPts val="0"/>
              </a:spcAft>
            </a:pPr>
            <a:r>
              <a:rPr sz="1120" b="0" i="0">
                <a:solidFill>
                  <a:srgbClr val="0B192E"/>
                </a:solidFill>
                <a:latin typeface="DejaVu Sans"/>
              </a:rPr>
              <a:t>• Vay NHCSXH 800 triệu (5,4% – 25 năm) trả trung bình ~4,9 triệu/tháng — giảm mạnh so với vay thương mại, nhưng vẫn cần ~200 triệu vốn ban đầu &amp; chiếm 33–49% lương SV mới ra trường.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9144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EF6FC"/>
          </a:solidFill>
          <a:ln w="1270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0369A1"/>
                </a:solidFill>
                <a:latin typeface="DejaVu Sans"/>
              </a:rPr>
              <a:t>TRẢ LỜI CÂU HỎI 2 • NHÀ CHO THUÊ &amp; THỂ CHẾ (MỤC 5.2)</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12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Công cụ 5 &amp; 6: Phát triển NOXH cho thuê, "Luồng xanh" &amp; Quy mô 2026</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số liệu: Họp báo Quý III/2026 của Bộ Xây dựng (15/10/2026); Nghị quyết 07/NQ-CP (2026) &amp; NĐ 302/2025/NĐ-CP.</a:t>
            </a:r>
          </a:p>
        </p:txBody>
      </p:sp>
      <p:sp>
        <p:nvSpPr>
          <p:cNvPr id="12" name="Rounded Rectangle 11"/>
          <p:cNvSpPr/>
          <p:nvPr/>
        </p:nvSpPr>
        <p:spPr>
          <a:xfrm>
            <a:off x="502920" y="1280160"/>
            <a:ext cx="6537960" cy="1645920"/>
          </a:xfrm>
          <a:prstGeom prst="roundRect">
            <a:avLst>
              <a:gd name="adj" fmla="val 4000"/>
            </a:avLst>
          </a:prstGeom>
          <a:solidFill>
            <a:srgbClr val="EEF6FC"/>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1335024"/>
            <a:ext cx="6236208" cy="1536192"/>
          </a:xfrm>
          <a:prstGeom prst="rect">
            <a:avLst/>
          </a:prstGeom>
          <a:noFill/>
        </p:spPr>
        <p:txBody>
          <a:bodyPr wrap="square" anchor="ctr" lIns="54864" tIns="36576" rIns="54864" bIns="36576">
            <a:spAutoFit/>
          </a:bodyPr>
          <a:lstStyle/>
          <a:p>
            <a:pPr algn="l">
              <a:spcBef>
                <a:spcPts val="0"/>
              </a:spcBef>
              <a:spcAft>
                <a:spcPts val="400"/>
              </a:spcAft>
            </a:pPr>
            <a:r>
              <a:rPr sz="1220" b="1" i="0">
                <a:solidFill>
                  <a:srgbClr val="0369A1"/>
                </a:solidFill>
                <a:latin typeface="DejaVu Sans"/>
              </a:rPr>
              <a:t>5. PHÁT TRIỂN NOXH CHO THUÊ (GIẢI BÀI TOÁN VỐN BAN ĐẦU):</a:t>
            </a:r>
          </a:p>
          <a:p>
            <a:pPr algn="l">
              <a:lnSpc>
                <a:spcPct val="122000"/>
              </a:lnSpc>
              <a:spcBef>
                <a:spcPts val="0"/>
              </a:spcBef>
              <a:spcAft>
                <a:spcPts val="0"/>
              </a:spcAft>
            </a:pPr>
            <a:r>
              <a:rPr sz="1130" b="0" i="0">
                <a:solidFill>
                  <a:srgbClr val="1E293B"/>
                </a:solidFill>
                <a:latin typeface="DejaVu Sans"/>
              </a:rPr>
              <a:t>• Đáp ứng nhu cầu chỗ ở cho lao động trẻ, công nhân chưa tích lũy đủ 20% vốn tự có ban đầu.
• Cả nước có 114 dự án NOXH có nhà ở cho thuê đang triển khai, với tổng cộng 63.970 căn (khung giá thuê do UBND cấp tỉnh ban hành phù hợp thu nhập).</a:t>
            </a:r>
          </a:p>
        </p:txBody>
      </p:sp>
      <p:sp>
        <p:nvSpPr>
          <p:cNvPr id="14" name="Rounded Rectangle 13"/>
          <p:cNvSpPr/>
          <p:nvPr/>
        </p:nvSpPr>
        <p:spPr>
          <a:xfrm>
            <a:off x="502920" y="3035808"/>
            <a:ext cx="6537960" cy="1517904"/>
          </a:xfrm>
          <a:prstGeom prst="roundRect">
            <a:avLst>
              <a:gd name="adj" fmla="val 4000"/>
            </a:avLst>
          </a:prstGeom>
          <a:solidFill>
            <a:srgbClr val="EAF7F5"/>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090672"/>
            <a:ext cx="6236208" cy="1408176"/>
          </a:xfrm>
          <a:prstGeom prst="rect">
            <a:avLst/>
          </a:prstGeom>
          <a:noFill/>
        </p:spPr>
        <p:txBody>
          <a:bodyPr wrap="square" anchor="ctr" lIns="54864" tIns="36576" rIns="54864" bIns="36576">
            <a:spAutoFit/>
          </a:bodyPr>
          <a:lstStyle/>
          <a:p>
            <a:pPr algn="l">
              <a:spcBef>
                <a:spcPts val="0"/>
              </a:spcBef>
              <a:spcAft>
                <a:spcPts val="400"/>
              </a:spcAft>
            </a:pPr>
            <a:r>
              <a:rPr sz="1220" b="1" i="0">
                <a:solidFill>
                  <a:srgbClr val="0F766E"/>
                </a:solidFill>
                <a:latin typeface="DejaVu Sans"/>
              </a:rPr>
              <a:t>6. THỂ CHẾ "LUỒNG XANH" &amp; HẬU KIỂM MINH BẠCH (MỤC 5.2):</a:t>
            </a:r>
          </a:p>
          <a:p>
            <a:pPr algn="l">
              <a:lnSpc>
                <a:spcPct val="122000"/>
              </a:lnSpc>
              <a:spcBef>
                <a:spcPts val="0"/>
              </a:spcBef>
              <a:spcAft>
                <a:spcPts val="0"/>
              </a:spcAft>
            </a:pPr>
            <a:r>
              <a:rPr sz="1130" b="0" i="0">
                <a:solidFill>
                  <a:srgbClr val="1E293B"/>
                </a:solidFill>
                <a:latin typeface="DejaVu Sans"/>
              </a:rPr>
              <a:t>• Cơ chế "luồng xanh" cắt giảm ≥50% thời gian thủ tục đầu tư → giúp DN đẩy nhanh tiến độ dự án.
• Đối soát dữ liệu dân cư – nhà đất &amp; hạn chế chuyển nhượng 5 năm nhằm ngăn chặn đầu cơ trục lợi.</a:t>
            </a:r>
          </a:p>
        </p:txBody>
      </p:sp>
      <p:sp>
        <p:nvSpPr>
          <p:cNvPr id="16" name="Rounded Rectangle 15"/>
          <p:cNvSpPr/>
          <p:nvPr/>
        </p:nvSpPr>
        <p:spPr>
          <a:xfrm>
            <a:off x="502920" y="4663440"/>
            <a:ext cx="6537960" cy="1591056"/>
          </a:xfrm>
          <a:prstGeom prst="roundRect">
            <a:avLst>
              <a:gd name="adj" fmla="val 4000"/>
            </a:avLst>
          </a:prstGeom>
          <a:solidFill>
            <a:srgbClr val="FFFFFF"/>
          </a:solidFill>
          <a:ln w="19050">
            <a:solidFill>
              <a:srgbClr val="12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4718303"/>
            <a:ext cx="6236208" cy="1481328"/>
          </a:xfrm>
          <a:prstGeom prst="rect">
            <a:avLst/>
          </a:prstGeom>
          <a:noFill/>
        </p:spPr>
        <p:txBody>
          <a:bodyPr wrap="square" anchor="ctr" lIns="54864" tIns="36576" rIns="54864" bIns="36576">
            <a:spAutoFit/>
          </a:bodyPr>
          <a:lstStyle/>
          <a:p>
            <a:pPr algn="l">
              <a:spcBef>
                <a:spcPts val="0"/>
              </a:spcBef>
              <a:spcAft>
                <a:spcPts val="400"/>
              </a:spcAft>
            </a:pPr>
            <a:r>
              <a:rPr sz="1220" b="1" i="0">
                <a:solidFill>
                  <a:srgbClr val="122645"/>
                </a:solidFill>
                <a:latin typeface="DejaVu Sans"/>
              </a:rPr>
              <a:t>QUY MÔ TRIỂN KHAI ĐẾN QUÝ III/2026 (BỘ XÂY DỰNG, 15/10/2026):</a:t>
            </a:r>
          </a:p>
          <a:p>
            <a:pPr algn="l">
              <a:lnSpc>
                <a:spcPct val="122000"/>
              </a:lnSpc>
              <a:spcBef>
                <a:spcPts val="0"/>
              </a:spcBef>
              <a:spcAft>
                <a:spcPts val="0"/>
              </a:spcAft>
            </a:pPr>
            <a:r>
              <a:rPr sz="1130" b="0" i="0">
                <a:solidFill>
                  <a:srgbClr val="1E293B"/>
                </a:solidFill>
                <a:latin typeface="DejaVu Sans"/>
              </a:rPr>
              <a:t>• Tổng cộng 947 dự án với 910.933 căn đã hoàn thành, đang xây dựng hoặc được chấp thuận chủ trương (~91% mục tiêu Đề án); trong đó 216.626 căn thuộc 363 dự án đã hoàn thành.</a:t>
            </a:r>
          </a:p>
        </p:txBody>
      </p:sp>
      <p:sp>
        <p:nvSpPr>
          <p:cNvPr id="18" name="Rounded Rectangle 17"/>
          <p:cNvSpPr/>
          <p:nvPr/>
        </p:nvSpPr>
        <p:spPr>
          <a:xfrm>
            <a:off x="7278624" y="1261872"/>
            <a:ext cx="4407408" cy="4992624"/>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11.jpg"/>
          <p:cNvPicPr>
            <a:picLocks noChangeAspect="1"/>
          </p:cNvPicPr>
          <p:nvPr/>
        </p:nvPicPr>
        <p:blipFill>
          <a:blip r:embed="rId2"/>
          <a:stretch>
            <a:fillRect/>
          </a:stretch>
        </p:blipFill>
        <p:spPr>
          <a:xfrm>
            <a:off x="7333488" y="1316736"/>
            <a:ext cx="4297680" cy="4498848"/>
          </a:xfrm>
          <a:prstGeom prst="rect">
            <a:avLst/>
          </a:prstGeom>
        </p:spPr>
      </p:pic>
      <p:sp>
        <p:nvSpPr>
          <p:cNvPr id="20" name="Rectangle 19"/>
          <p:cNvSpPr/>
          <p:nvPr/>
        </p:nvSpPr>
        <p:spPr>
          <a:xfrm>
            <a:off x="7333488" y="5852159"/>
            <a:ext cx="429768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8352" y="5852159"/>
            <a:ext cx="4187952" cy="365760"/>
          </a:xfrm>
          <a:prstGeom prst="rect">
            <a:avLst/>
          </a:prstGeom>
          <a:noFill/>
        </p:spPr>
        <p:txBody>
          <a:bodyPr wrap="square" anchor="ctr" lIns="18288" tIns="0" rIns="18288" bIns="0">
            <a:spAutoFit/>
          </a:bodyPr>
          <a:lstStyle/>
          <a:p>
            <a:pPr algn="l">
              <a:spcBef>
                <a:spcPts val="0"/>
              </a:spcBef>
              <a:spcAft>
                <a:spcPts val="0"/>
              </a:spcAft>
            </a:pPr>
            <a:r>
              <a:rPr sz="960" b="1" i="0">
                <a:solidFill>
                  <a:srgbClr val="1E293B"/>
                </a:solidFill>
                <a:latin typeface="DejaVu Sans"/>
              </a:rPr>
              <a:t>Ảnh thật: Khu NOXH quy mô lớn cho người lao động mua &amp; thuê | Nguồn: Báo Điện tử Chính phủ</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EF6FC"/>
          </a:solidFill>
          <a:ln w="12700">
            <a:solidFill>
              <a:srgbClr val="12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122645"/>
                </a:solidFill>
                <a:latin typeface="DejaVu Sans"/>
              </a:rPr>
              <a:t>CHỐT LẬP LUẬN PHÁP LÝ CÂU 2 • ĐIỀU 83 LUẬT NHÀ Ở 2023</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13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Nhà nước can thiệp có phải vi phạm quyền tự do kinh doanh?</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Nguồn pháp lý: Hiến pháp 2013 (Điều 33); Luật Nhà ở 2023 (khoản 2 Điều 83 &amp; Điều 85); Nghị định 100/2024/NĐ-CP.</a:t>
            </a:r>
          </a:p>
        </p:txBody>
      </p:sp>
      <p:sp>
        <p:nvSpPr>
          <p:cNvPr id="12" name="Rounded Rectangle 11"/>
          <p:cNvSpPr/>
          <p:nvPr/>
        </p:nvSpPr>
        <p:spPr>
          <a:xfrm>
            <a:off x="502920" y="1261872"/>
            <a:ext cx="5504688" cy="3547872"/>
          </a:xfrm>
          <a:prstGeom prst="roundRect">
            <a:avLst>
              <a:gd name="adj" fmla="val 4000"/>
            </a:avLst>
          </a:prstGeom>
          <a:solidFill>
            <a:srgbClr val="ECFDF5"/>
          </a:solidFill>
          <a:ln w="254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261872"/>
            <a:ext cx="5504688" cy="475488"/>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280160"/>
            <a:ext cx="5212080" cy="438912"/>
          </a:xfrm>
          <a:prstGeom prst="rect">
            <a:avLst/>
          </a:prstGeom>
          <a:noFill/>
        </p:spPr>
        <p:txBody>
          <a:bodyPr wrap="square" anchor="ctr" lIns="54864" tIns="36576" rIns="54864" bIns="36576">
            <a:spAutoFit/>
          </a:bodyPr>
          <a:lstStyle/>
          <a:p>
            <a:pPr algn="l">
              <a:spcBef>
                <a:spcPts val="0"/>
              </a:spcBef>
              <a:spcAft>
                <a:spcPts val="0"/>
              </a:spcAft>
            </a:pPr>
            <a:r>
              <a:rPr sz="1340" b="1" i="0">
                <a:solidFill>
                  <a:srgbClr val="FFFFFF"/>
                </a:solidFill>
                <a:latin typeface="DejaVu Sans"/>
              </a:rPr>
              <a:t>✓  CAN THIỆP HỢP PHÁP THEO LUẬT ĐỊNH</a:t>
            </a:r>
          </a:p>
        </p:txBody>
      </p:sp>
      <p:sp>
        <p:nvSpPr>
          <p:cNvPr id="15" name="TextBox 14"/>
          <p:cNvSpPr txBox="1"/>
          <p:nvPr/>
        </p:nvSpPr>
        <p:spPr>
          <a:xfrm>
            <a:off x="685800" y="1810512"/>
            <a:ext cx="5166360" cy="2907792"/>
          </a:xfrm>
          <a:prstGeom prst="rect">
            <a:avLst/>
          </a:prstGeom>
          <a:noFill/>
        </p:spPr>
        <p:txBody>
          <a:bodyPr wrap="square" anchor="t" lIns="54864" tIns="36576" rIns="54864" bIns="36576">
            <a:spAutoFit/>
          </a:bodyPr>
          <a:lstStyle/>
          <a:p>
            <a:pPr algn="l">
              <a:lnSpc>
                <a:spcPct val="124000"/>
              </a:lnSpc>
              <a:spcBef>
                <a:spcPts val="0"/>
              </a:spcBef>
              <a:spcAft>
                <a:spcPts val="600"/>
              </a:spcAft>
            </a:pPr>
            <a:r>
              <a:rPr sz="1180" b="1" i="0">
                <a:solidFill>
                  <a:srgbClr val="0B192E"/>
                </a:solidFill>
                <a:latin typeface="DejaVu Sans"/>
              </a:rPr>
              <a:t>• Nhà nước quy định nghĩa vụ NOXH công khai, minh bạch từ khâu quy hoạch (khoản 2 Điều 83 Luật Nhà ở 2023).</a:t>
            </a:r>
          </a:p>
          <a:p>
            <a:pPr algn="l">
              <a:lnSpc>
                <a:spcPct val="124000"/>
              </a:lnSpc>
              <a:spcBef>
                <a:spcPts val="0"/>
              </a:spcBef>
              <a:spcAft>
                <a:spcPts val="600"/>
              </a:spcAft>
            </a:pPr>
            <a:r>
              <a:rPr sz="1140" b="0" i="0">
                <a:solidFill>
                  <a:srgbClr val="1E293B"/>
                </a:solidFill>
                <a:latin typeface="DejaVu Sans"/>
              </a:rPr>
              <a:t>• Tại đô thị loại đặc biệt, loại I, II, III, chủ đầu tư dự án thương mại thực hiện 1 trong 3 hình thức linh hoạt:
   (1) Dành một phần diện tích đất dự án xây dựng NOXH;
   (2) Bố trí quỹ đất NOXH đã đầu tư hạ tầng ở vị trí khác; hoặc
   (3) Đóng tiền tương đương giá trị quỹ đất đã đầu tư hạ tầng.</a:t>
            </a:r>
          </a:p>
          <a:p>
            <a:pPr algn="l">
              <a:lnSpc>
                <a:spcPct val="122000"/>
              </a:lnSpc>
              <a:spcBef>
                <a:spcPts val="0"/>
              </a:spcBef>
              <a:spcAft>
                <a:spcPts val="0"/>
              </a:spcAft>
            </a:pPr>
            <a:r>
              <a:rPr sz="1150" b="1" i="0">
                <a:solidFill>
                  <a:srgbClr val="047857"/>
                </a:solidFill>
                <a:latin typeface="DejaVu Sans"/>
              </a:rPr>
              <a:t>• Đi kèm ưu đãi thuế, đất đai, tín dụng — bảo đảm quyền kinh doanh hợp pháp &amp; lợi nhuận chính đáng của doanh nghiệp.</a:t>
            </a:r>
          </a:p>
        </p:txBody>
      </p:sp>
      <p:sp>
        <p:nvSpPr>
          <p:cNvPr id="16" name="Rounded Rectangle 15"/>
          <p:cNvSpPr/>
          <p:nvPr/>
        </p:nvSpPr>
        <p:spPr>
          <a:xfrm>
            <a:off x="6181344" y="1261872"/>
            <a:ext cx="5504688" cy="3547872"/>
          </a:xfrm>
          <a:prstGeom prst="roundRect">
            <a:avLst>
              <a:gd name="adj" fmla="val 4000"/>
            </a:avLst>
          </a:prstGeom>
          <a:solidFill>
            <a:srgbClr val="FEF2F2"/>
          </a:solidFill>
          <a:ln w="254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1261872"/>
            <a:ext cx="5504688" cy="47548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7648" y="1280160"/>
            <a:ext cx="5212080" cy="438912"/>
          </a:xfrm>
          <a:prstGeom prst="rect">
            <a:avLst/>
          </a:prstGeom>
          <a:noFill/>
        </p:spPr>
        <p:txBody>
          <a:bodyPr wrap="square" anchor="ctr" lIns="54864" tIns="36576" rIns="54864" bIns="36576">
            <a:spAutoFit/>
          </a:bodyPr>
          <a:lstStyle/>
          <a:p>
            <a:pPr algn="l">
              <a:spcBef>
                <a:spcPts val="0"/>
              </a:spcBef>
              <a:spcAft>
                <a:spcPts val="0"/>
              </a:spcAft>
            </a:pPr>
            <a:r>
              <a:rPr sz="1340" b="1" i="0">
                <a:solidFill>
                  <a:srgbClr val="FFFFFF"/>
                </a:solidFill>
                <a:latin typeface="DejaVu Sans"/>
              </a:rPr>
              <a:t>✕  CAN THIỆP THIẾU HỢP LÝ / TÙY TIỆN</a:t>
            </a:r>
          </a:p>
        </p:txBody>
      </p:sp>
      <p:sp>
        <p:nvSpPr>
          <p:cNvPr id="19" name="TextBox 18"/>
          <p:cNvSpPr txBox="1"/>
          <p:nvPr/>
        </p:nvSpPr>
        <p:spPr>
          <a:xfrm>
            <a:off x="6364224" y="1810512"/>
            <a:ext cx="5166360" cy="2907792"/>
          </a:xfrm>
          <a:prstGeom prst="rect">
            <a:avLst/>
          </a:prstGeom>
          <a:noFill/>
        </p:spPr>
        <p:txBody>
          <a:bodyPr wrap="square" anchor="t" lIns="54864" tIns="36576" rIns="54864" bIns="36576">
            <a:spAutoFit/>
          </a:bodyPr>
          <a:lstStyle/>
          <a:p>
            <a:pPr algn="l">
              <a:lnSpc>
                <a:spcPct val="125000"/>
              </a:lnSpc>
              <a:spcBef>
                <a:spcPts val="0"/>
              </a:spcBef>
              <a:spcAft>
                <a:spcPts val="800"/>
              </a:spcAft>
            </a:pPr>
            <a:r>
              <a:rPr sz="1180" b="1" i="0">
                <a:solidFill>
                  <a:srgbClr val="B91C1C"/>
                </a:solidFill>
                <a:latin typeface="DejaVu Sans"/>
              </a:rPr>
              <a:t>• Tùy tiện dùng mệnh lệnh hành chính buộc doanh nghiệp bán nhà thương mại dưới chi phí sản xuất.</a:t>
            </a:r>
          </a:p>
          <a:p>
            <a:pPr algn="l">
              <a:lnSpc>
                <a:spcPct val="125000"/>
              </a:lnSpc>
              <a:spcBef>
                <a:spcPts val="0"/>
              </a:spcBef>
              <a:spcAft>
                <a:spcPts val="800"/>
              </a:spcAft>
            </a:pPr>
            <a:r>
              <a:rPr sz="1160" b="0" i="0">
                <a:solidFill>
                  <a:srgbClr val="1E293B"/>
                </a:solidFill>
                <a:latin typeface="DejaVu Sans"/>
              </a:rPr>
              <a:t>• Áp đặt nghĩa vụ ngoài căn cứ pháp luật, thay đổi chính sách bất ngờ hoặc tạo cơ chế "xin – cho" thiếu công bằng.</a:t>
            </a:r>
          </a:p>
          <a:p>
            <a:pPr algn="l">
              <a:lnSpc>
                <a:spcPct val="125000"/>
              </a:lnSpc>
              <a:spcBef>
                <a:spcPts val="0"/>
              </a:spcBef>
              <a:spcAft>
                <a:spcPts val="0"/>
              </a:spcAft>
            </a:pPr>
            <a:r>
              <a:rPr sz="1160" b="0" i="0">
                <a:solidFill>
                  <a:srgbClr val="1E293B"/>
                </a:solidFill>
                <a:latin typeface="DejaVu Sans"/>
              </a:rPr>
              <a:t>• Hệ lụy kinh tế: Xâm phạm quyền tự do kinh doanh, làm doanh nghiệp thu hẹp đầu tư và gây khan hiếm nguồn cung trầm trọng hơn.</a:t>
            </a:r>
          </a:p>
        </p:txBody>
      </p:sp>
      <p:sp>
        <p:nvSpPr>
          <p:cNvPr id="20" name="Rounded Rectangle 19"/>
          <p:cNvSpPr/>
          <p:nvPr/>
        </p:nvSpPr>
        <p:spPr>
          <a:xfrm>
            <a:off x="502920" y="4974336"/>
            <a:ext cx="11183112" cy="1316736"/>
          </a:xfrm>
          <a:prstGeom prst="roundRect">
            <a:avLst>
              <a:gd name="adj" fmla="val 4000"/>
            </a:avLst>
          </a:prstGeom>
          <a:solidFill>
            <a:srgbClr val="122645"/>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029200"/>
            <a:ext cx="10744200" cy="1207008"/>
          </a:xfrm>
          <a:prstGeom prst="rect">
            <a:avLst/>
          </a:prstGeom>
          <a:noFill/>
        </p:spPr>
        <p:txBody>
          <a:bodyPr wrap="square" anchor="ctr" lIns="54864" tIns="36576" rIns="54864" bIns="36576">
            <a:spAutoFit/>
          </a:bodyPr>
          <a:lstStyle/>
          <a:p>
            <a:pPr algn="l">
              <a:spcBef>
                <a:spcPts val="0"/>
              </a:spcBef>
              <a:spcAft>
                <a:spcPts val="400"/>
              </a:spcAft>
            </a:pPr>
            <a:r>
              <a:rPr sz="1260" b="1" i="0">
                <a:solidFill>
                  <a:srgbClr val="F59E0B"/>
                </a:solidFill>
                <a:latin typeface="DejaVu Sans"/>
              </a:rPr>
              <a:t>KẾT LUẬN TRỰC DIỆN ĐỀ BÀI CQ7:</a:t>
            </a:r>
          </a:p>
          <a:p>
            <a:pPr algn="l">
              <a:lnSpc>
                <a:spcPct val="126000"/>
              </a:lnSpc>
              <a:spcBef>
                <a:spcPts val="0"/>
              </a:spcBef>
              <a:spcAft>
                <a:spcPts val="0"/>
              </a:spcAft>
            </a:pPr>
            <a:r>
              <a:rPr sz="1220" b="1" i="0">
                <a:solidFill>
                  <a:srgbClr val="FFFFFF"/>
                </a:solidFill>
                <a:latin typeface="DejaVu Sans"/>
              </a:rPr>
              <a:t>"Quyền tự do kinh doanh phải được tôn trọng, nhưng không đồng nghĩa doanh nghiệp không có nghĩa vụ theo pháp luật. Nhà nước cần can thiệp bằng thể chế minh bạch và các công cụ khuyến khích kinh tế, vừa bảo đảm quyền lợi hợp pháp của doanh nghiệp, vừa thực hiện mục tiêu an sinh xã hội."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91440"/>
          </a:xfrm>
          <a:prstGeom prst="rect">
            <a:avLst/>
          </a:prstGeom>
          <a:solidFill>
            <a:srgbClr val="C25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EF6FC"/>
          </a:solidFill>
          <a:ln w="12700">
            <a:solidFill>
              <a:srgbClr val="C259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C25915"/>
                </a:solidFill>
                <a:latin typeface="DejaVu Sans"/>
              </a:rPr>
              <a:t>QUAN ĐIỂM RIÊNG CỦA NHÓM &amp; KÊU GỌI HÀNH ĐỘNG</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14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Giải pháp bổ trợ: Lộ trình nhà ở 3 nấc thang theo vòng đời &amp; TOD</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Đúc kết: Kết hợp đồng bộ điều tiết vĩ mô của Nhà nước – nguồn lực Doanh nghiệp – nội lực tích lũy của Người trẻ.</a:t>
            </a:r>
          </a:p>
        </p:txBody>
      </p:sp>
      <p:sp>
        <p:nvSpPr>
          <p:cNvPr id="12" name="Rounded Rectangle 11"/>
          <p:cNvSpPr/>
          <p:nvPr/>
        </p:nvSpPr>
        <p:spPr>
          <a:xfrm>
            <a:off x="502920" y="1280160"/>
            <a:ext cx="2057400" cy="987552"/>
          </a:xfrm>
          <a:prstGeom prst="roundRect">
            <a:avLst>
              <a:gd name="adj" fmla="val 4000"/>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280160"/>
            <a:ext cx="2057400" cy="987552"/>
          </a:xfrm>
          <a:prstGeom prst="rect">
            <a:avLst/>
          </a:prstGeom>
          <a:noFill/>
        </p:spPr>
        <p:txBody>
          <a:bodyPr wrap="square" anchor="ctr" lIns="54864" tIns="36576" rIns="54864" bIns="36576">
            <a:spAutoFit/>
          </a:bodyPr>
          <a:lstStyle/>
          <a:p>
            <a:pPr algn="ctr">
              <a:spcBef>
                <a:spcPts val="0"/>
              </a:spcBef>
              <a:spcAft>
                <a:spcPts val="0"/>
              </a:spcAft>
            </a:pPr>
            <a:r>
              <a:rPr sz="1220" b="1" i="0">
                <a:solidFill>
                  <a:srgbClr val="FFFFFF"/>
                </a:solidFill>
                <a:latin typeface="DejaVu Sans"/>
              </a:rPr>
              <a:t>NẤC 1 (22 – 26 TUỔI)</a:t>
            </a:r>
          </a:p>
        </p:txBody>
      </p:sp>
      <p:sp>
        <p:nvSpPr>
          <p:cNvPr id="14" name="Rounded Rectangle 13"/>
          <p:cNvSpPr/>
          <p:nvPr/>
        </p:nvSpPr>
        <p:spPr>
          <a:xfrm>
            <a:off x="2651760" y="1280160"/>
            <a:ext cx="4498848" cy="987552"/>
          </a:xfrm>
          <a:prstGeom prst="roundRect">
            <a:avLst>
              <a:gd name="adj" fmla="val 4000"/>
            </a:avLst>
          </a:prstGeom>
          <a:solidFill>
            <a:srgbClr val="FFFFFF"/>
          </a:solidFill>
          <a:ln w="1651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79776" y="1316736"/>
            <a:ext cx="4261104" cy="914400"/>
          </a:xfrm>
          <a:prstGeom prst="rect">
            <a:avLst/>
          </a:prstGeom>
          <a:noFill/>
        </p:spPr>
        <p:txBody>
          <a:bodyPr wrap="square" anchor="ctr" lIns="54864" tIns="36576" rIns="54864" bIns="36576">
            <a:spAutoFit/>
          </a:bodyPr>
          <a:lstStyle/>
          <a:p>
            <a:pPr algn="l">
              <a:lnSpc>
                <a:spcPct val="120000"/>
              </a:lnSpc>
              <a:spcBef>
                <a:spcPts val="0"/>
              </a:spcBef>
              <a:spcAft>
                <a:spcPts val="0"/>
              </a:spcAft>
            </a:pPr>
            <a:r>
              <a:rPr sz="1120" b="0" i="0">
                <a:solidFill>
                  <a:srgbClr val="1E293B"/>
                </a:solidFill>
                <a:latin typeface="DejaVu Sans"/>
              </a:rPr>
              <a:t>Mới ra trường: Thuê NOXH gắn kết nối Metro / Vành đai (TOD) theo khung giá UBND cấp tỉnh để giảm chi phí đi lại &amp; tích lũy vốn tự có 20%.</a:t>
            </a:r>
          </a:p>
        </p:txBody>
      </p:sp>
      <p:sp>
        <p:nvSpPr>
          <p:cNvPr id="16" name="Rounded Rectangle 15"/>
          <p:cNvSpPr/>
          <p:nvPr/>
        </p:nvSpPr>
        <p:spPr>
          <a:xfrm>
            <a:off x="502920" y="2414015"/>
            <a:ext cx="2057400" cy="987552"/>
          </a:xfrm>
          <a:prstGeom prst="roundRect">
            <a:avLst>
              <a:gd name="adj" fmla="val 4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414015"/>
            <a:ext cx="2057400" cy="987552"/>
          </a:xfrm>
          <a:prstGeom prst="rect">
            <a:avLst/>
          </a:prstGeom>
          <a:noFill/>
        </p:spPr>
        <p:txBody>
          <a:bodyPr wrap="square" anchor="ctr" lIns="54864" tIns="36576" rIns="54864" bIns="36576">
            <a:spAutoFit/>
          </a:bodyPr>
          <a:lstStyle/>
          <a:p>
            <a:pPr algn="ctr">
              <a:spcBef>
                <a:spcPts val="0"/>
              </a:spcBef>
              <a:spcAft>
                <a:spcPts val="0"/>
              </a:spcAft>
            </a:pPr>
            <a:r>
              <a:rPr sz="1220" b="1" i="0">
                <a:solidFill>
                  <a:srgbClr val="FFFFFF"/>
                </a:solidFill>
                <a:latin typeface="DejaVu Sans"/>
              </a:rPr>
              <a:t>NẤC 2 (26 – 32 TUỔI)</a:t>
            </a:r>
          </a:p>
        </p:txBody>
      </p:sp>
      <p:sp>
        <p:nvSpPr>
          <p:cNvPr id="18" name="Rounded Rectangle 17"/>
          <p:cNvSpPr/>
          <p:nvPr/>
        </p:nvSpPr>
        <p:spPr>
          <a:xfrm>
            <a:off x="2651760" y="2414015"/>
            <a:ext cx="4498848" cy="987552"/>
          </a:xfrm>
          <a:prstGeom prst="roundRect">
            <a:avLst>
              <a:gd name="adj" fmla="val 4000"/>
            </a:avLst>
          </a:prstGeom>
          <a:solidFill>
            <a:srgbClr val="FFFFFF"/>
          </a:solidFill>
          <a:ln w="1651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79776" y="2450591"/>
            <a:ext cx="4261104" cy="914400"/>
          </a:xfrm>
          <a:prstGeom prst="rect">
            <a:avLst/>
          </a:prstGeom>
          <a:noFill/>
        </p:spPr>
        <p:txBody>
          <a:bodyPr wrap="square" anchor="ctr" lIns="54864" tIns="36576" rIns="54864" bIns="36576">
            <a:spAutoFit/>
          </a:bodyPr>
          <a:lstStyle/>
          <a:p>
            <a:pPr algn="l">
              <a:lnSpc>
                <a:spcPct val="120000"/>
              </a:lnSpc>
              <a:spcBef>
                <a:spcPts val="0"/>
              </a:spcBef>
              <a:spcAft>
                <a:spcPts val="0"/>
              </a:spcAft>
            </a:pPr>
            <a:r>
              <a:rPr sz="1120" b="0" i="0">
                <a:solidFill>
                  <a:srgbClr val="1E293B"/>
                </a:solidFill>
                <a:latin typeface="DejaVu Sans"/>
              </a:rPr>
              <a:t>Ổn định / Lập gia đình: Kết hợp vốn tích lũy + Vay ưu đãi (NHCSXH 5,4%/năm hoặc gói NHTM người &lt;35 tuổi 6,5%–7,5%/năm) mua căn NOXH đầu tiên.</a:t>
            </a:r>
          </a:p>
        </p:txBody>
      </p:sp>
      <p:sp>
        <p:nvSpPr>
          <p:cNvPr id="20" name="Rounded Rectangle 19"/>
          <p:cNvSpPr/>
          <p:nvPr/>
        </p:nvSpPr>
        <p:spPr>
          <a:xfrm>
            <a:off x="502920" y="3547872"/>
            <a:ext cx="2057400" cy="987552"/>
          </a:xfrm>
          <a:prstGeom prst="roundRect">
            <a:avLst>
              <a:gd name="adj" fmla="val 4000"/>
            </a:avLst>
          </a:prstGeom>
          <a:solidFill>
            <a:srgbClr val="C25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547872"/>
            <a:ext cx="2057400" cy="987552"/>
          </a:xfrm>
          <a:prstGeom prst="rect">
            <a:avLst/>
          </a:prstGeom>
          <a:noFill/>
        </p:spPr>
        <p:txBody>
          <a:bodyPr wrap="square" anchor="ctr" lIns="54864" tIns="36576" rIns="54864" bIns="36576">
            <a:spAutoFit/>
          </a:bodyPr>
          <a:lstStyle/>
          <a:p>
            <a:pPr algn="ctr">
              <a:spcBef>
                <a:spcPts val="0"/>
              </a:spcBef>
              <a:spcAft>
                <a:spcPts val="0"/>
              </a:spcAft>
            </a:pPr>
            <a:r>
              <a:rPr sz="1220" b="1" i="0">
                <a:solidFill>
                  <a:srgbClr val="FFFFFF"/>
                </a:solidFill>
                <a:latin typeface="DejaVu Sans"/>
              </a:rPr>
              <a:t>NẤC 3 (TRÊN 32 TUỔI)</a:t>
            </a:r>
          </a:p>
        </p:txBody>
      </p:sp>
      <p:sp>
        <p:nvSpPr>
          <p:cNvPr id="22" name="Rounded Rectangle 21"/>
          <p:cNvSpPr/>
          <p:nvPr/>
        </p:nvSpPr>
        <p:spPr>
          <a:xfrm>
            <a:off x="2651760" y="3547872"/>
            <a:ext cx="4498848" cy="987552"/>
          </a:xfrm>
          <a:prstGeom prst="roundRect">
            <a:avLst>
              <a:gd name="adj" fmla="val 4000"/>
            </a:avLst>
          </a:prstGeom>
          <a:solidFill>
            <a:srgbClr val="FFFFFF"/>
          </a:solidFill>
          <a:ln w="16510">
            <a:solidFill>
              <a:srgbClr val="C259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79776" y="3584448"/>
            <a:ext cx="4261104" cy="914400"/>
          </a:xfrm>
          <a:prstGeom prst="rect">
            <a:avLst/>
          </a:prstGeom>
          <a:noFill/>
        </p:spPr>
        <p:txBody>
          <a:bodyPr wrap="square" anchor="ctr" lIns="54864" tIns="36576" rIns="54864" bIns="36576">
            <a:spAutoFit/>
          </a:bodyPr>
          <a:lstStyle/>
          <a:p>
            <a:pPr algn="l">
              <a:lnSpc>
                <a:spcPct val="120000"/>
              </a:lnSpc>
              <a:spcBef>
                <a:spcPts val="0"/>
              </a:spcBef>
              <a:spcAft>
                <a:spcPts val="0"/>
              </a:spcAft>
            </a:pPr>
            <a:r>
              <a:rPr sz="1120" b="0" i="0">
                <a:solidFill>
                  <a:srgbClr val="1E293B"/>
                </a:solidFill>
                <a:latin typeface="DejaVu Sans"/>
              </a:rPr>
              <a:t>Thu nhập vững vàng: Nâng cấp lên nhà ở thương mại theo cơ chế thị trường, chuyển giao lại quỹ nhà an sinh cho thế hệ trẻ kế tiếp.</a:t>
            </a:r>
          </a:p>
        </p:txBody>
      </p:sp>
      <p:sp>
        <p:nvSpPr>
          <p:cNvPr id="24" name="Rounded Rectangle 23"/>
          <p:cNvSpPr/>
          <p:nvPr/>
        </p:nvSpPr>
        <p:spPr>
          <a:xfrm>
            <a:off x="502920" y="4736592"/>
            <a:ext cx="6647688" cy="1536192"/>
          </a:xfrm>
          <a:prstGeom prst="roundRect">
            <a:avLst>
              <a:gd name="adj" fmla="val 4000"/>
            </a:avLst>
          </a:prstGeom>
          <a:solidFill>
            <a:srgbClr val="FFF7ED"/>
          </a:solidFill>
          <a:ln w="20320">
            <a:solidFill>
              <a:srgbClr val="C2591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4791456"/>
            <a:ext cx="6355080" cy="1426464"/>
          </a:xfrm>
          <a:prstGeom prst="rect">
            <a:avLst/>
          </a:prstGeom>
          <a:noFill/>
        </p:spPr>
        <p:txBody>
          <a:bodyPr wrap="square" anchor="ctr" lIns="54864" tIns="36576" rIns="54864" bIns="36576">
            <a:spAutoFit/>
          </a:bodyPr>
          <a:lstStyle/>
          <a:p>
            <a:pPr algn="l">
              <a:spcBef>
                <a:spcPts val="0"/>
              </a:spcBef>
              <a:spcAft>
                <a:spcPts val="500"/>
              </a:spcAft>
            </a:pPr>
            <a:r>
              <a:rPr sz="1240" b="1" i="0">
                <a:solidFill>
                  <a:srgbClr val="C25915"/>
                </a:solidFill>
                <a:latin typeface="DejaVu Sans"/>
              </a:rPr>
              <a:t>THÔNG ĐIỆP HÀNH ĐỘNG MỞ GỬI SINH VIÊN (CALL TO ACTION):</a:t>
            </a:r>
          </a:p>
          <a:p>
            <a:pPr algn="l">
              <a:lnSpc>
                <a:spcPct val="124000"/>
              </a:lnSpc>
              <a:spcBef>
                <a:spcPts val="0"/>
              </a:spcBef>
              <a:spcAft>
                <a:spcPts val="0"/>
              </a:spcAft>
            </a:pPr>
            <a:r>
              <a:rPr sz="1140" b="0" i="0">
                <a:solidFill>
                  <a:srgbClr val="0B192E"/>
                </a:solidFill>
                <a:latin typeface="DejaVu Sans"/>
              </a:rPr>
              <a:t>1) Nâng cao 'giá trị sức lao động' (chuyên môn sâu, ngoại ngữ, kỹ năng số) để bứt phá thu nhập thực tế.
2) Lập kế hoạch tích lũy vốn đối ứng 20% từ sớm &amp; chủ động chuẩn bị hồ sơ theo Nghị định 136/2026/NĐ-CP!</a:t>
            </a:r>
          </a:p>
        </p:txBody>
      </p:sp>
      <p:sp>
        <p:nvSpPr>
          <p:cNvPr id="26" name="Rounded Rectangle 25"/>
          <p:cNvSpPr/>
          <p:nvPr/>
        </p:nvSpPr>
        <p:spPr>
          <a:xfrm>
            <a:off x="7370063" y="1261872"/>
            <a:ext cx="4315968" cy="4992624"/>
          </a:xfrm>
          <a:prstGeom prst="roundRect">
            <a:avLst>
              <a:gd name="adj" fmla="val 40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12.jpg"/>
          <p:cNvPicPr>
            <a:picLocks noChangeAspect="1"/>
          </p:cNvPicPr>
          <p:nvPr/>
        </p:nvPicPr>
        <p:blipFill>
          <a:blip r:embed="rId2"/>
          <a:stretch>
            <a:fillRect/>
          </a:stretch>
        </p:blipFill>
        <p:spPr>
          <a:xfrm>
            <a:off x="7424927" y="1316736"/>
            <a:ext cx="4206240" cy="4498848"/>
          </a:xfrm>
          <a:prstGeom prst="rect">
            <a:avLst/>
          </a:prstGeom>
        </p:spPr>
      </p:pic>
      <p:sp>
        <p:nvSpPr>
          <p:cNvPr id="28" name="Rectangle 27"/>
          <p:cNvSpPr/>
          <p:nvPr/>
        </p:nvSpPr>
        <p:spPr>
          <a:xfrm>
            <a:off x="7424927" y="5852159"/>
            <a:ext cx="420624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5852159"/>
            <a:ext cx="4096511" cy="365760"/>
          </a:xfrm>
          <a:prstGeom prst="rect">
            <a:avLst/>
          </a:prstGeom>
          <a:noFill/>
        </p:spPr>
        <p:txBody>
          <a:bodyPr wrap="square" anchor="ctr" lIns="18288" tIns="0" rIns="18288" bIns="0">
            <a:spAutoFit/>
          </a:bodyPr>
          <a:lstStyle/>
          <a:p>
            <a:pPr algn="l">
              <a:spcBef>
                <a:spcPts val="0"/>
              </a:spcBef>
              <a:spcAft>
                <a:spcPts val="0"/>
              </a:spcAft>
            </a:pPr>
            <a:r>
              <a:rPr sz="960" b="1" i="0">
                <a:solidFill>
                  <a:srgbClr val="1E293B"/>
                </a:solidFill>
                <a:latin typeface="DejaVu Sans"/>
              </a:rPr>
              <a:t>Ảnh thật: Công nhân hoàn thiện hạ tầng dự án NOXH Viglacera | Nguồn: Thời báo VTV (vtv.vn)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4754880" cy="310896"/>
          </a:xfrm>
          <a:prstGeom prst="roundRect">
            <a:avLst>
              <a:gd name="adj" fmla="val 4000"/>
            </a:avLst>
          </a:prstGeom>
          <a:solidFill>
            <a:srgbClr val="EEF6FC"/>
          </a:solidFill>
          <a:ln w="12700">
            <a:solidFill>
              <a:srgbClr val="12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01168"/>
            <a:ext cx="4617720" cy="310896"/>
          </a:xfrm>
          <a:prstGeom prst="rect">
            <a:avLst/>
          </a:prstGeom>
          <a:noFill/>
        </p:spPr>
        <p:txBody>
          <a:bodyPr wrap="square" anchor="ctr" lIns="36576" tIns="0" rIns="36576" bIns="0">
            <a:spAutoFit/>
          </a:bodyPr>
          <a:lstStyle/>
          <a:p>
            <a:pPr algn="l">
              <a:spcBef>
                <a:spcPts val="0"/>
              </a:spcBef>
              <a:spcAft>
                <a:spcPts val="0"/>
              </a:spcAft>
            </a:pPr>
            <a:r>
              <a:rPr sz="1050" b="1" i="0">
                <a:solidFill>
                  <a:srgbClr val="122645"/>
                </a:solidFill>
                <a:latin typeface="DejaVu Sans"/>
              </a:rPr>
              <a:t>TÀI LIỆU THAM KHẢO &amp; MINH BẠCH HỌC THUẬT</a:t>
            </a:r>
          </a:p>
        </p:txBody>
      </p:sp>
      <p:sp>
        <p:nvSpPr>
          <p:cNvPr id="6" name="Rounded Rectangle 5"/>
          <p:cNvSpPr/>
          <p:nvPr/>
        </p:nvSpPr>
        <p:spPr>
          <a:xfrm>
            <a:off x="10469880" y="201168"/>
            <a:ext cx="1216152" cy="310896"/>
          </a:xfrm>
          <a:prstGeom prst="roundRect">
            <a:avLst>
              <a:gd name="adj" fmla="val 4000"/>
            </a:avLst>
          </a:prstGeom>
          <a:solidFill>
            <a:srgbClr val="1226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69880" y="201168"/>
            <a:ext cx="1216152" cy="310896"/>
          </a:xfrm>
          <a:prstGeom prst="rect">
            <a:avLst/>
          </a:prstGeom>
          <a:noFill/>
        </p:spPr>
        <p:txBody>
          <a:bodyPr wrap="square" anchor="ctr" lIns="0" tIns="0" rIns="0" bIns="0">
            <a:spAutoFit/>
          </a:bodyPr>
          <a:lstStyle/>
          <a:p>
            <a:pPr algn="ctr">
              <a:spcBef>
                <a:spcPts val="0"/>
              </a:spcBef>
              <a:spcAft>
                <a:spcPts val="0"/>
              </a:spcAft>
            </a:pPr>
            <a:r>
              <a:rPr sz="1050" b="1" i="0">
                <a:solidFill>
                  <a:srgbClr val="FFFFFF"/>
                </a:solidFill>
                <a:latin typeface="DejaVu Sans"/>
              </a:rPr>
              <a:t>Slide 15 / 15</a:t>
            </a:r>
          </a:p>
        </p:txBody>
      </p:sp>
      <p:sp>
        <p:nvSpPr>
          <p:cNvPr id="8" name="TextBox 7"/>
          <p:cNvSpPr txBox="1"/>
          <p:nvPr/>
        </p:nvSpPr>
        <p:spPr>
          <a:xfrm>
            <a:off x="502920" y="566928"/>
            <a:ext cx="11183112" cy="493776"/>
          </a:xfrm>
          <a:prstGeom prst="rect">
            <a:avLst/>
          </a:prstGeom>
          <a:noFill/>
        </p:spPr>
        <p:txBody>
          <a:bodyPr wrap="square" anchor="ctr" lIns="0" tIns="0" rIns="0" bIns="0">
            <a:spAutoFit/>
          </a:bodyPr>
          <a:lstStyle/>
          <a:p>
            <a:pPr algn="l">
              <a:spcBef>
                <a:spcPts val="0"/>
              </a:spcBef>
              <a:spcAft>
                <a:spcPts val="0"/>
              </a:spcAft>
            </a:pPr>
            <a:r>
              <a:rPr sz="2150" b="1" i="0">
                <a:solidFill>
                  <a:srgbClr val="122645"/>
                </a:solidFill>
                <a:latin typeface="DejaVu Sans"/>
              </a:rPr>
              <a:t>Nguồn Dữ liệu Pháp lý Chính thống &amp; Truy xuất 100% Ảnh Tư liệu Thật</a:t>
            </a:r>
          </a:p>
        </p:txBody>
      </p:sp>
      <p:sp>
        <p:nvSpPr>
          <p:cNvPr id="9" name="Rectangle 8"/>
          <p:cNvSpPr/>
          <p:nvPr/>
        </p:nvSpPr>
        <p:spPr>
          <a:xfrm>
            <a:off x="502920" y="1097280"/>
            <a:ext cx="11183112"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46520"/>
            <a:ext cx="12191695" cy="411480"/>
          </a:xfrm>
          <a:prstGeom prst="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73952"/>
            <a:ext cx="11183112" cy="329184"/>
          </a:xfrm>
          <a:prstGeom prst="rect">
            <a:avLst/>
          </a:prstGeom>
          <a:noFill/>
        </p:spPr>
        <p:txBody>
          <a:bodyPr wrap="square" anchor="ctr" lIns="0" tIns="0" rIns="0" bIns="0">
            <a:spAutoFit/>
          </a:bodyPr>
          <a:lstStyle/>
          <a:p>
            <a:pPr algn="l">
              <a:spcBef>
                <a:spcPts val="0"/>
              </a:spcBef>
              <a:spcAft>
                <a:spcPts val="0"/>
              </a:spcAft>
            </a:pPr>
            <a:r>
              <a:rPr sz="980" b="0" i="1">
                <a:solidFill>
                  <a:srgbClr val="475569"/>
                </a:solidFill>
                <a:latin typeface="DejaVu Sans"/>
              </a:rPr>
              <a:t>Cam kết liêm chính học thuật: 100% số liệu &amp; văn bản pháp luật kiểm chứng chéo; tuyệt đối 0% ảnh tạo sinh bằng AI.</a:t>
            </a:r>
          </a:p>
        </p:txBody>
      </p:sp>
      <p:sp>
        <p:nvSpPr>
          <p:cNvPr id="12" name="Rounded Rectangle 11"/>
          <p:cNvSpPr/>
          <p:nvPr/>
        </p:nvSpPr>
        <p:spPr>
          <a:xfrm>
            <a:off x="502920" y="1298448"/>
            <a:ext cx="5440680" cy="4956048"/>
          </a:xfrm>
          <a:prstGeom prst="roundRect">
            <a:avLst>
              <a:gd name="adj" fmla="val 4000"/>
            </a:avLst>
          </a:prstGeom>
          <a:solidFill>
            <a:srgbClr val="FFFFFF"/>
          </a:solidFill>
          <a:ln w="17780">
            <a:solidFill>
              <a:srgbClr val="1226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389888"/>
            <a:ext cx="5084064" cy="4773168"/>
          </a:xfrm>
          <a:prstGeom prst="rect">
            <a:avLst/>
          </a:prstGeom>
          <a:noFill/>
        </p:spPr>
        <p:txBody>
          <a:bodyPr wrap="square" anchor="t" lIns="54864" tIns="36576" rIns="54864" bIns="36576">
            <a:spAutoFit/>
          </a:bodyPr>
          <a:lstStyle/>
          <a:p>
            <a:pPr algn="l">
              <a:spcBef>
                <a:spcPts val="0"/>
              </a:spcBef>
              <a:spcAft>
                <a:spcPts val="800"/>
              </a:spcAft>
            </a:pPr>
            <a:r>
              <a:rPr sz="1300" b="1" i="0">
                <a:solidFill>
                  <a:srgbClr val="122645"/>
                </a:solidFill>
                <a:latin typeface="DejaVu Sans"/>
              </a:rPr>
              <a:t>1. GIÁO TRÌNH, VĂN BẢN PHÁP LUẬT &amp; BÁO CÁO</a:t>
            </a:r>
          </a:p>
          <a:p>
            <a:pPr algn="l">
              <a:lnSpc>
                <a:spcPct val="122000"/>
              </a:lnSpc>
              <a:spcBef>
                <a:spcPts val="0"/>
              </a:spcBef>
              <a:spcAft>
                <a:spcPts val="600"/>
              </a:spcAft>
            </a:pPr>
            <a:r>
              <a:rPr sz="1120" b="0" i="0">
                <a:solidFill>
                  <a:srgbClr val="1E293B"/>
                </a:solidFill>
                <a:latin typeface="DejaVu Sans"/>
              </a:rPr>
              <a:t>• Giáo trình KTCT Mác – Lênin (Bộ GD&amp;ĐT, 2021), Chương 5 (Mục 5.1 &amp; 5.2, tr. 169–196).</a:t>
            </a:r>
          </a:p>
          <a:p>
            <a:pPr algn="l">
              <a:lnSpc>
                <a:spcPct val="122000"/>
              </a:lnSpc>
              <a:spcBef>
                <a:spcPts val="0"/>
              </a:spcBef>
              <a:spcAft>
                <a:spcPts val="600"/>
              </a:spcAft>
            </a:pPr>
            <a:r>
              <a:rPr sz="1120" b="0" i="0">
                <a:solidFill>
                  <a:srgbClr val="1E293B"/>
                </a:solidFill>
                <a:latin typeface="DejaVu Sans"/>
              </a:rPr>
              <a:t>• Quốc hội: Luật Nhà ở 2023 (Điều 76, 78, 80, 83, 85); Luật Đất đai 2024; Luật KDBĐS 2023; Luật Thuế GTGT 2024; Luật Thuế TNDN 2025.</a:t>
            </a:r>
          </a:p>
          <a:p>
            <a:pPr algn="l">
              <a:lnSpc>
                <a:spcPct val="122000"/>
              </a:lnSpc>
              <a:spcBef>
                <a:spcPts val="0"/>
              </a:spcBef>
              <a:spcAft>
                <a:spcPts val="600"/>
              </a:spcAft>
            </a:pPr>
            <a:r>
              <a:rPr sz="1120" b="0" i="0">
                <a:solidFill>
                  <a:srgbClr val="1E293B"/>
                </a:solidFill>
                <a:latin typeface="DejaVu Sans"/>
              </a:rPr>
              <a:t>• Chính phủ: Nghị định 136/2026/NĐ-CP (hiệu lực 07/4/2026, trần thu nhập 25–35–50tr); Nghị định 261/2025/NĐ-CP (NHCSXH 5,4%); Nghị định 100/2024/NĐ-CP; Nghị định 302/2025/NĐ-CP; Nghị quyết 07/NQ-CP (2026).</a:t>
            </a:r>
          </a:p>
          <a:p>
            <a:pPr algn="l">
              <a:lnSpc>
                <a:spcPct val="122000"/>
              </a:lnSpc>
              <a:spcBef>
                <a:spcPts val="0"/>
              </a:spcBef>
              <a:spcAft>
                <a:spcPts val="600"/>
              </a:spcAft>
            </a:pPr>
            <a:r>
              <a:rPr sz="1120" b="0" i="0">
                <a:solidFill>
                  <a:srgbClr val="1E293B"/>
                </a:solidFill>
                <a:latin typeface="DejaVu Sans"/>
              </a:rPr>
              <a:t>• Bộ Xây dựng: BC Thị trường BĐS Q2/2026 &amp; Họp báo Q3/2026 (15/10/2026).</a:t>
            </a:r>
          </a:p>
          <a:p>
            <a:pPr algn="l">
              <a:lnSpc>
                <a:spcPct val="122000"/>
              </a:lnSpc>
              <a:spcBef>
                <a:spcPts val="0"/>
              </a:spcBef>
              <a:spcAft>
                <a:spcPts val="0"/>
              </a:spcAft>
            </a:pPr>
            <a:r>
              <a:rPr sz="1120" b="0" i="0">
                <a:solidFill>
                  <a:srgbClr val="1E293B"/>
                </a:solidFill>
                <a:latin typeface="DejaVu Sans"/>
              </a:rPr>
              <a:t>• Cục Thống kê (BC 9T/2026); NHNN (CV 5340/NHNN-CSTT ngày 19/6/2026); OECD Affordable Housing Database.</a:t>
            </a:r>
          </a:p>
        </p:txBody>
      </p:sp>
      <p:sp>
        <p:nvSpPr>
          <p:cNvPr id="14" name="Rounded Rectangle 13"/>
          <p:cNvSpPr/>
          <p:nvPr/>
        </p:nvSpPr>
        <p:spPr>
          <a:xfrm>
            <a:off x="6245352" y="1298448"/>
            <a:ext cx="5440680" cy="4956048"/>
          </a:xfrm>
          <a:prstGeom prst="roundRect">
            <a:avLst>
              <a:gd name="adj" fmla="val 4000"/>
            </a:avLst>
          </a:prstGeom>
          <a:solidFill>
            <a:srgbClr val="EAF7F5"/>
          </a:solidFill>
          <a:ln w="1778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1389888"/>
            <a:ext cx="5084064" cy="4773168"/>
          </a:xfrm>
          <a:prstGeom prst="rect">
            <a:avLst/>
          </a:prstGeom>
          <a:noFill/>
        </p:spPr>
        <p:txBody>
          <a:bodyPr wrap="square" anchor="t" lIns="54864" tIns="36576" rIns="54864" bIns="36576">
            <a:spAutoFit/>
          </a:bodyPr>
          <a:lstStyle/>
          <a:p>
            <a:pPr algn="l">
              <a:spcBef>
                <a:spcPts val="0"/>
              </a:spcBef>
              <a:spcAft>
                <a:spcPts val="800"/>
              </a:spcAft>
            </a:pPr>
            <a:r>
              <a:rPr sz="1300" b="1" i="0">
                <a:solidFill>
                  <a:srgbClr val="0F766E"/>
                </a:solidFill>
                <a:latin typeface="DejaVu Sans"/>
              </a:rPr>
              <a:t>2. TRUY XUẤT NGUỒN 11 ẢNH THẬT (0% ẢNH AI)</a:t>
            </a:r>
          </a:p>
          <a:p>
            <a:pPr algn="l">
              <a:lnSpc>
                <a:spcPct val="124000"/>
              </a:lnSpc>
              <a:spcBef>
                <a:spcPts val="0"/>
              </a:spcBef>
              <a:spcAft>
                <a:spcPts val="700"/>
              </a:spcAft>
            </a:pPr>
            <a:r>
              <a:rPr sz="1120" b="0" i="0">
                <a:solidFill>
                  <a:srgbClr val="0B192E"/>
                </a:solidFill>
                <a:latin typeface="DejaVu Sans"/>
              </a:rPr>
              <a:t>• Slide 1, 3, 4: Bờ sông Sài Gòn, Tàu Metro số 1 &amp; Cầu Ba Son TP.HCM — Nguồn: Wikimedia Commons (CC BY-SA 4.0).</a:t>
            </a:r>
          </a:p>
          <a:p>
            <a:pPr algn="l">
              <a:lnSpc>
                <a:spcPct val="124000"/>
              </a:lnSpc>
              <a:spcBef>
                <a:spcPts val="0"/>
              </a:spcBef>
              <a:spcAft>
                <a:spcPts val="700"/>
              </a:spcAft>
            </a:pPr>
            <a:r>
              <a:rPr sz="1120" b="0" i="0">
                <a:solidFill>
                  <a:srgbClr val="0B192E"/>
                </a:solidFill>
                <a:latin typeface="DejaVu Sans"/>
              </a:rPr>
              <a:t>• Slide 2: Tân cử nhân tốt nghiệp ĐH Luật Hà Nội — Nguồn: Pexels Documentary.</a:t>
            </a:r>
          </a:p>
          <a:p>
            <a:pPr algn="l">
              <a:lnSpc>
                <a:spcPct val="124000"/>
              </a:lnSpc>
              <a:spcBef>
                <a:spcPts val="0"/>
              </a:spcBef>
              <a:spcAft>
                <a:spcPts val="700"/>
              </a:spcAft>
            </a:pPr>
            <a:r>
              <a:rPr sz="1120" b="0" i="0">
                <a:solidFill>
                  <a:srgbClr val="0B192E"/>
                </a:solidFill>
                <a:latin typeface="DejaVu Sans"/>
              </a:rPr>
              <a:t>• Slide 6: Chung cư cao tầng Hà Nội (Báo Tuổi Trẻ) &amp; Khu đô thị NOXH Đặng Xá (Viglacera – Bộ Xây dựng).</a:t>
            </a:r>
          </a:p>
          <a:p>
            <a:pPr algn="l">
              <a:lnSpc>
                <a:spcPct val="124000"/>
              </a:lnSpc>
              <a:spcBef>
                <a:spcPts val="0"/>
              </a:spcBef>
              <a:spcAft>
                <a:spcPts val="700"/>
              </a:spcAft>
            </a:pPr>
            <a:r>
              <a:rPr sz="1120" b="0" i="0">
                <a:solidFill>
                  <a:srgbClr val="0B192E"/>
                </a:solidFill>
                <a:latin typeface="DejaVu Sans"/>
              </a:rPr>
              <a:t>• Slide 7, 10, 12: Quốc hội thông qua Luật Đất đai 2024, Khu NOXH tích hợp L-Mart &amp; Khu NOXH công nhân — Nguồn: Báo Điện tử Chính phủ.</a:t>
            </a:r>
          </a:p>
          <a:p>
            <a:pPr algn="l">
              <a:lnSpc>
                <a:spcPct val="124000"/>
              </a:lnSpc>
              <a:spcBef>
                <a:spcPts val="0"/>
              </a:spcBef>
              <a:spcAft>
                <a:spcPts val="0"/>
              </a:spcAft>
            </a:pPr>
            <a:r>
              <a:rPr sz="1120" b="0" i="0">
                <a:solidFill>
                  <a:srgbClr val="0B192E"/>
                </a:solidFill>
                <a:latin typeface="DejaVu Sans"/>
              </a:rPr>
              <a:t>• Slide 11 &amp; 14: NOXH Lê Thành An Lạc (Báo Xây dựng) &amp; Công nhân thi công NOXH Viglacera (Thời báo VTV).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